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68" r:id="rId5"/>
    <p:sldId id="269" r:id="rId6"/>
    <p:sldId id="270" r:id="rId7"/>
    <p:sldId id="258" r:id="rId8"/>
    <p:sldId id="259" r:id="rId9"/>
    <p:sldId id="260" r:id="rId10"/>
    <p:sldId id="271" r:id="rId11"/>
    <p:sldId id="261" r:id="rId12"/>
    <p:sldId id="281" r:id="rId13"/>
    <p:sldId id="262" r:id="rId14"/>
    <p:sldId id="263" r:id="rId15"/>
    <p:sldId id="282" r:id="rId16"/>
    <p:sldId id="264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65" r:id="rId25"/>
    <p:sldId id="272" r:id="rId26"/>
    <p:sldId id="273" r:id="rId27"/>
    <p:sldId id="266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7C2DD-F3C3-887D-DC56-C8DB1A83E0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A316E8-25FB-B8B2-3941-5006A8491C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44339-028D-3EEC-E767-D269BE706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A0515-2F22-4F3D-A994-7466EA8DBE62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226B9-24F6-E192-61DE-096BEF102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EB9A7-1494-F175-6C7E-FDBD97E3E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984A0-9AA1-4DC2-9CCB-B8A9D3DB00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4796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F1D1A-E428-4614-0130-307371A47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B830C-CA18-527E-CE0C-8B228F441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79198-6E16-D25A-E82D-0886168AE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A0515-2F22-4F3D-A994-7466EA8DBE62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7ECA1-ABBB-5539-2872-C9DFE598D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190F0-2E60-EB6E-A8BD-2822D58EC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984A0-9AA1-4DC2-9CCB-B8A9D3DB00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2594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CFAD9-0667-F950-63E5-CC1E331FC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3A6B30-5429-FCF8-DA68-94AACE5F7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3771C-C322-3C3D-6017-CC6442380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A0515-2F22-4F3D-A994-7466EA8DBE62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388526-3E2D-526D-0FA1-4032A3A79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55E7D-F014-CB3D-7A88-A24CEECDD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984A0-9AA1-4DC2-9CCB-B8A9D3DB00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0898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CED56-5AC8-CEF4-4EFE-FFE4F1057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2227D-DD2F-199A-D4B8-2DE8618AD2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D58220-069C-3A41-4DD0-266953F3E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39FA82-BEEA-275D-5441-949135EE9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A0515-2F22-4F3D-A994-7466EA8DBE62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BD7E20-17D0-4BF1-F8F7-F18B8D9A8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C42647-4191-4F7D-A314-78DC99910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984A0-9AA1-4DC2-9CCB-B8A9D3DB00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8394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8CE34-EA8D-BD6C-23D1-031343043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0798C3-49C8-E837-85C1-BEE1548340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FE851A-3F36-09AF-2342-A0A158052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F49EAE-7530-9AB5-2958-388D031E92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651E99-59D0-97B0-D37D-A46D9417CB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9D0E4F-713D-7CFB-972B-AD5EF8547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A0515-2F22-4F3D-A994-7466EA8DBE62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EFB386-A0DF-95B8-E4D1-76506F06F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5D8997-6930-5200-B5EC-377FDCD3F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984A0-9AA1-4DC2-9CCB-B8A9D3DB00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013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873AA-15C4-E82A-5666-C499273F6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A1BBDA-ECE5-23C9-90B6-20034C591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A0515-2F22-4F3D-A994-7466EA8DBE62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C8F065-CA04-71F5-96DE-D76423D45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7867C9-9145-D489-E071-3B1CAD9C9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984A0-9AA1-4DC2-9CCB-B8A9D3DB00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9510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C41B00-32ED-9CE1-3C6D-C1C2159DE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A0515-2F22-4F3D-A994-7466EA8DBE62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E7BD17-BBD5-C777-0698-23C3B6471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FCC017-248B-F0AE-E547-B388EBD9E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984A0-9AA1-4DC2-9CCB-B8A9D3DB00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7429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19412-386F-F1EB-3821-442E70C5C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F8B28-D3D8-9159-FD73-4C6E03A1D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5CDEAE-F373-8F10-B761-359CC7F645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3E5874-3971-5822-CDEE-3BB586AD7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A0515-2F22-4F3D-A994-7466EA8DBE62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2908BF-9B34-84B0-A582-E3A674CEC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670A27-3BA1-FBAE-DF4D-4AFB8E26A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984A0-9AA1-4DC2-9CCB-B8A9D3DB00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0199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174BF-077D-6B8E-B59A-9CFCEBA2C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070267-ADD3-759B-F388-2F2A6D51E1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C0E72B-D252-4978-BF5C-91C355330E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DCE836-1766-5554-5C04-1117CB9F2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A0515-2F22-4F3D-A994-7466EA8DBE62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711874-E7BC-6399-E07F-7FC204FF4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FD0C1E-976C-E566-C73D-930C1EE87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984A0-9AA1-4DC2-9CCB-B8A9D3DB00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9400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336E4-C02C-2450-E6E4-0EDF04704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01A9A0-1A51-9073-C047-2B60F3FDEF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91DED-E2E0-F2D3-5A45-9C7CD6CFC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A0515-2F22-4F3D-A994-7466EA8DBE62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A983C-BBB9-C084-5500-F185D3994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87123-9DB3-6BDA-7A59-8A0B3B45F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984A0-9AA1-4DC2-9CCB-B8A9D3DB00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3954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199BDB-FF3F-78B4-A162-3EB517E8B8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54CBDC-AB5D-CD36-BC5E-F1CE797029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53552C-5E6D-D236-3A51-03C358654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A0515-2F22-4F3D-A994-7466EA8DBE62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060F4-EE29-3559-B677-4385A6169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64C3A3-C58A-92E3-9447-5F2587444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984A0-9AA1-4DC2-9CCB-B8A9D3DB00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295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5B34E4-87C2-2FF8-D317-1304885FD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6D4376-E87D-3DEF-9D5A-B9CFAD752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2D6A8-CF0F-79B0-8695-780EBF8E3A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2A0515-2F22-4F3D-A994-7466EA8DBE62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CF679-4902-0916-131C-A4E70330E6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EA211-E5EF-78ED-9B31-1BF9A9A450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6984A0-9AA1-4DC2-9CCB-B8A9D3DB00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6042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26901-AA62-4D69-856C-233F4B466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2345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GB" dirty="0"/>
              <a:t>Introduction to Statistical Data Analysis Techniques (Using SPSS)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2735F4-C409-4C17-BD5D-51C4D189BB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923308"/>
            <a:ext cx="9144000" cy="3128700"/>
          </a:xfrm>
        </p:spPr>
        <p:txBody>
          <a:bodyPr>
            <a:normAutofit fontScale="47500" lnSpcReduction="20000"/>
          </a:bodyPr>
          <a:lstStyle/>
          <a:p>
            <a:pPr algn="l">
              <a:buNone/>
            </a:pPr>
            <a:r>
              <a:rPr lang="en-GB" sz="4500" b="1" dirty="0"/>
              <a:t>By the end of this lesson, students should be able to:</a:t>
            </a:r>
          </a:p>
          <a:p>
            <a:pPr algn="l">
              <a:buNone/>
            </a:pPr>
            <a:endParaRPr lang="en-GB" sz="4500" b="1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4500" dirty="0"/>
              <a:t>Understand what data analysis is and why it is important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sz="45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4500" dirty="0"/>
              <a:t>Identify different types of data used in SPSS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sz="45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4500" dirty="0"/>
              <a:t>Compute and interpret </a:t>
            </a:r>
            <a:r>
              <a:rPr lang="en-GB" sz="4500" b="1" dirty="0"/>
              <a:t>measures of location</a:t>
            </a:r>
            <a:r>
              <a:rPr lang="en-GB" sz="4500" dirty="0"/>
              <a:t> using SPSS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sz="45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4500" dirty="0"/>
              <a:t>Compute and interpret </a:t>
            </a:r>
            <a:r>
              <a:rPr lang="en-GB" sz="4500" b="1" dirty="0"/>
              <a:t>measures of dispersion</a:t>
            </a:r>
            <a:r>
              <a:rPr lang="en-GB" sz="4500" dirty="0"/>
              <a:t> using SPSS</a:t>
            </a:r>
          </a:p>
          <a:p>
            <a:pPr algn="l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84912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4EBE9-661D-BAA1-1FC9-2FA174243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Introduction to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A6529-3E4A-CBDB-DB1E-1AB176372C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860" y="2141537"/>
            <a:ext cx="10515600" cy="4351338"/>
          </a:xfrm>
        </p:spPr>
        <p:txBody>
          <a:bodyPr/>
          <a:lstStyle/>
          <a:p>
            <a:pPr>
              <a:buNone/>
            </a:pPr>
            <a:r>
              <a:rPr lang="en-GB" b="1" dirty="0"/>
              <a:t>What is Data Analysis?</a:t>
            </a:r>
          </a:p>
          <a:p>
            <a:pPr>
              <a:buNone/>
            </a:pPr>
            <a:r>
              <a:rPr lang="en-GB" dirty="0"/>
              <a:t>Data analysis is the process of: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Collecting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Organizing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Summarizing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Interpreting data</a:t>
            </a:r>
          </a:p>
          <a:p>
            <a:pPr>
              <a:buNone/>
            </a:pPr>
            <a:r>
              <a:rPr lang="en-GB" dirty="0"/>
              <a:t>…in order to </a:t>
            </a:r>
            <a:r>
              <a:rPr lang="en-GB" b="1" dirty="0"/>
              <a:t>discover patterns, trends, and meaningful information</a:t>
            </a:r>
            <a:r>
              <a:rPr lang="en-GB" dirty="0"/>
              <a:t> for decision-making.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95498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ABD8E-F11B-EEE9-AB0E-205DE76E1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4665"/>
            <a:ext cx="10515600" cy="436153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/>
              <a:t>Data Analysis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E5E80-A9DA-172D-2D99-CB9277721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12742"/>
            <a:ext cx="10515600" cy="6174557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GB" sz="2300" b="1" dirty="0"/>
              <a:t>Data Analysis</a:t>
            </a:r>
          </a:p>
          <a:p>
            <a:pPr>
              <a:buNone/>
            </a:pPr>
            <a:r>
              <a:rPr lang="en-GB" sz="2300" b="1" dirty="0"/>
              <a:t>Data analysis</a:t>
            </a:r>
            <a:r>
              <a:rPr lang="en-GB" sz="2300" dirty="0"/>
              <a:t> is a systematic process of examining data in order to discover useful information, draw conclusions, and support decision-making. It involves the following key stages:</a:t>
            </a:r>
          </a:p>
          <a:p>
            <a:pPr marL="0" indent="0">
              <a:buNone/>
            </a:pPr>
            <a:r>
              <a:rPr lang="en-GB" sz="2500" b="1" dirty="0"/>
              <a:t>1. Collecting Data</a:t>
            </a:r>
          </a:p>
          <a:p>
            <a:r>
              <a:rPr lang="en-GB" sz="2500" dirty="0"/>
              <a:t>This is the first step in data analysis and involves </a:t>
            </a:r>
            <a:r>
              <a:rPr lang="en-GB" sz="2500" b="1" dirty="0"/>
              <a:t>gathering raw data</a:t>
            </a:r>
            <a:r>
              <a:rPr lang="en-GB" sz="2500" dirty="0"/>
              <a:t> from various sources.</a:t>
            </a:r>
          </a:p>
          <a:p>
            <a:r>
              <a:rPr lang="en-GB" dirty="0"/>
              <a:t>Data may be collected through:</a:t>
            </a:r>
          </a:p>
          <a:p>
            <a:pPr lvl="1"/>
            <a:r>
              <a:rPr lang="en-GB" dirty="0"/>
              <a:t>Surveys and questionnaires</a:t>
            </a:r>
          </a:p>
          <a:p>
            <a:pPr lvl="1"/>
            <a:r>
              <a:rPr lang="en-GB" dirty="0"/>
              <a:t>Experiments</a:t>
            </a:r>
          </a:p>
          <a:p>
            <a:pPr lvl="1"/>
            <a:r>
              <a:rPr lang="en-GB" dirty="0"/>
              <a:t>Interviews</a:t>
            </a:r>
          </a:p>
          <a:p>
            <a:pPr lvl="1"/>
            <a:r>
              <a:rPr lang="en-GB" dirty="0"/>
              <a:t>Observations</a:t>
            </a:r>
          </a:p>
          <a:p>
            <a:pPr lvl="1"/>
            <a:r>
              <a:rPr lang="en-GB" dirty="0"/>
              <a:t>Existing records or databases</a:t>
            </a:r>
          </a:p>
          <a:p>
            <a:r>
              <a:rPr lang="en-GB" sz="2500" dirty="0"/>
              <a:t>The quality of data analysis depends heavily on how accurate, relevant, and reliable the collected data is.</a:t>
            </a:r>
          </a:p>
          <a:p>
            <a:r>
              <a:rPr lang="en-GB" sz="2500" dirty="0"/>
              <a:t>Data can be </a:t>
            </a:r>
            <a:r>
              <a:rPr lang="en-GB" sz="2500" b="1" dirty="0"/>
              <a:t>primary data</a:t>
            </a:r>
            <a:r>
              <a:rPr lang="en-GB" sz="2500" dirty="0"/>
              <a:t> (collected directly by the researcher) or </a:t>
            </a:r>
            <a:r>
              <a:rPr lang="en-GB" sz="2500" b="1" dirty="0"/>
              <a:t>secondary data</a:t>
            </a:r>
            <a:r>
              <a:rPr lang="en-GB" sz="2500" dirty="0"/>
              <a:t> (already existing data).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2646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63662-DA75-A59D-0138-6BA78D3E0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6727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/>
              <a:t>Data Analysis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2C859-1F38-6002-7396-BEC9A99BA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3254"/>
            <a:ext cx="10515600" cy="524370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b="1" dirty="0"/>
              <a:t>2. Organizing Data</a:t>
            </a:r>
          </a:p>
          <a:p>
            <a:pPr>
              <a:buNone/>
            </a:pPr>
            <a:r>
              <a:rPr lang="en-GB" dirty="0"/>
              <a:t>Once data is collected, it must be arranged in a structured and meaningful way.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This involves: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Sorting and classifying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Coding responses (especially for questionnaires)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Entering data into software such as </a:t>
            </a:r>
            <a:r>
              <a:rPr lang="en-GB" b="1" dirty="0"/>
              <a:t>SPSS, Excel, R, or Python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Organization makes the data easier to manage and prepares it for analysis.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Examples include arranging data into tables, spreadsheets, or databases.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2299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C1816-53AF-0281-9032-0DD7893DB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70"/>
          </a:xfrm>
        </p:spPr>
        <p:txBody>
          <a:bodyPr/>
          <a:lstStyle/>
          <a:p>
            <a:pPr algn="ctr"/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Data Analysis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7B654-C216-B771-433E-BED876F75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8096"/>
            <a:ext cx="10515600" cy="5665508"/>
          </a:xfrm>
        </p:spPr>
        <p:txBody>
          <a:bodyPr/>
          <a:lstStyle/>
          <a:p>
            <a:pPr>
              <a:buNone/>
            </a:pPr>
            <a:r>
              <a:rPr lang="en-GB" b="1" dirty="0"/>
              <a:t>3. Summarizing Data</a:t>
            </a:r>
          </a:p>
          <a:p>
            <a:pPr>
              <a:buNone/>
            </a:pPr>
            <a:r>
              <a:rPr lang="en-GB" dirty="0"/>
              <a:t>Summarizing involves </a:t>
            </a:r>
            <a:r>
              <a:rPr lang="en-GB" b="1" dirty="0"/>
              <a:t>condensing large amounts of data</a:t>
            </a:r>
            <a:r>
              <a:rPr lang="en-GB" dirty="0"/>
              <a:t> into a simpler and more understandable form.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Common summarization techniques include: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Measures of central tendency (mean, median, mode)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Measures of dispersion (range, variance, standard deviation)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Frequency tables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Graphs and charts (bar charts, histograms, pie charts)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This step helps to highlight patterns, trends, and key characteristics of the data.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3332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BBAD5-3762-37BE-20E3-8EC95F35C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07873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Data Analysis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D8E24-FB52-FCFA-A545-5085C619F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2998"/>
            <a:ext cx="10515600" cy="540396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b="1" dirty="0"/>
              <a:t>4. Interpreting Data</a:t>
            </a:r>
          </a:p>
          <a:p>
            <a:pPr>
              <a:buNone/>
            </a:pPr>
            <a:r>
              <a:rPr lang="en-GB" dirty="0"/>
              <a:t>Interpreting data means </a:t>
            </a:r>
            <a:r>
              <a:rPr lang="en-GB" b="1" dirty="0"/>
              <a:t>explaining what the summarized results mean</a:t>
            </a:r>
            <a:r>
              <a:rPr lang="en-GB" dirty="0"/>
              <a:t> in relation to the research problem or question.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It involves: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Identifying patterns, trends, and relationships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Drawing conclusions from statistical results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Making predictions or recommendations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Interpretation answers the question: </a:t>
            </a:r>
            <a:r>
              <a:rPr lang="en-GB" i="1" dirty="0"/>
              <a:t>What do the results tell us?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This step supports informed decision-making in fields such as business, health, education, and research.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7768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C31D3-E17D-39D8-348F-2BCA6E46A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5263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Why Data Analysis is Important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B5543-051E-E1E7-275D-B4E879DDB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0388"/>
            <a:ext cx="10515600" cy="5712643"/>
          </a:xfrm>
        </p:spPr>
        <p:txBody>
          <a:bodyPr/>
          <a:lstStyle/>
          <a:p>
            <a:pPr>
              <a:buNone/>
            </a:pPr>
            <a:r>
              <a:rPr lang="en-GB" b="1" dirty="0"/>
              <a:t>Data analysis helps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Support decision making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Identify trends and relationships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Reduce uncertainty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Convert raw data into useful information</a:t>
            </a:r>
          </a:p>
          <a:p>
            <a:pPr>
              <a:buNone/>
            </a:pPr>
            <a:r>
              <a:rPr lang="en-GB" b="1" dirty="0"/>
              <a:t>Real-life examples: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Exam results analysis (education)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Sales performance (business)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Disease trends (health)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Water point functionality (M&amp;E projects)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5180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9028F-F57B-AF5D-0B7E-C370C19B8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Types of Data in SPSS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B174C-9473-76E9-1618-E44F9FB3C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SPSS mainly works with:</a:t>
            </a:r>
          </a:p>
          <a:p>
            <a:pPr marL="0" indent="0">
              <a:buNone/>
            </a:pPr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D08229-D4C9-9997-2439-AEC1DC9019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3755232"/>
              </p:ext>
            </p:extLst>
          </p:nvPr>
        </p:nvGraphicFramePr>
        <p:xfrm>
          <a:off x="838200" y="3269774"/>
          <a:ext cx="10515600" cy="14630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48634019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69317303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8425777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Data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9271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Nominal</a:t>
                      </a:r>
                      <a:endParaRPr lang="en-GB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Categories with no order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Gender, Region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3272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Ordinal</a:t>
                      </a:r>
                      <a:endParaRPr lang="en-GB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Categories with order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Satisfaction level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0536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Scale</a:t>
                      </a:r>
                      <a:endParaRPr lang="en-GB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Numeric (interval/ratio)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Age, Income, Scores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929288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A013B38-EF7D-969B-035F-F8B275170063}"/>
              </a:ext>
            </a:extLst>
          </p:cNvPr>
          <p:cNvSpPr txBox="1"/>
          <p:nvPr/>
        </p:nvSpPr>
        <p:spPr>
          <a:xfrm>
            <a:off x="838200" y="5295209"/>
            <a:ext cx="92390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Measures of location and dispersion apply mainly to SCALE data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67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9506F-381A-092F-D0E1-A86C4BDEB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1823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Measures of Location (Central Tendency)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D7B892-2A3D-AA08-2BE4-BA0941ECD9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36948"/>
                <a:ext cx="10515600" cy="5140015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buNone/>
                </a:pPr>
                <a:r>
                  <a:rPr lang="en-GB" dirty="0"/>
                  <a:t>Measures of location describe </a:t>
                </a:r>
                <a:r>
                  <a:rPr lang="en-GB" b="1" dirty="0"/>
                  <a:t>where the </a:t>
                </a:r>
                <a:r>
                  <a:rPr lang="en-GB" b="1" dirty="0" err="1"/>
                  <a:t>center</a:t>
                </a:r>
                <a:r>
                  <a:rPr lang="en-GB" b="1" dirty="0"/>
                  <a:t> of the data lies</a:t>
                </a:r>
                <a:r>
                  <a:rPr lang="en-GB" dirty="0"/>
                  <a:t>.</a:t>
                </a:r>
              </a:p>
              <a:p>
                <a:pPr>
                  <a:buNone/>
                </a:pPr>
                <a:r>
                  <a:rPr lang="en-GB" b="1" dirty="0"/>
                  <a:t>1. Mean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/>
                  <a:t>Arithmetic average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/>
                  <a:t>Sensitive to extreme values (outliers)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 b="0"/>
                      <m:t>Mean</m:t>
                    </m:r>
                    <m:r>
                      <a:rPr lang="en-GB" b="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grow m:val="on"/>
                            <m:subHide m:val="on"/>
                            <m:supHide m:val="on"/>
                            <m:ctrlPr>
                              <a:rPr lang="ar-AE" b="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nary>
                      </m:num>
                      <m:den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ar-AE" b="1" dirty="0"/>
                  <a:t>. </a:t>
                </a:r>
                <a:endParaRPr lang="en-GB" b="1" dirty="0"/>
              </a:p>
              <a:p>
                <a:pPr>
                  <a:buNone/>
                </a:pPr>
                <a:r>
                  <a:rPr lang="en-GB" b="1" dirty="0"/>
                  <a:t>2.Median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/>
                  <a:t>Middle value when data is arranged in order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/>
                  <a:t>Not affected by outliers</a:t>
                </a:r>
              </a:p>
              <a:p>
                <a:pPr>
                  <a:buNone/>
                </a:pPr>
                <a:r>
                  <a:rPr lang="en-GB" b="1" dirty="0"/>
                  <a:t>3. Mode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/>
                  <a:t>Most frequently occurring value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/>
                  <a:t>Can be more than one (bimodal, multimodal)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D7B892-2A3D-AA08-2BE4-BA0941ECD9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36948"/>
                <a:ext cx="10515600" cy="5140015"/>
              </a:xfrm>
              <a:blipFill>
                <a:blip r:embed="rId2"/>
                <a:stretch>
                  <a:fillRect l="-1043" t="-2372" b="-7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9885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0FFFC-16A8-BE8D-F4CF-F914A5F6C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36153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Example Dataset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C0634CE-342D-918E-D040-8347404DFAE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186595" y="1825622"/>
          <a:ext cx="7818810" cy="4351344"/>
        </p:xfrm>
        <a:graphic>
          <a:graphicData uri="http://schemas.openxmlformats.org/drawingml/2006/table">
            <a:tbl>
              <a:tblPr/>
              <a:tblGrid>
                <a:gridCol w="3909405">
                  <a:extLst>
                    <a:ext uri="{9D8B030D-6E8A-4147-A177-3AD203B41FA5}">
                      <a16:colId xmlns:a16="http://schemas.microsoft.com/office/drawing/2014/main" val="3292466154"/>
                    </a:ext>
                  </a:extLst>
                </a:gridCol>
                <a:gridCol w="3909405">
                  <a:extLst>
                    <a:ext uri="{9D8B030D-6E8A-4147-A177-3AD203B41FA5}">
                      <a16:colId xmlns:a16="http://schemas.microsoft.com/office/drawing/2014/main" val="1399464093"/>
                    </a:ext>
                  </a:extLst>
                </a:gridCol>
              </a:tblGrid>
              <a:tr h="271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Student_ID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Score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359195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1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dirty="0"/>
                        <a:t>65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2478949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2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72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5462347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3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80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5873878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4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75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3976595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5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dirty="0"/>
                        <a:t>68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1441133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6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72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173736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7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90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3620694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8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85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6889424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9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72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1301566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10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60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1555726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11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70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13859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12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75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2656654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13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88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2261589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14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65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0564106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15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dirty="0"/>
                        <a:t>78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98055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0371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5D35D-07C0-FD72-7CF4-90F9E0B8C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5870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SPSS Practical: Measures of 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32AA2-8B8C-76F0-F65B-C5327BC85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3828"/>
            <a:ext cx="10515600" cy="5253135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GB" b="1" dirty="0"/>
              <a:t>Step-by-Step in SPSS</a:t>
            </a:r>
          </a:p>
          <a:p>
            <a:pPr>
              <a:buFont typeface="+mj-lt"/>
              <a:buAutoNum type="arabicPeriod"/>
            </a:pPr>
            <a:r>
              <a:rPr lang="en-GB" dirty="0"/>
              <a:t>Open </a:t>
            </a:r>
            <a:r>
              <a:rPr lang="en-GB" b="1" dirty="0"/>
              <a:t>SPSS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dirty="0"/>
              <a:t>Enter a variable (e.g. </a:t>
            </a:r>
            <a:r>
              <a:rPr lang="en-GB" dirty="0" err="1">
                <a:latin typeface="Courier New" panose="02070309020205020404" pitchFamily="49" charset="0"/>
              </a:rPr>
              <a:t>Exam_Score</a:t>
            </a:r>
            <a:r>
              <a:rPr lang="en-GB" dirty="0"/>
              <a:t>)</a:t>
            </a:r>
          </a:p>
          <a:p>
            <a:pPr>
              <a:buFont typeface="+mj-lt"/>
              <a:buAutoNum type="arabicPeriod"/>
            </a:pPr>
            <a:r>
              <a:rPr lang="en-GB" dirty="0"/>
              <a:t>Go to </a:t>
            </a:r>
            <a:r>
              <a:rPr lang="en-GB" b="1" dirty="0" err="1"/>
              <a:t>Analyze</a:t>
            </a:r>
            <a:r>
              <a:rPr lang="en-GB" b="1" dirty="0"/>
              <a:t> → Descriptive Statistics → Frequencies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dirty="0"/>
              <a:t>Click </a:t>
            </a:r>
            <a:r>
              <a:rPr lang="en-GB" b="1" dirty="0"/>
              <a:t>Statistics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dirty="0"/>
              <a:t>Tick: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Mean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Median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Mode</a:t>
            </a:r>
          </a:p>
          <a:p>
            <a:pPr>
              <a:buFont typeface="+mj-lt"/>
              <a:buAutoNum type="arabicPeriod"/>
            </a:pPr>
            <a:r>
              <a:rPr lang="en-GB" dirty="0"/>
              <a:t>Click </a:t>
            </a:r>
            <a:r>
              <a:rPr lang="en-GB" b="1" dirty="0"/>
              <a:t>Continue → OK</a:t>
            </a:r>
            <a:endParaRPr lang="en-GB" dirty="0"/>
          </a:p>
          <a:p>
            <a:pPr>
              <a:buNone/>
            </a:pPr>
            <a:r>
              <a:rPr lang="en-GB" b="1" dirty="0"/>
              <a:t>Output Interpretation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Mean</a:t>
            </a:r>
            <a:r>
              <a:rPr lang="en-GB" dirty="0"/>
              <a:t>: Overall average score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Median</a:t>
            </a:r>
            <a:r>
              <a:rPr lang="en-GB" dirty="0"/>
              <a:t>: Middle score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Mode</a:t>
            </a:r>
            <a:r>
              <a:rPr lang="en-GB" dirty="0"/>
              <a:t>: Most common score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600105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2C049-6D2B-F9E9-E205-A17704B8A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8129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Result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3B4B9D0-48C7-A1D5-697E-D0D841A14E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2283" y="1462980"/>
            <a:ext cx="4946479" cy="4317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366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41A44-0D01-780B-D1BE-935313452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Measures of Dispersion (Variability)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3D7838-8D66-EDF5-36E9-601C4C5F70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810705"/>
                <a:ext cx="10515600" cy="536625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GB" dirty="0"/>
                  <a:t>Measures of dispersion show </a:t>
                </a:r>
                <a:r>
                  <a:rPr lang="en-GB" b="1" dirty="0"/>
                  <a:t>how spread out the data is</a:t>
                </a:r>
                <a:r>
                  <a:rPr lang="en-GB" dirty="0"/>
                  <a:t>.</a:t>
                </a:r>
              </a:p>
              <a:p>
                <a:pPr>
                  <a:buNone/>
                </a:pPr>
                <a:r>
                  <a:rPr lang="en-GB" b="1" dirty="0"/>
                  <a:t>1. Range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b="0"/>
                        <m:t>Range</m:t>
                      </m:r>
                      <m:r>
                        <a:rPr lang="en-GB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GB" b="0" i="1">
                          <a:latin typeface="Cambria Math" panose="02040503050406030204" pitchFamily="18" charset="0"/>
                        </a:rPr>
                        <m:t>Maximum</m:t>
                      </m:r>
                      <m:r>
                        <a:rPr lang="en-GB" b="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GB" b="0" i="1">
                          <a:latin typeface="Cambria Math" panose="02040503050406030204" pitchFamily="18" charset="0"/>
                        </a:rPr>
                        <m:t>Minimum</m:t>
                      </m:r>
                    </m:oMath>
                  </m:oMathPara>
                </a14:m>
                <a:endParaRPr lang="en-GB" b="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/>
                  <a:t>Simple but affected by outliers</a:t>
                </a:r>
              </a:p>
              <a:p>
                <a:pPr>
                  <a:buNone/>
                </a:pPr>
                <a:r>
                  <a:rPr lang="en-GB" b="1" dirty="0"/>
                  <a:t>2. Variance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/>
                  <a:t>Average of squared deviations from the mean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/>
                  <a:t>Measures overall variability</a:t>
                </a:r>
              </a:p>
              <a:p>
                <a:pPr>
                  <a:buNone/>
                </a:pPr>
                <a:r>
                  <a:rPr lang="en-GB" b="1" dirty="0"/>
                  <a:t>3. Standard Deviation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b="0"/>
                        <m:t>SD</m:t>
                      </m:r>
                      <m:r>
                        <a:rPr lang="en-GB" b="0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m:rPr>
                              <m:nor/>
                            </m:rPr>
                            <a:rPr lang="en-GB" b="0" i="1">
                              <a:latin typeface="Cambria Math" panose="02040503050406030204" pitchFamily="18" charset="0"/>
                            </a:rPr>
                            <m:t>Variance</m:t>
                          </m:r>
                        </m:e>
                      </m:rad>
                    </m:oMath>
                  </m:oMathPara>
                </a14:m>
                <a:endParaRPr lang="ar-AE" b="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/>
                  <a:t>Most commonly used measure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/>
                  <a:t>Shows how far values deviate from the mean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3D7838-8D66-EDF5-36E9-601C4C5F70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810705"/>
                <a:ext cx="10515600" cy="5366258"/>
              </a:xfrm>
              <a:blipFill>
                <a:blip r:embed="rId2"/>
                <a:stretch>
                  <a:fillRect l="-1217" t="-26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54528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D9BA0-4EAE-FDAD-6915-483B5BCF8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5836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SPSS Practical: Measures of Dispersion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CC915-8A6E-1475-9F60-88B9D77A23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0962"/>
            <a:ext cx="10515600" cy="5206001"/>
          </a:xfrm>
        </p:spPr>
        <p:txBody>
          <a:bodyPr/>
          <a:lstStyle/>
          <a:p>
            <a:pPr>
              <a:buNone/>
            </a:pPr>
            <a:r>
              <a:rPr lang="en-GB" b="1" dirty="0"/>
              <a:t>Method 1: Using Descriptives</a:t>
            </a:r>
          </a:p>
          <a:p>
            <a:pPr>
              <a:buFont typeface="+mj-lt"/>
              <a:buAutoNum type="arabicPeriod"/>
            </a:pPr>
            <a:r>
              <a:rPr lang="en-GB" b="1" dirty="0" err="1"/>
              <a:t>Analyze</a:t>
            </a:r>
            <a:r>
              <a:rPr lang="en-GB" b="1" dirty="0"/>
              <a:t> → Descriptive Statistics → Descriptives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dirty="0"/>
              <a:t>Move the variable to the right</a:t>
            </a:r>
          </a:p>
          <a:p>
            <a:pPr>
              <a:buFont typeface="+mj-lt"/>
              <a:buAutoNum type="arabicPeriod"/>
            </a:pPr>
            <a:r>
              <a:rPr lang="en-GB" dirty="0"/>
              <a:t>Click </a:t>
            </a:r>
            <a:r>
              <a:rPr lang="en-GB" b="1" dirty="0"/>
              <a:t>Options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dirty="0"/>
              <a:t>Select: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Standard deviation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Variance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Minimum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Maximum</a:t>
            </a:r>
          </a:p>
          <a:p>
            <a:pPr>
              <a:buFont typeface="+mj-lt"/>
              <a:buAutoNum type="arabicPeriod"/>
            </a:pPr>
            <a:r>
              <a:rPr lang="en-GB" dirty="0"/>
              <a:t>Click </a:t>
            </a:r>
            <a:r>
              <a:rPr lang="en-GB" b="1" dirty="0"/>
              <a:t>Continue → OK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738620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557D9-A27E-DB9A-29BC-711A8A233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/>
          <a:lstStyle/>
          <a:p>
            <a:pPr algn="ctr"/>
            <a:r>
              <a:rPr lang="en-GB" dirty="0"/>
              <a:t>Result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D3B7B8-8816-0E19-D9B4-11BF0B2C96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420" y="2243029"/>
            <a:ext cx="11663109" cy="424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905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70B73-7924-93A0-43A8-513F66714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36153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SPSS Practical: Measures of Dispersion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DD032-09BE-9D91-670F-061969D34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2106"/>
            <a:ext cx="10515600" cy="5684363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GB" sz="2500" b="1" dirty="0"/>
              <a:t>Method 2: Using Explore (Recommended)</a:t>
            </a:r>
          </a:p>
          <a:p>
            <a:pPr>
              <a:buFont typeface="+mj-lt"/>
              <a:buAutoNum type="arabicPeriod"/>
            </a:pPr>
            <a:r>
              <a:rPr lang="en-GB" sz="2500" b="1" dirty="0" err="1"/>
              <a:t>Analyze</a:t>
            </a:r>
            <a:r>
              <a:rPr lang="en-GB" sz="2500" b="1" dirty="0"/>
              <a:t> → Descriptive Statistics → Explore</a:t>
            </a:r>
            <a:endParaRPr lang="en-GB" sz="2500" dirty="0"/>
          </a:p>
          <a:p>
            <a:pPr>
              <a:buFont typeface="+mj-lt"/>
              <a:buAutoNum type="arabicPeriod"/>
            </a:pPr>
            <a:r>
              <a:rPr lang="en-GB" sz="2500" dirty="0"/>
              <a:t>Move variable to </a:t>
            </a:r>
            <a:r>
              <a:rPr lang="en-GB" sz="2500" b="1" dirty="0"/>
              <a:t>Dependent List</a:t>
            </a:r>
            <a:endParaRPr lang="en-GB" sz="2500" dirty="0"/>
          </a:p>
          <a:p>
            <a:pPr>
              <a:buFont typeface="+mj-lt"/>
              <a:buAutoNum type="arabicPeriod"/>
            </a:pPr>
            <a:r>
              <a:rPr lang="en-GB" sz="2500" dirty="0"/>
              <a:t>Click </a:t>
            </a:r>
            <a:r>
              <a:rPr lang="en-GB" sz="2500" b="1" dirty="0"/>
              <a:t>Statistics</a:t>
            </a:r>
            <a:endParaRPr lang="en-GB" sz="2500" dirty="0"/>
          </a:p>
          <a:p>
            <a:pPr>
              <a:buFont typeface="+mj-lt"/>
              <a:buAutoNum type="arabicPeriod"/>
            </a:pPr>
            <a:r>
              <a:rPr lang="en-GB" sz="2500" dirty="0"/>
              <a:t>Ensure </a:t>
            </a:r>
            <a:r>
              <a:rPr lang="en-GB" sz="2500" b="1" dirty="0"/>
              <a:t>Descriptives</a:t>
            </a:r>
            <a:r>
              <a:rPr lang="en-GB" sz="2500" dirty="0"/>
              <a:t> is selected</a:t>
            </a:r>
          </a:p>
          <a:p>
            <a:pPr>
              <a:buFont typeface="+mj-lt"/>
              <a:buAutoNum type="arabicPeriod"/>
            </a:pPr>
            <a:r>
              <a:rPr lang="en-GB" sz="2500" dirty="0"/>
              <a:t>Click </a:t>
            </a:r>
            <a:r>
              <a:rPr lang="en-GB" sz="2500" b="1" dirty="0"/>
              <a:t>OK</a:t>
            </a:r>
          </a:p>
          <a:p>
            <a:pPr>
              <a:buFont typeface="+mj-lt"/>
              <a:buAutoNum type="arabicPeriod"/>
            </a:pPr>
            <a:endParaRPr lang="en-GB" sz="2500" dirty="0"/>
          </a:p>
          <a:p>
            <a:pPr>
              <a:buNone/>
            </a:pPr>
            <a:r>
              <a:rPr lang="en-GB" sz="2500" b="1" dirty="0"/>
              <a:t>This will gives: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500" dirty="0"/>
              <a:t>Mean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500" dirty="0"/>
              <a:t>Median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500" dirty="0"/>
              <a:t>Standard Deviation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500" dirty="0"/>
              <a:t>Range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500" dirty="0"/>
              <a:t>IQR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500" dirty="0"/>
              <a:t>Boxplot (if selected)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953178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C64F3-C095-94D0-0924-0C520A928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8129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Resulting Table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1A5943-8C46-0344-9B34-E15F787080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228684"/>
            <a:ext cx="6608975" cy="5264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3997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C7033-76EF-97C9-E4AE-6812C22CC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4434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Resulting Graph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56F175-A865-920D-2D5E-3D50B76C52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775181"/>
            <a:ext cx="6118780" cy="4960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2699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FB811-7C5A-678A-C110-C181019CE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5870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Resulting Boxplot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424BCF-3E4F-2BC7-94C1-3323D44F8D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33015"/>
            <a:ext cx="5403309" cy="43513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DA9835-198C-2A9A-64A9-6E0A2744C54A}"/>
              </a:ext>
            </a:extLst>
          </p:cNvPr>
          <p:cNvSpPr txBox="1"/>
          <p:nvPr/>
        </p:nvSpPr>
        <p:spPr>
          <a:xfrm>
            <a:off x="6241509" y="2033015"/>
            <a:ext cx="572110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/>
              <a:t>This figure is a </a:t>
            </a:r>
            <a:r>
              <a:rPr lang="en-GB" b="1" dirty="0"/>
              <a:t>box-and-whisker plot (boxplot)</a:t>
            </a:r>
            <a:r>
              <a:rPr lang="en-GB" dirty="0"/>
              <a:t> for </a:t>
            </a:r>
            <a:r>
              <a:rPr lang="en-GB" b="1" dirty="0"/>
              <a:t>students’ scores</a:t>
            </a:r>
            <a:r>
              <a:rPr lang="en-GB" dirty="0"/>
              <a:t>. It visually summarizes the distribution of the data using </a:t>
            </a:r>
            <a:r>
              <a:rPr lang="en-GB" b="1" dirty="0"/>
              <a:t>median, quartiles, spread, and possible outliers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50448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EB6C2-10C6-B532-0337-893146448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Interpreting Boxplot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F1C21-65D1-71A8-32C7-D2B488EF8C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2363"/>
            <a:ext cx="10515600" cy="5064600"/>
          </a:xfrm>
        </p:spPr>
        <p:txBody>
          <a:bodyPr/>
          <a:lstStyle/>
          <a:p>
            <a:pPr>
              <a:buNone/>
            </a:pPr>
            <a:r>
              <a:rPr lang="en-GB" b="1" dirty="0"/>
              <a:t>1. Median (Middle Line in the Box)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</a:t>
            </a:r>
            <a:r>
              <a:rPr lang="en-GB" b="1" dirty="0"/>
              <a:t>thick horizontal line inside the box</a:t>
            </a:r>
            <a:r>
              <a:rPr lang="en-GB" dirty="0"/>
              <a:t> represents the </a:t>
            </a:r>
            <a:r>
              <a:rPr lang="en-GB" b="1" dirty="0"/>
              <a:t>median score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Here, the median is approximately </a:t>
            </a:r>
            <a:r>
              <a:rPr lang="en-GB" b="1" dirty="0"/>
              <a:t>72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This means </a:t>
            </a:r>
            <a:r>
              <a:rPr lang="en-GB" b="1" dirty="0"/>
              <a:t>50% of students scored below 72 and 50% scored above 72</a:t>
            </a:r>
            <a:r>
              <a:rPr lang="en-GB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0625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4C45A-E565-3502-DA85-091C0586B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02141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Interpreting Boxplot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0CE0A-46C9-24B7-19E4-D68854D575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3509"/>
            <a:ext cx="10515600" cy="5083454"/>
          </a:xfrm>
        </p:spPr>
        <p:txBody>
          <a:bodyPr/>
          <a:lstStyle/>
          <a:p>
            <a:pPr>
              <a:buNone/>
            </a:pPr>
            <a:r>
              <a:rPr lang="en-GB" sz="2300" b="1" dirty="0"/>
              <a:t>2. Lower Quartile (Q1) – Bottom of the Box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300" dirty="0"/>
              <a:t>The </a:t>
            </a:r>
            <a:r>
              <a:rPr lang="en-GB" sz="2300" b="1" dirty="0"/>
              <a:t>bottom edge of the box</a:t>
            </a:r>
            <a:r>
              <a:rPr lang="en-GB" sz="2300" dirty="0"/>
              <a:t> represents the </a:t>
            </a:r>
            <a:r>
              <a:rPr lang="en-GB" sz="2300" b="1" dirty="0"/>
              <a:t>first quartile (Q1)</a:t>
            </a:r>
            <a:r>
              <a:rPr lang="en-GB" sz="23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300" dirty="0"/>
              <a:t>Q1 is approximately </a:t>
            </a:r>
            <a:r>
              <a:rPr lang="en-GB" sz="2300" b="1" dirty="0"/>
              <a:t>69</a:t>
            </a:r>
            <a:r>
              <a:rPr lang="en-GB" sz="23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300" dirty="0"/>
              <a:t>This means </a:t>
            </a:r>
            <a:r>
              <a:rPr lang="en-GB" sz="2300" b="1" dirty="0"/>
              <a:t>25% of students scored 69 or below</a:t>
            </a:r>
            <a:r>
              <a:rPr lang="en-GB" sz="2300" dirty="0"/>
              <a:t>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sz="2300" b="1" dirty="0"/>
              <a:t>3. Upper Quartile (Q3) – Top of the Box</a:t>
            </a:r>
          </a:p>
          <a:p>
            <a:r>
              <a:rPr lang="en-GB" sz="2300" dirty="0"/>
              <a:t>The </a:t>
            </a:r>
            <a:r>
              <a:rPr lang="en-GB" sz="2300" b="1" dirty="0"/>
              <a:t>top edge of the box</a:t>
            </a:r>
            <a:r>
              <a:rPr lang="en-GB" sz="2300" dirty="0"/>
              <a:t> represents the </a:t>
            </a:r>
            <a:r>
              <a:rPr lang="en-GB" sz="2300" b="1" dirty="0"/>
              <a:t>third quartile (Q3)</a:t>
            </a:r>
            <a:r>
              <a:rPr lang="en-GB" sz="2300" dirty="0"/>
              <a:t>.</a:t>
            </a:r>
          </a:p>
          <a:p>
            <a:r>
              <a:rPr lang="en-GB" sz="2300" dirty="0"/>
              <a:t>Q3 is approximately </a:t>
            </a:r>
            <a:r>
              <a:rPr lang="en-GB" sz="2300" b="1" dirty="0"/>
              <a:t>79</a:t>
            </a:r>
            <a:r>
              <a:rPr lang="en-GB" sz="2300" dirty="0"/>
              <a:t>.</a:t>
            </a:r>
          </a:p>
          <a:p>
            <a:r>
              <a:rPr lang="en-GB" sz="2300" dirty="0"/>
              <a:t>This means </a:t>
            </a:r>
            <a:r>
              <a:rPr lang="en-GB" sz="2300" b="1" dirty="0"/>
              <a:t>75% of students scored 79 or below</a:t>
            </a:r>
            <a:r>
              <a:rPr lang="en-GB" sz="2300" dirty="0"/>
              <a:t>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506235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858D9-6E68-9364-C8FF-AE538EBE8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2661" y="365125"/>
            <a:ext cx="10515600" cy="315912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Interpreting Boxplot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D09A3-CAE2-88AF-B2EB-C3A48081B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63571"/>
            <a:ext cx="10515600" cy="5413392"/>
          </a:xfrm>
        </p:spPr>
        <p:txBody>
          <a:bodyPr/>
          <a:lstStyle/>
          <a:p>
            <a:pPr>
              <a:buNone/>
            </a:pPr>
            <a:r>
              <a:rPr lang="en-GB" b="1" dirty="0"/>
              <a:t>4. Interquartile Range (IQR)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</a:t>
            </a:r>
            <a:r>
              <a:rPr lang="en-GB" b="1" dirty="0"/>
              <a:t>height of the box</a:t>
            </a:r>
            <a:r>
              <a:rPr lang="en-GB" dirty="0"/>
              <a:t> (Q3 − Q1) represents the </a:t>
            </a:r>
            <a:r>
              <a:rPr lang="en-GB" b="1" dirty="0"/>
              <a:t>interquartile range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IQR ≈ </a:t>
            </a:r>
            <a:r>
              <a:rPr lang="en-GB" b="1" dirty="0"/>
              <a:t>79 − 69 = 10–12 marks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This shows the spread of the </a:t>
            </a:r>
            <a:r>
              <a:rPr lang="en-GB" b="1" dirty="0"/>
              <a:t>middle 50% of scores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 moderate IQR indicates </a:t>
            </a:r>
            <a:r>
              <a:rPr lang="en-GB" b="1" dirty="0"/>
              <a:t>moderate variability</a:t>
            </a:r>
            <a:r>
              <a:rPr lang="en-GB" dirty="0"/>
              <a:t> among most students.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88952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FAC86-3818-93E8-68F0-9BA762ABB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0995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Interpreting Boxplot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F6494-0D71-FF03-CE96-5536D49A4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b="1" dirty="0"/>
              <a:t>5. Whiskers (Minimum and Maximum)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Lower whisker</a:t>
            </a:r>
            <a:r>
              <a:rPr lang="en-GB" dirty="0"/>
              <a:t> ≈ </a:t>
            </a:r>
            <a:r>
              <a:rPr lang="en-GB" b="1" dirty="0"/>
              <a:t>60</a:t>
            </a:r>
            <a:r>
              <a:rPr lang="en-GB" dirty="0"/>
              <a:t> → lowest score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Upper whisker</a:t>
            </a:r>
            <a:r>
              <a:rPr lang="en-GB" dirty="0"/>
              <a:t> ≈ </a:t>
            </a:r>
            <a:r>
              <a:rPr lang="en-GB" b="1" dirty="0"/>
              <a:t>90</a:t>
            </a:r>
            <a:r>
              <a:rPr lang="en-GB" dirty="0"/>
              <a:t> → highest score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This gives a </a:t>
            </a:r>
            <a:r>
              <a:rPr lang="en-GB" b="1" dirty="0"/>
              <a:t>range of about 30 marks</a:t>
            </a:r>
            <a:r>
              <a:rPr lang="en-GB" dirty="0"/>
              <a:t>, showing overall spread.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36041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4A2FF-9830-8649-38B7-5AC187F58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Interpretation Example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9BB2D-96FC-7412-C240-E066901AB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23967"/>
          </a:xfrm>
        </p:spPr>
        <p:txBody>
          <a:bodyPr/>
          <a:lstStyle/>
          <a:p>
            <a:pPr>
              <a:buNone/>
            </a:pPr>
            <a:r>
              <a:rPr lang="en-GB" b="1" dirty="0"/>
              <a:t>Explanation of the Descriptives Table (Score)</a:t>
            </a:r>
          </a:p>
          <a:p>
            <a:pPr>
              <a:buNone/>
            </a:pPr>
            <a:r>
              <a:rPr lang="en-GB" dirty="0"/>
              <a:t>This table summarizes the </a:t>
            </a:r>
            <a:r>
              <a:rPr lang="en-GB" b="1" dirty="0"/>
              <a:t>key characteristics of students’ scores</a:t>
            </a:r>
            <a:r>
              <a:rPr lang="en-GB" dirty="0"/>
              <a:t> using measures of </a:t>
            </a:r>
            <a:r>
              <a:rPr lang="en-GB" b="1" dirty="0"/>
              <a:t>location, dispersion, and shape</a:t>
            </a:r>
            <a:r>
              <a:rPr lang="en-GB" dirty="0"/>
              <a:t>.</a:t>
            </a:r>
          </a:p>
          <a:p>
            <a:pPr>
              <a:buNone/>
            </a:pPr>
            <a:r>
              <a:rPr lang="en-GB" b="1" dirty="0"/>
              <a:t>1. Measures of Central Tendency (Location)</a:t>
            </a:r>
          </a:p>
          <a:p>
            <a:pPr>
              <a:buNone/>
            </a:pPr>
            <a:r>
              <a:rPr lang="en-GB" b="1" dirty="0"/>
              <a:t>Mean = 74.33 (Std. Error = 2.233)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</a:t>
            </a:r>
            <a:r>
              <a:rPr lang="en-GB" b="1" dirty="0"/>
              <a:t>mean</a:t>
            </a:r>
            <a:r>
              <a:rPr lang="en-GB" dirty="0"/>
              <a:t> is the average score of all students.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On average, students scored </a:t>
            </a:r>
            <a:r>
              <a:rPr lang="en-GB" b="1" dirty="0"/>
              <a:t>74.33 marks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</a:t>
            </a:r>
            <a:r>
              <a:rPr lang="en-GB" b="1" dirty="0"/>
              <a:t>standard error</a:t>
            </a:r>
            <a:r>
              <a:rPr lang="en-GB" dirty="0"/>
              <a:t> shows how much the sample mean may vary from the true population mean.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96793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9C6FB-7553-2FBF-6731-2142BE9E4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3287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en-GB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Interpretation Example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A9B39-F90A-41F5-9565-54BFB29CF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8412"/>
            <a:ext cx="10515600" cy="5328551"/>
          </a:xfrm>
        </p:spPr>
        <p:txBody>
          <a:bodyPr/>
          <a:lstStyle/>
          <a:p>
            <a:pPr>
              <a:buNone/>
            </a:pPr>
            <a:r>
              <a:rPr lang="en-GB" b="1" dirty="0"/>
              <a:t>Median = 72.00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</a:t>
            </a:r>
            <a:r>
              <a:rPr lang="en-GB" b="1" dirty="0"/>
              <a:t>median</a:t>
            </a:r>
            <a:r>
              <a:rPr lang="en-GB" dirty="0"/>
              <a:t> is the middle score when all scores are arranged in order.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Half of the students scored </a:t>
            </a:r>
            <a:r>
              <a:rPr lang="en-GB" b="1" dirty="0"/>
              <a:t>below 72</a:t>
            </a:r>
            <a:r>
              <a:rPr lang="en-GB" dirty="0"/>
              <a:t>, and half scored </a:t>
            </a:r>
            <a:r>
              <a:rPr lang="en-GB" b="1" dirty="0"/>
              <a:t>above 72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Since the median is slightly lower than the mean, it suggests a </a:t>
            </a:r>
            <a:r>
              <a:rPr lang="en-GB" b="1" dirty="0"/>
              <a:t>slight right skew</a:t>
            </a:r>
            <a:r>
              <a:rPr lang="en-GB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00101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70800-8985-9728-42EA-3E3EA2FC9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2714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Interpretation Example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45C33-1381-4B9B-717A-F8EA01AAC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8668"/>
            <a:ext cx="10515600" cy="572207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b="1" dirty="0"/>
              <a:t>3. Measures of Dispersion (Spread)</a:t>
            </a:r>
          </a:p>
          <a:p>
            <a:pPr>
              <a:buNone/>
            </a:pPr>
            <a:r>
              <a:rPr lang="en-GB" b="1" dirty="0"/>
              <a:t>Variance = 74.810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Variance measures how spread out the scores are from the mean.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 higher variance indicates greater variability.</a:t>
            </a:r>
          </a:p>
          <a:p>
            <a:pPr>
              <a:buNone/>
            </a:pPr>
            <a:br>
              <a:rPr lang="en-GB" dirty="0"/>
            </a:br>
            <a:r>
              <a:rPr lang="en-GB" b="1" dirty="0"/>
              <a:t>Standard Deviation = 8.649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This shows that, on average, students’ scores deviate from the mean by about </a:t>
            </a:r>
            <a:r>
              <a:rPr lang="en-GB" b="1" dirty="0"/>
              <a:t>8.65 marks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Most scores lie roughly between </a:t>
            </a:r>
            <a:r>
              <a:rPr lang="en-GB" b="1" dirty="0"/>
              <a:t>66 and 83</a:t>
            </a:r>
            <a:r>
              <a:rPr lang="en-GB" dirty="0"/>
              <a:t> (Mean ± 1 SD).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56783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272FA-A3A4-0B3A-6FCE-2A8917237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409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In Summary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BEF561F-8B9C-ECF3-50B9-86536F740C9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31178537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2589796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Concept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8437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Data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Converts raw data into information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5852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Measures of Location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Show central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0419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Measures of Dispersion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Show data spread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09760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SPSS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Tool for fast and accurate computation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7498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2069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1341</Words>
  <Application>Microsoft Office PowerPoint</Application>
  <PresentationFormat>Widescreen</PresentationFormat>
  <Paragraphs>246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Calibri Light</vt:lpstr>
      <vt:lpstr>Cambria Math</vt:lpstr>
      <vt:lpstr>Courier New</vt:lpstr>
      <vt:lpstr>Office Theme</vt:lpstr>
      <vt:lpstr>Introduction to Statistical Data Analysis Techniques (Using SPSS)</vt:lpstr>
      <vt:lpstr>Introduction to Data Analysis</vt:lpstr>
      <vt:lpstr>Data Analysis </vt:lpstr>
      <vt:lpstr>Data Analysis</vt:lpstr>
      <vt:lpstr>Data Analysis</vt:lpstr>
      <vt:lpstr>Data Analysis</vt:lpstr>
      <vt:lpstr>Why Data Analysis is Important</vt:lpstr>
      <vt:lpstr>Types of Data in SPSS </vt:lpstr>
      <vt:lpstr>Measures of Location (Central Tendency)</vt:lpstr>
      <vt:lpstr>Example Dataset </vt:lpstr>
      <vt:lpstr>SPSS Practical: Measures of Location</vt:lpstr>
      <vt:lpstr>Result</vt:lpstr>
      <vt:lpstr>Measures of Dispersion (Variability)</vt:lpstr>
      <vt:lpstr>SPSS Practical: Measures of Dispersion</vt:lpstr>
      <vt:lpstr>Result</vt:lpstr>
      <vt:lpstr>SPSS Practical: Measures of Dispersion</vt:lpstr>
      <vt:lpstr>Resulting Table</vt:lpstr>
      <vt:lpstr>Resulting Graph</vt:lpstr>
      <vt:lpstr>Resulting Boxplot</vt:lpstr>
      <vt:lpstr>Interpreting Boxplot</vt:lpstr>
      <vt:lpstr>Interpreting Boxplot</vt:lpstr>
      <vt:lpstr>Interpreting Boxplot</vt:lpstr>
      <vt:lpstr>Interpreting Boxplot</vt:lpstr>
      <vt:lpstr>Interpretation Example </vt:lpstr>
      <vt:lpstr>Interpretation Example</vt:lpstr>
      <vt:lpstr>Interpretation Example</vt:lpstr>
      <vt:lpstr>In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</dc:creator>
  <cp:lastModifiedBy>Paul</cp:lastModifiedBy>
  <cp:revision>10</cp:revision>
  <dcterms:created xsi:type="dcterms:W3CDTF">2026-01-20T14:46:35Z</dcterms:created>
  <dcterms:modified xsi:type="dcterms:W3CDTF">2026-01-21T14:33:23Z</dcterms:modified>
</cp:coreProperties>
</file>