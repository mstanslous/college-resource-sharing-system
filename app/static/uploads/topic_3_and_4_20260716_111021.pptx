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449498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1724102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3561163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695A842-9CFD-47F1-8920-0A1E5073EFF9}"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1986842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695A842-9CFD-47F1-8920-0A1E5073EFF9}"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2875816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695A842-9CFD-47F1-8920-0A1E5073EFF9}"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1235330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95A842-9CFD-47F1-8920-0A1E5073EFF9}"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989854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695A842-9CFD-47F1-8920-0A1E5073EFF9}"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2690790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695A842-9CFD-47F1-8920-0A1E5073EFF9}"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2323263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118348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32579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2401168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683947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4197532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20859828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95A842-9CFD-47F1-8920-0A1E5073EFF9}"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E18E62-9609-43F1-84CF-C1F4C372D7BA}" type="slidenum">
              <a:rPr lang="en-US" smtClean="0"/>
              <a:t>‹#›</a:t>
            </a:fld>
            <a:endParaRPr lang="en-US"/>
          </a:p>
        </p:txBody>
      </p:sp>
    </p:spTree>
    <p:extLst>
      <p:ext uri="{BB962C8B-B14F-4D97-AF65-F5344CB8AC3E}">
        <p14:creationId xmlns:p14="http://schemas.microsoft.com/office/powerpoint/2010/main" val="24458309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870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695A842-9CFD-47F1-8920-0A1E5073EFF9}" type="datetimeFigureOut">
              <a:rPr lang="en-US" smtClean="0"/>
              <a:t>6/7/2026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EE18E62-9609-43F1-84CF-C1F4C372D7BA}" type="slidenum">
              <a:rPr lang="en-US" smtClean="0"/>
              <a:t>‹#›</a:t>
            </a:fld>
            <a:endParaRPr lang="en-US"/>
          </a:p>
        </p:txBody>
      </p:sp>
    </p:spTree>
    <p:extLst>
      <p:ext uri="{BB962C8B-B14F-4D97-AF65-F5344CB8AC3E}">
        <p14:creationId xmlns:p14="http://schemas.microsoft.com/office/powerpoint/2010/main" val="27041935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82669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ctrTitle"/>
          </p:nvPr>
        </p:nvSpPr>
        <p:spPr>
          <a:xfrm>
            <a:off x="1952897" y="2861446"/>
            <a:ext cx="7772400" cy="838200"/>
          </a:xfrm>
        </p:spPr>
        <p:txBody>
          <a:bodyPr>
            <a:normAutofit fontScale="90000"/>
          </a:bodyPr>
          <a:lstStyle/>
          <a:p>
            <a:pPr algn="ctr" eaLnBrk="1" hangingPunct="1">
              <a:defRPr/>
            </a:pPr>
            <a:r>
              <a:rPr lang="en-US" sz="4800" dirty="0"/>
              <a:t>TOPIC 3:</a:t>
            </a:r>
            <a:br>
              <a:rPr lang="en-US" sz="4800" dirty="0"/>
            </a:br>
            <a:r>
              <a:rPr lang="en-US" sz="4800" dirty="0"/>
              <a:t/>
            </a:r>
            <a:br>
              <a:rPr lang="en-US" sz="4800" dirty="0"/>
            </a:br>
            <a:r>
              <a:rPr lang="en-US" sz="4800" dirty="0"/>
              <a:t>Network Categories</a:t>
            </a:r>
            <a:endParaRPr lang="en-US" sz="4800" dirty="0">
              <a:solidFill>
                <a:srgbClr val="3333FF"/>
              </a:solidFill>
            </a:endParaRPr>
          </a:p>
        </p:txBody>
      </p:sp>
      <p:sp>
        <p:nvSpPr>
          <p:cNvPr id="7"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39180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Learning Outcomes</a:t>
            </a:r>
          </a:p>
        </p:txBody>
      </p:sp>
      <p:sp>
        <p:nvSpPr>
          <p:cNvPr id="36867" name="Rectangle 3"/>
          <p:cNvSpPr>
            <a:spLocks noGrp="1" noChangeArrowheads="1"/>
          </p:cNvSpPr>
          <p:nvPr>
            <p:ph idx="1"/>
          </p:nvPr>
        </p:nvSpPr>
        <p:spPr/>
        <p:txBody>
          <a:bodyPr>
            <a:normAutofit fontScale="92500" lnSpcReduction="20000"/>
          </a:bodyPr>
          <a:lstStyle/>
          <a:p>
            <a:pPr algn="just" eaLnBrk="1" hangingPunct="1">
              <a:buClrTx/>
              <a:buFont typeface="Wingdings" panose="05000000000000000000" pitchFamily="2" charset="2"/>
              <a:buChar char="v"/>
            </a:pPr>
            <a:r>
              <a:rPr lang="en-US" altLang="en-US" sz="3000" dirty="0"/>
              <a:t>Personal Area Networks (PAN)</a:t>
            </a:r>
          </a:p>
          <a:p>
            <a:pPr algn="just" eaLnBrk="1" hangingPunct="1">
              <a:buClrTx/>
              <a:buFont typeface="Wingdings" panose="05000000000000000000" pitchFamily="2" charset="2"/>
              <a:buChar char="v"/>
            </a:pPr>
            <a:r>
              <a:rPr lang="en-US" altLang="en-US" sz="3000" dirty="0"/>
              <a:t>Local Area Network (LAN)</a:t>
            </a:r>
          </a:p>
          <a:p>
            <a:pPr algn="just" eaLnBrk="1" hangingPunct="1">
              <a:buClrTx/>
              <a:buFont typeface="Wingdings" panose="05000000000000000000" pitchFamily="2" charset="2"/>
              <a:buChar char="v"/>
            </a:pPr>
            <a:r>
              <a:rPr lang="en-US" altLang="en-US" sz="3000" dirty="0"/>
              <a:t>Metropolitan Area Network (MAN)</a:t>
            </a:r>
          </a:p>
          <a:p>
            <a:pPr algn="just" eaLnBrk="1" hangingPunct="1">
              <a:buClrTx/>
              <a:buFont typeface="Wingdings" panose="05000000000000000000" pitchFamily="2" charset="2"/>
              <a:buChar char="v"/>
            </a:pPr>
            <a:r>
              <a:rPr lang="en-US" altLang="en-US" sz="3000" dirty="0"/>
              <a:t>Wide Area Networks (WAN)</a:t>
            </a:r>
          </a:p>
          <a:p>
            <a:pPr algn="just" eaLnBrk="1" hangingPunct="1">
              <a:buClrTx/>
              <a:buFont typeface="Wingdings" panose="05000000000000000000" pitchFamily="2" charset="2"/>
              <a:buChar char="v"/>
            </a:pPr>
            <a:r>
              <a:rPr lang="en-US" altLang="en-US" sz="3000" dirty="0"/>
              <a:t>Intranets and Extranets</a:t>
            </a:r>
          </a:p>
          <a:p>
            <a:pPr algn="just" eaLnBrk="1" hangingPunct="1">
              <a:buClrTx/>
              <a:buFont typeface="Wingdings" panose="05000000000000000000" pitchFamily="2" charset="2"/>
              <a:buChar char="v"/>
            </a:pPr>
            <a:r>
              <a:rPr lang="en-US" altLang="en-US" sz="3000" dirty="0"/>
              <a:t>Virtual Private Networks (VPN)</a:t>
            </a:r>
          </a:p>
          <a:p>
            <a:pPr algn="just" eaLnBrk="1" hangingPunct="1">
              <a:buClrTx/>
              <a:buFont typeface="Wingdings" panose="05000000000000000000" pitchFamily="2" charset="2"/>
              <a:buChar char="v"/>
            </a:pPr>
            <a:r>
              <a:rPr lang="en-US" altLang="en-US" sz="3000" dirty="0"/>
              <a:t>Internetworks</a:t>
            </a:r>
          </a:p>
          <a:p>
            <a:pPr algn="just" eaLnBrk="1" hangingPunct="1">
              <a:buClrTx/>
              <a:buFont typeface="Wingdings" panose="05000000000000000000" pitchFamily="2" charset="2"/>
              <a:buChar char="v"/>
            </a:pPr>
            <a:r>
              <a:rPr lang="en-US" altLang="en-US" sz="3000" dirty="0"/>
              <a:t>Practical (setting up a network)</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64903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Classification of Networks</a:t>
            </a:r>
          </a:p>
        </p:txBody>
      </p:sp>
      <p:sp>
        <p:nvSpPr>
          <p:cNvPr id="36867"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US" altLang="en-US" dirty="0"/>
              <a:t>Computer networks are classified based on a number of factors.</a:t>
            </a:r>
          </a:p>
          <a:p>
            <a:pPr algn="just" eaLnBrk="1" hangingPunct="1">
              <a:buClrTx/>
              <a:buFont typeface="Wingdings" panose="05000000000000000000" pitchFamily="2" charset="2"/>
              <a:buChar char="§"/>
            </a:pPr>
            <a:r>
              <a:rPr lang="en-US" altLang="en-US" dirty="0"/>
              <a:t>Some factors include:</a:t>
            </a:r>
          </a:p>
          <a:p>
            <a:pPr lvl="1" algn="just" eaLnBrk="1" hangingPunct="1">
              <a:buClrTx/>
              <a:buFont typeface="Wingdings" panose="05000000000000000000" pitchFamily="2" charset="2"/>
              <a:buChar char="ü"/>
            </a:pPr>
            <a:r>
              <a:rPr lang="en-US" altLang="en-US" dirty="0"/>
              <a:t>Size – also referred to as category by some authors;</a:t>
            </a:r>
          </a:p>
          <a:p>
            <a:pPr lvl="1" algn="just" eaLnBrk="1" hangingPunct="1">
              <a:buClrTx/>
              <a:buFont typeface="Wingdings" panose="05000000000000000000" pitchFamily="2" charset="2"/>
              <a:buChar char="ü"/>
            </a:pPr>
            <a:r>
              <a:rPr lang="en-US" altLang="en-US" dirty="0"/>
              <a:t>Physical layout (topology), and</a:t>
            </a:r>
          </a:p>
          <a:p>
            <a:pPr lvl="1" algn="just" eaLnBrk="1" hangingPunct="1">
              <a:buClrTx/>
              <a:buFont typeface="Wingdings" panose="05000000000000000000" pitchFamily="2" charset="2"/>
              <a:buChar char="ü"/>
            </a:pPr>
            <a:r>
              <a:rPr lang="en-US" altLang="en-US" dirty="0"/>
              <a:t>Content access and Security.</a:t>
            </a:r>
            <a:endParaRPr lang="en-US" altLang="en-US" sz="2800" dirty="0">
              <a:solidFill>
                <a:srgbClr val="3333FF"/>
              </a:solidFill>
            </a:endParaRPr>
          </a:p>
          <a:p>
            <a:pPr algn="just" eaLnBrk="1" hangingPunct="1">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869744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Categories of Networks Based on Size</a:t>
            </a:r>
          </a:p>
        </p:txBody>
      </p:sp>
      <p:sp>
        <p:nvSpPr>
          <p:cNvPr id="203779" name="Rectangle 3"/>
          <p:cNvSpPr>
            <a:spLocks noGrp="1" noChangeArrowheads="1"/>
          </p:cNvSpPr>
          <p:nvPr>
            <p:ph idx="1"/>
          </p:nvPr>
        </p:nvSpPr>
        <p:spPr/>
        <p:txBody>
          <a:bodyPr/>
          <a:lstStyle/>
          <a:p>
            <a:pPr algn="just" eaLnBrk="1" hangingPunct="1">
              <a:buClrTx/>
              <a:buFont typeface="Wingdings" panose="05000000000000000000" pitchFamily="2" charset="2"/>
              <a:buChar char="§"/>
              <a:defRPr/>
            </a:pPr>
            <a:r>
              <a:rPr lang="en-US" dirty="0"/>
              <a:t>Personal Area Networks (PAN)</a:t>
            </a:r>
          </a:p>
          <a:p>
            <a:pPr algn="just" eaLnBrk="1" hangingPunct="1">
              <a:buClrTx/>
              <a:buFont typeface="Wingdings" panose="05000000000000000000" pitchFamily="2" charset="2"/>
              <a:buChar char="§"/>
              <a:defRPr/>
            </a:pPr>
            <a:r>
              <a:rPr lang="en-US" dirty="0"/>
              <a:t>Local Area Networks (LAN)</a:t>
            </a:r>
          </a:p>
          <a:p>
            <a:pPr algn="just" eaLnBrk="1" hangingPunct="1">
              <a:buClrTx/>
              <a:buFont typeface="Wingdings" panose="05000000000000000000" pitchFamily="2" charset="2"/>
              <a:buChar char="§"/>
              <a:defRPr/>
            </a:pPr>
            <a:r>
              <a:rPr lang="en-US" dirty="0"/>
              <a:t>Metropolitan Area Networks (MAN)</a:t>
            </a:r>
          </a:p>
          <a:p>
            <a:pPr algn="just" eaLnBrk="1" hangingPunct="1">
              <a:buClrTx/>
              <a:buFont typeface="Wingdings" panose="05000000000000000000" pitchFamily="2" charset="2"/>
              <a:buChar char="§"/>
              <a:defRPr/>
            </a:pPr>
            <a:r>
              <a:rPr lang="en-US" dirty="0"/>
              <a:t>Wide Area Networks (WAN)</a:t>
            </a:r>
          </a:p>
          <a:p>
            <a:pPr algn="just" eaLnBrk="1" hangingPunct="1">
              <a:buClrTx/>
              <a:buFont typeface="Wingdings" panose="05000000000000000000" pitchFamily="2" charset="2"/>
              <a:buChar char="§"/>
              <a:defRPr/>
            </a:pPr>
            <a:endParaRPr 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255852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en-US" dirty="0"/>
              <a:t>Personal Area Network (PAN)</a:t>
            </a:r>
          </a:p>
        </p:txBody>
      </p:sp>
      <p:sp>
        <p:nvSpPr>
          <p:cNvPr id="54275" name="Rectangle 3"/>
          <p:cNvSpPr>
            <a:spLocks noGrp="1" noChangeArrowheads="1"/>
          </p:cNvSpPr>
          <p:nvPr>
            <p:ph idx="1"/>
          </p:nvPr>
        </p:nvSpPr>
        <p:spPr>
          <a:xfrm>
            <a:off x="1630018" y="1600201"/>
            <a:ext cx="8905461" cy="4530725"/>
          </a:xfrm>
        </p:spPr>
        <p:txBody>
          <a:bodyPr/>
          <a:lstStyle/>
          <a:p>
            <a:pPr algn="just" eaLnBrk="1" hangingPunct="1">
              <a:buClrTx/>
              <a:buFont typeface="Wingdings" panose="05000000000000000000" pitchFamily="2" charset="2"/>
              <a:buChar char="§"/>
            </a:pPr>
            <a:r>
              <a:rPr lang="en-US" altLang="en-US" dirty="0"/>
              <a:t>Allow devices to communicate over the range of a person.</a:t>
            </a:r>
          </a:p>
          <a:p>
            <a:pPr algn="just" eaLnBrk="1" hangingPunct="1">
              <a:buClrTx/>
              <a:buFont typeface="Wingdings" panose="05000000000000000000" pitchFamily="2" charset="2"/>
              <a:buChar char="§"/>
            </a:pPr>
            <a:r>
              <a:rPr lang="en-US" altLang="en-US" dirty="0"/>
              <a:t>A common example is a wireless network that connects a computer with its peripherals.</a:t>
            </a:r>
          </a:p>
          <a:p>
            <a:pPr algn="just" eaLnBrk="1" hangingPunct="1">
              <a:buClrTx/>
              <a:buFont typeface="Wingdings" panose="05000000000000000000" pitchFamily="2" charset="2"/>
              <a:buChar char="§"/>
            </a:pPr>
            <a:r>
              <a:rPr lang="en-US" altLang="en-US" dirty="0"/>
              <a:t>Peripherals (components) attached to computers include the monitor, mouse, keyboard and printer.</a:t>
            </a:r>
          </a:p>
          <a:p>
            <a:pPr algn="just" eaLnBrk="1" hangingPunct="1">
              <a:buClrTx/>
              <a:buFont typeface="Wingdings" panose="05000000000000000000" pitchFamily="2" charset="2"/>
              <a:buChar char="§"/>
            </a:pPr>
            <a:r>
              <a:rPr lang="en-US" altLang="en-US" dirty="0"/>
              <a:t>PAN devices mostly use Bluetooth technology to connect to the host computers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583680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en-US"/>
              <a:t>Local Area Network (LAN)</a:t>
            </a:r>
          </a:p>
        </p:txBody>
      </p:sp>
      <p:sp>
        <p:nvSpPr>
          <p:cNvPr id="54275"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US" altLang="en-US" dirty="0"/>
              <a:t>Privately owned</a:t>
            </a:r>
          </a:p>
          <a:p>
            <a:pPr algn="just" eaLnBrk="1" hangingPunct="1">
              <a:buClrTx/>
              <a:buFont typeface="Wingdings" panose="05000000000000000000" pitchFamily="2" charset="2"/>
              <a:buChar char="§"/>
            </a:pPr>
            <a:r>
              <a:rPr lang="en-US" altLang="en-US" dirty="0"/>
              <a:t>Links devices in the same office, building, or campus</a:t>
            </a:r>
          </a:p>
          <a:p>
            <a:pPr algn="just" eaLnBrk="1" hangingPunct="1">
              <a:buClrTx/>
              <a:buFont typeface="Wingdings" panose="05000000000000000000" pitchFamily="2" charset="2"/>
              <a:buChar char="§"/>
            </a:pPr>
            <a:r>
              <a:rPr lang="en-US" altLang="en-US" dirty="0"/>
              <a:t>Simple LAN: 2 PCs &amp; 1 printer in home or office</a:t>
            </a:r>
          </a:p>
          <a:p>
            <a:pPr algn="just" eaLnBrk="1" hangingPunct="1">
              <a:buClrTx/>
              <a:buFont typeface="Wingdings" panose="05000000000000000000" pitchFamily="2" charset="2"/>
              <a:buChar char="§"/>
            </a:pPr>
            <a:r>
              <a:rPr lang="en-US" altLang="en-US" dirty="0"/>
              <a:t>Size is limited to a few kilometers</a:t>
            </a:r>
          </a:p>
          <a:p>
            <a:pPr algn="just" eaLnBrk="1" hangingPunct="1">
              <a:buClrTx/>
              <a:buFont typeface="Wingdings" panose="05000000000000000000" pitchFamily="2" charset="2"/>
              <a:buChar char="§"/>
            </a:pPr>
            <a:r>
              <a:rPr lang="en-US" altLang="en-US" dirty="0"/>
              <a:t>Allow resources to be shared (hardware, software, or data)</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347274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defRPr/>
            </a:pPr>
            <a:r>
              <a:rPr lang="en-US"/>
              <a:t>Local Area Network (LAN)</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5529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1139" y="1677988"/>
            <a:ext cx="6943725" cy="43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 Box 6"/>
          <p:cNvSpPr txBox="1">
            <a:spLocks noChangeArrowheads="1"/>
          </p:cNvSpPr>
          <p:nvPr/>
        </p:nvSpPr>
        <p:spPr bwMode="auto">
          <a:xfrm>
            <a:off x="2573338" y="6226176"/>
            <a:ext cx="7110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en-US" sz="2000"/>
              <a:t>An isolated LAN connecting 12 computers to a hub in a closet</a:t>
            </a:r>
          </a:p>
        </p:txBody>
      </p:sp>
    </p:spTree>
    <p:extLst>
      <p:ext uri="{BB962C8B-B14F-4D97-AF65-F5344CB8AC3E}">
        <p14:creationId xmlns:p14="http://schemas.microsoft.com/office/powerpoint/2010/main" val="4084742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eaLnBrk="1" hangingPunct="1">
              <a:defRPr/>
            </a:pPr>
            <a:r>
              <a:rPr lang="en-US"/>
              <a:t>Metropolitan Area Networks (MAN)</a:t>
            </a:r>
          </a:p>
        </p:txBody>
      </p:sp>
      <p:sp>
        <p:nvSpPr>
          <p:cNvPr id="60419"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US" altLang="en-US" dirty="0"/>
              <a:t>Size between LAN and WAN</a:t>
            </a:r>
          </a:p>
          <a:p>
            <a:pPr algn="just" eaLnBrk="1" hangingPunct="1">
              <a:buClrTx/>
              <a:buFont typeface="Wingdings" panose="05000000000000000000" pitchFamily="2" charset="2"/>
              <a:buChar char="§"/>
            </a:pPr>
            <a:r>
              <a:rPr lang="en-US" altLang="en-US" dirty="0"/>
              <a:t>Inside a town or a city</a:t>
            </a:r>
          </a:p>
          <a:p>
            <a:pPr algn="just" eaLnBrk="1" hangingPunct="1">
              <a:buClrTx/>
              <a:buFont typeface="Wingdings" panose="05000000000000000000" pitchFamily="2" charset="2"/>
              <a:buChar char="§"/>
            </a:pPr>
            <a:r>
              <a:rPr lang="en-US" altLang="en-US" dirty="0"/>
              <a:t>Example: the part of the telephone company network that can provide a high-speed DSL to the customer</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307166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eaLnBrk="1" hangingPunct="1">
              <a:defRPr/>
            </a:pPr>
            <a:r>
              <a:rPr lang="en-US"/>
              <a:t>Wide Area Networks (WAN)</a:t>
            </a:r>
          </a:p>
        </p:txBody>
      </p:sp>
      <p:sp>
        <p:nvSpPr>
          <p:cNvPr id="57347" name="Rectangle 3"/>
          <p:cNvSpPr>
            <a:spLocks noGrp="1" noChangeArrowheads="1"/>
          </p:cNvSpPr>
          <p:nvPr>
            <p:ph idx="1"/>
          </p:nvPr>
        </p:nvSpPr>
        <p:spPr>
          <a:xfrm>
            <a:off x="1616766" y="1600200"/>
            <a:ext cx="8786191" cy="5131904"/>
          </a:xfrm>
        </p:spPr>
        <p:txBody>
          <a:bodyPr/>
          <a:lstStyle/>
          <a:p>
            <a:pPr algn="just" eaLnBrk="1" hangingPunct="1">
              <a:buClrTx/>
              <a:buFont typeface="Wingdings" panose="05000000000000000000" pitchFamily="2" charset="2"/>
              <a:buChar char="§"/>
            </a:pPr>
            <a:r>
              <a:rPr lang="en-US" altLang="en-US" dirty="0"/>
              <a:t>Provides long-distance transmission of data over large geographic areas (country, continent, world).</a:t>
            </a:r>
          </a:p>
          <a:p>
            <a:pPr algn="just" eaLnBrk="1" hangingPunct="1">
              <a:buClrTx/>
              <a:buFont typeface="Wingdings" panose="05000000000000000000" pitchFamily="2" charset="2"/>
              <a:buChar char="§"/>
            </a:pPr>
            <a:endParaRPr lang="en-US" altLang="en-US" dirty="0"/>
          </a:p>
          <a:p>
            <a:pPr algn="just" eaLnBrk="1" hangingPunct="1">
              <a:buClrTx/>
              <a:buFont typeface="Wingdings" panose="05000000000000000000" pitchFamily="2" charset="2"/>
              <a:buChar char="§"/>
            </a:pPr>
            <a:r>
              <a:rPr lang="en-US" altLang="en-US" dirty="0"/>
              <a:t>It connects multiple networks that are geographically separated.</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890696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eaLnBrk="1" hangingPunct="1">
              <a:defRPr/>
            </a:pPr>
            <a:r>
              <a:rPr lang="en-US" dirty="0"/>
              <a:t>Wide Area Networks (WAN) Cont’d</a:t>
            </a:r>
          </a:p>
        </p:txBody>
      </p:sp>
      <p:sp>
        <p:nvSpPr>
          <p:cNvPr id="57347" name="Rectangle 3"/>
          <p:cNvSpPr>
            <a:spLocks noGrp="1" noChangeArrowheads="1"/>
          </p:cNvSpPr>
          <p:nvPr>
            <p:ph idx="1"/>
          </p:nvPr>
        </p:nvSpPr>
        <p:spPr>
          <a:xfrm>
            <a:off x="1616766" y="1600200"/>
            <a:ext cx="8786191" cy="5131904"/>
          </a:xfrm>
        </p:spPr>
        <p:txBody>
          <a:bodyPr/>
          <a:lstStyle/>
          <a:p>
            <a:pPr eaLnBrk="1" hangingPunct="1">
              <a:buClrTx/>
              <a:buFont typeface="Wingdings" panose="05000000000000000000" pitchFamily="2" charset="2"/>
              <a:buChar char="§"/>
            </a:pPr>
            <a:r>
              <a:rPr lang="en-US" altLang="en-US" sz="2400" dirty="0"/>
              <a:t>An example of WAN is the internet as it connects different networks from different countries and continents.</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5734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7757" y="2483687"/>
            <a:ext cx="6780174" cy="4195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6800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defRPr/>
            </a:pPr>
            <a:r>
              <a:rPr lang="en-US" dirty="0"/>
              <a:t>Internetworks</a:t>
            </a:r>
            <a:endParaRPr lang="en-US" sz="3400" dirty="0"/>
          </a:p>
        </p:txBody>
      </p:sp>
      <p:sp>
        <p:nvSpPr>
          <p:cNvPr id="61443" name="Rectangle 3"/>
          <p:cNvSpPr>
            <a:spLocks noGrp="1" noChangeArrowheads="1"/>
          </p:cNvSpPr>
          <p:nvPr>
            <p:ph idx="1"/>
          </p:nvPr>
        </p:nvSpPr>
        <p:spPr>
          <a:xfrm>
            <a:off x="1842052" y="1600201"/>
            <a:ext cx="8494644" cy="4530725"/>
          </a:xfrm>
        </p:spPr>
        <p:txBody>
          <a:bodyPr/>
          <a:lstStyle/>
          <a:p>
            <a:pPr algn="just" eaLnBrk="1" hangingPunct="1">
              <a:buClrTx/>
              <a:buFont typeface="Wingdings" panose="05000000000000000000" pitchFamily="2" charset="2"/>
              <a:buChar char="§"/>
            </a:pPr>
            <a:r>
              <a:rPr lang="en-US" altLang="en-US" dirty="0"/>
              <a:t>Two or more networks connected together.</a:t>
            </a:r>
          </a:p>
          <a:p>
            <a:pPr algn="just" eaLnBrk="1" hangingPunct="1">
              <a:buClrTx/>
              <a:buFont typeface="Wingdings" panose="05000000000000000000" pitchFamily="2" charset="2"/>
              <a:buChar char="§"/>
            </a:pPr>
            <a:r>
              <a:rPr lang="en-US" altLang="en-US" dirty="0"/>
              <a:t>Internetworking is the practice of interconnecting multiple computer networks, such that any pair of hosts in the connected networks can exchange messages irrespective of their hardware-level networking technology.</a:t>
            </a:r>
          </a:p>
          <a:p>
            <a:pPr algn="just" eaLnBrk="1" hangingPunct="1">
              <a:buClrTx/>
              <a:buFont typeface="Wingdings" panose="05000000000000000000" pitchFamily="2" charset="2"/>
              <a:buChar char="§"/>
            </a:pPr>
            <a:r>
              <a:rPr lang="en-US" altLang="en-US" dirty="0"/>
              <a:t>The resulting system of interconnected networks are called an internetwork, or simply an </a:t>
            </a:r>
            <a:r>
              <a:rPr lang="en-US" altLang="en-US" b="1" dirty="0"/>
              <a:t>internet</a:t>
            </a:r>
            <a:r>
              <a:rPr lang="en-US" altLang="en-US" dirty="0"/>
              <a:t>. </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545823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defRPr/>
            </a:pPr>
            <a:r>
              <a:rPr lang="en-US" dirty="0"/>
              <a:t>Internetworks Cont’d</a:t>
            </a:r>
            <a:endParaRPr lang="en-US" sz="34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6144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0472" y="1279727"/>
            <a:ext cx="6032224" cy="5445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489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Classification of Networks Based on Content Access and Security</a:t>
            </a:r>
          </a:p>
        </p:txBody>
      </p:sp>
      <p:sp>
        <p:nvSpPr>
          <p:cNvPr id="203779" name="Rectangle 3"/>
          <p:cNvSpPr>
            <a:spLocks noGrp="1" noChangeArrowheads="1"/>
          </p:cNvSpPr>
          <p:nvPr>
            <p:ph idx="1"/>
          </p:nvPr>
        </p:nvSpPr>
        <p:spPr/>
        <p:txBody>
          <a:bodyPr/>
          <a:lstStyle/>
          <a:p>
            <a:pPr algn="just" eaLnBrk="1" hangingPunct="1">
              <a:buClrTx/>
              <a:buFont typeface="Wingdings" panose="05000000000000000000" pitchFamily="2" charset="2"/>
              <a:buChar char="§"/>
              <a:defRPr/>
            </a:pPr>
            <a:r>
              <a:rPr lang="en-US" dirty="0"/>
              <a:t>Some companies invest in computer networks in order to protect their privacy and provide enough security to their information resources.</a:t>
            </a:r>
          </a:p>
          <a:p>
            <a:pPr algn="just" eaLnBrk="1" hangingPunct="1">
              <a:buClrTx/>
              <a:buFont typeface="Wingdings" panose="05000000000000000000" pitchFamily="2" charset="2"/>
              <a:buChar char="§"/>
              <a:defRPr/>
            </a:pPr>
            <a:endParaRPr lang="en-US" dirty="0"/>
          </a:p>
          <a:p>
            <a:pPr algn="just" eaLnBrk="1" hangingPunct="1">
              <a:buClrTx/>
              <a:buFont typeface="Wingdings" panose="05000000000000000000" pitchFamily="2" charset="2"/>
              <a:buChar char="§"/>
              <a:defRPr/>
            </a:pPr>
            <a:r>
              <a:rPr lang="en-US" dirty="0"/>
              <a:t>Such networks include:</a:t>
            </a:r>
          </a:p>
          <a:p>
            <a:pPr lvl="1" algn="just" eaLnBrk="1" hangingPunct="1">
              <a:buClrTx/>
              <a:buFont typeface="Wingdings" panose="05000000000000000000" pitchFamily="2" charset="2"/>
              <a:buChar char="ü"/>
              <a:defRPr/>
            </a:pPr>
            <a:r>
              <a:rPr lang="en-US" sz="2300" dirty="0"/>
              <a:t>Intranets</a:t>
            </a:r>
          </a:p>
          <a:p>
            <a:pPr lvl="1" algn="just" eaLnBrk="1" hangingPunct="1">
              <a:buClrTx/>
              <a:buFont typeface="Wingdings" panose="05000000000000000000" pitchFamily="2" charset="2"/>
              <a:buChar char="ü"/>
              <a:defRPr/>
            </a:pPr>
            <a:r>
              <a:rPr lang="en-US" sz="2300" dirty="0"/>
              <a:t>Extranets</a:t>
            </a:r>
          </a:p>
          <a:p>
            <a:pPr lvl="1" algn="just" eaLnBrk="1" hangingPunct="1">
              <a:buClrTx/>
              <a:buFont typeface="Wingdings" panose="05000000000000000000" pitchFamily="2" charset="2"/>
              <a:buChar char="ü"/>
              <a:defRPr/>
            </a:pPr>
            <a:r>
              <a:rPr lang="en-US" sz="2300" dirty="0"/>
              <a:t>Virtual Private Networks (VPN)</a:t>
            </a:r>
          </a:p>
          <a:p>
            <a:pPr lvl="1" algn="just" eaLnBrk="1" hangingPunct="1">
              <a:buClrTx/>
              <a:buFont typeface="Wingdings" panose="05000000000000000000" pitchFamily="2" charset="2"/>
              <a:buChar char="§"/>
              <a:defRPr/>
            </a:pPr>
            <a:endParaRPr lang="en-US" sz="23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904342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Intranet</a:t>
            </a:r>
          </a:p>
        </p:txBody>
      </p:sp>
      <p:sp>
        <p:nvSpPr>
          <p:cNvPr id="24579" name="Content Placeholder 2"/>
          <p:cNvSpPr>
            <a:spLocks noGrp="1"/>
          </p:cNvSpPr>
          <p:nvPr>
            <p:ph idx="1"/>
          </p:nvPr>
        </p:nvSpPr>
        <p:spPr>
          <a:xfrm>
            <a:off x="1656523" y="1600201"/>
            <a:ext cx="8918712" cy="4880113"/>
          </a:xfrm>
        </p:spPr>
        <p:txBody>
          <a:bodyPr/>
          <a:lstStyle/>
          <a:p>
            <a:pPr algn="just">
              <a:buClrTx/>
              <a:buFont typeface="Wingdings" panose="05000000000000000000" pitchFamily="2" charset="2"/>
              <a:buChar char="§"/>
            </a:pPr>
            <a:r>
              <a:rPr lang="en-GB" altLang="en-US" dirty="0"/>
              <a:t>It is a </a:t>
            </a:r>
            <a:r>
              <a:rPr lang="en-GB" altLang="en-US" b="1" dirty="0"/>
              <a:t>Private network </a:t>
            </a:r>
            <a:r>
              <a:rPr lang="en-GB" altLang="en-US" dirty="0"/>
              <a:t>specific to an organisation.</a:t>
            </a:r>
          </a:p>
          <a:p>
            <a:pPr algn="just">
              <a:buClrTx/>
              <a:buFont typeface="Wingdings" panose="05000000000000000000" pitchFamily="2" charset="2"/>
              <a:buChar char="§"/>
            </a:pPr>
            <a:r>
              <a:rPr lang="en-GB" altLang="en-US" dirty="0"/>
              <a:t>It is regulated by an organization.</a:t>
            </a:r>
          </a:p>
          <a:p>
            <a:pPr algn="just">
              <a:buClrTx/>
              <a:buFont typeface="Wingdings" panose="05000000000000000000" pitchFamily="2" charset="2"/>
              <a:buChar char="§"/>
            </a:pPr>
            <a:r>
              <a:rPr lang="en-GB" altLang="en-US" dirty="0"/>
              <a:t>Thus content in the network is accessible </a:t>
            </a:r>
            <a:r>
              <a:rPr lang="en-GB" altLang="en-US" b="1" dirty="0"/>
              <a:t>only to members</a:t>
            </a:r>
            <a:r>
              <a:rPr lang="en-GB" altLang="en-US" dirty="0"/>
              <a:t> of organization.</a:t>
            </a:r>
          </a:p>
          <a:p>
            <a:pPr algn="just">
              <a:buClrTx/>
              <a:buFont typeface="Wingdings" panose="05000000000000000000" pitchFamily="2" charset="2"/>
              <a:buChar char="§"/>
            </a:pPr>
            <a:r>
              <a:rPr lang="en-GB" altLang="en-US" dirty="0"/>
              <a:t>It is small network with minimal number of connected devices.</a:t>
            </a:r>
          </a:p>
          <a:p>
            <a:pPr algn="just">
              <a:buClrTx/>
              <a:buFont typeface="Wingdings" panose="05000000000000000000" pitchFamily="2" charset="2"/>
              <a:buChar char="§"/>
            </a:pPr>
            <a:r>
              <a:rPr lang="en-GB" altLang="en-US" dirty="0"/>
              <a:t>It is owned by single organization.</a:t>
            </a:r>
          </a:p>
          <a:p>
            <a:pPr algn="just">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37265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Intranet cont’d</a:t>
            </a:r>
          </a:p>
        </p:txBody>
      </p:sp>
      <p:sp>
        <p:nvSpPr>
          <p:cNvPr id="25603" name="Content Placeholder 2"/>
          <p:cNvSpPr>
            <a:spLocks noGrp="1"/>
          </p:cNvSpPr>
          <p:nvPr>
            <p:ph idx="1"/>
          </p:nvPr>
        </p:nvSpPr>
        <p:spPr>
          <a:xfrm>
            <a:off x="1616765" y="1600201"/>
            <a:ext cx="8706679" cy="4734339"/>
          </a:xfrm>
        </p:spPr>
        <p:txBody>
          <a:bodyPr/>
          <a:lstStyle/>
          <a:p>
            <a:pPr algn="just">
              <a:buClrTx/>
              <a:buFont typeface="Wingdings" panose="05000000000000000000" pitchFamily="2" charset="2"/>
              <a:buChar char="§"/>
            </a:pPr>
            <a:r>
              <a:rPr lang="en-GB" altLang="en-US" dirty="0"/>
              <a:t>It is means of </a:t>
            </a:r>
            <a:r>
              <a:rPr lang="en-GB" altLang="en-US" b="1" dirty="0"/>
              <a:t>sharing sensitive information </a:t>
            </a:r>
            <a:r>
              <a:rPr lang="en-GB" altLang="en-US" dirty="0"/>
              <a:t>throughout organization.</a:t>
            </a:r>
          </a:p>
          <a:p>
            <a:pPr algn="just">
              <a:buClrTx/>
              <a:buFont typeface="Wingdings" panose="05000000000000000000" pitchFamily="2" charset="2"/>
              <a:buChar char="§"/>
            </a:pPr>
            <a:r>
              <a:rPr lang="en-GB" altLang="en-US" dirty="0"/>
              <a:t>Security is enforced via a firewall.</a:t>
            </a:r>
          </a:p>
          <a:p>
            <a:pPr algn="just">
              <a:buClrTx/>
              <a:buFont typeface="Wingdings" panose="05000000000000000000" pitchFamily="2" charset="2"/>
              <a:buChar char="§"/>
            </a:pPr>
            <a:r>
              <a:rPr lang="en-GB" altLang="en-US" b="1" dirty="0"/>
              <a:t>Example:</a:t>
            </a:r>
            <a:r>
              <a:rPr lang="en-GB" altLang="en-US" dirty="0"/>
              <a:t> Airtel using internal network for its business operations.</a:t>
            </a:r>
          </a:p>
          <a:p>
            <a:pPr algn="just">
              <a:buClrTx/>
              <a:buFont typeface="Wingdings" panose="05000000000000000000" pitchFamily="2" charset="2"/>
              <a:buChar char="§"/>
            </a:pPr>
            <a:r>
              <a:rPr lang="en-GB" altLang="en-US" dirty="0"/>
              <a:t>Users should have valid username/password to access Intranet.</a:t>
            </a:r>
          </a:p>
          <a:p>
            <a:pPr algn="just">
              <a:buClrTx/>
              <a:buFont typeface="Wingdings" panose="05000000000000000000" pitchFamily="2" charset="2"/>
              <a:buChar char="§"/>
            </a:pPr>
            <a:r>
              <a:rPr lang="en-GB" altLang="en-US" dirty="0"/>
              <a:t>Intranet is regulated by the </a:t>
            </a:r>
            <a:r>
              <a:rPr lang="en-GB" altLang="en-US" b="1" dirty="0"/>
              <a:t>organization policies</a:t>
            </a:r>
            <a:r>
              <a:rPr lang="en-GB" altLang="en-US" dirty="0"/>
              <a:t>.</a:t>
            </a:r>
          </a:p>
          <a:p>
            <a:pPr algn="just">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3904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Intranet cont’d</a:t>
            </a:r>
          </a:p>
        </p:txBody>
      </p:sp>
      <p:sp>
        <p:nvSpPr>
          <p:cNvPr id="26627" name="Content Placeholder 2"/>
          <p:cNvSpPr>
            <a:spLocks noGrp="1"/>
          </p:cNvSpPr>
          <p:nvPr>
            <p:ph idx="1"/>
          </p:nvPr>
        </p:nvSpPr>
        <p:spPr>
          <a:xfrm>
            <a:off x="1630019" y="1600201"/>
            <a:ext cx="8945217" cy="4880113"/>
          </a:xfrm>
        </p:spPr>
        <p:txBody>
          <a:bodyPr/>
          <a:lstStyle/>
          <a:p>
            <a:pPr algn="just">
              <a:buClrTx/>
              <a:buFont typeface="Wingdings" panose="05000000000000000000" pitchFamily="2" charset="2"/>
              <a:buChar char="§"/>
            </a:pPr>
            <a:r>
              <a:rPr lang="en-GB" altLang="en-US" dirty="0"/>
              <a:t>It is means of </a:t>
            </a:r>
            <a:r>
              <a:rPr lang="en-GB" altLang="en-US" b="1" dirty="0"/>
              <a:t>sharing sensitive information </a:t>
            </a:r>
            <a:r>
              <a:rPr lang="en-GB" altLang="en-US" dirty="0"/>
              <a:t>throughout organization.</a:t>
            </a:r>
          </a:p>
          <a:p>
            <a:pPr algn="just">
              <a:buClrTx/>
              <a:buFont typeface="Wingdings" panose="05000000000000000000" pitchFamily="2" charset="2"/>
              <a:buChar char="§"/>
            </a:pPr>
            <a:r>
              <a:rPr lang="en-US" altLang="en-US" dirty="0"/>
              <a:t>It may span over one building, one area, or one country. In addition, there are many multinational organizations that maintain Intranets between countries using dedicated fiber optic connections.</a:t>
            </a:r>
            <a:endParaRPr lang="en-GB" altLang="en-US" dirty="0"/>
          </a:p>
          <a:p>
            <a:pPr algn="just">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057320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Extranet</a:t>
            </a:r>
          </a:p>
        </p:txBody>
      </p:sp>
      <p:sp>
        <p:nvSpPr>
          <p:cNvPr id="28675" name="Content Placeholder 2"/>
          <p:cNvSpPr>
            <a:spLocks noGrp="1"/>
          </p:cNvSpPr>
          <p:nvPr>
            <p:ph idx="1"/>
          </p:nvPr>
        </p:nvSpPr>
        <p:spPr>
          <a:xfrm>
            <a:off x="1981200" y="1600201"/>
            <a:ext cx="8229600" cy="4893365"/>
          </a:xfrm>
        </p:spPr>
        <p:txBody>
          <a:bodyPr/>
          <a:lstStyle/>
          <a:p>
            <a:pPr algn="just">
              <a:buClrTx/>
              <a:buFont typeface="Wingdings" panose="05000000000000000000" pitchFamily="2" charset="2"/>
              <a:buChar char="§"/>
            </a:pPr>
            <a:r>
              <a:rPr lang="en-GB" altLang="en-US" dirty="0"/>
              <a:t>It is a </a:t>
            </a:r>
            <a:r>
              <a:rPr lang="en-GB" altLang="en-US" b="1" dirty="0"/>
              <a:t>Private network</a:t>
            </a:r>
            <a:r>
              <a:rPr lang="en-GB" altLang="en-US" dirty="0"/>
              <a:t> that uses public network to share information with suppliers and vendors.</a:t>
            </a:r>
          </a:p>
          <a:p>
            <a:pPr algn="just">
              <a:buClrTx/>
              <a:buFont typeface="Wingdings" panose="05000000000000000000" pitchFamily="2" charset="2"/>
              <a:buChar char="§"/>
            </a:pPr>
            <a:r>
              <a:rPr lang="en-GB" altLang="en-US" dirty="0"/>
              <a:t>It is regulated by multiple organization.</a:t>
            </a:r>
          </a:p>
          <a:p>
            <a:pPr algn="just">
              <a:buClrTx/>
              <a:buFont typeface="Wingdings" panose="05000000000000000000" pitchFamily="2" charset="2"/>
              <a:buChar char="§"/>
            </a:pPr>
            <a:r>
              <a:rPr lang="en-GB" altLang="en-US" dirty="0"/>
              <a:t>The content in the network is accessible to members of organization &amp; </a:t>
            </a:r>
            <a:r>
              <a:rPr lang="en-GB" altLang="en-US" b="1" dirty="0"/>
              <a:t>external members</a:t>
            </a:r>
            <a:r>
              <a:rPr lang="en-GB" altLang="en-US" dirty="0"/>
              <a:t> with access to the network.</a:t>
            </a:r>
          </a:p>
          <a:p>
            <a:pPr algn="just">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813353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Extranet cont’d</a:t>
            </a:r>
          </a:p>
        </p:txBody>
      </p:sp>
      <p:sp>
        <p:nvSpPr>
          <p:cNvPr id="29699" name="Content Placeholder 2"/>
          <p:cNvSpPr>
            <a:spLocks noGrp="1"/>
          </p:cNvSpPr>
          <p:nvPr>
            <p:ph idx="1"/>
          </p:nvPr>
        </p:nvSpPr>
        <p:spPr>
          <a:xfrm>
            <a:off x="1683026" y="1600201"/>
            <a:ext cx="8865704" cy="4530725"/>
          </a:xfrm>
        </p:spPr>
        <p:txBody>
          <a:bodyPr/>
          <a:lstStyle/>
          <a:p>
            <a:pPr algn="just">
              <a:buClrTx/>
              <a:buFont typeface="Wingdings" panose="05000000000000000000" pitchFamily="2" charset="2"/>
              <a:buChar char="§"/>
            </a:pPr>
            <a:r>
              <a:rPr lang="en-GB" altLang="en-US" dirty="0"/>
              <a:t>The number of devices connected is comparable with Intranet.</a:t>
            </a:r>
          </a:p>
          <a:p>
            <a:pPr algn="just">
              <a:buClrTx/>
              <a:buFont typeface="Wingdings" panose="05000000000000000000" pitchFamily="2" charset="2"/>
              <a:buChar char="§"/>
            </a:pPr>
            <a:r>
              <a:rPr lang="en-GB" altLang="en-US" dirty="0"/>
              <a:t>It is owned by single/multiple organization.</a:t>
            </a:r>
          </a:p>
          <a:p>
            <a:pPr algn="just">
              <a:buClrTx/>
              <a:buFont typeface="Wingdings" panose="05000000000000000000" pitchFamily="2" charset="2"/>
              <a:buChar char="§"/>
            </a:pPr>
            <a:r>
              <a:rPr lang="en-GB" altLang="en-US" dirty="0"/>
              <a:t>It is means of sharing information </a:t>
            </a:r>
            <a:r>
              <a:rPr lang="en-GB" altLang="en-US" b="1" dirty="0"/>
              <a:t>between members and external </a:t>
            </a:r>
            <a:r>
              <a:rPr lang="en-GB" altLang="en-US" dirty="0"/>
              <a:t>members.</a:t>
            </a:r>
          </a:p>
          <a:p>
            <a:pPr algn="just">
              <a:buClrTx/>
              <a:buFont typeface="Wingdings" panose="05000000000000000000" pitchFamily="2" charset="2"/>
              <a:buChar char="§"/>
            </a:pPr>
            <a:r>
              <a:rPr lang="en-GB" altLang="en-US" dirty="0"/>
              <a:t>Security is enforced via a firewall that separates internet &amp; extranet.</a:t>
            </a:r>
          </a:p>
          <a:p>
            <a:pPr algn="just">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206897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Extranet cont’d</a:t>
            </a:r>
          </a:p>
        </p:txBody>
      </p:sp>
      <p:sp>
        <p:nvSpPr>
          <p:cNvPr id="30723" name="Content Placeholder 2"/>
          <p:cNvSpPr>
            <a:spLocks noGrp="1"/>
          </p:cNvSpPr>
          <p:nvPr>
            <p:ph idx="1"/>
          </p:nvPr>
        </p:nvSpPr>
        <p:spPr>
          <a:xfrm>
            <a:off x="1643270" y="1600201"/>
            <a:ext cx="8878956" cy="4999383"/>
          </a:xfrm>
        </p:spPr>
        <p:txBody>
          <a:bodyPr/>
          <a:lstStyle/>
          <a:p>
            <a:pPr algn="just">
              <a:buClrTx/>
              <a:buFont typeface="Wingdings" panose="05000000000000000000" pitchFamily="2" charset="2"/>
              <a:buChar char="§"/>
            </a:pPr>
            <a:r>
              <a:rPr lang="en-GB" altLang="en-US" b="1" dirty="0"/>
              <a:t>Example:</a:t>
            </a:r>
            <a:r>
              <a:rPr lang="en-GB" altLang="en-US" dirty="0"/>
              <a:t> HP and Intel using network for business related operations.</a:t>
            </a:r>
          </a:p>
          <a:p>
            <a:pPr algn="just">
              <a:buClrTx/>
              <a:buFont typeface="Wingdings" panose="05000000000000000000" pitchFamily="2" charset="2"/>
              <a:buChar char="§"/>
            </a:pPr>
            <a:r>
              <a:rPr lang="en-GB" altLang="en-US" dirty="0"/>
              <a:t>Users should have valid username/password to access Extranet.</a:t>
            </a:r>
          </a:p>
          <a:p>
            <a:pPr algn="just">
              <a:buClrTx/>
              <a:buFont typeface="Wingdings" panose="05000000000000000000" pitchFamily="2" charset="2"/>
              <a:buChar char="§"/>
            </a:pPr>
            <a:r>
              <a:rPr lang="en-GB" altLang="en-US" dirty="0"/>
              <a:t>Extranet is also </a:t>
            </a:r>
            <a:r>
              <a:rPr lang="en-GB" altLang="en-US" b="1" dirty="0"/>
              <a:t>regulated by contractual</a:t>
            </a:r>
            <a:r>
              <a:rPr lang="en-GB" altLang="en-US" dirty="0"/>
              <a:t> agreements between organizations.</a:t>
            </a:r>
          </a:p>
          <a:p>
            <a:pPr algn="just">
              <a:buClrTx/>
              <a:buFont typeface="Wingdings" panose="05000000000000000000" pitchFamily="2" charset="2"/>
              <a:buChar char="§"/>
            </a:pPr>
            <a:r>
              <a:rPr lang="en-GB" altLang="en-US" b="1" dirty="0"/>
              <a:t>Example:</a:t>
            </a:r>
            <a:r>
              <a:rPr lang="en-GB" altLang="en-US" dirty="0"/>
              <a:t> HP and Intel using network for business related operations.</a:t>
            </a:r>
          </a:p>
          <a:p>
            <a:pPr algn="just">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063444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Extranet cont’d</a:t>
            </a:r>
          </a:p>
        </p:txBody>
      </p:sp>
      <p:sp>
        <p:nvSpPr>
          <p:cNvPr id="31747" name="Content Placeholder 2"/>
          <p:cNvSpPr>
            <a:spLocks noGrp="1"/>
          </p:cNvSpPr>
          <p:nvPr>
            <p:ph idx="1"/>
          </p:nvPr>
        </p:nvSpPr>
        <p:spPr>
          <a:xfrm>
            <a:off x="1696278" y="1600200"/>
            <a:ext cx="8693426" cy="4177748"/>
          </a:xfrm>
        </p:spPr>
        <p:txBody>
          <a:bodyPr/>
          <a:lstStyle/>
          <a:p>
            <a:pPr algn="just">
              <a:buClrTx/>
              <a:buFont typeface="Wingdings" panose="05000000000000000000" pitchFamily="2" charset="2"/>
              <a:buChar char="§"/>
            </a:pPr>
            <a:r>
              <a:rPr lang="en-US" altLang="en-US" dirty="0"/>
              <a:t>It is controlled and managed by an organization to provide secure access to Intranet from the outside world.</a:t>
            </a:r>
          </a:p>
          <a:p>
            <a:pPr algn="just">
              <a:buClrTx/>
              <a:buFont typeface="Wingdings" panose="05000000000000000000" pitchFamily="2" charset="2"/>
              <a:buChar char="§"/>
            </a:pPr>
            <a:r>
              <a:rPr lang="en-US" altLang="en-US" dirty="0"/>
              <a:t>Many business organizations need their business partners and customers to connect to Intranet to enhance communication and efficiency.</a:t>
            </a:r>
          </a:p>
          <a:p>
            <a:pPr algn="just">
              <a:buClrTx/>
              <a:buFont typeface="Wingdings" panose="05000000000000000000" pitchFamily="2" charset="2"/>
              <a:buChar char="§"/>
            </a:pPr>
            <a:r>
              <a:rPr lang="en-US" altLang="en-US" dirty="0"/>
              <a:t>Generally, external users are given limited access over the Intranet.</a:t>
            </a:r>
            <a:endParaRPr lang="en-GB" altLang="en-US" dirty="0"/>
          </a:p>
          <a:p>
            <a:pPr algn="just">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075954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Virtual Private Networks (VPN)</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A VPN is a service which uses private networks on top of public networks (internet) to provide a channel for data transmission.</a:t>
            </a:r>
          </a:p>
          <a:p>
            <a:pPr algn="just" eaLnBrk="1" hangingPunct="1">
              <a:buClrTx/>
              <a:buFont typeface="Wingdings" panose="05000000000000000000" pitchFamily="2" charset="2"/>
              <a:buChar char="§"/>
              <a:defRPr/>
            </a:pPr>
            <a:endParaRPr lang="en-US" dirty="0"/>
          </a:p>
          <a:p>
            <a:pPr algn="just" eaLnBrk="1" hangingPunct="1">
              <a:buClrTx/>
              <a:buFont typeface="Wingdings" panose="05000000000000000000" pitchFamily="2" charset="2"/>
              <a:buChar char="§"/>
              <a:defRPr/>
            </a:pPr>
            <a:r>
              <a:rPr lang="en-US" dirty="0"/>
              <a:t>A VPN is called virtual because it is a mere illusion, just as virtual circuits are not real circuits and virtual memory is not real memory.</a:t>
            </a:r>
          </a:p>
          <a:p>
            <a:pPr algn="just" eaLnBrk="1" hangingPunct="1">
              <a:buClrTx/>
              <a:buFont typeface="Wingdings" panose="05000000000000000000" pitchFamily="2" charset="2"/>
              <a:buChar char="§"/>
              <a:defRPr/>
            </a:pPr>
            <a:endParaRPr 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052755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VPNs cont’d</a:t>
            </a:r>
          </a:p>
        </p:txBody>
      </p:sp>
      <p:sp>
        <p:nvSpPr>
          <p:cNvPr id="203779" name="Rectangle 3"/>
          <p:cNvSpPr>
            <a:spLocks noGrp="1" noChangeArrowheads="1"/>
          </p:cNvSpPr>
          <p:nvPr>
            <p:ph idx="1"/>
          </p:nvPr>
        </p:nvSpPr>
        <p:spPr>
          <a:xfrm>
            <a:off x="1669774" y="1600201"/>
            <a:ext cx="8878956" cy="4906617"/>
          </a:xfrm>
        </p:spPr>
        <p:txBody>
          <a:bodyPr/>
          <a:lstStyle/>
          <a:p>
            <a:pPr algn="just" eaLnBrk="1" hangingPunct="1">
              <a:buClrTx/>
              <a:buFont typeface="Wingdings" panose="05000000000000000000" pitchFamily="2" charset="2"/>
              <a:buChar char="§"/>
              <a:defRPr/>
            </a:pPr>
            <a:r>
              <a:rPr lang="en-US" dirty="0"/>
              <a:t>A VPN would be better understood by looking at water distribution pipes. A VPN is like a small tunnel (pipe) passing through a bigger tunnel or pipe. The smaller pipe acts as a private network which will be used only by the private consumers who have privately paid for such a service.</a:t>
            </a:r>
          </a:p>
          <a:p>
            <a:pPr algn="just" eaLnBrk="1" hangingPunct="1">
              <a:buClrTx/>
              <a:buFont typeface="Wingdings" panose="05000000000000000000" pitchFamily="2" charset="2"/>
              <a:buChar char="§"/>
              <a:defRPr/>
            </a:pPr>
            <a:r>
              <a:rPr lang="en-US" dirty="0"/>
              <a:t>The bigger pipe is the public network (internet) which can be accessed by anyone.</a:t>
            </a:r>
          </a:p>
          <a:p>
            <a:pPr algn="just" eaLnBrk="1" hangingPunct="1">
              <a:buClrTx/>
              <a:buFont typeface="Wingdings" panose="05000000000000000000" pitchFamily="2" charset="2"/>
              <a:buChar char="§"/>
              <a:defRPr/>
            </a:pPr>
            <a:endParaRPr 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487066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VPNs cont’d</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VPS are protected by firewalls at both end for maximum protection of information since they pass through the internet.</a:t>
            </a:r>
          </a:p>
          <a:p>
            <a:pPr algn="just" eaLnBrk="1" hangingPunct="1">
              <a:buClrTx/>
              <a:buFont typeface="Wingdings" panose="05000000000000000000" pitchFamily="2" charset="2"/>
              <a:buChar char="§"/>
              <a:defRPr/>
            </a:pPr>
            <a:endParaRPr 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418248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1981200" y="861391"/>
            <a:ext cx="8229600" cy="4426225"/>
          </a:xfrm>
        </p:spPr>
        <p:txBody>
          <a:bodyPr/>
          <a:lstStyle/>
          <a:p>
            <a:pPr algn="ctr" eaLnBrk="1" hangingPunct="1">
              <a:defRPr/>
            </a:pPr>
            <a:r>
              <a:rPr lang="en-US" dirty="0"/>
              <a:t>TOPIC 4:</a:t>
            </a:r>
            <a:br>
              <a:rPr lang="en-US" dirty="0"/>
            </a:br>
            <a:r>
              <a:rPr lang="en-US" dirty="0"/>
              <a:t/>
            </a:r>
            <a:br>
              <a:rPr lang="en-US" dirty="0"/>
            </a:br>
            <a:r>
              <a:rPr lang="en-US" dirty="0"/>
              <a:t>WIRED AND WIRELESS NETWORKS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906787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Learning Outcomes</a:t>
            </a:r>
          </a:p>
        </p:txBody>
      </p:sp>
      <p:sp>
        <p:nvSpPr>
          <p:cNvPr id="203779" name="Rectangle 3"/>
          <p:cNvSpPr>
            <a:spLocks noGrp="1" noChangeArrowheads="1"/>
          </p:cNvSpPr>
          <p:nvPr>
            <p:ph type="body" idx="1"/>
          </p:nvPr>
        </p:nvSpPr>
        <p:spPr>
          <a:xfrm>
            <a:off x="1669774" y="1600201"/>
            <a:ext cx="8878956" cy="4530725"/>
          </a:xfrm>
        </p:spPr>
        <p:txBody>
          <a:bodyPr/>
          <a:lstStyle/>
          <a:p>
            <a:pPr algn="just" eaLnBrk="1" hangingPunct="1">
              <a:buClrTx/>
              <a:buFont typeface="Wingdings" panose="05000000000000000000" pitchFamily="2" charset="2"/>
              <a:buChar char="v"/>
              <a:defRPr/>
            </a:pPr>
            <a:r>
              <a:rPr lang="en-US" dirty="0"/>
              <a:t>Wired communication media</a:t>
            </a:r>
          </a:p>
          <a:p>
            <a:pPr algn="just" eaLnBrk="1" hangingPunct="1">
              <a:buClrTx/>
              <a:buFont typeface="Wingdings" panose="05000000000000000000" pitchFamily="2" charset="2"/>
              <a:buChar char="v"/>
              <a:defRPr/>
            </a:pPr>
            <a:r>
              <a:rPr lang="en-US" dirty="0"/>
              <a:t>Wireless communications media</a:t>
            </a:r>
          </a:p>
          <a:p>
            <a:pPr algn="just" eaLnBrk="1" hangingPunct="1">
              <a:buClrTx/>
              <a:buFont typeface="Wingdings" panose="05000000000000000000" pitchFamily="2" charset="2"/>
              <a:buChar char="v"/>
              <a:defRPr/>
            </a:pPr>
            <a:r>
              <a:rPr lang="en-US" dirty="0"/>
              <a:t>The electronic spectrum</a:t>
            </a:r>
          </a:p>
          <a:p>
            <a:pPr algn="just" eaLnBrk="1" hangingPunct="1">
              <a:buClrTx/>
              <a:buFont typeface="Wingdings" panose="05000000000000000000" pitchFamily="2" charset="2"/>
              <a:buChar char="v"/>
              <a:defRPr/>
            </a:pPr>
            <a:r>
              <a:rPr lang="en-US" dirty="0"/>
              <a:t>Practical Lessons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922869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Wired Communication</a:t>
            </a:r>
          </a:p>
        </p:txBody>
      </p:sp>
      <p:sp>
        <p:nvSpPr>
          <p:cNvPr id="203779" name="Rectangle 3"/>
          <p:cNvSpPr>
            <a:spLocks noGrp="1" noChangeArrowheads="1"/>
          </p:cNvSpPr>
          <p:nvPr>
            <p:ph type="body"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Wired communication refers to the communication that happens with the use of physical wires also known as cables.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49363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1-Wired-Transmission-Media-1-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2798260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Wired-Transmission-Media-2-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31952133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Wired-Transmission-Media-3-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2015875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Wired-Transmission-Media-4-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2878920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Wired-Transmission-Media-5-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3756091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Wired-Transmission-Media-6-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363502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Wired-Transmission-Media-7-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1183202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Wired-Transmission-Media-8-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34631057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Wired-Transmission-Media-9-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3680346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Wired-Transmission-Media-10-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18101330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Wired-Transmission-Media-11-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1594266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Wired-Transmission-Media-12-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401779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Wired-Transmission-Media-13-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128131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Wired-Transmission-Media-14-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4022236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Wired-Transmission-Media-15-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1371547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Wired-Transmission-Media-16-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4125721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Wired-Transmission-Media-17-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41295269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Wired-Transmission-Media-18-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2935053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Wired-Transmission-Media-19-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2982391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Wired-Transmission-Media-20-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1798245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1-Wired-Transmission-Media-21-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15174209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Wired-Transmission-Media-22-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29999908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3-Wired-Transmission-Media-23-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38170259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4-Wired-Transmission-Media-24-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1746323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5-Wired-Transmission-Media-25-638.jpg"/>
          <p:cNvPicPr>
            <a:picLocks noChangeAspect="1"/>
          </p:cNvPicPr>
          <p:nvPr/>
        </p:nvPicPr>
        <p:blipFill>
          <a:blip r:embed="rId2"/>
          <a:stretch>
            <a:fillRect/>
          </a:stretch>
        </p:blipFill>
        <p:spPr>
          <a:xfrm>
            <a:off x="1524000" y="4571"/>
            <a:ext cx="9144000" cy="6858000"/>
          </a:xfrm>
          <a:prstGeom prst="rect">
            <a:avLst/>
          </a:prstGeom>
        </p:spPr>
      </p:pic>
    </p:spTree>
    <p:extLst>
      <p:ext uri="{BB962C8B-B14F-4D97-AF65-F5344CB8AC3E}">
        <p14:creationId xmlns:p14="http://schemas.microsoft.com/office/powerpoint/2010/main" val="7800397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Wired Communication Media</a:t>
            </a:r>
          </a:p>
        </p:txBody>
      </p:sp>
      <p:sp>
        <p:nvSpPr>
          <p:cNvPr id="203779" name="Rectangle 3"/>
          <p:cNvSpPr>
            <a:spLocks noGrp="1" noChangeArrowheads="1"/>
          </p:cNvSpPr>
          <p:nvPr>
            <p:ph type="body" idx="1"/>
          </p:nvPr>
        </p:nvSpPr>
        <p:spPr>
          <a:xfrm>
            <a:off x="1659837" y="1600200"/>
            <a:ext cx="8878956" cy="5012634"/>
          </a:xfrm>
        </p:spPr>
        <p:txBody>
          <a:bodyPr>
            <a:normAutofit lnSpcReduction="10000"/>
          </a:bodyPr>
          <a:lstStyle/>
          <a:p>
            <a:pPr algn="just" eaLnBrk="1" hangingPunct="1">
              <a:buClrTx/>
              <a:buFont typeface="Wingdings" panose="05000000000000000000" pitchFamily="2" charset="2"/>
              <a:buChar char="§"/>
              <a:defRPr/>
            </a:pPr>
            <a:r>
              <a:rPr lang="en-US" sz="2200" dirty="0"/>
              <a:t>Unshielded Twisted Pair(UTP):</a:t>
            </a:r>
          </a:p>
          <a:p>
            <a:pPr lvl="1" algn="just" eaLnBrk="1" hangingPunct="1">
              <a:buClrTx/>
              <a:buFont typeface="Wingdings" panose="05000000000000000000" pitchFamily="2" charset="2"/>
              <a:buChar char="§"/>
              <a:defRPr/>
            </a:pPr>
            <a:r>
              <a:rPr lang="en-US" sz="1700" dirty="0"/>
              <a:t>Copper cable consisting of unshielded twisted pairs surrounded by an outer jacket. Have no internal shielding but an outer insulating jacket that protects the cables from physical damage.</a:t>
            </a:r>
          </a:p>
          <a:p>
            <a:pPr algn="just" eaLnBrk="1" hangingPunct="1">
              <a:buClrTx/>
              <a:buFont typeface="Wingdings" panose="05000000000000000000" pitchFamily="2" charset="2"/>
              <a:buChar char="§"/>
              <a:defRPr/>
            </a:pPr>
            <a:r>
              <a:rPr lang="en-US" sz="2200" dirty="0"/>
              <a:t>Shielded Twisted Pair(STP):</a:t>
            </a:r>
          </a:p>
          <a:p>
            <a:pPr lvl="1" algn="just" eaLnBrk="1" hangingPunct="1">
              <a:buClrTx/>
              <a:buFont typeface="Wingdings" panose="05000000000000000000" pitchFamily="2" charset="2"/>
              <a:buChar char="§"/>
              <a:defRPr/>
            </a:pPr>
            <a:r>
              <a:rPr lang="en-US" sz="1700" dirty="0"/>
              <a:t>Copper cables that have been twisted together and enclosed in some sort of shield. The shield can be in form of foil or mesh. Shielded cables are able to overcome electromagnetic interference and crosstalk with other nearby cables.</a:t>
            </a:r>
          </a:p>
          <a:p>
            <a:pPr algn="just" eaLnBrk="1" hangingPunct="1">
              <a:buClrTx/>
              <a:buFont typeface="Wingdings" panose="05000000000000000000" pitchFamily="2" charset="2"/>
              <a:buChar char="§"/>
              <a:defRPr/>
            </a:pPr>
            <a:r>
              <a:rPr lang="en-US" sz="2200" dirty="0"/>
              <a:t>Coaxial cables:</a:t>
            </a:r>
          </a:p>
          <a:p>
            <a:pPr lvl="1" algn="just" eaLnBrk="1" hangingPunct="1">
              <a:buClrTx/>
              <a:buFont typeface="Wingdings" panose="05000000000000000000" pitchFamily="2" charset="2"/>
              <a:buChar char="§"/>
              <a:defRPr/>
            </a:pPr>
            <a:r>
              <a:rPr lang="en-US" sz="1700" dirty="0"/>
              <a:t>Is a cable with a copper conductor and an insulator which shields around it and a braided metal mesh that prevents signal interference and cross talk.</a:t>
            </a:r>
          </a:p>
          <a:p>
            <a:pPr algn="just" eaLnBrk="1" hangingPunct="1">
              <a:buClrTx/>
              <a:buFont typeface="Wingdings" panose="05000000000000000000" pitchFamily="2" charset="2"/>
              <a:buChar char="§"/>
              <a:defRPr/>
            </a:pPr>
            <a:r>
              <a:rPr lang="en-US" sz="2200" dirty="0"/>
              <a:t>Fiber optic cables:</a:t>
            </a:r>
            <a:endParaRPr lang="en-US" sz="2200" i="1" dirty="0"/>
          </a:p>
          <a:p>
            <a:pPr lvl="1" algn="just" eaLnBrk="1" hangingPunct="1">
              <a:buClrTx/>
              <a:buFont typeface="Wingdings" panose="05000000000000000000" pitchFamily="2" charset="2"/>
              <a:buChar char="§"/>
              <a:defRPr/>
            </a:pPr>
            <a:r>
              <a:rPr lang="en-US" sz="1700" dirty="0"/>
              <a:t>Is a network cable that contains strands of glass fibers inside an insulated casing. Designed for long-distance, high-performance data networking, and telecommunications.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308695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Wireless Communication</a:t>
            </a:r>
          </a:p>
        </p:txBody>
      </p:sp>
      <p:sp>
        <p:nvSpPr>
          <p:cNvPr id="203779" name="Rectangle 3"/>
          <p:cNvSpPr>
            <a:spLocks noGrp="1" noChangeArrowheads="1"/>
          </p:cNvSpPr>
          <p:nvPr>
            <p:ph type="body"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Wireless communication refers to communication that happens with the use of wireless communication devices, without physical wires.</a:t>
            </a:r>
            <a:endParaRPr lang="en-US" i="1"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3124672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3"/>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4457229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4"/>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4500556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5"/>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7762851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6"/>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8517037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7"/>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2081514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8"/>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35065838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9"/>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38067510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0"/>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5817916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1"/>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8985308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2"/>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5260028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3"/>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5381072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4"/>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2619411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5"/>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6051589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6"/>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5212429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7"/>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34737771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8"/>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21925471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19"/>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30776737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0"/>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42035331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1"/>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36537914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2"/>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9697791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3"/>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2937028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4"/>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36283684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5"/>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2189671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6"/>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8050640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7"/>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9125538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8"/>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4210910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29"/>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15721241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30"/>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36125848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31"/>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20811688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32"/>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34362686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8124825" cy="6096000"/>
          <a:chOff x="0" y="0"/>
          <a:chExt cx="8124825" cy="6096000"/>
        </a:xfrm>
      </p:grpSpPr>
      <p:pic>
        <p:nvPicPr>
          <p:cNvPr id="2" name="Page 33"/>
          <p:cNvPicPr>
            <a:picLocks noChangeAspect="1"/>
          </p:cNvPicPr>
          <p:nvPr/>
        </p:nvPicPr>
        <p:blipFill>
          <a:blip r:embed="rId2"/>
          <a:stretch>
            <a:fillRect/>
          </a:stretch>
        </p:blipFill>
        <p:spPr>
          <a:xfrm>
            <a:off x="1525787" y="0"/>
            <a:ext cx="9140428" cy="6858000"/>
          </a:xfrm>
          <a:prstGeom prst="rect">
            <a:avLst/>
          </a:prstGeom>
          <a:noFill/>
        </p:spPr>
      </p:pic>
    </p:spTree>
    <p:extLst>
      <p:ext uri="{BB962C8B-B14F-4D97-AF65-F5344CB8AC3E}">
        <p14:creationId xmlns:p14="http://schemas.microsoft.com/office/powerpoint/2010/main" val="7565307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Wireless Communication Media</a:t>
            </a:r>
          </a:p>
        </p:txBody>
      </p:sp>
      <p:sp>
        <p:nvSpPr>
          <p:cNvPr id="203779" name="Rectangle 3"/>
          <p:cNvSpPr>
            <a:spLocks noGrp="1" noChangeArrowheads="1"/>
          </p:cNvSpPr>
          <p:nvPr>
            <p:ph type="body" idx="1"/>
          </p:nvPr>
        </p:nvSpPr>
        <p:spPr>
          <a:xfrm>
            <a:off x="1669774" y="1560445"/>
            <a:ext cx="8878956" cy="4880113"/>
          </a:xfrm>
        </p:spPr>
        <p:txBody>
          <a:bodyPr/>
          <a:lstStyle/>
          <a:p>
            <a:pPr algn="just" eaLnBrk="1" hangingPunct="1">
              <a:buClrTx/>
              <a:buFont typeface="Wingdings" panose="05000000000000000000" pitchFamily="2" charset="2"/>
              <a:buChar char="§"/>
              <a:defRPr/>
            </a:pPr>
            <a:r>
              <a:rPr lang="en-US" sz="2800" dirty="0"/>
              <a:t>Bluetooth:</a:t>
            </a:r>
          </a:p>
          <a:p>
            <a:pPr lvl="1" algn="just" eaLnBrk="1" hangingPunct="1">
              <a:buClrTx/>
              <a:buFont typeface="Wingdings" panose="05000000000000000000" pitchFamily="2" charset="2"/>
              <a:buChar char="ü"/>
              <a:defRPr/>
            </a:pPr>
            <a:r>
              <a:rPr lang="en-US" sz="2300" dirty="0"/>
              <a:t>Type of communication medium used to for short-range wireless communication between electronic devices including earbuds, earphones, mouse, keyboard, speakers, smart watch, and alarm systems.</a:t>
            </a:r>
          </a:p>
          <a:p>
            <a:pPr algn="just" eaLnBrk="1" hangingPunct="1">
              <a:buClrTx/>
              <a:buFont typeface="Wingdings" panose="05000000000000000000" pitchFamily="2" charset="2"/>
              <a:buChar char="§"/>
              <a:defRPr/>
            </a:pPr>
            <a:r>
              <a:rPr lang="en-US" sz="2800" dirty="0"/>
              <a:t>Infrared:</a:t>
            </a:r>
          </a:p>
          <a:p>
            <a:pPr lvl="1" algn="just" eaLnBrk="1" hangingPunct="1">
              <a:buClrTx/>
              <a:buFont typeface="Wingdings" panose="05000000000000000000" pitchFamily="2" charset="2"/>
              <a:buChar char="ü"/>
              <a:defRPr/>
            </a:pPr>
            <a:r>
              <a:rPr lang="en-US" sz="2300" dirty="0"/>
              <a:t>Also called infrared light, is an electromagnetic radiation with wavelengths longer than those of visible light.</a:t>
            </a:r>
          </a:p>
          <a:p>
            <a:pPr algn="just" eaLnBrk="1" hangingPunct="1">
              <a:buClrTx/>
              <a:buFont typeface="Wingdings" panose="05000000000000000000" pitchFamily="2" charset="2"/>
              <a:buChar char="§"/>
              <a:defRPr/>
            </a:pPr>
            <a:r>
              <a:rPr lang="en-US" sz="2800" dirty="0"/>
              <a:t>Wi-Fi:</a:t>
            </a:r>
          </a:p>
          <a:p>
            <a:pPr lvl="1" algn="just" eaLnBrk="1" hangingPunct="1">
              <a:buClrTx/>
              <a:buFont typeface="Wingdings" panose="05000000000000000000" pitchFamily="2" charset="2"/>
              <a:buChar char="ü"/>
              <a:defRPr/>
            </a:pPr>
            <a:r>
              <a:rPr lang="en-US" sz="2300" dirty="0"/>
              <a:t>A wireless networking technology that uses radio waves to provide wireless high speed internet access.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1575091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Wireless Communication Media Cont’d</a:t>
            </a:r>
          </a:p>
        </p:txBody>
      </p:sp>
      <p:sp>
        <p:nvSpPr>
          <p:cNvPr id="203779" name="Rectangle 3"/>
          <p:cNvSpPr>
            <a:spLocks noGrp="1" noChangeArrowheads="1"/>
          </p:cNvSpPr>
          <p:nvPr>
            <p:ph type="body" idx="1"/>
          </p:nvPr>
        </p:nvSpPr>
        <p:spPr>
          <a:xfrm>
            <a:off x="1669774" y="1560445"/>
            <a:ext cx="8878956" cy="4880113"/>
          </a:xfrm>
        </p:spPr>
        <p:txBody>
          <a:bodyPr>
            <a:normAutofit lnSpcReduction="10000"/>
          </a:bodyPr>
          <a:lstStyle/>
          <a:p>
            <a:pPr algn="just" eaLnBrk="1" hangingPunct="1">
              <a:buClrTx/>
              <a:buFont typeface="Wingdings" panose="05000000000000000000" pitchFamily="2" charset="2"/>
              <a:buChar char="§"/>
              <a:defRPr/>
            </a:pPr>
            <a:r>
              <a:rPr lang="en-US" sz="2800" dirty="0"/>
              <a:t>Radio:</a:t>
            </a:r>
          </a:p>
          <a:p>
            <a:pPr lvl="1" algn="just" eaLnBrk="1" hangingPunct="1">
              <a:buClrTx/>
              <a:buFont typeface="Wingdings" panose="05000000000000000000" pitchFamily="2" charset="2"/>
              <a:buChar char="ü"/>
              <a:defRPr/>
            </a:pPr>
            <a:r>
              <a:rPr lang="en-US" sz="2300" dirty="0"/>
              <a:t>Make use of a radiating antenna which is used to convert a time-varying electric current into an electromagnetic wave or field, which freely propagates through a non-conducting medium such as air or space.</a:t>
            </a:r>
          </a:p>
          <a:p>
            <a:pPr lvl="1" algn="just" eaLnBrk="1" hangingPunct="1">
              <a:buClrTx/>
              <a:buFont typeface="Wingdings" panose="05000000000000000000" pitchFamily="2" charset="2"/>
              <a:buChar char="ü"/>
              <a:defRPr/>
            </a:pPr>
            <a:r>
              <a:rPr lang="en-US" sz="2300" dirty="0"/>
              <a:t>In a broadcast radio channel, an omnidirectional antenna radiates a transmitted signal over a wide service area. </a:t>
            </a:r>
          </a:p>
          <a:p>
            <a:pPr algn="just" eaLnBrk="1" hangingPunct="1">
              <a:buClrTx/>
              <a:buFont typeface="Wingdings" panose="05000000000000000000" pitchFamily="2" charset="2"/>
              <a:buChar char="§"/>
              <a:defRPr/>
            </a:pPr>
            <a:r>
              <a:rPr lang="en-US" sz="2800" dirty="0"/>
              <a:t>Microwave:</a:t>
            </a:r>
          </a:p>
          <a:p>
            <a:pPr lvl="1" algn="just" eaLnBrk="1" hangingPunct="1">
              <a:buClrTx/>
              <a:buFont typeface="Wingdings" panose="05000000000000000000" pitchFamily="2" charset="2"/>
              <a:buChar char="ü"/>
              <a:defRPr/>
            </a:pPr>
            <a:r>
              <a:rPr lang="en-US" sz="2300" dirty="0"/>
              <a:t>Consists of antennae centered within reflective dishes that are attached to structures such as towers or buildings.</a:t>
            </a:r>
          </a:p>
          <a:p>
            <a:pPr lvl="1" algn="just" eaLnBrk="1" hangingPunct="1">
              <a:buClrTx/>
              <a:buFont typeface="Wingdings" panose="05000000000000000000" pitchFamily="2" charset="2"/>
              <a:buChar char="ü"/>
              <a:defRPr/>
            </a:pPr>
            <a:r>
              <a:rPr lang="en-US" sz="2300" dirty="0"/>
              <a:t>Cables connect the antennae to the actual transmitting (receive) equipment.</a:t>
            </a:r>
          </a:p>
          <a:p>
            <a:pPr lvl="1" algn="just" eaLnBrk="1" hangingPunct="1">
              <a:buClrTx/>
              <a:buFont typeface="Wingdings" panose="05000000000000000000" pitchFamily="2" charset="2"/>
              <a:buChar char="§"/>
              <a:defRPr/>
            </a:pPr>
            <a:endParaRPr lang="en-US" sz="23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3154890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1669774" y="1560444"/>
            <a:ext cx="8878956" cy="5052390"/>
          </a:xfrm>
        </p:spPr>
        <p:txBody>
          <a:bodyPr/>
          <a:lstStyle/>
          <a:p>
            <a:pPr algn="just" eaLnBrk="1" hangingPunct="1">
              <a:buClrTx/>
              <a:buFont typeface="Wingdings" panose="05000000000000000000" pitchFamily="2" charset="2"/>
              <a:buChar char="§"/>
              <a:defRPr/>
            </a:pPr>
            <a:r>
              <a:rPr lang="en-US" sz="2800" dirty="0"/>
              <a:t>Satellite:</a:t>
            </a:r>
          </a:p>
          <a:p>
            <a:pPr lvl="1" algn="just" eaLnBrk="1" hangingPunct="1">
              <a:buClrTx/>
              <a:buFont typeface="Wingdings" panose="05000000000000000000" pitchFamily="2" charset="2"/>
              <a:buChar char="§"/>
              <a:defRPr/>
            </a:pPr>
            <a:r>
              <a:rPr lang="en-US" sz="2300" dirty="0"/>
              <a:t>A satellite is simply an object in space that orbits or moves around a bigger object.</a:t>
            </a:r>
          </a:p>
          <a:p>
            <a:pPr lvl="1" algn="just" eaLnBrk="1" hangingPunct="1">
              <a:buClrTx/>
              <a:buFont typeface="Wingdings" panose="05000000000000000000" pitchFamily="2" charset="2"/>
              <a:buChar char="§"/>
              <a:defRPr/>
            </a:pPr>
            <a:r>
              <a:rPr lang="en-US" sz="2300" dirty="0"/>
              <a:t>A communication satellite is an artificial satellite that relays and amplifies radio telecommunication signals via a transponder.</a:t>
            </a:r>
          </a:p>
          <a:p>
            <a:pPr lvl="1" algn="just" eaLnBrk="1" hangingPunct="1">
              <a:buClrTx/>
              <a:buFont typeface="Wingdings" panose="05000000000000000000" pitchFamily="2" charset="2"/>
              <a:buChar char="§"/>
              <a:defRPr/>
            </a:pPr>
            <a:r>
              <a:rPr lang="en-US" sz="2300" dirty="0"/>
              <a:t>A communication satellite creates a communication channel between a source transmitter and a receiver at different locations on earth.</a:t>
            </a:r>
          </a:p>
          <a:p>
            <a:pPr algn="just" eaLnBrk="1" hangingPunct="1">
              <a:buClrTx/>
              <a:buFont typeface="Wingdings" panose="05000000000000000000" pitchFamily="2" charset="2"/>
              <a:buChar char="§"/>
              <a:defRPr/>
            </a:pPr>
            <a:endParaRPr lang="en-US" sz="2800" dirty="0"/>
          </a:p>
        </p:txBody>
      </p:sp>
      <p:sp>
        <p:nvSpPr>
          <p:cNvPr id="203778" name="Rectangle 2"/>
          <p:cNvSpPr>
            <a:spLocks noGrp="1" noChangeArrowheads="1"/>
          </p:cNvSpPr>
          <p:nvPr>
            <p:ph type="title"/>
          </p:nvPr>
        </p:nvSpPr>
        <p:spPr/>
        <p:txBody>
          <a:bodyPr/>
          <a:lstStyle/>
          <a:p>
            <a:pPr eaLnBrk="1" hangingPunct="1">
              <a:defRPr/>
            </a:pPr>
            <a:r>
              <a:rPr lang="en-US" dirty="0"/>
              <a:t>Wireless Communication Media Cont’d</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8363174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Satellite Operation</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6" name="Picture 5" descr="C:\Users\USER\Desktop\MCA\MCA Degree programme documents\HOPE\03-NET225 Jan 2020\RESOURCES\OTHER\Satellite-communications-uplink-downlink.jpg"/>
          <p:cNvPicPr/>
          <p:nvPr/>
        </p:nvPicPr>
        <p:blipFill>
          <a:blip r:embed="rId2">
            <a:extLst>
              <a:ext uri="{28A0092B-C50C-407E-A947-70E740481C1C}">
                <a14:useLocalDpi xmlns:a14="http://schemas.microsoft.com/office/drawing/2010/main" val="0"/>
              </a:ext>
            </a:extLst>
          </a:blip>
          <a:srcRect/>
          <a:stretch>
            <a:fillRect/>
          </a:stretch>
        </p:blipFill>
        <p:spPr bwMode="auto">
          <a:xfrm>
            <a:off x="2199862" y="1828800"/>
            <a:ext cx="5406886" cy="4558748"/>
          </a:xfrm>
          <a:prstGeom prst="rect">
            <a:avLst/>
          </a:prstGeom>
          <a:noFill/>
          <a:ln>
            <a:noFill/>
          </a:ln>
        </p:spPr>
      </p:pic>
    </p:spTree>
    <p:extLst>
      <p:ext uri="{BB962C8B-B14F-4D97-AF65-F5344CB8AC3E}">
        <p14:creationId xmlns:p14="http://schemas.microsoft.com/office/powerpoint/2010/main" val="9935998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Wireless Communication Media Cont’d</a:t>
            </a:r>
          </a:p>
        </p:txBody>
      </p:sp>
      <p:sp>
        <p:nvSpPr>
          <p:cNvPr id="203779" name="Rectangle 3"/>
          <p:cNvSpPr>
            <a:spLocks noGrp="1" noChangeArrowheads="1"/>
          </p:cNvSpPr>
          <p:nvPr>
            <p:ph type="body" idx="1"/>
          </p:nvPr>
        </p:nvSpPr>
        <p:spPr>
          <a:xfrm>
            <a:off x="1669774" y="1600201"/>
            <a:ext cx="8878956" cy="4530725"/>
          </a:xfrm>
        </p:spPr>
        <p:txBody>
          <a:bodyPr/>
          <a:lstStyle/>
          <a:p>
            <a:pPr algn="just" eaLnBrk="1" hangingPunct="1">
              <a:buClrTx/>
              <a:buFont typeface="Wingdings" panose="05000000000000000000" pitchFamily="2" charset="2"/>
              <a:buChar char="§"/>
              <a:defRPr/>
            </a:pPr>
            <a:endParaRPr lang="en-US" sz="2800" dirty="0"/>
          </a:p>
          <a:p>
            <a:pPr algn="just" eaLnBrk="1" hangingPunct="1">
              <a:buClrTx/>
              <a:buFont typeface="Wingdings" panose="05000000000000000000" pitchFamily="2" charset="2"/>
              <a:buChar char="§"/>
              <a:defRPr/>
            </a:pPr>
            <a:r>
              <a:rPr lang="en-US" sz="2800" dirty="0"/>
              <a:t>Cellular:</a:t>
            </a:r>
          </a:p>
          <a:p>
            <a:pPr lvl="1" algn="just" eaLnBrk="1" hangingPunct="1">
              <a:buClrTx/>
              <a:buFont typeface="Wingdings" panose="05000000000000000000" pitchFamily="2" charset="2"/>
              <a:buChar char="§"/>
              <a:defRPr/>
            </a:pPr>
            <a:r>
              <a:rPr lang="en-US" sz="2300" dirty="0"/>
              <a:t>A form of communication technology that enables the use of mobile phones. A mobile phone is a bidirectional radio that enables simultaneous transmission and reception.</a:t>
            </a:r>
          </a:p>
          <a:p>
            <a:pPr lvl="1" algn="just" eaLnBrk="1" hangingPunct="1">
              <a:buClrTx/>
              <a:buFont typeface="Wingdings" panose="05000000000000000000" pitchFamily="2" charset="2"/>
              <a:buChar char="§"/>
              <a:defRPr/>
            </a:pPr>
            <a:r>
              <a:rPr lang="en-US" sz="2300" dirty="0"/>
              <a:t>Cellular communication is based on the geographic division of the communication coverage area into cells, and within cells. </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9708397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The Electronic Spectrum</a:t>
            </a:r>
          </a:p>
        </p:txBody>
      </p:sp>
      <p:sp>
        <p:nvSpPr>
          <p:cNvPr id="203779" name="Rectangle 3"/>
          <p:cNvSpPr>
            <a:spLocks noGrp="1" noChangeArrowheads="1"/>
          </p:cNvSpPr>
          <p:nvPr>
            <p:ph type="body"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sz="2800" dirty="0"/>
              <a:t>Electronic or Electromagnetic spectrum is the classification and arrangement of electromagnetic waves arranged according to their various wavelengths or frequencies.</a:t>
            </a:r>
          </a:p>
          <a:p>
            <a:pPr algn="just" eaLnBrk="1" hangingPunct="1">
              <a:buClrTx/>
              <a:buFont typeface="Wingdings" panose="05000000000000000000" pitchFamily="2" charset="2"/>
              <a:buChar char="§"/>
              <a:defRPr/>
            </a:pPr>
            <a:r>
              <a:rPr lang="en-US" sz="2800" dirty="0"/>
              <a:t>Wavelength is inversely related to frequency, which refers to the number of wave cycles per second.</a:t>
            </a:r>
          </a:p>
          <a:p>
            <a:pPr algn="just" eaLnBrk="1" hangingPunct="1">
              <a:buClrTx/>
              <a:buFont typeface="Wingdings" panose="05000000000000000000" pitchFamily="2" charset="2"/>
              <a:buChar char="§"/>
              <a:defRPr/>
            </a:pPr>
            <a:r>
              <a:rPr lang="en-US" sz="2800" dirty="0"/>
              <a:t>The higher the frequency of the signal, the shorter the wavelength.</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6431168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1981200" y="632447"/>
            <a:ext cx="8229600" cy="5728597"/>
          </a:xfrm>
        </p:spPr>
        <p:txBody>
          <a:bodyPr/>
          <a:lstStyle/>
          <a:p>
            <a:pPr algn="ctr" eaLnBrk="1" hangingPunct="1">
              <a:defRPr/>
            </a:pPr>
            <a:r>
              <a:rPr lang="en-US" dirty="0"/>
              <a:t>TOPIC 5:</a:t>
            </a:r>
            <a:br>
              <a:rPr lang="en-US" dirty="0"/>
            </a:br>
            <a:r>
              <a:rPr lang="en-US" dirty="0"/>
              <a:t/>
            </a:r>
            <a:br>
              <a:rPr lang="en-US" dirty="0"/>
            </a:br>
            <a:r>
              <a:rPr lang="en-US" dirty="0"/>
              <a:t>NETWORK TECHNOLOGIES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0504864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TotalTime>
  <Words>1269</Words>
  <Application>Microsoft Office PowerPoint</Application>
  <PresentationFormat>Widescreen</PresentationFormat>
  <Paragraphs>182</Paragraphs>
  <Slides>92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Trebuchet MS</vt:lpstr>
      <vt:lpstr>Wingdings</vt:lpstr>
      <vt:lpstr>Wingdings 3</vt:lpstr>
      <vt:lpstr>Facet</vt:lpstr>
      <vt:lpstr>PowerPoint Presentation</vt:lpstr>
      <vt:lpstr>TOPIC 3:  Network Categories</vt:lpstr>
      <vt:lpstr>Learning Outcomes</vt:lpstr>
      <vt:lpstr>Classification of Networks</vt:lpstr>
      <vt:lpstr>Categories of Networks Based on Size</vt:lpstr>
      <vt:lpstr>Personal Area Network (PAN)</vt:lpstr>
      <vt:lpstr>Local Area Network (LAN)</vt:lpstr>
      <vt:lpstr>Local Area Network (LAN)</vt:lpstr>
      <vt:lpstr>Metropolitan Area Networks (MAN)</vt:lpstr>
      <vt:lpstr>Wide Area Networks (WAN)</vt:lpstr>
      <vt:lpstr>Wide Area Networks (WAN) Cont’d</vt:lpstr>
      <vt:lpstr>Internetworks</vt:lpstr>
      <vt:lpstr>Internetworks Cont’d</vt:lpstr>
      <vt:lpstr>Classification of Networks Based on Content Access and Security</vt:lpstr>
      <vt:lpstr>Intranet</vt:lpstr>
      <vt:lpstr>Intranet cont’d</vt:lpstr>
      <vt:lpstr>Intranet cont’d</vt:lpstr>
      <vt:lpstr>Extranet</vt:lpstr>
      <vt:lpstr>Extranet cont’d</vt:lpstr>
      <vt:lpstr>Extranet cont’d</vt:lpstr>
      <vt:lpstr>Extranet cont’d</vt:lpstr>
      <vt:lpstr>Virtual Private Networks (VPN)</vt:lpstr>
      <vt:lpstr>VPNs cont’d</vt:lpstr>
      <vt:lpstr>VPNs cont’d</vt:lpstr>
      <vt:lpstr>TOPIC 4:  WIRED AND WIRELESS NETWORKS</vt:lpstr>
      <vt:lpstr>Learning Outcomes</vt:lpstr>
      <vt:lpstr>Wired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Wired Communication Media</vt:lpstr>
      <vt:lpstr>Wireless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Wireless Communication Media</vt:lpstr>
      <vt:lpstr>Wireless Communication Media Cont’d</vt:lpstr>
      <vt:lpstr>Wireless Communication Media Cont’d</vt:lpstr>
      <vt:lpstr>Satellite Operation</vt:lpstr>
      <vt:lpstr>Wireless Communication Media Cont’d</vt:lpstr>
      <vt:lpstr>The Electronic Spectrum</vt:lpstr>
      <vt:lpstr>TOPIC 5:  NETWORK TECHNOLOGIES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2</cp:revision>
  <dcterms:created xsi:type="dcterms:W3CDTF">2026-06-07T06:52:05Z</dcterms:created>
  <dcterms:modified xsi:type="dcterms:W3CDTF">2026-06-07T06:56:02Z</dcterms:modified>
</cp:coreProperties>
</file>