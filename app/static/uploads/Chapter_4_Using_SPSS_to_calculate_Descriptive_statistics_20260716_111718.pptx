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80"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1" r:id="rId27"/>
    <p:sldId id="282" r:id="rId28"/>
    <p:sldId id="283" r:id="rId29"/>
    <p:sldId id="284" r:id="rId30"/>
    <p:sldId id="285" r:id="rId31"/>
    <p:sldId id="286" r:id="rId32"/>
    <p:sldId id="287" r:id="rId33"/>
    <p:sldId id="288" r:id="rId34"/>
    <p:sldId id="289" r:id="rId35"/>
    <p:sldId id="290" r:id="rId36"/>
    <p:sldId id="291" r:id="rId37"/>
    <p:sldId id="300" r:id="rId38"/>
    <p:sldId id="292" r:id="rId39"/>
    <p:sldId id="293" r:id="rId40"/>
    <p:sldId id="294" r:id="rId41"/>
    <p:sldId id="295" r:id="rId42"/>
    <p:sldId id="296" r:id="rId43"/>
    <p:sldId id="297" r:id="rId44"/>
    <p:sldId id="298" r:id="rId45"/>
    <p:sldId id="299" r:id="rId46"/>
    <p:sldId id="302" r:id="rId47"/>
    <p:sldId id="301" r:id="rId48"/>
    <p:sldId id="303" r:id="rId49"/>
    <p:sldId id="30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68" autoAdjust="0"/>
  </p:normalViewPr>
  <p:slideViewPr>
    <p:cSldViewPr>
      <p:cViewPr varScale="1">
        <p:scale>
          <a:sx n="66" d="100"/>
          <a:sy n="66" d="100"/>
        </p:scale>
        <p:origin x="150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A225ED-6732-4B8E-AB7F-0AB840BA342B}" type="datetimeFigureOut">
              <a:rPr lang="en-GB" smtClean="0"/>
              <a:t>08/12/2023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E6FD69-FB4A-46ED-BA82-660D7E04E1F9}" type="slidenum">
              <a:rPr lang="en-GB" smtClean="0"/>
              <a:t>‹#›</a:t>
            </a:fld>
            <a:endParaRPr lang="en-GB"/>
          </a:p>
        </p:txBody>
      </p:sp>
    </p:spTree>
    <p:extLst>
      <p:ext uri="{BB962C8B-B14F-4D97-AF65-F5344CB8AC3E}">
        <p14:creationId xmlns:p14="http://schemas.microsoft.com/office/powerpoint/2010/main" val="899101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smtClean="0"/>
              <a:t>categorical variables</a:t>
            </a:r>
            <a:r>
              <a:rPr lang="en-GB" b="0" dirty="0" smtClean="0"/>
              <a:t>:</a:t>
            </a:r>
            <a:r>
              <a:rPr lang="en-GB" b="0" baseline="0" dirty="0" smtClean="0"/>
              <a:t> These are variables which have limited values</a:t>
            </a:r>
            <a:endParaRPr lang="en-GB" dirty="0" smtClean="0"/>
          </a:p>
        </p:txBody>
      </p:sp>
      <p:sp>
        <p:nvSpPr>
          <p:cNvPr id="4" name="Slide Number Placeholder 3"/>
          <p:cNvSpPr>
            <a:spLocks noGrp="1"/>
          </p:cNvSpPr>
          <p:nvPr>
            <p:ph type="sldNum" sz="quarter" idx="10"/>
          </p:nvPr>
        </p:nvSpPr>
        <p:spPr/>
        <p:txBody>
          <a:bodyPr/>
          <a:lstStyle/>
          <a:p>
            <a:fld id="{58E6FD69-FB4A-46ED-BA82-660D7E04E1F9}" type="slidenum">
              <a:rPr lang="en-GB" smtClean="0"/>
              <a:t>2</a:t>
            </a:fld>
            <a:endParaRPr lang="en-GB"/>
          </a:p>
        </p:txBody>
      </p:sp>
    </p:spTree>
    <p:extLst>
      <p:ext uri="{BB962C8B-B14F-4D97-AF65-F5344CB8AC3E}">
        <p14:creationId xmlns:p14="http://schemas.microsoft.com/office/powerpoint/2010/main" val="487040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How to calculate frequencies, measures of central tendency, and measures of variability in SPSS</a:t>
            </a:r>
            <a:r>
              <a:rPr lang="en-GB" baseline="0" dirty="0" smtClean="0"/>
              <a:t> </a:t>
            </a:r>
            <a:r>
              <a:rPr lang="en-GB" dirty="0" smtClean="0"/>
              <a:t>will be illustrated using the sample data set presented in the Figure</a:t>
            </a:r>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5</a:t>
            </a:fld>
            <a:endParaRPr lang="en-GB"/>
          </a:p>
        </p:txBody>
      </p:sp>
    </p:spTree>
    <p:extLst>
      <p:ext uri="{BB962C8B-B14F-4D97-AF65-F5344CB8AC3E}">
        <p14:creationId xmlns:p14="http://schemas.microsoft.com/office/powerpoint/2010/main" val="1753688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18</a:t>
            </a:fld>
            <a:endParaRPr lang="en-GB"/>
          </a:p>
        </p:txBody>
      </p:sp>
    </p:spTree>
    <p:extLst>
      <p:ext uri="{BB962C8B-B14F-4D97-AF65-F5344CB8AC3E}">
        <p14:creationId xmlns:p14="http://schemas.microsoft.com/office/powerpoint/2010/main" val="1714056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21</a:t>
            </a:fld>
            <a:endParaRPr lang="en-GB"/>
          </a:p>
        </p:txBody>
      </p:sp>
    </p:spTree>
    <p:extLst>
      <p:ext uri="{BB962C8B-B14F-4D97-AF65-F5344CB8AC3E}">
        <p14:creationId xmlns:p14="http://schemas.microsoft.com/office/powerpoint/2010/main" val="714073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Means procedure runs in SPSS and the results are presented in the Viewer window</a:t>
            </a:r>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26</a:t>
            </a:fld>
            <a:endParaRPr lang="en-GB"/>
          </a:p>
        </p:txBody>
      </p:sp>
    </p:spTree>
    <p:extLst>
      <p:ext uri="{BB962C8B-B14F-4D97-AF65-F5344CB8AC3E}">
        <p14:creationId xmlns:p14="http://schemas.microsoft.com/office/powerpoint/2010/main" val="1954696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(Note: If you did not perform the</a:t>
            </a:r>
            <a:r>
              <a:rPr lang="en-GB" baseline="0" dirty="0" smtClean="0"/>
              <a:t> </a:t>
            </a:r>
            <a:r>
              <a:rPr lang="en-GB" dirty="0" smtClean="0"/>
              <a:t>previous Means procedure, you’ll need to move </a:t>
            </a:r>
            <a:r>
              <a:rPr lang="en-GB" dirty="0" err="1" smtClean="0"/>
              <a:t>satquant</a:t>
            </a:r>
            <a:r>
              <a:rPr lang="en-GB" dirty="0" smtClean="0"/>
              <a:t> and college to their</a:t>
            </a:r>
          </a:p>
          <a:p>
            <a:r>
              <a:rPr lang="en-GB" dirty="0" smtClean="0"/>
              <a:t>respective boxes.)</a:t>
            </a:r>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27</a:t>
            </a:fld>
            <a:endParaRPr lang="en-GB"/>
          </a:p>
        </p:txBody>
      </p:sp>
    </p:spTree>
    <p:extLst>
      <p:ext uri="{BB962C8B-B14F-4D97-AF65-F5344CB8AC3E}">
        <p14:creationId xmlns:p14="http://schemas.microsoft.com/office/powerpoint/2010/main" val="2093033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Output of the Frequencies procedure for gender and college</a:t>
            </a:r>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32</a:t>
            </a:fld>
            <a:endParaRPr lang="en-GB"/>
          </a:p>
        </p:txBody>
      </p:sp>
    </p:spTree>
    <p:extLst>
      <p:ext uri="{BB962C8B-B14F-4D97-AF65-F5344CB8AC3E}">
        <p14:creationId xmlns:p14="http://schemas.microsoft.com/office/powerpoint/2010/main" val="1095810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smtClean="0"/>
              <a:t>A = </a:t>
            </a:r>
            <a:r>
              <a:rPr lang="en-GB" dirty="0" smtClean="0"/>
              <a:t>Multiple modes exist. The smallest value is shown </a:t>
            </a:r>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37</a:t>
            </a:fld>
            <a:endParaRPr lang="en-GB"/>
          </a:p>
        </p:txBody>
      </p:sp>
    </p:spTree>
    <p:extLst>
      <p:ext uri="{BB962C8B-B14F-4D97-AF65-F5344CB8AC3E}">
        <p14:creationId xmlns:p14="http://schemas.microsoft.com/office/powerpoint/2010/main" val="2350065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Output of the Means procedure on </a:t>
            </a:r>
            <a:r>
              <a:rPr lang="en-GB" dirty="0" err="1" smtClean="0"/>
              <a:t>satquant</a:t>
            </a:r>
            <a:r>
              <a:rPr lang="en-GB" dirty="0" smtClean="0"/>
              <a:t> for the college groups home and away</a:t>
            </a:r>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38</a:t>
            </a:fld>
            <a:endParaRPr lang="en-GB"/>
          </a:p>
        </p:txBody>
      </p:sp>
    </p:spTree>
    <p:extLst>
      <p:ext uri="{BB962C8B-B14F-4D97-AF65-F5344CB8AC3E}">
        <p14:creationId xmlns:p14="http://schemas.microsoft.com/office/powerpoint/2010/main" val="3600413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Output of the Means procedure on </a:t>
            </a:r>
            <a:r>
              <a:rPr lang="en-GB" b="1" dirty="0" err="1" smtClean="0"/>
              <a:t>satquant</a:t>
            </a:r>
            <a:r>
              <a:rPr lang="en-GB" dirty="0" smtClean="0"/>
              <a:t> for </a:t>
            </a:r>
            <a:r>
              <a:rPr lang="en-GB" b="1" dirty="0" smtClean="0"/>
              <a:t>college</a:t>
            </a:r>
            <a:r>
              <a:rPr lang="en-GB" dirty="0" smtClean="0"/>
              <a:t> layered by gender</a:t>
            </a:r>
            <a:endParaRPr lang="en-GB" dirty="0"/>
          </a:p>
        </p:txBody>
      </p:sp>
      <p:sp>
        <p:nvSpPr>
          <p:cNvPr id="4" name="Slide Number Placeholder 3"/>
          <p:cNvSpPr>
            <a:spLocks noGrp="1"/>
          </p:cNvSpPr>
          <p:nvPr>
            <p:ph type="sldNum" sz="quarter" idx="10"/>
          </p:nvPr>
        </p:nvSpPr>
        <p:spPr/>
        <p:txBody>
          <a:bodyPr/>
          <a:lstStyle/>
          <a:p>
            <a:fld id="{58E6FD69-FB4A-46ED-BA82-660D7E04E1F9}" type="slidenum">
              <a:rPr lang="en-GB" smtClean="0"/>
              <a:t>41</a:t>
            </a:fld>
            <a:endParaRPr lang="en-GB"/>
          </a:p>
        </p:txBody>
      </p:sp>
    </p:spTree>
    <p:extLst>
      <p:ext uri="{BB962C8B-B14F-4D97-AF65-F5344CB8AC3E}">
        <p14:creationId xmlns:p14="http://schemas.microsoft.com/office/powerpoint/2010/main" val="3821900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DEA5A6F7-42EC-42F5-A16B-A98E62295A0B}"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1909057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EA5A6F7-42EC-42F5-A16B-A98E62295A0B}"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3611910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A5A6F7-42EC-42F5-A16B-A98E62295A0B}"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1693580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EA5A6F7-42EC-42F5-A16B-A98E62295A0B}" type="datetimeFigureOut">
              <a:rPr lang="en-GB" smtClean="0"/>
              <a:t>08/12/2023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1674795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EA5A6F7-42EC-42F5-A16B-A98E62295A0B}" type="datetimeFigureOut">
              <a:rPr lang="en-GB" smtClean="0"/>
              <a:t>08/12/2023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548628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EA5A6F7-42EC-42F5-A16B-A98E62295A0B}" type="datetimeFigureOut">
              <a:rPr lang="en-GB" smtClean="0"/>
              <a:t>08/12/2023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111224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A5A6F7-42EC-42F5-A16B-A98E62295A0B}" type="datetimeFigureOut">
              <a:rPr lang="en-GB" smtClean="0"/>
              <a:t>08/12/2023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440774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A5A6F7-42EC-42F5-A16B-A98E62295A0B}" type="datetimeFigureOut">
              <a:rPr lang="en-GB" smtClean="0"/>
              <a:t>08/12/2023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3351509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A5A6F7-42EC-42F5-A16B-A98E62295A0B}" type="datetimeFigureOut">
              <a:rPr lang="en-GB" smtClean="0"/>
              <a:t>08/12/2023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2007969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EA5A6F7-42EC-42F5-A16B-A98E62295A0B}"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2222996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EA5A6F7-42EC-42F5-A16B-A98E62295A0B}"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13731E-51AC-472A-BD2D-5EE18DE3A4F5}" type="slidenum">
              <a:rPr lang="en-GB" smtClean="0"/>
              <a:t>‹#›</a:t>
            </a:fld>
            <a:endParaRPr lang="en-GB"/>
          </a:p>
        </p:txBody>
      </p:sp>
    </p:spTree>
    <p:extLst>
      <p:ext uri="{BB962C8B-B14F-4D97-AF65-F5344CB8AC3E}">
        <p14:creationId xmlns:p14="http://schemas.microsoft.com/office/powerpoint/2010/main" val="3030462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A5A6F7-42EC-42F5-A16B-A98E62295A0B}" type="datetimeFigureOut">
              <a:rPr lang="en-GB" smtClean="0"/>
              <a:t>08/12/2023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3731E-51AC-472A-BD2D-5EE18DE3A4F5}" type="slidenum">
              <a:rPr lang="en-GB" smtClean="0"/>
              <a:t>‹#›</a:t>
            </a:fld>
            <a:endParaRPr lang="en-GB"/>
          </a:p>
        </p:txBody>
      </p:sp>
    </p:spTree>
    <p:extLst>
      <p:ext uri="{BB962C8B-B14F-4D97-AF65-F5344CB8AC3E}">
        <p14:creationId xmlns:p14="http://schemas.microsoft.com/office/powerpoint/2010/main" val="800610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0"/>
            <a:ext cx="7772400" cy="3051771"/>
          </a:xfrm>
        </p:spPr>
        <p:txBody>
          <a:bodyPr>
            <a:normAutofit fontScale="90000"/>
          </a:bodyPr>
          <a:lstStyle/>
          <a:p>
            <a:r>
              <a:rPr lang="en-GB" dirty="0" smtClean="0"/>
              <a:t>Using SPSS to calculate Descriptive statistics (frequencies,</a:t>
            </a:r>
            <a:br>
              <a:rPr lang="en-GB" dirty="0" smtClean="0"/>
            </a:br>
            <a:r>
              <a:rPr lang="en-GB" dirty="0" smtClean="0"/>
              <a:t>measures of central tendency, and measures of variability)</a:t>
            </a:r>
            <a:endParaRPr lang="en-GB" dirty="0"/>
          </a:p>
        </p:txBody>
      </p:sp>
      <p:sp>
        <p:nvSpPr>
          <p:cNvPr id="3" name="Subtitle 2"/>
          <p:cNvSpPr>
            <a:spLocks noGrp="1"/>
          </p:cNvSpPr>
          <p:nvPr>
            <p:ph type="subTitle" idx="1"/>
          </p:nvPr>
        </p:nvSpPr>
        <p:spPr/>
        <p:txBody>
          <a:bodyPr/>
          <a:lstStyle/>
          <a:p>
            <a:r>
              <a:rPr lang="en-GB" dirty="0" smtClean="0"/>
              <a:t>STC224</a:t>
            </a:r>
            <a:endParaRPr lang="en-GB" dirty="0"/>
          </a:p>
        </p:txBody>
      </p:sp>
    </p:spTree>
    <p:extLst>
      <p:ext uri="{BB962C8B-B14F-4D97-AF65-F5344CB8AC3E}">
        <p14:creationId xmlns:p14="http://schemas.microsoft.com/office/powerpoint/2010/main" val="220296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 </a:t>
            </a:r>
            <a:endParaRPr lang="en-GB" dirty="0"/>
          </a:p>
        </p:txBody>
      </p:sp>
      <p:sp>
        <p:nvSpPr>
          <p:cNvPr id="3" name="Content Placeholder 2"/>
          <p:cNvSpPr>
            <a:spLocks noGrp="1"/>
          </p:cNvSpPr>
          <p:nvPr>
            <p:ph idx="1"/>
          </p:nvPr>
        </p:nvSpPr>
        <p:spPr/>
        <p:txBody>
          <a:bodyPr>
            <a:normAutofit/>
          </a:bodyPr>
          <a:lstStyle/>
          <a:p>
            <a:r>
              <a:rPr lang="en-GB" b="1" dirty="0" smtClean="0"/>
              <a:t>Frequencies</a:t>
            </a:r>
            <a:r>
              <a:rPr lang="en-GB" dirty="0" smtClean="0"/>
              <a:t> refer to the number of observations in each category of a variable. </a:t>
            </a:r>
          </a:p>
          <a:p>
            <a:r>
              <a:rPr lang="en-GB" dirty="0" smtClean="0"/>
              <a:t>If, for example, for a variable gender there were four males and six females in the data set, the frequency reported in SPSS for males would be 4 and for females would be 6. </a:t>
            </a:r>
          </a:p>
          <a:p>
            <a:r>
              <a:rPr lang="en-GB" dirty="0" smtClean="0"/>
              <a:t>Frequencies are typically obtained on </a:t>
            </a:r>
            <a:r>
              <a:rPr lang="en-GB" b="1" dirty="0" smtClean="0"/>
              <a:t>categorical variables</a:t>
            </a:r>
            <a:r>
              <a:rPr lang="en-GB" dirty="0" smtClean="0"/>
              <a:t>.</a:t>
            </a:r>
            <a:endParaRPr lang="en-GB" dirty="0"/>
          </a:p>
        </p:txBody>
      </p:sp>
    </p:spTree>
    <p:extLst>
      <p:ext uri="{BB962C8B-B14F-4D97-AF65-F5344CB8AC3E}">
        <p14:creationId xmlns:p14="http://schemas.microsoft.com/office/powerpoint/2010/main" val="2874343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dirty="0" smtClean="0"/>
              <a:t>Introduction cont’d</a:t>
            </a:r>
            <a:endParaRPr lang="en-GB" dirty="0"/>
          </a:p>
        </p:txBody>
      </p:sp>
      <p:sp>
        <p:nvSpPr>
          <p:cNvPr id="3" name="Content Placeholder 2"/>
          <p:cNvSpPr>
            <a:spLocks noGrp="1"/>
          </p:cNvSpPr>
          <p:nvPr>
            <p:ph idx="1"/>
          </p:nvPr>
        </p:nvSpPr>
        <p:spPr>
          <a:xfrm>
            <a:off x="457200" y="1196752"/>
            <a:ext cx="8229600" cy="5544616"/>
          </a:xfrm>
        </p:spPr>
        <p:txBody>
          <a:bodyPr>
            <a:normAutofit fontScale="92500"/>
          </a:bodyPr>
          <a:lstStyle/>
          <a:p>
            <a:r>
              <a:rPr lang="en-GB" dirty="0" smtClean="0"/>
              <a:t>Measures of central tendency are used to describe the </a:t>
            </a:r>
            <a:r>
              <a:rPr lang="en-GB" dirty="0" err="1" smtClean="0"/>
              <a:t>center</a:t>
            </a:r>
            <a:r>
              <a:rPr lang="en-GB" dirty="0" smtClean="0"/>
              <a:t> (or central location) of a set of scores and consist of the </a:t>
            </a:r>
            <a:r>
              <a:rPr lang="en-GB" b="1" dirty="0" smtClean="0"/>
              <a:t>mean</a:t>
            </a:r>
            <a:r>
              <a:rPr lang="en-GB" dirty="0" smtClean="0"/>
              <a:t>, </a:t>
            </a:r>
            <a:r>
              <a:rPr lang="en-GB" b="1" dirty="0" smtClean="0"/>
              <a:t>median</a:t>
            </a:r>
            <a:r>
              <a:rPr lang="en-GB" dirty="0" smtClean="0"/>
              <a:t>, and the </a:t>
            </a:r>
            <a:r>
              <a:rPr lang="en-GB" b="1" dirty="0" smtClean="0"/>
              <a:t>mode</a:t>
            </a:r>
            <a:r>
              <a:rPr lang="en-GB" dirty="0" smtClean="0"/>
              <a:t>. </a:t>
            </a:r>
          </a:p>
          <a:p>
            <a:r>
              <a:rPr lang="en-GB" dirty="0" smtClean="0"/>
              <a:t>The </a:t>
            </a:r>
            <a:r>
              <a:rPr lang="en-GB" b="1" dirty="0" smtClean="0"/>
              <a:t>mean</a:t>
            </a:r>
            <a:r>
              <a:rPr lang="en-GB" dirty="0" smtClean="0"/>
              <a:t> is the arithmetic average (the sum of the scores divided by the total number of scores), </a:t>
            </a:r>
          </a:p>
          <a:p>
            <a:r>
              <a:rPr lang="en-GB" dirty="0" smtClean="0"/>
              <a:t>the </a:t>
            </a:r>
            <a:r>
              <a:rPr lang="en-GB" b="1" dirty="0" smtClean="0"/>
              <a:t>median</a:t>
            </a:r>
            <a:r>
              <a:rPr lang="en-GB" dirty="0" smtClean="0"/>
              <a:t> is the middle score (assuming the scores were ordered from lowest to highest), and </a:t>
            </a:r>
          </a:p>
          <a:p>
            <a:r>
              <a:rPr lang="en-GB" dirty="0" smtClean="0"/>
              <a:t>the </a:t>
            </a:r>
            <a:r>
              <a:rPr lang="en-GB" b="1" dirty="0" smtClean="0"/>
              <a:t>mode</a:t>
            </a:r>
            <a:r>
              <a:rPr lang="en-GB" dirty="0" smtClean="0"/>
              <a:t> is the most frequently occurring score (or scores) in the data set.</a:t>
            </a:r>
          </a:p>
        </p:txBody>
      </p:sp>
    </p:spTree>
    <p:extLst>
      <p:ext uri="{BB962C8B-B14F-4D97-AF65-F5344CB8AC3E}">
        <p14:creationId xmlns:p14="http://schemas.microsoft.com/office/powerpoint/2010/main" val="1184537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cont’d</a:t>
            </a:r>
          </a:p>
        </p:txBody>
      </p:sp>
      <p:sp>
        <p:nvSpPr>
          <p:cNvPr id="3" name="Content Placeholder 2"/>
          <p:cNvSpPr>
            <a:spLocks noGrp="1"/>
          </p:cNvSpPr>
          <p:nvPr>
            <p:ph idx="1"/>
          </p:nvPr>
        </p:nvSpPr>
        <p:spPr/>
        <p:txBody>
          <a:bodyPr>
            <a:normAutofit fontScale="85000" lnSpcReduction="20000"/>
          </a:bodyPr>
          <a:lstStyle/>
          <a:p>
            <a:r>
              <a:rPr lang="en-GB" dirty="0"/>
              <a:t>Measures of variability are used to describe the amount of spread or variability in a set of scores.</a:t>
            </a:r>
          </a:p>
          <a:p>
            <a:r>
              <a:rPr lang="en-GB" dirty="0"/>
              <a:t>The </a:t>
            </a:r>
            <a:r>
              <a:rPr lang="en-GB" b="1" dirty="0"/>
              <a:t>standard deviation </a:t>
            </a:r>
            <a:r>
              <a:rPr lang="en-GB" dirty="0"/>
              <a:t>and </a:t>
            </a:r>
            <a:r>
              <a:rPr lang="en-GB" b="1" dirty="0"/>
              <a:t>variance</a:t>
            </a:r>
            <a:r>
              <a:rPr lang="en-GB" dirty="0"/>
              <a:t> are two of the most commonly used measures of variability.</a:t>
            </a:r>
          </a:p>
          <a:p>
            <a:r>
              <a:rPr lang="en-GB" dirty="0"/>
              <a:t>The </a:t>
            </a:r>
            <a:r>
              <a:rPr lang="en-GB" b="1" dirty="0"/>
              <a:t>standard deviation </a:t>
            </a:r>
            <a:r>
              <a:rPr lang="en-GB" dirty="0"/>
              <a:t>is a measure of how far, on average, scores vary from the mean, and the </a:t>
            </a:r>
            <a:r>
              <a:rPr lang="en-GB" b="1" dirty="0"/>
              <a:t>variance</a:t>
            </a:r>
            <a:r>
              <a:rPr lang="en-GB" dirty="0"/>
              <a:t> is equal to the standard deviation squared. </a:t>
            </a:r>
          </a:p>
          <a:p>
            <a:r>
              <a:rPr lang="en-GB" dirty="0"/>
              <a:t>Other examples of measures of variability include the </a:t>
            </a:r>
            <a:r>
              <a:rPr lang="en-GB" b="1" dirty="0"/>
              <a:t>range</a:t>
            </a:r>
            <a:r>
              <a:rPr lang="en-GB" dirty="0"/>
              <a:t> (the difference between the highest and the lowest scores) and the </a:t>
            </a:r>
            <a:r>
              <a:rPr lang="en-GB" b="1" dirty="0"/>
              <a:t>interquartile</a:t>
            </a:r>
            <a:r>
              <a:rPr lang="en-GB" dirty="0"/>
              <a:t> range (the difference between the scores at the 25th and 75th percentiles of a distribution).</a:t>
            </a:r>
          </a:p>
          <a:p>
            <a:endParaRPr lang="en-GB" dirty="0"/>
          </a:p>
        </p:txBody>
      </p:sp>
    </p:spTree>
    <p:extLst>
      <p:ext uri="{BB962C8B-B14F-4D97-AF65-F5344CB8AC3E}">
        <p14:creationId xmlns:p14="http://schemas.microsoft.com/office/powerpoint/2010/main" val="1718670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4000" dirty="0" smtClean="0"/>
              <a:t>The sample data set</a:t>
            </a:r>
            <a:endParaRPr lang="en-GB" sz="4000"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788" y="1545344"/>
            <a:ext cx="8656424" cy="4893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8542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The Data</a:t>
            </a:r>
            <a:endParaRPr lang="en-GB" dirty="0"/>
          </a:p>
        </p:txBody>
      </p:sp>
      <p:sp>
        <p:nvSpPr>
          <p:cNvPr id="3" name="Content Placeholder 2"/>
          <p:cNvSpPr>
            <a:spLocks noGrp="1"/>
          </p:cNvSpPr>
          <p:nvPr>
            <p:ph idx="1"/>
          </p:nvPr>
        </p:nvSpPr>
        <p:spPr/>
        <p:txBody>
          <a:bodyPr>
            <a:normAutofit fontScale="77500" lnSpcReduction="20000"/>
          </a:bodyPr>
          <a:lstStyle/>
          <a:p>
            <a:r>
              <a:rPr lang="en-GB" dirty="0" smtClean="0"/>
              <a:t>For each of the participants in Figure above, their </a:t>
            </a:r>
            <a:r>
              <a:rPr lang="en-GB" b="1" dirty="0" smtClean="0"/>
              <a:t>gender</a:t>
            </a:r>
            <a:r>
              <a:rPr lang="en-GB" dirty="0" smtClean="0"/>
              <a:t>, score on a math entrance exam (</a:t>
            </a:r>
            <a:r>
              <a:rPr lang="en-GB" b="1" dirty="0" err="1" smtClean="0"/>
              <a:t>mathexam</a:t>
            </a:r>
            <a:r>
              <a:rPr lang="en-GB" dirty="0" smtClean="0"/>
              <a:t>), whether they were attending college at home or away (</a:t>
            </a:r>
            <a:r>
              <a:rPr lang="en-GB" b="1" dirty="0" smtClean="0"/>
              <a:t>college</a:t>
            </a:r>
            <a:r>
              <a:rPr lang="en-GB" dirty="0" smtClean="0"/>
              <a:t>), and their score on the math portion of the SAT (</a:t>
            </a:r>
            <a:r>
              <a:rPr lang="en-GB" dirty="0" err="1" smtClean="0"/>
              <a:t>satquant</a:t>
            </a:r>
            <a:r>
              <a:rPr lang="en-GB" dirty="0" smtClean="0"/>
              <a:t>) were recorded. </a:t>
            </a:r>
          </a:p>
          <a:p>
            <a:r>
              <a:rPr lang="en-GB" b="1" dirty="0" smtClean="0"/>
              <a:t>Gender</a:t>
            </a:r>
            <a:r>
              <a:rPr lang="en-GB" dirty="0" smtClean="0"/>
              <a:t> and </a:t>
            </a:r>
            <a:r>
              <a:rPr lang="en-GB" b="1" dirty="0" smtClean="0"/>
              <a:t>college</a:t>
            </a:r>
            <a:r>
              <a:rPr lang="en-GB" dirty="0" smtClean="0"/>
              <a:t> are categorical variables, and </a:t>
            </a:r>
            <a:r>
              <a:rPr lang="en-GB" b="1" dirty="0" err="1" smtClean="0"/>
              <a:t>mathexam</a:t>
            </a:r>
            <a:r>
              <a:rPr lang="en-GB" dirty="0"/>
              <a:t> </a:t>
            </a:r>
            <a:r>
              <a:rPr lang="en-GB" dirty="0" smtClean="0"/>
              <a:t>and </a:t>
            </a:r>
            <a:r>
              <a:rPr lang="en-GB" b="1" dirty="0" err="1" smtClean="0"/>
              <a:t>satquant</a:t>
            </a:r>
            <a:r>
              <a:rPr lang="en-GB" dirty="0" smtClean="0"/>
              <a:t> are continuous variables, with higher scores indicating better performance on both measures (the </a:t>
            </a:r>
            <a:r>
              <a:rPr lang="en-GB" dirty="0" err="1" smtClean="0"/>
              <a:t>mathexam</a:t>
            </a:r>
            <a:r>
              <a:rPr lang="en-GB" dirty="0" smtClean="0"/>
              <a:t> scores range from 0 to 50 and </a:t>
            </a:r>
            <a:r>
              <a:rPr lang="en-GB" dirty="0" err="1" smtClean="0"/>
              <a:t>satquant</a:t>
            </a:r>
            <a:r>
              <a:rPr lang="en-GB" dirty="0" smtClean="0"/>
              <a:t> scores range from 200 to 800).</a:t>
            </a:r>
          </a:p>
          <a:p>
            <a:r>
              <a:rPr lang="en-GB" dirty="0" smtClean="0"/>
              <a:t>For </a:t>
            </a:r>
            <a:r>
              <a:rPr lang="en-GB" b="1" dirty="0" smtClean="0"/>
              <a:t>gender</a:t>
            </a:r>
            <a:r>
              <a:rPr lang="en-GB" dirty="0" smtClean="0"/>
              <a:t>, males are assigned a “1” and females are assigned a “2”; for </a:t>
            </a:r>
            <a:r>
              <a:rPr lang="en-GB" b="1" dirty="0" smtClean="0"/>
              <a:t>college</a:t>
            </a:r>
            <a:r>
              <a:rPr lang="en-GB" dirty="0" smtClean="0"/>
              <a:t>, those attending college at home are assigned a “1” and those attending college away are assigned a “2.”</a:t>
            </a:r>
            <a:endParaRPr lang="en-GB" dirty="0"/>
          </a:p>
        </p:txBody>
      </p:sp>
    </p:spTree>
    <p:extLst>
      <p:ext uri="{BB962C8B-B14F-4D97-AF65-F5344CB8AC3E}">
        <p14:creationId xmlns:p14="http://schemas.microsoft.com/office/powerpoint/2010/main" val="1409799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Create the Variables</a:t>
            </a:r>
            <a:endParaRPr lang="en-GB" dirty="0"/>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arabicPeriod"/>
            </a:pPr>
            <a:r>
              <a:rPr lang="en-GB" dirty="0" smtClean="0"/>
              <a:t>Start SPSS.</a:t>
            </a:r>
          </a:p>
          <a:p>
            <a:pPr marL="514350" indent="-514350">
              <a:buFont typeface="+mj-lt"/>
              <a:buAutoNum type="arabicPeriod"/>
            </a:pPr>
            <a:r>
              <a:rPr lang="en-GB" dirty="0" smtClean="0"/>
              <a:t>Click the Variable View tab. In SPSS, four variables will be created. The variables will be named gender, </a:t>
            </a:r>
            <a:r>
              <a:rPr lang="en-GB" dirty="0" err="1" smtClean="0"/>
              <a:t>mathexam</a:t>
            </a:r>
            <a:r>
              <a:rPr lang="en-GB" dirty="0" smtClean="0"/>
              <a:t>, college, and </a:t>
            </a:r>
            <a:r>
              <a:rPr lang="en-GB" dirty="0" err="1" smtClean="0"/>
              <a:t>satquant</a:t>
            </a:r>
            <a:r>
              <a:rPr lang="en-GB" dirty="0" smtClean="0"/>
              <a:t>, respectively.</a:t>
            </a:r>
          </a:p>
          <a:p>
            <a:pPr marL="514350" indent="-514350">
              <a:buFont typeface="+mj-lt"/>
              <a:buAutoNum type="arabicPeriod"/>
            </a:pPr>
            <a:r>
              <a:rPr lang="en-GB" dirty="0" smtClean="0"/>
              <a:t>Using the process described previously, enter the variable names gender, </a:t>
            </a:r>
            <a:r>
              <a:rPr lang="en-GB" dirty="0" err="1" smtClean="0"/>
              <a:t>mathexam</a:t>
            </a:r>
            <a:r>
              <a:rPr lang="en-GB" dirty="0" smtClean="0"/>
              <a:t>, college, and </a:t>
            </a:r>
            <a:r>
              <a:rPr lang="en-GB" dirty="0" err="1" smtClean="0"/>
              <a:t>satquant</a:t>
            </a:r>
            <a:r>
              <a:rPr lang="en-GB" dirty="0" smtClean="0"/>
              <a:t>, respectively, in the first four rows of the Variable View window</a:t>
            </a:r>
          </a:p>
          <a:p>
            <a:pPr marL="0" indent="0">
              <a:buNone/>
            </a:pPr>
            <a:r>
              <a:rPr lang="en-GB" dirty="0" smtClean="0"/>
              <a:t>Prior to entering the data, we’ll create value labels in SPSS for the categorical variables gender and college.</a:t>
            </a:r>
          </a:p>
          <a:p>
            <a:pPr marL="514350" indent="-514350">
              <a:buFont typeface="+mj-lt"/>
              <a:buAutoNum type="arabicPeriod" startAt="4"/>
            </a:pPr>
            <a:r>
              <a:rPr lang="en-GB" dirty="0" smtClean="0"/>
              <a:t>Using the process described previously, create value labels for gender and college. For gender, 1=“male” and 2=“female”  For college 1= “home” , and 2=“away”</a:t>
            </a:r>
            <a:endParaRPr lang="en-GB" dirty="0"/>
          </a:p>
        </p:txBody>
      </p:sp>
    </p:spTree>
    <p:extLst>
      <p:ext uri="{BB962C8B-B14F-4D97-AF65-F5344CB8AC3E}">
        <p14:creationId xmlns:p14="http://schemas.microsoft.com/office/powerpoint/2010/main" val="381107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Enter the Data</a:t>
            </a:r>
            <a:endParaRPr lang="en-GB" dirty="0"/>
          </a:p>
        </p:txBody>
      </p:sp>
      <p:sp>
        <p:nvSpPr>
          <p:cNvPr id="3" name="Content Placeholder 2"/>
          <p:cNvSpPr>
            <a:spLocks noGrp="1"/>
          </p:cNvSpPr>
          <p:nvPr>
            <p:ph idx="1"/>
          </p:nvPr>
        </p:nvSpPr>
        <p:spPr/>
        <p:txBody>
          <a:bodyPr/>
          <a:lstStyle/>
          <a:p>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40768"/>
            <a:ext cx="8856984"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0795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err="1" smtClean="0"/>
              <a:t>Analyze</a:t>
            </a:r>
            <a:r>
              <a:rPr lang="en-GB" dirty="0" smtClean="0"/>
              <a:t> the Data</a:t>
            </a:r>
            <a:endParaRPr lang="en-GB" dirty="0"/>
          </a:p>
        </p:txBody>
      </p:sp>
      <p:sp>
        <p:nvSpPr>
          <p:cNvPr id="3" name="Content Placeholder 2"/>
          <p:cNvSpPr>
            <a:spLocks noGrp="1"/>
          </p:cNvSpPr>
          <p:nvPr>
            <p:ph idx="1"/>
          </p:nvPr>
        </p:nvSpPr>
        <p:spPr/>
        <p:txBody>
          <a:bodyPr/>
          <a:lstStyle/>
          <a:p>
            <a:r>
              <a:rPr lang="en-GB" dirty="0" smtClean="0"/>
              <a:t>In </a:t>
            </a:r>
            <a:r>
              <a:rPr lang="en-GB" dirty="0" err="1" smtClean="0"/>
              <a:t>analyzing</a:t>
            </a:r>
            <a:r>
              <a:rPr lang="en-GB" dirty="0" smtClean="0"/>
              <a:t> the data, first we’ll calculate frequencies for the categorical variables </a:t>
            </a:r>
            <a:r>
              <a:rPr lang="en-GB" b="1" dirty="0" smtClean="0"/>
              <a:t>gender</a:t>
            </a:r>
            <a:r>
              <a:rPr lang="en-GB" dirty="0" smtClean="0"/>
              <a:t> and</a:t>
            </a:r>
            <a:r>
              <a:rPr lang="en-GB" dirty="0"/>
              <a:t> </a:t>
            </a:r>
            <a:r>
              <a:rPr lang="en-GB" b="1" dirty="0" smtClean="0"/>
              <a:t>college</a:t>
            </a:r>
            <a:r>
              <a:rPr lang="en-GB" dirty="0" smtClean="0"/>
              <a:t>, and then we’ll calculate measures of central tendency and variability for the continuous variables </a:t>
            </a:r>
            <a:r>
              <a:rPr lang="en-GB" b="1" dirty="0" err="1" smtClean="0"/>
              <a:t>mathexam</a:t>
            </a:r>
            <a:r>
              <a:rPr lang="en-GB" dirty="0" smtClean="0"/>
              <a:t> and </a:t>
            </a:r>
            <a:r>
              <a:rPr lang="en-GB" b="1" dirty="0" err="1" smtClean="0"/>
              <a:t>satquant</a:t>
            </a:r>
            <a:r>
              <a:rPr lang="en-GB" dirty="0" smtClean="0"/>
              <a:t>.</a:t>
            </a:r>
            <a:endParaRPr lang="en-GB" dirty="0"/>
          </a:p>
        </p:txBody>
      </p:sp>
    </p:spTree>
    <p:extLst>
      <p:ext uri="{BB962C8B-B14F-4D97-AF65-F5344CB8AC3E}">
        <p14:creationId xmlns:p14="http://schemas.microsoft.com/office/powerpoint/2010/main" val="3213335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Analyze</a:t>
            </a:r>
            <a:r>
              <a:rPr lang="en-GB" dirty="0"/>
              <a:t> the </a:t>
            </a:r>
            <a:r>
              <a:rPr lang="en-GB" dirty="0" smtClean="0"/>
              <a:t>Data - Frequencies</a:t>
            </a:r>
            <a:endParaRPr lang="en-GB" dirty="0"/>
          </a:p>
        </p:txBody>
      </p:sp>
      <p:sp>
        <p:nvSpPr>
          <p:cNvPr id="3" name="Content Placeholder 2"/>
          <p:cNvSpPr>
            <a:spLocks noGrp="1"/>
          </p:cNvSpPr>
          <p:nvPr>
            <p:ph idx="1"/>
          </p:nvPr>
        </p:nvSpPr>
        <p:spPr/>
        <p:txBody>
          <a:bodyPr/>
          <a:lstStyle/>
          <a:p>
            <a:r>
              <a:rPr lang="en-GB" dirty="0" smtClean="0"/>
              <a:t>To calculate frequencies for gender and college, from the menu bar, select</a:t>
            </a:r>
          </a:p>
          <a:p>
            <a:pPr marL="914400" lvl="1" indent="-514350">
              <a:buFont typeface="+mj-lt"/>
              <a:buAutoNum type="arabicPeriod"/>
            </a:pPr>
            <a:r>
              <a:rPr lang="en-GB" b="1" dirty="0" err="1" smtClean="0"/>
              <a:t>Analyze</a:t>
            </a:r>
            <a:r>
              <a:rPr lang="en-GB" b="1" dirty="0" smtClean="0"/>
              <a:t>&gt;Descriptive Statistics&gt;Frequencies </a:t>
            </a:r>
            <a:endParaRPr lang="en-GB" b="1" dirty="0"/>
          </a:p>
        </p:txBody>
      </p:sp>
    </p:spTree>
    <p:extLst>
      <p:ext uri="{BB962C8B-B14F-4D97-AF65-F5344CB8AC3E}">
        <p14:creationId xmlns:p14="http://schemas.microsoft.com/office/powerpoint/2010/main" val="205688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Menu commands for the Frequencies procedure</a:t>
            </a:r>
            <a:endParaRPr lang="en-GB" dirty="0"/>
          </a:p>
        </p:txBody>
      </p:sp>
      <p:sp>
        <p:nvSpPr>
          <p:cNvPr id="3" name="Content Placeholder 2"/>
          <p:cNvSpPr>
            <a:spLocks noGrp="1"/>
          </p:cNvSpPr>
          <p:nvPr>
            <p:ph idx="1"/>
          </p:nvPr>
        </p:nvSpPr>
        <p:spPr/>
        <p:txBody>
          <a:bodyPr/>
          <a:lstStyle/>
          <a:p>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1369268"/>
            <a:ext cx="7743825" cy="537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4994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Analyze</a:t>
            </a:r>
            <a:r>
              <a:rPr lang="en-GB" dirty="0"/>
              <a:t> the </a:t>
            </a:r>
            <a:r>
              <a:rPr lang="en-GB" dirty="0" smtClean="0"/>
              <a:t>Data cont’d</a:t>
            </a:r>
            <a:endParaRPr lang="en-GB" dirty="0"/>
          </a:p>
        </p:txBody>
      </p:sp>
      <p:sp>
        <p:nvSpPr>
          <p:cNvPr id="3" name="Content Placeholder 2"/>
          <p:cNvSpPr>
            <a:spLocks noGrp="1"/>
          </p:cNvSpPr>
          <p:nvPr>
            <p:ph idx="1"/>
          </p:nvPr>
        </p:nvSpPr>
        <p:spPr/>
        <p:txBody>
          <a:bodyPr/>
          <a:lstStyle/>
          <a:p>
            <a:r>
              <a:rPr lang="en-GB" dirty="0" smtClean="0"/>
              <a:t>A Frequencies dialog box opens with the variables </a:t>
            </a:r>
            <a:r>
              <a:rPr lang="en-GB" b="1" dirty="0" smtClean="0"/>
              <a:t>gender</a:t>
            </a:r>
            <a:r>
              <a:rPr lang="en-GB" dirty="0" smtClean="0"/>
              <a:t>, </a:t>
            </a:r>
            <a:r>
              <a:rPr lang="en-GB" b="1" dirty="0" err="1" smtClean="0"/>
              <a:t>mathexam</a:t>
            </a:r>
            <a:r>
              <a:rPr lang="en-GB" dirty="0" smtClean="0"/>
              <a:t>, </a:t>
            </a:r>
            <a:r>
              <a:rPr lang="en-GB" b="1" dirty="0" smtClean="0"/>
              <a:t>college</a:t>
            </a:r>
            <a:r>
              <a:rPr lang="en-GB" dirty="0" smtClean="0"/>
              <a:t>, and </a:t>
            </a:r>
            <a:r>
              <a:rPr lang="en-GB" b="1" dirty="0" err="1" smtClean="0"/>
              <a:t>satquant</a:t>
            </a:r>
            <a:r>
              <a:rPr lang="en-GB" dirty="0"/>
              <a:t> </a:t>
            </a:r>
            <a:r>
              <a:rPr lang="en-GB" dirty="0" smtClean="0"/>
              <a:t>on the left-hand side of the dialog box</a:t>
            </a:r>
            <a:endParaRPr lang="en-GB" dirty="0"/>
          </a:p>
        </p:txBody>
      </p:sp>
    </p:spTree>
    <p:extLst>
      <p:ext uri="{BB962C8B-B14F-4D97-AF65-F5344CB8AC3E}">
        <p14:creationId xmlns:p14="http://schemas.microsoft.com/office/powerpoint/2010/main" val="4131051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Frequencies dialog box</a:t>
            </a:r>
            <a:endParaRPr lang="en-GB" dirty="0"/>
          </a:p>
        </p:txBody>
      </p:sp>
      <p:sp>
        <p:nvSpPr>
          <p:cNvPr id="3" name="Content Placeholder 2"/>
          <p:cNvSpPr>
            <a:spLocks noGrp="1"/>
          </p:cNvSpPr>
          <p:nvPr>
            <p:ph idx="1"/>
          </p:nvPr>
        </p:nvSpPr>
        <p:spPr/>
        <p:txBody>
          <a:bodyPr/>
          <a:lstStyle/>
          <a:p>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54" y="1507224"/>
            <a:ext cx="7865292" cy="5090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5591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GB" dirty="0" smtClean="0"/>
              <a:t>The Frequencies dialog box</a:t>
            </a:r>
            <a:endParaRPr lang="en-GB" dirty="0"/>
          </a:p>
        </p:txBody>
      </p:sp>
      <p:sp>
        <p:nvSpPr>
          <p:cNvPr id="3" name="Content Placeholder 2"/>
          <p:cNvSpPr>
            <a:spLocks noGrp="1"/>
          </p:cNvSpPr>
          <p:nvPr>
            <p:ph idx="1"/>
          </p:nvPr>
        </p:nvSpPr>
        <p:spPr>
          <a:xfrm>
            <a:off x="457200" y="1124744"/>
            <a:ext cx="8229600" cy="5001419"/>
          </a:xfrm>
        </p:spPr>
        <p:txBody>
          <a:bodyPr/>
          <a:lstStyle/>
          <a:p>
            <a:r>
              <a:rPr lang="en-GB" sz="2400" dirty="0" smtClean="0"/>
              <a:t>Select the variable gender and then press and hold down the Ctrl key (the Ctrl key is located in the bottom left-hand corner of your keyboard). </a:t>
            </a:r>
          </a:p>
          <a:p>
            <a:r>
              <a:rPr lang="en-GB" sz="2400" dirty="0" smtClean="0"/>
              <a:t>Select the variable college (gender and college should now be selected). Click the right-arrow button ( ) to move the two variables to the Variable(s)box</a:t>
            </a:r>
          </a:p>
          <a:p>
            <a:r>
              <a:rPr lang="en-GB" sz="2400" dirty="0" smtClean="0"/>
              <a:t>Click OK</a:t>
            </a:r>
          </a:p>
          <a:p>
            <a:endParaRPr lang="en-GB" dirty="0"/>
          </a:p>
          <a:p>
            <a:endParaRPr lang="en-GB" dirty="0" smtClean="0"/>
          </a:p>
          <a:p>
            <a:endParaRPr lang="en-GB" dirty="0"/>
          </a:p>
          <a:p>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3501008"/>
            <a:ext cx="5040560" cy="3330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6220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Frequencies cont’d</a:t>
            </a:r>
            <a:endParaRPr lang="en-GB" dirty="0"/>
          </a:p>
        </p:txBody>
      </p:sp>
      <p:sp>
        <p:nvSpPr>
          <p:cNvPr id="3" name="Content Placeholder 2"/>
          <p:cNvSpPr>
            <a:spLocks noGrp="1"/>
          </p:cNvSpPr>
          <p:nvPr>
            <p:ph idx="1"/>
          </p:nvPr>
        </p:nvSpPr>
        <p:spPr/>
        <p:txBody>
          <a:bodyPr/>
          <a:lstStyle/>
          <a:p>
            <a:r>
              <a:rPr lang="en-GB" dirty="0" smtClean="0"/>
              <a:t>The Frequencies procedure runs and the results are presented in the Viewer window. </a:t>
            </a:r>
          </a:p>
          <a:p>
            <a:r>
              <a:rPr lang="en-GB" dirty="0" smtClean="0"/>
              <a:t>Prior to discussing the results of the Frequencies procedure for gender and college, we’ll obtain descriptive statistics for </a:t>
            </a:r>
            <a:r>
              <a:rPr lang="en-GB" dirty="0" err="1" smtClean="0"/>
              <a:t>mathexam</a:t>
            </a:r>
            <a:r>
              <a:rPr lang="en-GB" dirty="0" smtClean="0"/>
              <a:t> and </a:t>
            </a:r>
            <a:r>
              <a:rPr lang="en-GB" dirty="0" err="1" smtClean="0"/>
              <a:t>satquant</a:t>
            </a:r>
            <a:r>
              <a:rPr lang="en-GB" dirty="0" smtClean="0"/>
              <a:t>.</a:t>
            </a:r>
            <a:endParaRPr lang="en-GB" dirty="0"/>
          </a:p>
        </p:txBody>
      </p:sp>
    </p:spTree>
    <p:extLst>
      <p:ext uri="{BB962C8B-B14F-4D97-AF65-F5344CB8AC3E}">
        <p14:creationId xmlns:p14="http://schemas.microsoft.com/office/powerpoint/2010/main" val="2406551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Measures of Central Tendency and Variability</a:t>
            </a:r>
            <a:endParaRPr lang="en-GB" dirty="0"/>
          </a:p>
        </p:txBody>
      </p:sp>
      <p:sp>
        <p:nvSpPr>
          <p:cNvPr id="3" name="Content Placeholder 2"/>
          <p:cNvSpPr>
            <a:spLocks noGrp="1"/>
          </p:cNvSpPr>
          <p:nvPr>
            <p:ph idx="1"/>
          </p:nvPr>
        </p:nvSpPr>
        <p:spPr/>
        <p:txBody>
          <a:bodyPr>
            <a:normAutofit fontScale="85000" lnSpcReduction="20000"/>
          </a:bodyPr>
          <a:lstStyle/>
          <a:p>
            <a:r>
              <a:rPr lang="en-GB" dirty="0" smtClean="0"/>
              <a:t>Next we’ll obtain measures of central tendency and variability for the continuous variables </a:t>
            </a:r>
            <a:r>
              <a:rPr lang="en-GB" b="1" dirty="0" err="1" smtClean="0"/>
              <a:t>mathexam</a:t>
            </a:r>
            <a:r>
              <a:rPr lang="en-GB" dirty="0" smtClean="0"/>
              <a:t> and </a:t>
            </a:r>
            <a:r>
              <a:rPr lang="en-GB" b="1" dirty="0" err="1" smtClean="0"/>
              <a:t>satquant</a:t>
            </a:r>
            <a:r>
              <a:rPr lang="en-GB" dirty="0" smtClean="0"/>
              <a:t> using the Frequencies procedure</a:t>
            </a:r>
          </a:p>
          <a:p>
            <a:r>
              <a:rPr lang="en-GB" dirty="0" smtClean="0"/>
              <a:t>To obtain measures of central tendency and variability</a:t>
            </a:r>
          </a:p>
          <a:p>
            <a:pPr lvl="1"/>
            <a:r>
              <a:rPr lang="en-GB" dirty="0" smtClean="0"/>
              <a:t>From the menu bar select </a:t>
            </a:r>
            <a:r>
              <a:rPr lang="en-GB" b="1" dirty="0" err="1" smtClean="0"/>
              <a:t>Analyze</a:t>
            </a:r>
            <a:r>
              <a:rPr lang="en-GB" b="1" dirty="0" smtClean="0"/>
              <a:t>&gt;Descriptive Statistics&gt;Frequencies </a:t>
            </a:r>
          </a:p>
          <a:p>
            <a:pPr lvl="1"/>
            <a:r>
              <a:rPr lang="en-GB" dirty="0" smtClean="0"/>
              <a:t>The Frequencies dialog box opens. Click the Reset button to clear the existing variables from the Variable(s)box. </a:t>
            </a:r>
          </a:p>
          <a:p>
            <a:pPr lvl="1"/>
            <a:r>
              <a:rPr lang="en-GB" dirty="0" smtClean="0"/>
              <a:t>Select the variable </a:t>
            </a:r>
            <a:r>
              <a:rPr lang="en-GB" dirty="0" err="1" smtClean="0"/>
              <a:t>mathexam</a:t>
            </a:r>
            <a:r>
              <a:rPr lang="en-GB" dirty="0" smtClean="0"/>
              <a:t> and then press and hold down the Ctrl key. Select the variable </a:t>
            </a:r>
            <a:r>
              <a:rPr lang="en-GB" dirty="0" err="1" smtClean="0"/>
              <a:t>satquant</a:t>
            </a:r>
            <a:r>
              <a:rPr lang="en-GB" dirty="0" smtClean="0"/>
              <a:t> (both </a:t>
            </a:r>
            <a:r>
              <a:rPr lang="en-GB" dirty="0" err="1" smtClean="0"/>
              <a:t>mathexam</a:t>
            </a:r>
            <a:r>
              <a:rPr lang="en-GB" dirty="0" smtClean="0"/>
              <a:t> and </a:t>
            </a:r>
            <a:r>
              <a:rPr lang="en-GB" dirty="0" err="1" smtClean="0"/>
              <a:t>satquant</a:t>
            </a:r>
            <a:r>
              <a:rPr lang="en-GB" dirty="0" smtClean="0"/>
              <a:t> should now be selected). Click the right-arrow button ( ) to move the two variables to the Variable(s)</a:t>
            </a:r>
            <a:endParaRPr lang="en-GB" dirty="0"/>
          </a:p>
        </p:txBody>
      </p:sp>
    </p:spTree>
    <p:extLst>
      <p:ext uri="{BB962C8B-B14F-4D97-AF65-F5344CB8AC3E}">
        <p14:creationId xmlns:p14="http://schemas.microsoft.com/office/powerpoint/2010/main" val="409857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Frequencies dialog box (continued)</a:t>
            </a:r>
            <a:endParaRPr lang="en-GB" dirty="0"/>
          </a:p>
        </p:txBody>
      </p:sp>
      <p:sp>
        <p:nvSpPr>
          <p:cNvPr id="3" name="Content Placeholder 2"/>
          <p:cNvSpPr>
            <a:spLocks noGrp="1"/>
          </p:cNvSpPr>
          <p:nvPr>
            <p:ph idx="1"/>
          </p:nvPr>
        </p:nvSpPr>
        <p:spPr/>
        <p:txBody>
          <a:bodyPr/>
          <a:lstStyle/>
          <a:p>
            <a:endParaRPr lang="en-GB"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54" y="1484784"/>
            <a:ext cx="7865292" cy="510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3555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Measures of Central Tendency and Variability cont’d</a:t>
            </a:r>
            <a:endParaRPr lang="en-GB" dirty="0"/>
          </a:p>
        </p:txBody>
      </p:sp>
      <p:sp>
        <p:nvSpPr>
          <p:cNvPr id="3" name="Content Placeholder 2"/>
          <p:cNvSpPr>
            <a:spLocks noGrp="1"/>
          </p:cNvSpPr>
          <p:nvPr>
            <p:ph idx="1"/>
          </p:nvPr>
        </p:nvSpPr>
        <p:spPr/>
        <p:txBody>
          <a:bodyPr>
            <a:normAutofit/>
          </a:bodyPr>
          <a:lstStyle/>
          <a:p>
            <a:endParaRPr lang="en-GB" dirty="0" smtClean="0"/>
          </a:p>
          <a:p>
            <a:endParaRPr lang="en-GB" dirty="0"/>
          </a:p>
          <a:p>
            <a:endParaRPr lang="en-GB" dirty="0" smtClean="0"/>
          </a:p>
          <a:p>
            <a:endParaRPr lang="en-GB" dirty="0"/>
          </a:p>
          <a:p>
            <a:endParaRPr lang="en-GB" dirty="0" smtClean="0"/>
          </a:p>
          <a:p>
            <a:endParaRPr lang="en-GB" dirty="0" smtClean="0"/>
          </a:p>
          <a:p>
            <a:r>
              <a:rPr lang="en-GB" sz="3000" dirty="0" smtClean="0"/>
              <a:t>The Frequencies procedure runs in SPSS and the results are presented in the Viewer window</a:t>
            </a:r>
          </a:p>
          <a:p>
            <a:endParaRPr lang="en-GB" sz="3000"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484784"/>
            <a:ext cx="8784976"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5744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Frequencies: Statistics dialog box</a:t>
            </a:r>
            <a:endParaRPr lang="en-GB" dirty="0"/>
          </a:p>
        </p:txBody>
      </p:sp>
      <p:sp>
        <p:nvSpPr>
          <p:cNvPr id="5" name="Content Placeholder 4"/>
          <p:cNvSpPr>
            <a:spLocks noGrp="1"/>
          </p:cNvSpPr>
          <p:nvPr>
            <p:ph idx="1"/>
          </p:nvPr>
        </p:nvSpPr>
        <p:spPr/>
        <p:txBody>
          <a:bodyPr/>
          <a:lstStyle/>
          <a:p>
            <a:endParaRPr lang="en-GB"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7373" y="1392704"/>
            <a:ext cx="5469255" cy="530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0441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Analysis of Groups Using the Means Procedure</a:t>
            </a:r>
            <a:endParaRPr lang="en-GB" dirty="0"/>
          </a:p>
        </p:txBody>
      </p:sp>
      <p:sp>
        <p:nvSpPr>
          <p:cNvPr id="3" name="Content Placeholder 2"/>
          <p:cNvSpPr>
            <a:spLocks noGrp="1"/>
          </p:cNvSpPr>
          <p:nvPr>
            <p:ph idx="1"/>
          </p:nvPr>
        </p:nvSpPr>
        <p:spPr/>
        <p:txBody>
          <a:bodyPr>
            <a:normAutofit/>
          </a:bodyPr>
          <a:lstStyle/>
          <a:p>
            <a:r>
              <a:rPr lang="en-GB" dirty="0" smtClean="0"/>
              <a:t>The Means procedure is useful for obtaining descriptive statistics separately for each group of a variable (or variables) of interest. </a:t>
            </a:r>
          </a:p>
          <a:p>
            <a:r>
              <a:rPr lang="en-GB" dirty="0" smtClean="0"/>
              <a:t>For example, instead of obtaining the mean </a:t>
            </a:r>
            <a:r>
              <a:rPr lang="en-GB" b="1" dirty="0" err="1" smtClean="0"/>
              <a:t>satquant</a:t>
            </a:r>
            <a:r>
              <a:rPr lang="en-GB" dirty="0" smtClean="0"/>
              <a:t> score for all participants, the mean </a:t>
            </a:r>
            <a:r>
              <a:rPr lang="en-GB" b="1" dirty="0" err="1" smtClean="0"/>
              <a:t>satquant</a:t>
            </a:r>
            <a:r>
              <a:rPr lang="en-GB" dirty="0" smtClean="0"/>
              <a:t> scores could be obtained separately for those who </a:t>
            </a:r>
            <a:r>
              <a:rPr lang="en-GB" dirty="0"/>
              <a:t>attended </a:t>
            </a:r>
            <a:r>
              <a:rPr lang="en-GB" b="1" dirty="0"/>
              <a:t>college</a:t>
            </a:r>
            <a:r>
              <a:rPr lang="en-GB" dirty="0"/>
              <a:t> at home and those who attended </a:t>
            </a:r>
            <a:r>
              <a:rPr lang="en-GB" b="1" dirty="0"/>
              <a:t>college</a:t>
            </a:r>
            <a:r>
              <a:rPr lang="en-GB" dirty="0"/>
              <a:t> away</a:t>
            </a:r>
          </a:p>
        </p:txBody>
      </p:sp>
    </p:spTree>
    <p:extLst>
      <p:ext uri="{BB962C8B-B14F-4D97-AF65-F5344CB8AC3E}">
        <p14:creationId xmlns:p14="http://schemas.microsoft.com/office/powerpoint/2010/main" val="404752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Analysis of Groups Using the Means Procedure cont’d</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To obtain the means procedure</a:t>
            </a:r>
          </a:p>
          <a:p>
            <a:pPr marL="971550" lvl="1" indent="-514350">
              <a:buFont typeface="+mj-lt"/>
              <a:buAutoNum type="arabicPeriod"/>
            </a:pPr>
            <a:r>
              <a:rPr lang="en-GB" dirty="0" smtClean="0"/>
              <a:t>Make the Data View window active  (select </a:t>
            </a:r>
            <a:r>
              <a:rPr lang="en-GB" b="1" dirty="0" smtClean="0"/>
              <a:t>Window&gt;Untitled1 [DataSet0] –IBM SPSS Statistics Data editor</a:t>
            </a:r>
          </a:p>
          <a:p>
            <a:pPr marL="971550" lvl="1" indent="-514350">
              <a:buFont typeface="+mj-lt"/>
              <a:buAutoNum type="arabicPeriod"/>
            </a:pPr>
            <a:r>
              <a:rPr lang="en-GB" dirty="0" smtClean="0"/>
              <a:t>From the menu bar, select </a:t>
            </a:r>
            <a:r>
              <a:rPr lang="en-GB" b="1" dirty="0" err="1" smtClean="0"/>
              <a:t>Analyze</a:t>
            </a:r>
            <a:r>
              <a:rPr lang="en-GB" b="1" dirty="0" smtClean="0"/>
              <a:t>&gt;Compare Means&gt;Means</a:t>
            </a:r>
          </a:p>
          <a:p>
            <a:pPr marL="971550" lvl="1" indent="-514350">
              <a:buFont typeface="+mj-lt"/>
              <a:buAutoNum type="arabicPeriod"/>
            </a:pPr>
            <a:r>
              <a:rPr lang="en-GB" dirty="0" smtClean="0"/>
              <a:t>The Means dialog box opens</a:t>
            </a:r>
          </a:p>
          <a:p>
            <a:r>
              <a:rPr lang="en-GB" dirty="0" smtClean="0"/>
              <a:t>The variable that the mean and standard deviation will be obtained on (</a:t>
            </a:r>
            <a:r>
              <a:rPr lang="en-GB" b="1" dirty="0" err="1" smtClean="0"/>
              <a:t>satquant</a:t>
            </a:r>
            <a:r>
              <a:rPr lang="en-GB" dirty="0" smtClean="0"/>
              <a:t>) goes into</a:t>
            </a:r>
            <a:r>
              <a:rPr lang="en-GB" baseline="0" dirty="0" smtClean="0"/>
              <a:t> </a:t>
            </a:r>
            <a:r>
              <a:rPr lang="en-GB" dirty="0" smtClean="0"/>
              <a:t>the Dependent List box and the variable that contains the different groups (</a:t>
            </a:r>
            <a:r>
              <a:rPr lang="en-GB" b="1" dirty="0" smtClean="0"/>
              <a:t>college</a:t>
            </a:r>
            <a:r>
              <a:rPr lang="en-GB" dirty="0" smtClean="0"/>
              <a:t>) goes into the Independent List box</a:t>
            </a:r>
          </a:p>
          <a:p>
            <a:endParaRPr lang="en-GB" dirty="0" smtClean="0"/>
          </a:p>
        </p:txBody>
      </p:sp>
    </p:spTree>
    <p:extLst>
      <p:ext uri="{BB962C8B-B14F-4D97-AF65-F5344CB8AC3E}">
        <p14:creationId xmlns:p14="http://schemas.microsoft.com/office/powerpoint/2010/main" val="3609028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712968" cy="1008112"/>
          </a:xfrm>
        </p:spPr>
        <p:txBody>
          <a:bodyPr>
            <a:normAutofit fontScale="90000"/>
          </a:bodyPr>
          <a:lstStyle/>
          <a:p>
            <a:r>
              <a:rPr lang="en-GB" dirty="0" smtClean="0"/>
              <a:t>Menu commands for the Means procedure</a:t>
            </a:r>
            <a:endParaRPr lang="en-GB" dirty="0"/>
          </a:p>
        </p:txBody>
      </p:sp>
      <p:sp>
        <p:nvSpPr>
          <p:cNvPr id="3" name="Content Placeholder 2"/>
          <p:cNvSpPr>
            <a:spLocks noGrp="1"/>
          </p:cNvSpPr>
          <p:nvPr>
            <p:ph idx="1"/>
          </p:nvPr>
        </p:nvSpPr>
        <p:spPr/>
        <p:txBody>
          <a:bodyPr/>
          <a:lstStyle/>
          <a:p>
            <a:endParaRPr lang="en-GB"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1268760"/>
            <a:ext cx="7791450" cy="559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347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Means dialog box</a:t>
            </a:r>
            <a:endParaRPr lang="en-GB" dirty="0"/>
          </a:p>
        </p:txBody>
      </p:sp>
      <p:sp>
        <p:nvSpPr>
          <p:cNvPr id="3" name="Content Placeholder 2"/>
          <p:cNvSpPr>
            <a:spLocks noGrp="1"/>
          </p:cNvSpPr>
          <p:nvPr>
            <p:ph idx="1"/>
          </p:nvPr>
        </p:nvSpPr>
        <p:spPr/>
        <p:txBody>
          <a:bodyPr/>
          <a:lstStyle/>
          <a:p>
            <a:endParaRPr lang="en-GB"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669756"/>
            <a:ext cx="7771477" cy="485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0507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Analysis of Groups Using the Means Procedure cont’d</a:t>
            </a:r>
            <a:endParaRPr lang="en-GB" dirty="0"/>
          </a:p>
        </p:txBody>
      </p:sp>
      <p:sp>
        <p:nvSpPr>
          <p:cNvPr id="3" name="Content Placeholder 2"/>
          <p:cNvSpPr>
            <a:spLocks noGrp="1"/>
          </p:cNvSpPr>
          <p:nvPr>
            <p:ph idx="1"/>
          </p:nvPr>
        </p:nvSpPr>
        <p:spPr/>
        <p:txBody>
          <a:bodyPr/>
          <a:lstStyle/>
          <a:p>
            <a:pPr marL="514350" indent="-514350">
              <a:buFont typeface="+mj-lt"/>
              <a:buAutoNum type="arabicPeriod" startAt="4"/>
            </a:pPr>
            <a:r>
              <a:rPr lang="en-GB" dirty="0" smtClean="0"/>
              <a:t>Select </a:t>
            </a:r>
            <a:r>
              <a:rPr lang="en-GB" dirty="0" err="1" smtClean="0"/>
              <a:t>satquant</a:t>
            </a:r>
            <a:r>
              <a:rPr lang="en-GB" dirty="0" smtClean="0"/>
              <a:t> and click the upper right-arrow button ( ) to move it to the Dependent List box.</a:t>
            </a:r>
          </a:p>
          <a:p>
            <a:pPr marL="514350" indent="-514350">
              <a:buFont typeface="+mj-lt"/>
              <a:buAutoNum type="arabicPeriod" startAt="4"/>
            </a:pPr>
            <a:r>
              <a:rPr lang="en-GB" dirty="0" smtClean="0"/>
              <a:t>Select college and click the lower right-arrow button ( ) to move it to the Independent List box </a:t>
            </a:r>
          </a:p>
          <a:p>
            <a:pPr marL="514350" indent="-514350">
              <a:buFont typeface="+mj-lt"/>
              <a:buAutoNum type="arabicPeriod" startAt="4"/>
            </a:pPr>
            <a:r>
              <a:rPr lang="en-GB" dirty="0" smtClean="0"/>
              <a:t>Click Options. The Means: Options dialog box opens</a:t>
            </a:r>
            <a:endParaRPr lang="en-GB" dirty="0"/>
          </a:p>
        </p:txBody>
      </p:sp>
    </p:spTree>
    <p:extLst>
      <p:ext uri="{BB962C8B-B14F-4D97-AF65-F5344CB8AC3E}">
        <p14:creationId xmlns:p14="http://schemas.microsoft.com/office/powerpoint/2010/main" val="2502217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Analysis of Groups Using the Means Procedure cont’d</a:t>
            </a:r>
            <a:endParaRPr lang="en-GB" dirty="0"/>
          </a:p>
        </p:txBody>
      </p:sp>
      <p:sp>
        <p:nvSpPr>
          <p:cNvPr id="3" name="Content Placeholder 2"/>
          <p:cNvSpPr>
            <a:spLocks noGrp="1"/>
          </p:cNvSpPr>
          <p:nvPr>
            <p:ph idx="1"/>
          </p:nvPr>
        </p:nvSpPr>
        <p:spPr>
          <a:xfrm>
            <a:off x="457200" y="1600200"/>
            <a:ext cx="8229600" cy="5069160"/>
          </a:xfrm>
        </p:spPr>
        <p:txBody>
          <a:bodyPr>
            <a:normAutofit fontScale="85000" lnSpcReduction="20000"/>
          </a:bodyPr>
          <a:lstStyle/>
          <a:p>
            <a:r>
              <a:rPr lang="en-GB" dirty="0" smtClean="0"/>
              <a:t>On the left-hand side of the dialog box (</a:t>
            </a:r>
            <a:r>
              <a:rPr lang="en-GB" dirty="0" err="1" smtClean="0"/>
              <a:t>labeled</a:t>
            </a:r>
            <a:r>
              <a:rPr lang="en-GB" dirty="0" smtClean="0"/>
              <a:t> Statistics) are a number of statistics that can be selected, and on the right-hand side (</a:t>
            </a:r>
            <a:r>
              <a:rPr lang="en-GB" dirty="0" err="1" smtClean="0"/>
              <a:t>labeled</a:t>
            </a:r>
            <a:r>
              <a:rPr lang="en-GB" dirty="0" smtClean="0"/>
              <a:t> Cell Statistics) are the statistics that are calculated by default. </a:t>
            </a:r>
          </a:p>
          <a:p>
            <a:r>
              <a:rPr lang="en-GB" dirty="0" smtClean="0"/>
              <a:t>Since the Mean and Standard Deviation are on the right-hand side already, we’ll leave the default options in place. (Number of Cases could be moved to the Statistics box by selecting it and clicking the arrow button, but we’ll leave it there since it won’t adversely affect our results.)</a:t>
            </a:r>
          </a:p>
          <a:p>
            <a:pPr marL="514350" indent="-514350">
              <a:buFont typeface="+mj-lt"/>
              <a:buAutoNum type="arabicPeriod" startAt="7"/>
            </a:pPr>
            <a:r>
              <a:rPr lang="en-GB" dirty="0" smtClean="0"/>
              <a:t>Click Continue.</a:t>
            </a:r>
          </a:p>
          <a:p>
            <a:pPr marL="514350" indent="-514350">
              <a:buFont typeface="+mj-lt"/>
              <a:buAutoNum type="arabicPeriod" startAt="7"/>
            </a:pPr>
            <a:r>
              <a:rPr lang="en-GB" dirty="0" smtClean="0"/>
              <a:t>Click OK.</a:t>
            </a:r>
            <a:endParaRPr lang="en-GB" dirty="0"/>
          </a:p>
        </p:txBody>
      </p:sp>
    </p:spTree>
    <p:extLst>
      <p:ext uri="{BB962C8B-B14F-4D97-AF65-F5344CB8AC3E}">
        <p14:creationId xmlns:p14="http://schemas.microsoft.com/office/powerpoint/2010/main" val="2600296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92088"/>
          </a:xfrm>
        </p:spPr>
        <p:txBody>
          <a:bodyPr/>
          <a:lstStyle/>
          <a:p>
            <a:r>
              <a:rPr lang="en-GB" dirty="0"/>
              <a:t>The Means: </a:t>
            </a:r>
            <a:r>
              <a:rPr lang="en-GB" dirty="0" smtClean="0"/>
              <a:t>Options dialog </a:t>
            </a:r>
            <a:r>
              <a:rPr lang="en-GB" dirty="0"/>
              <a:t>box</a:t>
            </a:r>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041226"/>
            <a:ext cx="4876800" cy="577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4824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Means </a:t>
            </a:r>
            <a:r>
              <a:rPr lang="en-GB" dirty="0"/>
              <a:t>procedure using the layered option</a:t>
            </a:r>
          </a:p>
        </p:txBody>
      </p:sp>
      <p:sp>
        <p:nvSpPr>
          <p:cNvPr id="3" name="Content Placeholder 2"/>
          <p:cNvSpPr>
            <a:spLocks noGrp="1"/>
          </p:cNvSpPr>
          <p:nvPr>
            <p:ph idx="1"/>
          </p:nvPr>
        </p:nvSpPr>
        <p:spPr/>
        <p:txBody>
          <a:bodyPr>
            <a:normAutofit lnSpcReduction="10000"/>
          </a:bodyPr>
          <a:lstStyle/>
          <a:p>
            <a:r>
              <a:rPr lang="en-GB" dirty="0"/>
              <a:t>To perform the Means procedure using the layered </a:t>
            </a:r>
            <a:r>
              <a:rPr lang="en-GB" dirty="0" smtClean="0"/>
              <a:t>option</a:t>
            </a:r>
          </a:p>
          <a:p>
            <a:pPr marL="971550" lvl="1" indent="-514350">
              <a:buFont typeface="+mj-lt"/>
              <a:buAutoNum type="arabicPeriod"/>
            </a:pPr>
            <a:r>
              <a:rPr lang="en-GB" dirty="0" smtClean="0"/>
              <a:t>Make the Data View window active  (select </a:t>
            </a:r>
            <a:r>
              <a:rPr lang="en-GB" b="1" dirty="0" smtClean="0"/>
              <a:t>Window&gt;Untitled1 [DataSet0] –IBM SPSS Statistics Data editor</a:t>
            </a:r>
          </a:p>
          <a:p>
            <a:pPr marL="971550" lvl="1" indent="-514350">
              <a:buFont typeface="+mj-lt"/>
              <a:buAutoNum type="arabicPeriod"/>
            </a:pPr>
            <a:r>
              <a:rPr lang="en-GB" dirty="0" smtClean="0"/>
              <a:t>From </a:t>
            </a:r>
            <a:r>
              <a:rPr lang="en-GB" dirty="0"/>
              <a:t>the menu bar, select </a:t>
            </a:r>
            <a:r>
              <a:rPr lang="en-GB" b="1" dirty="0" err="1"/>
              <a:t>Analyze</a:t>
            </a:r>
            <a:r>
              <a:rPr lang="en-GB" b="1" dirty="0"/>
              <a:t>&gt;Compare Means&gt;Means</a:t>
            </a:r>
          </a:p>
          <a:p>
            <a:pPr marL="971550" lvl="1" indent="-514350">
              <a:buFont typeface="+mj-lt"/>
              <a:buAutoNum type="arabicPeriod"/>
            </a:pPr>
            <a:r>
              <a:rPr lang="en-GB" dirty="0"/>
              <a:t>The </a:t>
            </a:r>
            <a:r>
              <a:rPr lang="en-GB" dirty="0" smtClean="0"/>
              <a:t>Means dialog </a:t>
            </a:r>
            <a:r>
              <a:rPr lang="en-GB" dirty="0"/>
              <a:t>box opens with </a:t>
            </a:r>
            <a:r>
              <a:rPr lang="en-GB" b="1" dirty="0" err="1" smtClean="0"/>
              <a:t>satquant</a:t>
            </a:r>
            <a:r>
              <a:rPr lang="en-GB" dirty="0" smtClean="0"/>
              <a:t> in </a:t>
            </a:r>
            <a:r>
              <a:rPr lang="en-GB" dirty="0"/>
              <a:t>the Dependent </a:t>
            </a:r>
            <a:r>
              <a:rPr lang="en-GB" dirty="0" smtClean="0"/>
              <a:t>List box </a:t>
            </a:r>
            <a:r>
              <a:rPr lang="en-GB" dirty="0"/>
              <a:t>and </a:t>
            </a:r>
            <a:r>
              <a:rPr lang="en-GB" b="1" dirty="0" smtClean="0"/>
              <a:t>college</a:t>
            </a:r>
            <a:r>
              <a:rPr lang="en-GB" dirty="0" smtClean="0"/>
              <a:t> in </a:t>
            </a:r>
            <a:r>
              <a:rPr lang="en-GB" dirty="0"/>
              <a:t>the Independent </a:t>
            </a:r>
            <a:r>
              <a:rPr lang="en-GB" dirty="0" smtClean="0"/>
              <a:t>List box</a:t>
            </a:r>
            <a:endParaRPr lang="en-GB" dirty="0"/>
          </a:p>
        </p:txBody>
      </p:sp>
    </p:spTree>
    <p:extLst>
      <p:ext uri="{BB962C8B-B14F-4D97-AF65-F5344CB8AC3E}">
        <p14:creationId xmlns:p14="http://schemas.microsoft.com/office/powerpoint/2010/main" val="3202993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a:t>
            </a:r>
            <a:r>
              <a:rPr lang="en-GB" dirty="0" smtClean="0"/>
              <a:t>Means dialog </a:t>
            </a:r>
            <a:r>
              <a:rPr lang="en-GB" dirty="0"/>
              <a:t>box</a:t>
            </a:r>
          </a:p>
        </p:txBody>
      </p:sp>
      <p:sp>
        <p:nvSpPr>
          <p:cNvPr id="3" name="Content Placeholder 2"/>
          <p:cNvSpPr>
            <a:spLocks noGrp="1"/>
          </p:cNvSpPr>
          <p:nvPr>
            <p:ph idx="1"/>
          </p:nvPr>
        </p:nvSpPr>
        <p:spPr/>
        <p:txBody>
          <a:bodyPr/>
          <a:lstStyle/>
          <a:p>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229" y="1699672"/>
            <a:ext cx="7847543" cy="496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7222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Means procedure using the layered </a:t>
            </a:r>
            <a:r>
              <a:rPr lang="en-GB" dirty="0" smtClean="0"/>
              <a:t>option cont’d</a:t>
            </a:r>
            <a:endParaRPr lang="en-GB" dirty="0"/>
          </a:p>
        </p:txBody>
      </p:sp>
      <p:sp>
        <p:nvSpPr>
          <p:cNvPr id="3" name="Content Placeholder 2"/>
          <p:cNvSpPr>
            <a:spLocks noGrp="1"/>
          </p:cNvSpPr>
          <p:nvPr>
            <p:ph idx="1"/>
          </p:nvPr>
        </p:nvSpPr>
        <p:spPr/>
        <p:txBody>
          <a:bodyPr>
            <a:normAutofit/>
          </a:bodyPr>
          <a:lstStyle/>
          <a:p>
            <a:pPr marL="514350" indent="-514350">
              <a:buFont typeface="+mj-lt"/>
              <a:buAutoNum type="arabicPeriod" startAt="4"/>
            </a:pPr>
            <a:r>
              <a:rPr lang="en-GB" dirty="0" smtClean="0"/>
              <a:t>To </a:t>
            </a:r>
            <a:r>
              <a:rPr lang="en-GB" dirty="0"/>
              <a:t>layer the results by gender, in the Layer 1 of </a:t>
            </a:r>
            <a:r>
              <a:rPr lang="en-GB" dirty="0" smtClean="0"/>
              <a:t>1 section </a:t>
            </a:r>
            <a:r>
              <a:rPr lang="en-GB" dirty="0"/>
              <a:t>of the dialog box, </a:t>
            </a:r>
            <a:r>
              <a:rPr lang="en-GB" dirty="0" smtClean="0"/>
              <a:t>click the Next button </a:t>
            </a:r>
            <a:r>
              <a:rPr lang="en-GB" dirty="0"/>
              <a:t>(after clicking on Next, you should see ‘Layer 2 of 2’ above </a:t>
            </a:r>
            <a:r>
              <a:rPr lang="en-GB" dirty="0" smtClean="0"/>
              <a:t>the Previous button</a:t>
            </a:r>
            <a:r>
              <a:rPr lang="en-GB" dirty="0"/>
              <a:t>). Select </a:t>
            </a:r>
            <a:r>
              <a:rPr lang="en-GB" dirty="0" smtClean="0"/>
              <a:t>gender and </a:t>
            </a:r>
            <a:r>
              <a:rPr lang="en-GB" dirty="0"/>
              <a:t>click the lower-right arrow button ( ) </a:t>
            </a:r>
            <a:r>
              <a:rPr lang="en-GB" dirty="0" smtClean="0"/>
              <a:t>to move </a:t>
            </a:r>
            <a:r>
              <a:rPr lang="en-GB" dirty="0"/>
              <a:t>it to the Independent </a:t>
            </a:r>
            <a:r>
              <a:rPr lang="en-GB" dirty="0" smtClean="0"/>
              <a:t>List box </a:t>
            </a:r>
            <a:endParaRPr lang="en-GB" dirty="0"/>
          </a:p>
          <a:p>
            <a:pPr marL="514350" indent="-514350">
              <a:buFont typeface="+mj-lt"/>
              <a:buAutoNum type="arabicPeriod" startAt="4"/>
            </a:pPr>
            <a:r>
              <a:rPr lang="en-GB" dirty="0" smtClean="0"/>
              <a:t>Click </a:t>
            </a:r>
            <a:r>
              <a:rPr lang="en-GB" dirty="0"/>
              <a:t>OK</a:t>
            </a:r>
          </a:p>
        </p:txBody>
      </p:sp>
    </p:spTree>
    <p:extLst>
      <p:ext uri="{BB962C8B-B14F-4D97-AF65-F5344CB8AC3E}">
        <p14:creationId xmlns:p14="http://schemas.microsoft.com/office/powerpoint/2010/main" val="952339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The </a:t>
            </a:r>
            <a:r>
              <a:rPr lang="en-GB" dirty="0" smtClean="0"/>
              <a:t>Means dialog </a:t>
            </a:r>
            <a:r>
              <a:rPr lang="en-GB" dirty="0"/>
              <a:t>box using the layered option</a:t>
            </a:r>
          </a:p>
        </p:txBody>
      </p:sp>
      <p:sp>
        <p:nvSpPr>
          <p:cNvPr id="3" name="Content Placeholder 2"/>
          <p:cNvSpPr>
            <a:spLocks noGrp="1"/>
          </p:cNvSpPr>
          <p:nvPr>
            <p:ph idx="1"/>
          </p:nvPr>
        </p:nvSpPr>
        <p:spPr/>
        <p:txBody>
          <a:bodyPr/>
          <a:lstStyle/>
          <a:p>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557" y="1628800"/>
            <a:ext cx="8620887" cy="3448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6958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Interpret the results </a:t>
            </a:r>
            <a:endParaRPr lang="en-GB" dirty="0"/>
          </a:p>
        </p:txBody>
      </p:sp>
      <p:sp>
        <p:nvSpPr>
          <p:cNvPr id="3" name="Content Placeholder 2"/>
          <p:cNvSpPr>
            <a:spLocks noGrp="1"/>
          </p:cNvSpPr>
          <p:nvPr>
            <p:ph idx="1"/>
          </p:nvPr>
        </p:nvSpPr>
        <p:spPr>
          <a:xfrm>
            <a:off x="457200" y="1600200"/>
            <a:ext cx="8229600" cy="5141168"/>
          </a:xfrm>
        </p:spPr>
        <p:txBody>
          <a:bodyPr>
            <a:normAutofit fontScale="92500" lnSpcReduction="10000"/>
          </a:bodyPr>
          <a:lstStyle/>
          <a:p>
            <a:r>
              <a:rPr lang="en-GB" dirty="0"/>
              <a:t>The </a:t>
            </a:r>
            <a:r>
              <a:rPr lang="en-GB" dirty="0" smtClean="0"/>
              <a:t>Means procedure </a:t>
            </a:r>
            <a:r>
              <a:rPr lang="en-GB" dirty="0"/>
              <a:t>runs in SPSS and the results are presented in the </a:t>
            </a:r>
            <a:r>
              <a:rPr lang="en-GB" dirty="0" smtClean="0"/>
              <a:t>Viewer window</a:t>
            </a:r>
            <a:r>
              <a:rPr lang="en-GB" dirty="0"/>
              <a:t>. </a:t>
            </a:r>
            <a:endParaRPr lang="en-GB" dirty="0" smtClean="0"/>
          </a:p>
          <a:p>
            <a:r>
              <a:rPr lang="en-GB" dirty="0" smtClean="0"/>
              <a:t>Next </a:t>
            </a:r>
            <a:r>
              <a:rPr lang="en-GB" dirty="0"/>
              <a:t>we’ll discuss the output for the four analyses we </a:t>
            </a:r>
            <a:r>
              <a:rPr lang="en-GB" dirty="0" smtClean="0"/>
              <a:t>conducted. As </a:t>
            </a:r>
            <a:r>
              <a:rPr lang="en-GB" dirty="0"/>
              <a:t>a review, the four analyses were:</a:t>
            </a:r>
          </a:p>
          <a:p>
            <a:pPr marL="971550" lvl="1" indent="-514350">
              <a:buFont typeface="+mj-lt"/>
              <a:buAutoNum type="arabicPeriod"/>
            </a:pPr>
            <a:r>
              <a:rPr lang="en-GB" dirty="0" smtClean="0"/>
              <a:t>Frequencies </a:t>
            </a:r>
            <a:r>
              <a:rPr lang="en-GB" dirty="0"/>
              <a:t>on the variables </a:t>
            </a:r>
            <a:r>
              <a:rPr lang="en-GB" b="1" dirty="0" smtClean="0"/>
              <a:t>college</a:t>
            </a:r>
            <a:r>
              <a:rPr lang="en-GB" dirty="0" smtClean="0"/>
              <a:t> and </a:t>
            </a:r>
            <a:r>
              <a:rPr lang="en-GB" b="1" dirty="0"/>
              <a:t>gender</a:t>
            </a:r>
            <a:r>
              <a:rPr lang="en-GB" dirty="0"/>
              <a:t>.</a:t>
            </a:r>
          </a:p>
          <a:p>
            <a:pPr marL="971550" lvl="1" indent="-514350">
              <a:buFont typeface="+mj-lt"/>
              <a:buAutoNum type="arabicPeriod"/>
            </a:pPr>
            <a:r>
              <a:rPr lang="en-GB" dirty="0" smtClean="0"/>
              <a:t>Measures </a:t>
            </a:r>
            <a:r>
              <a:rPr lang="en-GB" dirty="0"/>
              <a:t>of central tendency and variability on </a:t>
            </a:r>
            <a:r>
              <a:rPr lang="en-GB" b="1" dirty="0" err="1" smtClean="0"/>
              <a:t>mathexam</a:t>
            </a:r>
            <a:r>
              <a:rPr lang="en-GB" dirty="0" smtClean="0"/>
              <a:t> and </a:t>
            </a:r>
            <a:r>
              <a:rPr lang="en-GB" b="1" dirty="0" err="1"/>
              <a:t>satquant</a:t>
            </a:r>
            <a:r>
              <a:rPr lang="en-GB" dirty="0"/>
              <a:t>.</a:t>
            </a:r>
          </a:p>
          <a:p>
            <a:pPr marL="971550" lvl="1" indent="-514350">
              <a:buFont typeface="+mj-lt"/>
              <a:buAutoNum type="arabicPeriod"/>
            </a:pPr>
            <a:r>
              <a:rPr lang="en-GB" dirty="0" smtClean="0"/>
              <a:t>Means </a:t>
            </a:r>
            <a:r>
              <a:rPr lang="en-GB" dirty="0"/>
              <a:t>and standard deviations on </a:t>
            </a:r>
            <a:r>
              <a:rPr lang="en-GB" b="1" dirty="0" err="1" smtClean="0"/>
              <a:t>satquant</a:t>
            </a:r>
            <a:r>
              <a:rPr lang="en-GB" dirty="0" smtClean="0"/>
              <a:t> for </a:t>
            </a:r>
            <a:r>
              <a:rPr lang="en-GB" dirty="0"/>
              <a:t>the different </a:t>
            </a:r>
            <a:r>
              <a:rPr lang="en-GB" b="1" dirty="0" smtClean="0"/>
              <a:t>college</a:t>
            </a:r>
            <a:r>
              <a:rPr lang="en-GB" dirty="0" smtClean="0"/>
              <a:t> groups</a:t>
            </a:r>
            <a:r>
              <a:rPr lang="en-GB" dirty="0"/>
              <a:t>.</a:t>
            </a:r>
          </a:p>
          <a:p>
            <a:pPr marL="971550" lvl="1" indent="-514350">
              <a:buFont typeface="+mj-lt"/>
              <a:buAutoNum type="arabicPeriod"/>
            </a:pPr>
            <a:r>
              <a:rPr lang="en-GB" dirty="0" smtClean="0"/>
              <a:t>Means </a:t>
            </a:r>
            <a:r>
              <a:rPr lang="en-GB" dirty="0"/>
              <a:t>and standard deviations on </a:t>
            </a:r>
            <a:r>
              <a:rPr lang="en-GB" b="1" dirty="0" err="1" smtClean="0"/>
              <a:t>satquant</a:t>
            </a:r>
            <a:r>
              <a:rPr lang="en-GB" dirty="0" smtClean="0"/>
              <a:t> for </a:t>
            </a:r>
            <a:r>
              <a:rPr lang="en-GB" dirty="0"/>
              <a:t>the different </a:t>
            </a:r>
            <a:r>
              <a:rPr lang="en-GB" b="1" dirty="0" smtClean="0"/>
              <a:t>college</a:t>
            </a:r>
            <a:r>
              <a:rPr lang="en-GB" dirty="0" smtClean="0"/>
              <a:t> groups layered </a:t>
            </a:r>
            <a:r>
              <a:rPr lang="en-GB" dirty="0"/>
              <a:t>by </a:t>
            </a:r>
            <a:r>
              <a:rPr lang="en-GB" b="1" dirty="0"/>
              <a:t>gender</a:t>
            </a:r>
          </a:p>
        </p:txBody>
      </p:sp>
    </p:spTree>
    <p:extLst>
      <p:ext uri="{BB962C8B-B14F-4D97-AF65-F5344CB8AC3E}">
        <p14:creationId xmlns:p14="http://schemas.microsoft.com/office/powerpoint/2010/main" val="3585503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Analysis 1: Frequencies </a:t>
            </a:r>
            <a:r>
              <a:rPr lang="en-GB" dirty="0" smtClean="0"/>
              <a:t>Procedure—Gender and </a:t>
            </a:r>
            <a:r>
              <a:rPr lang="en-GB" dirty="0"/>
              <a:t>College</a:t>
            </a:r>
          </a:p>
        </p:txBody>
      </p:sp>
      <p:sp>
        <p:nvSpPr>
          <p:cNvPr id="3" name="Content Placeholder 2"/>
          <p:cNvSpPr>
            <a:spLocks noGrp="1"/>
          </p:cNvSpPr>
          <p:nvPr>
            <p:ph idx="1"/>
          </p:nvPr>
        </p:nvSpPr>
        <p:spPr/>
        <p:txBody>
          <a:bodyPr/>
          <a:lstStyle/>
          <a:p>
            <a:endParaRPr lang="en-GB"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412776"/>
            <a:ext cx="8208912" cy="5463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7634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Frequencies—Statistics</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The Statistics table </a:t>
            </a:r>
            <a:r>
              <a:rPr lang="en-GB" dirty="0"/>
              <a:t>displays the sample size for the variables </a:t>
            </a:r>
            <a:r>
              <a:rPr lang="en-GB" b="1" dirty="0" smtClean="0"/>
              <a:t>gender</a:t>
            </a:r>
            <a:r>
              <a:rPr lang="en-GB" dirty="0" smtClean="0"/>
              <a:t> and </a:t>
            </a:r>
            <a:r>
              <a:rPr lang="en-GB" b="1" dirty="0"/>
              <a:t>college</a:t>
            </a:r>
            <a:r>
              <a:rPr lang="en-GB" dirty="0"/>
              <a:t>. </a:t>
            </a:r>
            <a:endParaRPr lang="en-GB" dirty="0" smtClean="0"/>
          </a:p>
          <a:p>
            <a:r>
              <a:rPr lang="en-GB" dirty="0" smtClean="0"/>
              <a:t>The </a:t>
            </a:r>
            <a:r>
              <a:rPr lang="en-GB" dirty="0"/>
              <a:t>table indicates that there were 10 valid observations for </a:t>
            </a:r>
            <a:r>
              <a:rPr lang="en-GB" b="1" dirty="0" smtClean="0"/>
              <a:t>gender</a:t>
            </a:r>
            <a:r>
              <a:rPr lang="en-GB" dirty="0" smtClean="0"/>
              <a:t> and </a:t>
            </a:r>
            <a:r>
              <a:rPr lang="en-GB" b="1" dirty="0" smtClean="0"/>
              <a:t>college</a:t>
            </a:r>
            <a:r>
              <a:rPr lang="en-GB" dirty="0" smtClean="0"/>
              <a:t> (</a:t>
            </a:r>
            <a:r>
              <a:rPr lang="en-GB" dirty="0"/>
              <a:t>all 10 people had values on </a:t>
            </a:r>
            <a:r>
              <a:rPr lang="en-GB" dirty="0" smtClean="0"/>
              <a:t>both variables</a:t>
            </a:r>
            <a:r>
              <a:rPr lang="en-GB" dirty="0"/>
              <a:t>). </a:t>
            </a:r>
            <a:endParaRPr lang="en-GB" dirty="0" smtClean="0"/>
          </a:p>
          <a:p>
            <a:r>
              <a:rPr lang="en-GB" dirty="0" smtClean="0"/>
              <a:t>The </a:t>
            </a:r>
            <a:r>
              <a:rPr lang="en-GB" dirty="0"/>
              <a:t>value of zero in the </a:t>
            </a:r>
            <a:r>
              <a:rPr lang="en-GB" dirty="0" smtClean="0"/>
              <a:t>Missing row </a:t>
            </a:r>
            <a:r>
              <a:rPr lang="en-GB" dirty="0"/>
              <a:t>indicates that there were no missing values </a:t>
            </a:r>
            <a:r>
              <a:rPr lang="en-GB" dirty="0" smtClean="0"/>
              <a:t>for either </a:t>
            </a:r>
            <a:r>
              <a:rPr lang="en-GB" dirty="0"/>
              <a:t>of the variables (a missing value for </a:t>
            </a:r>
            <a:r>
              <a:rPr lang="en-GB" b="1" dirty="0"/>
              <a:t>gender</a:t>
            </a:r>
            <a:r>
              <a:rPr lang="en-GB" dirty="0"/>
              <a:t>, for example, would indicate that the </a:t>
            </a:r>
            <a:r>
              <a:rPr lang="en-GB" b="1" dirty="0" smtClean="0"/>
              <a:t>gender</a:t>
            </a:r>
            <a:r>
              <a:rPr lang="en-GB" dirty="0" smtClean="0"/>
              <a:t> of </a:t>
            </a:r>
            <a:r>
              <a:rPr lang="en-GB" dirty="0"/>
              <a:t>one of the participants was not recorded).</a:t>
            </a:r>
          </a:p>
        </p:txBody>
      </p:sp>
    </p:spTree>
    <p:extLst>
      <p:ext uri="{BB962C8B-B14F-4D97-AF65-F5344CB8AC3E}">
        <p14:creationId xmlns:p14="http://schemas.microsoft.com/office/powerpoint/2010/main" val="1408423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Frequency </a:t>
            </a:r>
            <a:r>
              <a:rPr lang="en-GB" dirty="0" smtClean="0"/>
              <a:t>Table—Gender</a:t>
            </a:r>
            <a:endParaRPr lang="en-GB" dirty="0"/>
          </a:p>
        </p:txBody>
      </p:sp>
      <p:sp>
        <p:nvSpPr>
          <p:cNvPr id="3" name="Content Placeholder 2"/>
          <p:cNvSpPr>
            <a:spLocks noGrp="1"/>
          </p:cNvSpPr>
          <p:nvPr>
            <p:ph idx="1"/>
          </p:nvPr>
        </p:nvSpPr>
        <p:spPr/>
        <p:txBody>
          <a:bodyPr/>
          <a:lstStyle/>
          <a:p>
            <a:r>
              <a:rPr lang="en-GB" dirty="0" smtClean="0"/>
              <a:t>The </a:t>
            </a:r>
            <a:r>
              <a:rPr lang="en-GB" dirty="0"/>
              <a:t>frequency table for </a:t>
            </a:r>
            <a:r>
              <a:rPr lang="en-GB" b="1" dirty="0" smtClean="0"/>
              <a:t>gender</a:t>
            </a:r>
            <a:r>
              <a:rPr lang="en-GB" dirty="0" smtClean="0"/>
              <a:t> indicates </a:t>
            </a:r>
            <a:r>
              <a:rPr lang="en-GB" dirty="0"/>
              <a:t>the frequency, or number of participants, for each category of </a:t>
            </a:r>
            <a:r>
              <a:rPr lang="en-GB" b="1" dirty="0"/>
              <a:t>gender</a:t>
            </a:r>
            <a:r>
              <a:rPr lang="en-GB" dirty="0"/>
              <a:t>. </a:t>
            </a:r>
            <a:endParaRPr lang="en-GB" dirty="0" smtClean="0"/>
          </a:p>
          <a:p>
            <a:r>
              <a:rPr lang="en-GB" dirty="0" smtClean="0"/>
              <a:t>In </a:t>
            </a:r>
            <a:r>
              <a:rPr lang="en-GB" dirty="0"/>
              <a:t>the table there are five males and five females, with each </a:t>
            </a:r>
            <a:r>
              <a:rPr lang="en-GB" b="1" dirty="0"/>
              <a:t>gender</a:t>
            </a:r>
            <a:r>
              <a:rPr lang="en-GB" dirty="0"/>
              <a:t> </a:t>
            </a:r>
            <a:r>
              <a:rPr lang="en-GB" dirty="0" smtClean="0"/>
              <a:t>representing 50</a:t>
            </a:r>
            <a:r>
              <a:rPr lang="en-GB" dirty="0"/>
              <a:t>% of the data set.</a:t>
            </a:r>
          </a:p>
        </p:txBody>
      </p:sp>
    </p:spTree>
    <p:extLst>
      <p:ext uri="{BB962C8B-B14F-4D97-AF65-F5344CB8AC3E}">
        <p14:creationId xmlns:p14="http://schemas.microsoft.com/office/powerpoint/2010/main" val="2612009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Frequency </a:t>
            </a:r>
            <a:r>
              <a:rPr lang="en-GB" dirty="0" smtClean="0"/>
              <a:t>Table—College</a:t>
            </a:r>
            <a:endParaRPr lang="en-GB" dirty="0"/>
          </a:p>
        </p:txBody>
      </p:sp>
      <p:sp>
        <p:nvSpPr>
          <p:cNvPr id="3" name="Content Placeholder 2"/>
          <p:cNvSpPr>
            <a:spLocks noGrp="1"/>
          </p:cNvSpPr>
          <p:nvPr>
            <p:ph idx="1"/>
          </p:nvPr>
        </p:nvSpPr>
        <p:spPr/>
        <p:txBody>
          <a:bodyPr>
            <a:normAutofit/>
          </a:bodyPr>
          <a:lstStyle/>
          <a:p>
            <a:r>
              <a:rPr lang="en-GB" dirty="0" smtClean="0"/>
              <a:t>The </a:t>
            </a:r>
            <a:r>
              <a:rPr lang="en-GB" dirty="0"/>
              <a:t>frequency table for </a:t>
            </a:r>
            <a:r>
              <a:rPr lang="en-GB" dirty="0" smtClean="0"/>
              <a:t>college indicates </a:t>
            </a:r>
            <a:r>
              <a:rPr lang="en-GB" dirty="0"/>
              <a:t>the frequency for each category of </a:t>
            </a:r>
            <a:r>
              <a:rPr lang="en-GB" b="1" dirty="0"/>
              <a:t>college</a:t>
            </a:r>
            <a:r>
              <a:rPr lang="en-GB" dirty="0"/>
              <a:t>. </a:t>
            </a:r>
            <a:endParaRPr lang="en-GB" dirty="0" smtClean="0"/>
          </a:p>
          <a:p>
            <a:r>
              <a:rPr lang="en-GB" dirty="0" smtClean="0"/>
              <a:t>The table shows </a:t>
            </a:r>
            <a:r>
              <a:rPr lang="en-GB" dirty="0"/>
              <a:t>that six students attended </a:t>
            </a:r>
            <a:r>
              <a:rPr lang="en-GB" b="1" dirty="0"/>
              <a:t>college</a:t>
            </a:r>
            <a:r>
              <a:rPr lang="en-GB" dirty="0"/>
              <a:t> at home and four students attended </a:t>
            </a:r>
            <a:r>
              <a:rPr lang="en-GB" b="1" dirty="0"/>
              <a:t>college</a:t>
            </a:r>
            <a:r>
              <a:rPr lang="en-GB" dirty="0"/>
              <a:t> away </a:t>
            </a:r>
            <a:r>
              <a:rPr lang="en-GB" dirty="0" smtClean="0"/>
              <a:t>from home</a:t>
            </a:r>
            <a:r>
              <a:rPr lang="en-GB" dirty="0"/>
              <a:t>, representing 60% and 40% of the data set, respectively</a:t>
            </a:r>
          </a:p>
        </p:txBody>
      </p:sp>
    </p:spTree>
    <p:extLst>
      <p:ext uri="{BB962C8B-B14F-4D97-AF65-F5344CB8AC3E}">
        <p14:creationId xmlns:p14="http://schemas.microsoft.com/office/powerpoint/2010/main" val="1954436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GB" b="1" dirty="0"/>
              <a:t>Analysis 2: </a:t>
            </a:r>
            <a:r>
              <a:rPr lang="en-GB" dirty="0"/>
              <a:t>Frequencies </a:t>
            </a:r>
            <a:r>
              <a:rPr lang="en-GB" dirty="0" smtClean="0"/>
              <a:t>Procedure—</a:t>
            </a:r>
            <a:r>
              <a:rPr lang="en-GB" dirty="0" err="1" smtClean="0"/>
              <a:t>Mathexam</a:t>
            </a:r>
            <a:r>
              <a:rPr lang="en-GB" dirty="0" smtClean="0"/>
              <a:t> and </a:t>
            </a:r>
            <a:r>
              <a:rPr lang="en-GB" dirty="0" err="1"/>
              <a:t>Satquant</a:t>
            </a:r>
            <a:endParaRPr lang="en-GB" dirty="0"/>
          </a:p>
        </p:txBody>
      </p:sp>
      <p:sp>
        <p:nvSpPr>
          <p:cNvPr id="3" name="Content Placeholder 2"/>
          <p:cNvSpPr>
            <a:spLocks noGrp="1"/>
          </p:cNvSpPr>
          <p:nvPr>
            <p:ph idx="1"/>
          </p:nvPr>
        </p:nvSpPr>
        <p:spPr>
          <a:xfrm>
            <a:off x="457200" y="1124744"/>
            <a:ext cx="8229600" cy="5616624"/>
          </a:xfrm>
        </p:spPr>
        <p:txBody>
          <a:bodyPr>
            <a:normAutofit fontScale="77500" lnSpcReduction="20000"/>
          </a:bodyPr>
          <a:lstStyle/>
          <a:p>
            <a:r>
              <a:rPr lang="en-GB" dirty="0"/>
              <a:t>The </a:t>
            </a:r>
            <a:r>
              <a:rPr lang="en-GB" dirty="0" smtClean="0"/>
              <a:t>Statistics table </a:t>
            </a:r>
            <a:r>
              <a:rPr lang="en-GB" dirty="0"/>
              <a:t>displays the results of the </a:t>
            </a:r>
            <a:r>
              <a:rPr lang="en-GB" dirty="0" smtClean="0"/>
              <a:t>Frequencies procedure </a:t>
            </a:r>
            <a:r>
              <a:rPr lang="en-GB" dirty="0"/>
              <a:t>for the </a:t>
            </a:r>
            <a:r>
              <a:rPr lang="en-GB" dirty="0" smtClean="0"/>
              <a:t>continuous variables </a:t>
            </a:r>
            <a:r>
              <a:rPr lang="en-GB" b="1" dirty="0" err="1" smtClean="0"/>
              <a:t>mathexam</a:t>
            </a:r>
            <a:r>
              <a:rPr lang="en-GB" dirty="0" smtClean="0"/>
              <a:t> and </a:t>
            </a:r>
            <a:r>
              <a:rPr lang="en-GB" b="1" dirty="0" err="1"/>
              <a:t>satquant</a:t>
            </a:r>
            <a:r>
              <a:rPr lang="en-GB" dirty="0"/>
              <a:t>. (Recall that we requested measures of central tendency and variability for these variables</a:t>
            </a:r>
            <a:r>
              <a:rPr lang="en-GB" dirty="0" smtClean="0"/>
              <a:t>.)</a:t>
            </a:r>
          </a:p>
          <a:p>
            <a:r>
              <a:rPr lang="en-GB" dirty="0"/>
              <a:t>The mean and standard deviation for </a:t>
            </a:r>
            <a:r>
              <a:rPr lang="en-GB" b="1" dirty="0" err="1" smtClean="0"/>
              <a:t>mathexam</a:t>
            </a:r>
            <a:r>
              <a:rPr lang="en-GB" b="1" dirty="0" smtClean="0"/>
              <a:t> </a:t>
            </a:r>
            <a:r>
              <a:rPr lang="en-GB" dirty="0" smtClean="0"/>
              <a:t>is </a:t>
            </a:r>
            <a:r>
              <a:rPr lang="en-GB" dirty="0"/>
              <a:t>28.60 and </a:t>
            </a:r>
            <a:r>
              <a:rPr lang="en-GB" dirty="0" smtClean="0"/>
              <a:t>9.38 (rounding </a:t>
            </a:r>
            <a:r>
              <a:rPr lang="en-GB" dirty="0"/>
              <a:t>to two decimal places) and for </a:t>
            </a:r>
            <a:r>
              <a:rPr lang="en-GB" b="1" dirty="0" err="1" smtClean="0"/>
              <a:t>satquant</a:t>
            </a:r>
            <a:r>
              <a:rPr lang="en-GB" dirty="0" smtClean="0"/>
              <a:t> is </a:t>
            </a:r>
            <a:r>
              <a:rPr lang="en-GB" dirty="0"/>
              <a:t>520.00 and 58.31, respectively. </a:t>
            </a:r>
            <a:endParaRPr lang="en-GB" dirty="0" smtClean="0"/>
          </a:p>
          <a:p>
            <a:r>
              <a:rPr lang="en-GB" dirty="0" smtClean="0"/>
              <a:t>The </a:t>
            </a:r>
            <a:r>
              <a:rPr lang="en-GB" dirty="0"/>
              <a:t>minimum and maximum values indicate the lowest and highest values in the data set and are helpful for ensuring that all the data are within the possible range of values (a value outside of </a:t>
            </a:r>
            <a:r>
              <a:rPr lang="en-GB" dirty="0" smtClean="0"/>
              <a:t>this range </a:t>
            </a:r>
            <a:r>
              <a:rPr lang="en-GB" dirty="0"/>
              <a:t>would most likely indicate that a data entry error has been made). </a:t>
            </a:r>
            <a:endParaRPr lang="en-GB" dirty="0" smtClean="0"/>
          </a:p>
          <a:p>
            <a:r>
              <a:rPr lang="en-GB" dirty="0" smtClean="0"/>
              <a:t>The </a:t>
            </a:r>
            <a:r>
              <a:rPr lang="en-GB" dirty="0"/>
              <a:t>minimum </a:t>
            </a:r>
            <a:r>
              <a:rPr lang="en-GB" dirty="0" smtClean="0"/>
              <a:t>and maximum </a:t>
            </a:r>
            <a:r>
              <a:rPr lang="en-GB" dirty="0"/>
              <a:t>values of 15.00 and 44.00 for </a:t>
            </a:r>
            <a:r>
              <a:rPr lang="en-GB" b="1" dirty="0" err="1" smtClean="0"/>
              <a:t>mathexam</a:t>
            </a:r>
            <a:r>
              <a:rPr lang="en-GB" dirty="0" smtClean="0"/>
              <a:t> and </a:t>
            </a:r>
            <a:r>
              <a:rPr lang="en-GB" dirty="0"/>
              <a:t>450.00 and 600.00 for </a:t>
            </a:r>
            <a:r>
              <a:rPr lang="en-GB" b="1" dirty="0" err="1" smtClean="0"/>
              <a:t>satquant</a:t>
            </a:r>
            <a:r>
              <a:rPr lang="en-GB" dirty="0" smtClean="0"/>
              <a:t> show that </a:t>
            </a:r>
            <a:r>
              <a:rPr lang="en-GB" dirty="0"/>
              <a:t>there were no out-of-range values for either variable (as indicated earlier, the range of possible scores for </a:t>
            </a:r>
            <a:r>
              <a:rPr lang="en-GB" b="1" dirty="0" err="1" smtClean="0"/>
              <a:t>mathexam</a:t>
            </a:r>
            <a:r>
              <a:rPr lang="en-GB" dirty="0" smtClean="0"/>
              <a:t> is </a:t>
            </a:r>
            <a:r>
              <a:rPr lang="en-GB" dirty="0"/>
              <a:t>0 to 50 and for </a:t>
            </a:r>
            <a:r>
              <a:rPr lang="en-GB" b="1" dirty="0" err="1" smtClean="0"/>
              <a:t>satquant</a:t>
            </a:r>
            <a:r>
              <a:rPr lang="en-GB" dirty="0" smtClean="0"/>
              <a:t> is </a:t>
            </a:r>
            <a:r>
              <a:rPr lang="en-GB" dirty="0"/>
              <a:t>200 to 800)</a:t>
            </a:r>
          </a:p>
        </p:txBody>
      </p:sp>
    </p:spTree>
    <p:extLst>
      <p:ext uri="{BB962C8B-B14F-4D97-AF65-F5344CB8AC3E}">
        <p14:creationId xmlns:p14="http://schemas.microsoft.com/office/powerpoint/2010/main" val="41356381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Output of the </a:t>
            </a:r>
            <a:r>
              <a:rPr lang="en-GB" dirty="0" smtClean="0"/>
              <a:t>Frequencies procedure for </a:t>
            </a:r>
            <a:r>
              <a:rPr lang="en-GB" dirty="0" err="1" smtClean="0"/>
              <a:t>mathexam</a:t>
            </a:r>
            <a:r>
              <a:rPr lang="en-GB" dirty="0" smtClean="0"/>
              <a:t> </a:t>
            </a:r>
            <a:r>
              <a:rPr lang="en-GB" dirty="0"/>
              <a:t>and </a:t>
            </a:r>
            <a:r>
              <a:rPr lang="en-GB" dirty="0" err="1"/>
              <a:t>satquant</a:t>
            </a:r>
            <a:endParaRPr lang="en-GB"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364" y="1464370"/>
            <a:ext cx="7409273" cy="527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9342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Analysis 3: </a:t>
            </a:r>
            <a:r>
              <a:rPr lang="en-GB" dirty="0"/>
              <a:t>Means </a:t>
            </a:r>
            <a:r>
              <a:rPr lang="en-GB" dirty="0" smtClean="0"/>
              <a:t>Procedure—</a:t>
            </a:r>
            <a:r>
              <a:rPr lang="en-GB" dirty="0" err="1" smtClean="0"/>
              <a:t>Satquant</a:t>
            </a:r>
            <a:r>
              <a:rPr lang="en-GB" dirty="0" smtClean="0"/>
              <a:t> by </a:t>
            </a:r>
            <a:r>
              <a:rPr lang="en-GB" dirty="0"/>
              <a:t>College</a:t>
            </a:r>
          </a:p>
        </p:txBody>
      </p:sp>
      <p:sp>
        <p:nvSpPr>
          <p:cNvPr id="3" name="Content Placeholder 2"/>
          <p:cNvSpPr>
            <a:spLocks noGrp="1"/>
          </p:cNvSpPr>
          <p:nvPr>
            <p:ph idx="1"/>
          </p:nvPr>
        </p:nvSpPr>
        <p:spPr/>
        <p:txBody>
          <a:bodyPr/>
          <a:lstStyle/>
          <a:p>
            <a:endParaRPr lang="en-GB"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696661"/>
            <a:ext cx="8966645" cy="3676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5433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Case Processing </a:t>
            </a:r>
            <a:r>
              <a:rPr lang="en-GB" dirty="0" smtClean="0"/>
              <a:t>Summary</a:t>
            </a:r>
            <a:endParaRPr lang="en-GB" dirty="0"/>
          </a:p>
        </p:txBody>
      </p:sp>
      <p:sp>
        <p:nvSpPr>
          <p:cNvPr id="3" name="Content Placeholder 2"/>
          <p:cNvSpPr>
            <a:spLocks noGrp="1"/>
          </p:cNvSpPr>
          <p:nvPr>
            <p:ph idx="1"/>
          </p:nvPr>
        </p:nvSpPr>
        <p:spPr/>
        <p:txBody>
          <a:bodyPr>
            <a:normAutofit/>
          </a:bodyPr>
          <a:lstStyle/>
          <a:p>
            <a:r>
              <a:rPr lang="en-GB" dirty="0" smtClean="0"/>
              <a:t>The </a:t>
            </a:r>
            <a:r>
              <a:rPr lang="en-GB" dirty="0"/>
              <a:t>Case Processing </a:t>
            </a:r>
            <a:r>
              <a:rPr lang="en-GB" dirty="0" smtClean="0"/>
              <a:t>Summary table </a:t>
            </a:r>
            <a:r>
              <a:rPr lang="en-GB" dirty="0"/>
              <a:t>indicates the number of observations included in the analysis (10), the number of observations excluded (0), and the total number of observations in the </a:t>
            </a:r>
            <a:r>
              <a:rPr lang="en-GB" dirty="0" smtClean="0"/>
              <a:t>data set </a:t>
            </a:r>
            <a:r>
              <a:rPr lang="en-GB" dirty="0"/>
              <a:t>(10). </a:t>
            </a:r>
            <a:endParaRPr lang="en-GB" dirty="0" smtClean="0"/>
          </a:p>
          <a:p>
            <a:r>
              <a:rPr lang="en-GB" dirty="0" smtClean="0"/>
              <a:t>The </a:t>
            </a:r>
            <a:r>
              <a:rPr lang="en-GB" dirty="0"/>
              <a:t>table indicates that all 10 participants were included in the analysis (all 10 people </a:t>
            </a:r>
            <a:r>
              <a:rPr lang="en-GB" dirty="0" smtClean="0"/>
              <a:t>had values </a:t>
            </a:r>
            <a:r>
              <a:rPr lang="en-GB" dirty="0"/>
              <a:t>on </a:t>
            </a:r>
            <a:r>
              <a:rPr lang="en-GB" b="1" dirty="0" err="1" smtClean="0"/>
              <a:t>satquant</a:t>
            </a:r>
            <a:r>
              <a:rPr lang="en-GB" dirty="0" smtClean="0"/>
              <a:t> and </a:t>
            </a:r>
            <a:r>
              <a:rPr lang="en-GB" b="1" dirty="0"/>
              <a:t>college</a:t>
            </a:r>
            <a:r>
              <a:rPr lang="en-GB" dirty="0"/>
              <a:t>)</a:t>
            </a:r>
          </a:p>
        </p:txBody>
      </p:sp>
    </p:spTree>
    <p:extLst>
      <p:ext uri="{BB962C8B-B14F-4D97-AF65-F5344CB8AC3E}">
        <p14:creationId xmlns:p14="http://schemas.microsoft.com/office/powerpoint/2010/main" val="42756949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Report</a:t>
            </a:r>
            <a:endParaRPr lang="en-GB" dirty="0"/>
          </a:p>
        </p:txBody>
      </p:sp>
      <p:sp>
        <p:nvSpPr>
          <p:cNvPr id="3" name="Content Placeholder 2"/>
          <p:cNvSpPr>
            <a:spLocks noGrp="1"/>
          </p:cNvSpPr>
          <p:nvPr>
            <p:ph idx="1"/>
          </p:nvPr>
        </p:nvSpPr>
        <p:spPr>
          <a:xfrm>
            <a:off x="457200" y="1600200"/>
            <a:ext cx="8229600" cy="5069160"/>
          </a:xfrm>
        </p:spPr>
        <p:txBody>
          <a:bodyPr>
            <a:normAutofit fontScale="77500" lnSpcReduction="20000"/>
          </a:bodyPr>
          <a:lstStyle/>
          <a:p>
            <a:r>
              <a:rPr lang="en-GB" dirty="0" smtClean="0"/>
              <a:t>The Report table </a:t>
            </a:r>
            <a:r>
              <a:rPr lang="en-GB" dirty="0"/>
              <a:t>shows the mean, sample size (N), and standard deviation for the college </a:t>
            </a:r>
            <a:r>
              <a:rPr lang="en-GB" dirty="0" smtClean="0"/>
              <a:t>groups home</a:t>
            </a:r>
            <a:r>
              <a:rPr lang="en-GB" dirty="0"/>
              <a:t>, away, and total (home and away combined). </a:t>
            </a:r>
            <a:endParaRPr lang="en-GB" dirty="0" smtClean="0"/>
          </a:p>
          <a:p>
            <a:r>
              <a:rPr lang="en-GB" dirty="0" smtClean="0"/>
              <a:t>Inspecting </a:t>
            </a:r>
            <a:r>
              <a:rPr lang="en-GB" dirty="0"/>
              <a:t>the means for the two groups shows that the six students who attended </a:t>
            </a:r>
            <a:r>
              <a:rPr lang="en-GB" b="1" dirty="0"/>
              <a:t>college</a:t>
            </a:r>
            <a:r>
              <a:rPr lang="en-GB" dirty="0"/>
              <a:t> at home had a higher mean </a:t>
            </a:r>
            <a:r>
              <a:rPr lang="en-GB" b="1" dirty="0" err="1" smtClean="0"/>
              <a:t>satquant</a:t>
            </a:r>
            <a:r>
              <a:rPr lang="en-GB" dirty="0" smtClean="0"/>
              <a:t> score </a:t>
            </a:r>
            <a:r>
              <a:rPr lang="en-GB" dirty="0"/>
              <a:t>(</a:t>
            </a:r>
            <a:r>
              <a:rPr lang="en-GB" dirty="0" smtClean="0"/>
              <a:t>545.00) than </a:t>
            </a:r>
            <a:r>
              <a:rPr lang="en-GB" dirty="0"/>
              <a:t>the four students who attended </a:t>
            </a:r>
            <a:r>
              <a:rPr lang="en-GB" b="1" dirty="0"/>
              <a:t>college</a:t>
            </a:r>
            <a:r>
              <a:rPr lang="en-GB" dirty="0"/>
              <a:t> away (482.50). </a:t>
            </a:r>
            <a:endParaRPr lang="en-GB" dirty="0" smtClean="0"/>
          </a:p>
          <a:p>
            <a:r>
              <a:rPr lang="en-GB" dirty="0" smtClean="0"/>
              <a:t>Those </a:t>
            </a:r>
            <a:r>
              <a:rPr lang="en-GB" dirty="0"/>
              <a:t>who stayed at home for </a:t>
            </a:r>
            <a:r>
              <a:rPr lang="en-GB" b="1" dirty="0"/>
              <a:t>college</a:t>
            </a:r>
            <a:r>
              <a:rPr lang="en-GB" dirty="0"/>
              <a:t> also had </a:t>
            </a:r>
            <a:r>
              <a:rPr lang="en-GB" b="1" dirty="0" err="1" smtClean="0"/>
              <a:t>satquant</a:t>
            </a:r>
            <a:r>
              <a:rPr lang="en-GB" dirty="0" smtClean="0"/>
              <a:t> scores </a:t>
            </a:r>
            <a:r>
              <a:rPr lang="en-GB" dirty="0"/>
              <a:t>that were slightly more variable than those who attended </a:t>
            </a:r>
            <a:r>
              <a:rPr lang="en-GB" b="1" dirty="0" smtClean="0"/>
              <a:t>college </a:t>
            </a:r>
            <a:r>
              <a:rPr lang="en-GB" dirty="0" smtClean="0"/>
              <a:t>away </a:t>
            </a:r>
            <a:r>
              <a:rPr lang="en-GB" dirty="0"/>
              <a:t>(the standard deviation for home was 53.94 compared to a standard deviation of 47.17 </a:t>
            </a:r>
            <a:r>
              <a:rPr lang="en-GB" dirty="0" smtClean="0"/>
              <a:t>for away</a:t>
            </a:r>
            <a:r>
              <a:rPr lang="en-GB" dirty="0"/>
              <a:t>). </a:t>
            </a:r>
            <a:endParaRPr lang="en-GB" dirty="0" smtClean="0"/>
          </a:p>
          <a:p>
            <a:r>
              <a:rPr lang="en-GB" dirty="0" smtClean="0"/>
              <a:t>The </a:t>
            </a:r>
            <a:r>
              <a:rPr lang="en-GB" dirty="0"/>
              <a:t>mean </a:t>
            </a:r>
            <a:r>
              <a:rPr lang="en-GB" b="1" dirty="0" err="1" smtClean="0"/>
              <a:t>satquant</a:t>
            </a:r>
            <a:r>
              <a:rPr lang="en-GB" dirty="0" smtClean="0"/>
              <a:t> score </a:t>
            </a:r>
            <a:r>
              <a:rPr lang="en-GB" dirty="0"/>
              <a:t>for the entire sample (Total) was 520.00 with a standard deviation of 58.31 (this agrees with the values obtained in our second analysis).</a:t>
            </a:r>
          </a:p>
        </p:txBody>
      </p:sp>
    </p:spTree>
    <p:extLst>
      <p:ext uri="{BB962C8B-B14F-4D97-AF65-F5344CB8AC3E}">
        <p14:creationId xmlns:p14="http://schemas.microsoft.com/office/powerpoint/2010/main" val="5595092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1019"/>
          </a:xfrm>
        </p:spPr>
        <p:txBody>
          <a:bodyPr>
            <a:normAutofit fontScale="90000"/>
          </a:bodyPr>
          <a:lstStyle/>
          <a:p>
            <a:r>
              <a:rPr lang="en-GB" sz="3600" b="1" dirty="0"/>
              <a:t>Analysis 4: </a:t>
            </a:r>
            <a:r>
              <a:rPr lang="en-GB" sz="3600" dirty="0"/>
              <a:t>Means </a:t>
            </a:r>
            <a:r>
              <a:rPr lang="en-GB" sz="3600" dirty="0" smtClean="0"/>
              <a:t>Procedure—</a:t>
            </a:r>
            <a:r>
              <a:rPr lang="en-GB" sz="3600" dirty="0" err="1" smtClean="0"/>
              <a:t>Satquant</a:t>
            </a:r>
            <a:r>
              <a:rPr lang="en-GB" sz="3600" dirty="0" smtClean="0"/>
              <a:t> by College Layered </a:t>
            </a:r>
            <a:r>
              <a:rPr lang="en-GB" sz="3600" dirty="0"/>
              <a:t>by Gender</a:t>
            </a:r>
          </a:p>
        </p:txBody>
      </p:sp>
      <p:sp>
        <p:nvSpPr>
          <p:cNvPr id="3" name="Content Placeholder 2"/>
          <p:cNvSpPr>
            <a:spLocks noGrp="1"/>
          </p:cNvSpPr>
          <p:nvPr>
            <p:ph idx="1"/>
          </p:nvPr>
        </p:nvSpPr>
        <p:spPr/>
        <p:txBody>
          <a:bodyPr/>
          <a:lstStyle/>
          <a:p>
            <a:endParaRPr lang="en-GB"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90" y="1196751"/>
            <a:ext cx="9001221" cy="5590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43982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Case Processing </a:t>
            </a:r>
            <a:r>
              <a:rPr lang="en-GB" dirty="0" smtClean="0"/>
              <a:t>Summary</a:t>
            </a:r>
            <a:endParaRPr lang="en-GB" dirty="0"/>
          </a:p>
        </p:txBody>
      </p:sp>
      <p:sp>
        <p:nvSpPr>
          <p:cNvPr id="3" name="Content Placeholder 2"/>
          <p:cNvSpPr>
            <a:spLocks noGrp="1"/>
          </p:cNvSpPr>
          <p:nvPr>
            <p:ph idx="1"/>
          </p:nvPr>
        </p:nvSpPr>
        <p:spPr/>
        <p:txBody>
          <a:bodyPr>
            <a:normAutofit/>
          </a:bodyPr>
          <a:lstStyle/>
          <a:p>
            <a:r>
              <a:rPr lang="en-GB" dirty="0" smtClean="0"/>
              <a:t>The </a:t>
            </a:r>
            <a:r>
              <a:rPr lang="en-GB" dirty="0"/>
              <a:t>Case Processing </a:t>
            </a:r>
            <a:r>
              <a:rPr lang="en-GB" dirty="0" smtClean="0"/>
              <a:t>Summary table </a:t>
            </a:r>
            <a:r>
              <a:rPr lang="en-GB" dirty="0"/>
              <a:t>indicates the number of observations included in </a:t>
            </a:r>
            <a:r>
              <a:rPr lang="en-GB" dirty="0" smtClean="0"/>
              <a:t>the analysis </a:t>
            </a:r>
            <a:r>
              <a:rPr lang="en-GB" dirty="0"/>
              <a:t>(10), the number of observations excluded (0), and the total number of observations </a:t>
            </a:r>
            <a:r>
              <a:rPr lang="en-GB" dirty="0" smtClean="0"/>
              <a:t>in the </a:t>
            </a:r>
            <a:r>
              <a:rPr lang="en-GB" dirty="0"/>
              <a:t>data set (10). </a:t>
            </a:r>
            <a:endParaRPr lang="en-GB" dirty="0" smtClean="0"/>
          </a:p>
          <a:p>
            <a:r>
              <a:rPr lang="en-GB" dirty="0" smtClean="0"/>
              <a:t>The </a:t>
            </a:r>
            <a:r>
              <a:rPr lang="en-GB" dirty="0"/>
              <a:t>table indicates that all 10 participants were included in the analysis (</a:t>
            </a:r>
            <a:r>
              <a:rPr lang="en-GB" dirty="0" smtClean="0"/>
              <a:t>all 10 </a:t>
            </a:r>
            <a:r>
              <a:rPr lang="en-GB" dirty="0"/>
              <a:t>people had values on </a:t>
            </a:r>
            <a:r>
              <a:rPr lang="en-GB" b="1" dirty="0" err="1"/>
              <a:t>satquant</a:t>
            </a:r>
            <a:r>
              <a:rPr lang="en-GB" dirty="0"/>
              <a:t>, </a:t>
            </a:r>
            <a:r>
              <a:rPr lang="en-GB" b="1" dirty="0"/>
              <a:t>college</a:t>
            </a:r>
            <a:r>
              <a:rPr lang="en-GB" dirty="0"/>
              <a:t>, and </a:t>
            </a:r>
            <a:r>
              <a:rPr lang="en-GB" b="1" dirty="0"/>
              <a:t>gender</a:t>
            </a:r>
            <a:r>
              <a:rPr lang="en-GB" dirty="0"/>
              <a:t>).</a:t>
            </a:r>
          </a:p>
        </p:txBody>
      </p:sp>
    </p:spTree>
    <p:extLst>
      <p:ext uri="{BB962C8B-B14F-4D97-AF65-F5344CB8AC3E}">
        <p14:creationId xmlns:p14="http://schemas.microsoft.com/office/powerpoint/2010/main" val="14453321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634082"/>
          </a:xfrm>
        </p:spPr>
        <p:txBody>
          <a:bodyPr>
            <a:normAutofit fontScale="90000"/>
          </a:bodyPr>
          <a:lstStyle/>
          <a:p>
            <a:r>
              <a:rPr lang="en-GB" dirty="0" smtClean="0"/>
              <a:t>Report</a:t>
            </a:r>
            <a:endParaRPr lang="en-GB" dirty="0"/>
          </a:p>
        </p:txBody>
      </p:sp>
      <p:sp>
        <p:nvSpPr>
          <p:cNvPr id="3" name="Content Placeholder 2"/>
          <p:cNvSpPr>
            <a:spLocks noGrp="1"/>
          </p:cNvSpPr>
          <p:nvPr>
            <p:ph idx="1"/>
          </p:nvPr>
        </p:nvSpPr>
        <p:spPr>
          <a:xfrm>
            <a:off x="457200" y="764704"/>
            <a:ext cx="8229600" cy="5976664"/>
          </a:xfrm>
        </p:spPr>
        <p:txBody>
          <a:bodyPr>
            <a:normAutofit fontScale="85000" lnSpcReduction="20000"/>
          </a:bodyPr>
          <a:lstStyle/>
          <a:p>
            <a:r>
              <a:rPr lang="en-GB" dirty="0" smtClean="0"/>
              <a:t>The Report table </a:t>
            </a:r>
            <a:r>
              <a:rPr lang="en-GB" dirty="0"/>
              <a:t>displays the mean, sample size (N), and standard deviation on </a:t>
            </a:r>
            <a:r>
              <a:rPr lang="en-GB" b="1" dirty="0" err="1" smtClean="0"/>
              <a:t>satquant</a:t>
            </a:r>
            <a:r>
              <a:rPr lang="en-GB" dirty="0" smtClean="0"/>
              <a:t> for </a:t>
            </a:r>
            <a:r>
              <a:rPr lang="en-GB" b="1" dirty="0" smtClean="0"/>
              <a:t>college</a:t>
            </a:r>
            <a:r>
              <a:rPr lang="en-GB" dirty="0" smtClean="0"/>
              <a:t> layered </a:t>
            </a:r>
            <a:r>
              <a:rPr lang="en-GB" dirty="0"/>
              <a:t>by gender. </a:t>
            </a:r>
            <a:endParaRPr lang="en-GB" dirty="0" smtClean="0"/>
          </a:p>
          <a:p>
            <a:r>
              <a:rPr lang="en-GB" dirty="0" smtClean="0"/>
              <a:t>The </a:t>
            </a:r>
            <a:r>
              <a:rPr lang="en-GB" dirty="0"/>
              <a:t>first section of the table displays the mean and standard deviation for males and females who attend </a:t>
            </a:r>
            <a:r>
              <a:rPr lang="en-GB" b="1" dirty="0"/>
              <a:t>college</a:t>
            </a:r>
            <a:r>
              <a:rPr lang="en-GB" dirty="0"/>
              <a:t> at home. </a:t>
            </a:r>
            <a:endParaRPr lang="en-GB" dirty="0" smtClean="0"/>
          </a:p>
          <a:p>
            <a:r>
              <a:rPr lang="en-GB" dirty="0" smtClean="0"/>
              <a:t>Notice </a:t>
            </a:r>
            <a:r>
              <a:rPr lang="en-GB" dirty="0"/>
              <a:t>that males have a higher </a:t>
            </a:r>
            <a:r>
              <a:rPr lang="en-GB" dirty="0" smtClean="0"/>
              <a:t>mean score </a:t>
            </a:r>
            <a:r>
              <a:rPr lang="en-GB" dirty="0"/>
              <a:t>than females on </a:t>
            </a:r>
            <a:r>
              <a:rPr lang="en-GB" b="1" dirty="0" err="1" smtClean="0"/>
              <a:t>satquant</a:t>
            </a:r>
            <a:r>
              <a:rPr lang="en-GB" dirty="0" smtClean="0"/>
              <a:t> (</a:t>
            </a:r>
            <a:r>
              <a:rPr lang="en-GB" dirty="0"/>
              <a:t>566.67 vs. 523.33) and that females have a larger </a:t>
            </a:r>
            <a:r>
              <a:rPr lang="en-GB" dirty="0" smtClean="0"/>
              <a:t>standard deviation </a:t>
            </a:r>
            <a:r>
              <a:rPr lang="en-GB" dirty="0"/>
              <a:t>(75.06 vs. 15.28). </a:t>
            </a:r>
            <a:endParaRPr lang="en-GB" dirty="0" smtClean="0"/>
          </a:p>
          <a:p>
            <a:r>
              <a:rPr lang="en-GB" dirty="0" smtClean="0"/>
              <a:t>The </a:t>
            </a:r>
            <a:r>
              <a:rPr lang="en-GB" dirty="0"/>
              <a:t>second section of the table displays the mean and </a:t>
            </a:r>
            <a:r>
              <a:rPr lang="en-GB" dirty="0" smtClean="0"/>
              <a:t>standard deviation </a:t>
            </a:r>
            <a:r>
              <a:rPr lang="en-GB" dirty="0"/>
              <a:t>for males and females who attend </a:t>
            </a:r>
            <a:r>
              <a:rPr lang="en-GB" b="1" dirty="0"/>
              <a:t>college</a:t>
            </a:r>
            <a:r>
              <a:rPr lang="en-GB" dirty="0"/>
              <a:t> away from home. </a:t>
            </a:r>
            <a:endParaRPr lang="en-GB" dirty="0" smtClean="0"/>
          </a:p>
          <a:p>
            <a:r>
              <a:rPr lang="en-GB" dirty="0" smtClean="0"/>
              <a:t>For </a:t>
            </a:r>
            <a:r>
              <a:rPr lang="en-GB" dirty="0"/>
              <a:t>this group of students, females have a higher mean than males on </a:t>
            </a:r>
            <a:r>
              <a:rPr lang="en-GB" b="1" dirty="0" err="1" smtClean="0"/>
              <a:t>satquant</a:t>
            </a:r>
            <a:r>
              <a:rPr lang="en-GB" dirty="0" smtClean="0"/>
              <a:t> (</a:t>
            </a:r>
            <a:r>
              <a:rPr lang="en-GB" dirty="0"/>
              <a:t>500.00 vs. 465.00) and a </a:t>
            </a:r>
            <a:r>
              <a:rPr lang="en-GB" dirty="0" smtClean="0"/>
              <a:t>larger standard </a:t>
            </a:r>
            <a:r>
              <a:rPr lang="en-GB" dirty="0"/>
              <a:t>deviation (70.71 vs. 21.21). </a:t>
            </a:r>
            <a:endParaRPr lang="en-GB" dirty="0" smtClean="0"/>
          </a:p>
        </p:txBody>
      </p:sp>
    </p:spTree>
    <p:extLst>
      <p:ext uri="{BB962C8B-B14F-4D97-AF65-F5344CB8AC3E}">
        <p14:creationId xmlns:p14="http://schemas.microsoft.com/office/powerpoint/2010/main" val="3623094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Report cont’d</a:t>
            </a:r>
            <a:endParaRPr lang="en-GB" dirty="0"/>
          </a:p>
        </p:txBody>
      </p:sp>
      <p:sp>
        <p:nvSpPr>
          <p:cNvPr id="3" name="Content Placeholder 2"/>
          <p:cNvSpPr>
            <a:spLocks noGrp="1"/>
          </p:cNvSpPr>
          <p:nvPr>
            <p:ph idx="1"/>
          </p:nvPr>
        </p:nvSpPr>
        <p:spPr/>
        <p:txBody>
          <a:bodyPr/>
          <a:lstStyle/>
          <a:p>
            <a:r>
              <a:rPr lang="en-GB" dirty="0"/>
              <a:t>Finally, the last section of the table displays the mean and standard deviation for males and females for home and away combined. </a:t>
            </a:r>
            <a:endParaRPr lang="en-GB" dirty="0" smtClean="0"/>
          </a:p>
          <a:p>
            <a:r>
              <a:rPr lang="en-GB" dirty="0" smtClean="0"/>
              <a:t>When </a:t>
            </a:r>
            <a:r>
              <a:rPr lang="en-GB" dirty="0"/>
              <a:t>the </a:t>
            </a:r>
            <a:r>
              <a:rPr lang="en-GB" b="1" dirty="0"/>
              <a:t>college</a:t>
            </a:r>
            <a:r>
              <a:rPr lang="en-GB" dirty="0"/>
              <a:t> groups are combined, males have a higher mean </a:t>
            </a:r>
            <a:r>
              <a:rPr lang="en-GB" b="1" dirty="0" err="1"/>
              <a:t>satquant</a:t>
            </a:r>
            <a:r>
              <a:rPr lang="en-GB" dirty="0"/>
              <a:t> score than females (526.00 vs. 514.00), while females have a larger standard deviation (65.04 vs. 57.71).</a:t>
            </a:r>
          </a:p>
          <a:p>
            <a:endParaRPr lang="en-GB" dirty="0"/>
          </a:p>
        </p:txBody>
      </p:sp>
    </p:spTree>
    <p:extLst>
      <p:ext uri="{BB962C8B-B14F-4D97-AF65-F5344CB8AC3E}">
        <p14:creationId xmlns:p14="http://schemas.microsoft.com/office/powerpoint/2010/main" val="19346788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dirty="0" smtClean="0"/>
              <a:t>Activity</a:t>
            </a:r>
            <a:endParaRPr lang="en-GB" dirty="0"/>
          </a:p>
        </p:txBody>
      </p:sp>
      <p:sp>
        <p:nvSpPr>
          <p:cNvPr id="3" name="Content Placeholder 2"/>
          <p:cNvSpPr>
            <a:spLocks noGrp="1"/>
          </p:cNvSpPr>
          <p:nvPr>
            <p:ph idx="1"/>
          </p:nvPr>
        </p:nvSpPr>
        <p:spPr>
          <a:xfrm>
            <a:off x="457200" y="1052736"/>
            <a:ext cx="8229600" cy="5616624"/>
          </a:xfrm>
        </p:spPr>
        <p:txBody>
          <a:bodyPr>
            <a:normAutofit fontScale="85000" lnSpcReduction="10000"/>
          </a:bodyPr>
          <a:lstStyle/>
          <a:p>
            <a:r>
              <a:rPr lang="en-GB" dirty="0"/>
              <a:t>A soccer coach evaluated the impact of two different kicking methods (a toe </a:t>
            </a:r>
            <a:r>
              <a:rPr lang="en-GB" dirty="0" smtClean="0"/>
              <a:t>kick and </a:t>
            </a:r>
            <a:r>
              <a:rPr lang="en-GB" dirty="0"/>
              <a:t>a heel kick) on the effectiveness of kicking a soccer ball. Four boys and </a:t>
            </a:r>
            <a:r>
              <a:rPr lang="en-GB" dirty="0" smtClean="0"/>
              <a:t>four girls </a:t>
            </a:r>
            <a:r>
              <a:rPr lang="en-GB" dirty="0"/>
              <a:t>kicked a ball using one of the two methods and the distance (in feet) and accuracy (on a 1 to 10 scale) of the kicks were recorded. </a:t>
            </a:r>
            <a:endParaRPr lang="en-GB" dirty="0" smtClean="0"/>
          </a:p>
          <a:p>
            <a:r>
              <a:rPr lang="en-GB" dirty="0" smtClean="0"/>
              <a:t>The </a:t>
            </a:r>
            <a:r>
              <a:rPr lang="en-GB" dirty="0"/>
              <a:t>experience level of </a:t>
            </a:r>
            <a:r>
              <a:rPr lang="en-GB" dirty="0" smtClean="0"/>
              <a:t>each child </a:t>
            </a:r>
            <a:r>
              <a:rPr lang="en-GB" dirty="0"/>
              <a:t>was also ascertained, with higher values indicating greater experience. </a:t>
            </a:r>
            <a:r>
              <a:rPr lang="en-GB" dirty="0" smtClean="0"/>
              <a:t>Half of </a:t>
            </a:r>
            <a:r>
              <a:rPr lang="en-GB" dirty="0"/>
              <a:t>the children (two boys and two girls) kicked the ball using a toe kick and </a:t>
            </a:r>
            <a:r>
              <a:rPr lang="en-GB" dirty="0" smtClean="0"/>
              <a:t>the other </a:t>
            </a:r>
            <a:r>
              <a:rPr lang="en-GB" dirty="0"/>
              <a:t>half kicked the ball using a heel kick. The data are provided in Figure </a:t>
            </a:r>
            <a:r>
              <a:rPr lang="en-GB" dirty="0" smtClean="0"/>
              <a:t>below</a:t>
            </a:r>
            <a:endParaRPr lang="en-GB" dirty="0"/>
          </a:p>
          <a:p>
            <a:r>
              <a:rPr lang="en-GB" dirty="0"/>
              <a:t>For </a:t>
            </a:r>
            <a:r>
              <a:rPr lang="en-GB" dirty="0" smtClean="0"/>
              <a:t>gender,</a:t>
            </a:r>
            <a:r>
              <a:rPr lang="en-GB" b="1" dirty="0" smtClean="0"/>
              <a:t> 1=“boys” </a:t>
            </a:r>
            <a:r>
              <a:rPr lang="en-GB" dirty="0" smtClean="0"/>
              <a:t>and </a:t>
            </a:r>
            <a:r>
              <a:rPr lang="en-GB" b="1" dirty="0" smtClean="0"/>
              <a:t>2=“girls”  </a:t>
            </a:r>
            <a:r>
              <a:rPr lang="en-GB" dirty="0"/>
              <a:t>For method, </a:t>
            </a:r>
            <a:r>
              <a:rPr lang="en-GB" b="1" dirty="0"/>
              <a:t>1</a:t>
            </a:r>
            <a:r>
              <a:rPr lang="en-GB" b="1" dirty="0" smtClean="0"/>
              <a:t>=“toe kick”</a:t>
            </a:r>
            <a:r>
              <a:rPr lang="en-GB" dirty="0" smtClean="0"/>
              <a:t> and </a:t>
            </a:r>
            <a:r>
              <a:rPr lang="en-GB" b="1" dirty="0" smtClean="0"/>
              <a:t>2</a:t>
            </a:r>
            <a:r>
              <a:rPr lang="en-GB" dirty="0" smtClean="0"/>
              <a:t> </a:t>
            </a:r>
            <a:r>
              <a:rPr lang="en-GB" b="1" dirty="0" smtClean="0"/>
              <a:t>=“heel kick”</a:t>
            </a:r>
            <a:endParaRPr lang="en-GB" dirty="0"/>
          </a:p>
        </p:txBody>
      </p:sp>
    </p:spTree>
    <p:extLst>
      <p:ext uri="{BB962C8B-B14F-4D97-AF65-F5344CB8AC3E}">
        <p14:creationId xmlns:p14="http://schemas.microsoft.com/office/powerpoint/2010/main" val="13491661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Activity cont’d</a:t>
            </a:r>
            <a:endParaRPr lang="en-GB" dirty="0"/>
          </a:p>
        </p:txBody>
      </p:sp>
      <p:sp>
        <p:nvSpPr>
          <p:cNvPr id="3" name="Content Placeholder 2"/>
          <p:cNvSpPr>
            <a:spLocks noGrp="1"/>
          </p:cNvSpPr>
          <p:nvPr>
            <p:ph idx="1"/>
          </p:nvPr>
        </p:nvSpPr>
        <p:spPr/>
        <p:txBody>
          <a:bodyPr/>
          <a:lstStyle/>
          <a:p>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872" y="1484784"/>
            <a:ext cx="8130257" cy="3026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362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288032"/>
          </a:xfrm>
        </p:spPr>
        <p:txBody>
          <a:bodyPr>
            <a:normAutofit fontScale="90000"/>
          </a:bodyPr>
          <a:lstStyle/>
          <a:p>
            <a:r>
              <a:rPr lang="en-GB" dirty="0" smtClean="0"/>
              <a:t>Activity cont’d</a:t>
            </a:r>
            <a:endParaRPr lang="en-GB" dirty="0"/>
          </a:p>
        </p:txBody>
      </p:sp>
      <p:sp>
        <p:nvSpPr>
          <p:cNvPr id="3" name="Content Placeholder 2"/>
          <p:cNvSpPr>
            <a:spLocks noGrp="1"/>
          </p:cNvSpPr>
          <p:nvPr>
            <p:ph idx="1"/>
          </p:nvPr>
        </p:nvSpPr>
        <p:spPr>
          <a:xfrm>
            <a:off x="179512" y="764704"/>
            <a:ext cx="8784976" cy="5976664"/>
          </a:xfrm>
        </p:spPr>
        <p:txBody>
          <a:bodyPr>
            <a:normAutofit lnSpcReduction="10000"/>
          </a:bodyPr>
          <a:lstStyle/>
          <a:p>
            <a:r>
              <a:rPr lang="en-GB" dirty="0"/>
              <a:t>Enter the data in </a:t>
            </a:r>
            <a:r>
              <a:rPr lang="en-GB" dirty="0" smtClean="0"/>
              <a:t>SPSS as shown in figure above </a:t>
            </a:r>
            <a:r>
              <a:rPr lang="en-GB" dirty="0"/>
              <a:t>and perform the appropriate analyses to answer </a:t>
            </a:r>
            <a:r>
              <a:rPr lang="en-GB" dirty="0" smtClean="0"/>
              <a:t>each of </a:t>
            </a:r>
            <a:r>
              <a:rPr lang="en-GB" dirty="0"/>
              <a:t>the questions below. Enter value labels as appropriate for </a:t>
            </a:r>
            <a:r>
              <a:rPr lang="en-GB" b="1" dirty="0" smtClean="0"/>
              <a:t>gender</a:t>
            </a:r>
            <a:r>
              <a:rPr lang="en-GB" dirty="0" smtClean="0"/>
              <a:t> and </a:t>
            </a:r>
            <a:r>
              <a:rPr lang="en-GB" b="1" dirty="0"/>
              <a:t>method</a:t>
            </a:r>
            <a:r>
              <a:rPr lang="en-GB" dirty="0"/>
              <a:t>.</a:t>
            </a:r>
          </a:p>
          <a:p>
            <a:pPr marL="971550" lvl="1" indent="-514350">
              <a:buFont typeface="+mj-lt"/>
              <a:buAutoNum type="alphaLcPeriod"/>
            </a:pPr>
            <a:r>
              <a:rPr lang="en-GB" dirty="0" smtClean="0"/>
              <a:t>Report </a:t>
            </a:r>
            <a:r>
              <a:rPr lang="en-GB" dirty="0"/>
              <a:t>the frequencies for </a:t>
            </a:r>
            <a:r>
              <a:rPr lang="en-GB" dirty="0" smtClean="0"/>
              <a:t>gender and </a:t>
            </a:r>
            <a:r>
              <a:rPr lang="en-GB" dirty="0"/>
              <a:t>method</a:t>
            </a:r>
            <a:r>
              <a:rPr lang="en-GB" dirty="0" smtClean="0"/>
              <a:t>.</a:t>
            </a:r>
          </a:p>
          <a:p>
            <a:pPr marL="971550" lvl="1" indent="-514350">
              <a:buFont typeface="+mj-lt"/>
              <a:buAutoNum type="alphaLcPeriod"/>
            </a:pPr>
            <a:r>
              <a:rPr lang="en-GB" dirty="0"/>
              <a:t>Report the mean and standard deviation for </a:t>
            </a:r>
            <a:r>
              <a:rPr lang="en-GB" b="1" dirty="0" smtClean="0"/>
              <a:t>experience</a:t>
            </a:r>
            <a:r>
              <a:rPr lang="en-GB" dirty="0" smtClean="0"/>
              <a:t>, </a:t>
            </a:r>
            <a:r>
              <a:rPr lang="en-GB" b="1" dirty="0"/>
              <a:t>distance</a:t>
            </a:r>
            <a:r>
              <a:rPr lang="en-GB" dirty="0"/>
              <a:t>, </a:t>
            </a:r>
            <a:r>
              <a:rPr lang="en-GB" dirty="0" smtClean="0"/>
              <a:t>and </a:t>
            </a:r>
            <a:r>
              <a:rPr lang="en-GB" b="1" dirty="0" smtClean="0"/>
              <a:t>accuracy</a:t>
            </a:r>
            <a:r>
              <a:rPr lang="en-GB" dirty="0" smtClean="0"/>
              <a:t> for </a:t>
            </a:r>
            <a:r>
              <a:rPr lang="en-GB" dirty="0"/>
              <a:t>the entire </a:t>
            </a:r>
            <a:r>
              <a:rPr lang="en-GB" dirty="0" smtClean="0"/>
              <a:t>sample</a:t>
            </a:r>
          </a:p>
          <a:p>
            <a:pPr marL="971550" lvl="1" indent="-514350">
              <a:buFont typeface="+mj-lt"/>
              <a:buAutoNum type="alphaLcPeriod"/>
            </a:pPr>
            <a:r>
              <a:rPr lang="en-GB" dirty="0"/>
              <a:t>Report the mean and standard deviation for </a:t>
            </a:r>
            <a:r>
              <a:rPr lang="en-GB" b="1" dirty="0"/>
              <a:t>experience</a:t>
            </a:r>
            <a:r>
              <a:rPr lang="en-GB" dirty="0"/>
              <a:t>, </a:t>
            </a:r>
            <a:r>
              <a:rPr lang="en-GB" b="1" dirty="0"/>
              <a:t>distance</a:t>
            </a:r>
            <a:r>
              <a:rPr lang="en-GB" dirty="0"/>
              <a:t>, </a:t>
            </a:r>
            <a:r>
              <a:rPr lang="en-GB" dirty="0" smtClean="0"/>
              <a:t>and </a:t>
            </a:r>
            <a:r>
              <a:rPr lang="en-GB" b="1" dirty="0" smtClean="0"/>
              <a:t>accuracy</a:t>
            </a:r>
            <a:r>
              <a:rPr lang="en-GB" dirty="0" smtClean="0"/>
              <a:t> separately </a:t>
            </a:r>
            <a:r>
              <a:rPr lang="en-GB" dirty="0"/>
              <a:t>for boys and girls. Which group has a higher mean </a:t>
            </a:r>
            <a:r>
              <a:rPr lang="en-GB" dirty="0" smtClean="0"/>
              <a:t>on each </a:t>
            </a:r>
            <a:r>
              <a:rPr lang="en-GB" dirty="0"/>
              <a:t>of the three variables? Which group has a larger standard deviation</a:t>
            </a:r>
            <a:r>
              <a:rPr lang="en-GB" dirty="0" smtClean="0"/>
              <a:t>?</a:t>
            </a:r>
          </a:p>
          <a:p>
            <a:pPr marL="0" indent="0">
              <a:buNone/>
            </a:pPr>
            <a:endParaRPr lang="en-GB" dirty="0"/>
          </a:p>
        </p:txBody>
      </p:sp>
    </p:spTree>
    <p:extLst>
      <p:ext uri="{BB962C8B-B14F-4D97-AF65-F5344CB8AC3E}">
        <p14:creationId xmlns:p14="http://schemas.microsoft.com/office/powerpoint/2010/main" val="29872523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cont’d</a:t>
            </a:r>
          </a:p>
        </p:txBody>
      </p:sp>
      <p:sp>
        <p:nvSpPr>
          <p:cNvPr id="3" name="Content Placeholder 2"/>
          <p:cNvSpPr>
            <a:spLocks noGrp="1"/>
          </p:cNvSpPr>
          <p:nvPr>
            <p:ph idx="1"/>
          </p:nvPr>
        </p:nvSpPr>
        <p:spPr/>
        <p:txBody>
          <a:bodyPr>
            <a:normAutofit fontScale="92500" lnSpcReduction="10000"/>
          </a:bodyPr>
          <a:lstStyle/>
          <a:p>
            <a:pPr marL="971550" lvl="1" indent="-514350">
              <a:buFont typeface="+mj-lt"/>
              <a:buAutoNum type="alphaLcPeriod" startAt="4"/>
            </a:pPr>
            <a:r>
              <a:rPr lang="en-GB" dirty="0"/>
              <a:t>Report the mean and standard deviation for </a:t>
            </a:r>
            <a:r>
              <a:rPr lang="en-GB" b="1" dirty="0"/>
              <a:t>experience</a:t>
            </a:r>
            <a:r>
              <a:rPr lang="en-GB" dirty="0"/>
              <a:t>, </a:t>
            </a:r>
            <a:r>
              <a:rPr lang="en-GB" b="1" dirty="0"/>
              <a:t>distance</a:t>
            </a:r>
            <a:r>
              <a:rPr lang="en-GB" dirty="0"/>
              <a:t>, and </a:t>
            </a:r>
            <a:r>
              <a:rPr lang="en-GB" b="1" dirty="0"/>
              <a:t>accuracy</a:t>
            </a:r>
            <a:r>
              <a:rPr lang="en-GB" dirty="0"/>
              <a:t> separately for the toe kicking and heel kicking methods. Which group has a higher mean on each of the three variables? Which group has a larger standard deviation?</a:t>
            </a:r>
          </a:p>
          <a:p>
            <a:pPr marL="971550" lvl="1" indent="-514350">
              <a:buFont typeface="+mj-lt"/>
              <a:buAutoNum type="alphaLcPeriod" startAt="4"/>
            </a:pPr>
            <a:r>
              <a:rPr lang="en-GB" dirty="0"/>
              <a:t>Report the mean and standard deviation for </a:t>
            </a:r>
            <a:r>
              <a:rPr lang="en-GB" b="1" dirty="0"/>
              <a:t>experience</a:t>
            </a:r>
            <a:r>
              <a:rPr lang="en-GB" dirty="0"/>
              <a:t>, </a:t>
            </a:r>
            <a:r>
              <a:rPr lang="en-GB" b="1" dirty="0"/>
              <a:t>distance</a:t>
            </a:r>
            <a:r>
              <a:rPr lang="en-GB" dirty="0"/>
              <a:t>, and </a:t>
            </a:r>
            <a:r>
              <a:rPr lang="en-GB" b="1" dirty="0"/>
              <a:t>accuracy</a:t>
            </a:r>
            <a:r>
              <a:rPr lang="en-GB" dirty="0"/>
              <a:t> for gender layered by method. Which of the four conditions has the lowest mean experience and accuracy scores? Which has the highest mean kicking distance?</a:t>
            </a:r>
          </a:p>
          <a:p>
            <a:endParaRPr lang="en-GB" dirty="0"/>
          </a:p>
        </p:txBody>
      </p:sp>
    </p:spTree>
    <p:extLst>
      <p:ext uri="{BB962C8B-B14F-4D97-AF65-F5344CB8AC3E}">
        <p14:creationId xmlns:p14="http://schemas.microsoft.com/office/powerpoint/2010/main" val="17444494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3588" y="1828800"/>
            <a:ext cx="4595812" cy="2810669"/>
          </a:xfrm>
          <a:prstGeom prst="rect">
            <a:avLst/>
          </a:prstGeom>
        </p:spPr>
      </p:pic>
    </p:spTree>
    <p:extLst>
      <p:ext uri="{BB962C8B-B14F-4D97-AF65-F5344CB8AC3E}">
        <p14:creationId xmlns:p14="http://schemas.microsoft.com/office/powerpoint/2010/main" val="227519454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1285</TotalTime>
  <Words>2737</Words>
  <Application>Microsoft Office PowerPoint</Application>
  <PresentationFormat>On-screen Show (4:3)</PresentationFormat>
  <Paragraphs>171</Paragraphs>
  <Slides>49</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Using SPSS to calculate Descriptive statistics (frequencies, measures of central tendency, and measures of variability)</vt:lpstr>
      <vt:lpstr>Introduction </vt:lpstr>
      <vt:lpstr>Introduction cont’d</vt:lpstr>
      <vt:lpstr>Introduction cont’d</vt:lpstr>
      <vt:lpstr>The sample data set</vt:lpstr>
      <vt:lpstr>The Data</vt:lpstr>
      <vt:lpstr>Create the Variables</vt:lpstr>
      <vt:lpstr>Enter the Data</vt:lpstr>
      <vt:lpstr>Analyze the Data</vt:lpstr>
      <vt:lpstr>Analyze the Data - Frequencies</vt:lpstr>
      <vt:lpstr>Menu commands for the Frequencies procedure</vt:lpstr>
      <vt:lpstr>Analyze the Data cont’d</vt:lpstr>
      <vt:lpstr>The Frequencies dialog box</vt:lpstr>
      <vt:lpstr>The Frequencies dialog box</vt:lpstr>
      <vt:lpstr>Frequencies cont’d</vt:lpstr>
      <vt:lpstr>Measures of Central Tendency and Variability</vt:lpstr>
      <vt:lpstr>The Frequencies dialog box (continued)</vt:lpstr>
      <vt:lpstr>Measures of Central Tendency and Variability cont’d</vt:lpstr>
      <vt:lpstr>The Frequencies: Statistics dialog box</vt:lpstr>
      <vt:lpstr>Analysis of Groups Using the Means Procedure</vt:lpstr>
      <vt:lpstr>Analysis of Groups Using the Means Procedure cont’d</vt:lpstr>
      <vt:lpstr>Menu commands for the Means procedure</vt:lpstr>
      <vt:lpstr>The Means dialog box</vt:lpstr>
      <vt:lpstr>Analysis of Groups Using the Means Procedure cont’d</vt:lpstr>
      <vt:lpstr>Analysis of Groups Using the Means Procedure cont’d</vt:lpstr>
      <vt:lpstr>The Means: Options dialog box</vt:lpstr>
      <vt:lpstr>Means procedure using the layered option</vt:lpstr>
      <vt:lpstr>The Means dialog box</vt:lpstr>
      <vt:lpstr>Means procedure using the layered option cont’d</vt:lpstr>
      <vt:lpstr>The Means dialog box using the layered option</vt:lpstr>
      <vt:lpstr>Interpret the results </vt:lpstr>
      <vt:lpstr>Analysis 1: Frequencies Procedure—Gender and College</vt:lpstr>
      <vt:lpstr>Frequencies—Statistics</vt:lpstr>
      <vt:lpstr>Frequency Table—Gender</vt:lpstr>
      <vt:lpstr>Frequency Table—College</vt:lpstr>
      <vt:lpstr>Analysis 2: Frequencies Procedure—Mathexam and Satquant</vt:lpstr>
      <vt:lpstr>Output of the Frequencies procedure for mathexam and satquant</vt:lpstr>
      <vt:lpstr>Analysis 3: Means Procedure—Satquant by College</vt:lpstr>
      <vt:lpstr>Case Processing Summary</vt:lpstr>
      <vt:lpstr>Report</vt:lpstr>
      <vt:lpstr>Analysis 4: Means Procedure—Satquant by College Layered by Gender</vt:lpstr>
      <vt:lpstr>Case Processing Summary</vt:lpstr>
      <vt:lpstr>Report</vt:lpstr>
      <vt:lpstr>Report cont’d</vt:lpstr>
      <vt:lpstr>Activity</vt:lpstr>
      <vt:lpstr>Activity cont’d</vt:lpstr>
      <vt:lpstr>Activity cont’d</vt:lpstr>
      <vt:lpstr>Activity cont’d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SPSS to calculate Descriptive statistics (frequencies, measures of central tendency, and measures of variability)</dc:title>
  <dc:creator>KHO</dc:creator>
  <cp:lastModifiedBy>KHO</cp:lastModifiedBy>
  <cp:revision>46</cp:revision>
  <dcterms:created xsi:type="dcterms:W3CDTF">2021-11-17T12:52:22Z</dcterms:created>
  <dcterms:modified xsi:type="dcterms:W3CDTF">2023-12-09T09:26:11Z</dcterms:modified>
</cp:coreProperties>
</file>