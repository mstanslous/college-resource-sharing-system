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1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78" r:id="rId12"/>
    <p:sldId id="279" r:id="rId13"/>
    <p:sldId id="280" r:id="rId14"/>
    <p:sldId id="264" r:id="rId15"/>
    <p:sldId id="282" r:id="rId16"/>
    <p:sldId id="265" r:id="rId17"/>
    <p:sldId id="266" r:id="rId18"/>
    <p:sldId id="267" r:id="rId19"/>
    <p:sldId id="268" r:id="rId20"/>
    <p:sldId id="269" r:id="rId21"/>
    <p:sldId id="283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8FB3-2EA9-A9DB-5520-A6BEC31B5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13515-7C18-2B2F-85B2-7DC1C6EBB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D661C-D390-32F2-E55E-D116E5B0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1560B-0579-64A5-E42D-979566D1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9A3B5-452B-F267-4314-80255B2D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02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420A-4887-3615-578B-F8DC2D46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DA7F-CD1A-2282-DA50-A6E2EB3C2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C0151-C2E1-5260-95CB-C69E4E5F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4619-98CE-62F6-485F-D0C12439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EA21D-EF99-B189-1378-65261AE6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94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F3BD-FA94-7CD8-98F8-D611114E4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FE313-F694-CBB1-D4DD-712085753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D736C-F4B7-4321-3061-7FFD4B7B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C2FE-52D6-66F7-4612-73AB6350C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031C-E612-0E4F-B7ED-434D4439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78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FAFB-0F5F-6046-1AF4-3B7017C3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F1981-FD63-80AC-2EBB-CF7296146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E32D3-71F0-027F-2496-87A39BB97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436-CDDC-CD7D-2952-0BC2F479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96360-90B8-7253-B181-DF261A7D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158ED-2057-656E-5F2A-8469E7BB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14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CC51-F867-E70E-6742-5E77F6C5E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08067-38FA-AC32-67F5-CDB24DD6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4797E-FC83-AA4D-5DC9-36DBE673E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111DA-E7B7-290D-57B7-10774951D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94D422-CF8A-2CA5-C526-2C6413FC4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8870B-B314-E8BA-2D9E-7F58BB701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6ADF-944F-154E-4403-638BEAA9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9CD6E-8F14-FB65-2E76-56245D24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7353-4C9D-D038-BF2B-D449AD32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5E9AB-27E4-D767-AB63-42F0B923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90E0B-8BA6-4DFD-BA5A-B8301CDB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A557A-A836-BDC8-4643-EA64EEE9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74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4D99E-C7CD-FD35-5ADE-CB6A2B44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755BB-63EA-DAB6-2196-DAC9D614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B8B9A-BEE2-A91F-DCBA-076A2CC9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71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ACAB-BC4F-7A03-079D-E79478E2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F346-8F8D-006A-5131-735DFF1FF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01C5E-8E60-4911-91CD-C3F297221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BB18B-F664-C331-282C-D530A889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0AADB-6C8C-7205-F1E5-3EE8F138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9AF53-FE4E-FA46-5117-AACE5E80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10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25C7-320C-3361-103A-53039DA0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0FF91-A48E-1BBA-16E6-28B9AEE1E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8262-26D8-08DE-CB4A-B56D1A00C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45AFE-04B9-69AF-8029-4107491C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1BB82-5A83-7DDC-15C7-6BF054E8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F7DC3-B360-DBE4-2DEC-F57E4164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80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521F5-65E5-8E5A-DBF7-6CC5482C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AF368-A880-054E-2A00-AE17E5C7C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A53FB-45E8-76CC-FE00-DE6287E1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A1F72-6B0D-A3DE-8FB7-C12091E6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AA01E-07D0-0499-4B04-64BA7DB7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53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83B808-0CE9-9261-5F97-3EA0D1E2C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A2CDF-AB0B-B9AD-925D-B4A61AFDF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DCBE-77B5-28B5-4C21-DBA84CF3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49AC3-6F01-BE52-3C41-84934685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7B2B2-E8F7-1664-2519-2090CF75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58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4F85E-40A9-1239-FF37-D28BAEEE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3382F-240A-952B-6A02-358A02A50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1376-88B0-F562-23D4-F791FE8A0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5EAD0-3CAA-4017-ADB2-2C5DC48F490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4DA3F-95F9-46BD-77AD-4C5DD43A3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7138-8329-3177-27D0-A1346930F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EE9DD-EF45-47D2-ABF3-98590EA49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82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09966-82BE-AF19-F0F1-ADDC538C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/>
          <a:lstStyle/>
          <a:p>
            <a:pPr algn="ctr"/>
            <a:r>
              <a:rPr lang="en-GB" dirty="0"/>
              <a:t> Reviewing Data Collection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C924-7742-BCCC-ECAC-1D9696FF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1534"/>
            <a:ext cx="10515600" cy="5769204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Objectives of this section</a:t>
            </a:r>
            <a:endParaRPr lang="en-GB" dirty="0"/>
          </a:p>
          <a:p>
            <a:r>
              <a:rPr lang="en-GB" dirty="0"/>
              <a:t>Understand how data is collected</a:t>
            </a:r>
          </a:p>
          <a:p>
            <a:r>
              <a:rPr lang="en-GB" dirty="0"/>
              <a:t>Learn why preprocessing is necessary</a:t>
            </a:r>
          </a:p>
          <a:p>
            <a:r>
              <a:rPr lang="en-GB" dirty="0"/>
              <a:t>Identify common data quality issues</a:t>
            </a:r>
          </a:p>
          <a:p>
            <a:r>
              <a:rPr lang="en-GB" dirty="0"/>
              <a:t>Prepare data for statistical analysis in SPSS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71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3385-B905-6003-9677-0AF1172F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What is Data Collection?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20C15-E846-C2C7-59C2-9288F1794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7266"/>
            <a:ext cx="10515600" cy="584461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300" b="1" dirty="0"/>
              <a:t>Data collection</a:t>
            </a:r>
            <a:r>
              <a:rPr lang="en-GB" sz="2300" dirty="0"/>
              <a:t> is the systematic process of gathering information for analysis.</a:t>
            </a:r>
          </a:p>
          <a:p>
            <a:pPr>
              <a:buNone/>
            </a:pPr>
            <a:r>
              <a:rPr lang="en-GB" sz="2300" b="1" dirty="0"/>
              <a:t>Why data collection matters</a:t>
            </a:r>
            <a:endParaRPr 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Determines accuracy of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Affects validity and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Poor data → poor decisions (Garbage In, Garbage Out)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02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AA0E-1E56-9A8E-B8A3-A76ED42A0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Common Data Collection Methods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F7853-430B-67B7-A504-5FFF74B8C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Surveys &amp; Questionnaires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Interviews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Administrative records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Secondary data sources</a:t>
            </a: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(reports, databases, APIs)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2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</a:t>
            </a: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Student exam scores, household surveys, water point inspections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94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3461-CB7F-FA26-970C-36E60145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Types of Data Collected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AF1A4-403D-4FD5-2A14-0ADBFE4B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680"/>
            <a:ext cx="10515600" cy="5759778"/>
          </a:xfrm>
        </p:spPr>
        <p:txBody>
          <a:bodyPr/>
          <a:lstStyle/>
          <a:p>
            <a:pPr>
              <a:buNone/>
            </a:pPr>
            <a:r>
              <a:rPr lang="en-GB" sz="2300" b="1" dirty="0"/>
              <a:t>Quantitative data</a:t>
            </a:r>
            <a:endParaRPr 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Numerical (scores, age, income)</a:t>
            </a:r>
          </a:p>
          <a:p>
            <a:pPr>
              <a:buNone/>
            </a:pPr>
            <a:r>
              <a:rPr lang="en-GB" sz="2300" b="1" dirty="0"/>
              <a:t>Qualitative data</a:t>
            </a:r>
            <a:endParaRPr 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Textual or categorical (gender, comments)</a:t>
            </a:r>
          </a:p>
          <a:p>
            <a:pPr>
              <a:buNone/>
            </a:pPr>
            <a:r>
              <a:rPr lang="en-GB" sz="2300" b="1" dirty="0"/>
              <a:t>Primary data</a:t>
            </a:r>
            <a:endParaRPr 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Collected first-hand</a:t>
            </a:r>
          </a:p>
          <a:p>
            <a:pPr>
              <a:buNone/>
            </a:pPr>
            <a:r>
              <a:rPr lang="en-GB" sz="2300" b="1" dirty="0"/>
              <a:t>Secondary data</a:t>
            </a:r>
            <a:endParaRPr 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Collected by others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7209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EB37-5229-F87C-F088-FD1A5CE7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Collection and Preprocessing (Concept)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393F7-7D61-AE67-891A-3F0549F5B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Preprocessing</a:t>
            </a:r>
            <a:r>
              <a:rPr lang="en-GB" dirty="0"/>
              <a:t> is what we do </a:t>
            </a:r>
            <a:r>
              <a:rPr lang="en-GB" b="1" dirty="0"/>
              <a:t>after collecting data but before analysis</a:t>
            </a:r>
            <a:endParaRPr lang="en-GB" dirty="0"/>
          </a:p>
          <a:p>
            <a:r>
              <a:rPr lang="en-GB" dirty="0"/>
              <a:t>It involves:</a:t>
            </a:r>
          </a:p>
          <a:p>
            <a:r>
              <a:rPr lang="en-GB" dirty="0"/>
              <a:t>Checking accuracy</a:t>
            </a:r>
          </a:p>
          <a:p>
            <a:r>
              <a:rPr lang="en-GB" dirty="0"/>
              <a:t>Removing errors</a:t>
            </a:r>
          </a:p>
          <a:p>
            <a:r>
              <a:rPr lang="en-GB" dirty="0"/>
              <a:t>Formatting data</a:t>
            </a:r>
          </a:p>
          <a:p>
            <a:r>
              <a:rPr lang="en-GB" dirty="0"/>
              <a:t>Making data analysis-ready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850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265C-6705-F023-A338-DB1F55A9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67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Why Preprocessing is Necessary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D9459-DFFC-2846-9EBF-3E9F7A746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107"/>
            <a:ext cx="10515600" cy="5224856"/>
          </a:xfrm>
        </p:spPr>
        <p:txBody>
          <a:bodyPr/>
          <a:lstStyle/>
          <a:p>
            <a:pPr>
              <a:buNone/>
            </a:pPr>
            <a:r>
              <a:rPr lang="en-GB" dirty="0"/>
              <a:t>Raw data often contains: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Duplicate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Inconsistent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Outliers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Typing errors</a:t>
            </a:r>
          </a:p>
          <a:p>
            <a:pPr>
              <a:buNone/>
            </a:pPr>
            <a:r>
              <a:rPr lang="en-GB" dirty="0"/>
              <a:t> Statistical software like </a:t>
            </a:r>
            <a:r>
              <a:rPr lang="en-GB" b="1" dirty="0"/>
              <a:t>SPSS cannot work properly on dirty data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2848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00E5-D495-A52D-6D21-D0305F93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84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Data Preprocessing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DB3D-5FA1-F2EA-C7AE-BFFBF740A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974"/>
            <a:ext cx="10515600" cy="5750350"/>
          </a:xfrm>
        </p:spPr>
        <p:txBody>
          <a:bodyPr/>
          <a:lstStyle/>
          <a:p>
            <a:r>
              <a:rPr lang="en-GB" dirty="0"/>
              <a:t>Data collection</a:t>
            </a:r>
          </a:p>
          <a:p>
            <a:r>
              <a:rPr lang="en-GB" dirty="0"/>
              <a:t>Data inspection</a:t>
            </a:r>
          </a:p>
          <a:p>
            <a:r>
              <a:rPr lang="en-GB" dirty="0"/>
              <a:t>Data cleaning</a:t>
            </a:r>
          </a:p>
          <a:p>
            <a:r>
              <a:rPr lang="en-GB" dirty="0"/>
              <a:t>Data transformation</a:t>
            </a:r>
          </a:p>
          <a:p>
            <a:r>
              <a:rPr lang="en-GB" dirty="0"/>
              <a:t>Data validation</a:t>
            </a:r>
          </a:p>
          <a:p>
            <a:r>
              <a:rPr lang="en-GB" dirty="0"/>
              <a:t>Data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399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B81A-F344-B663-8131-3B1F4B56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443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Data Cleaning vs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0A502-9E5F-D32A-6C6B-FE904A4C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560"/>
            <a:ext cx="10515600" cy="5882325"/>
          </a:xfrm>
        </p:spPr>
        <p:txBody>
          <a:bodyPr/>
          <a:lstStyle/>
          <a:p>
            <a:pPr>
              <a:buNone/>
            </a:pPr>
            <a:r>
              <a:rPr lang="en-GB" b="1" dirty="0"/>
              <a:t>Data Cleaning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Fixing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Removing duplicates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Handling missing values</a:t>
            </a:r>
          </a:p>
          <a:p>
            <a:pPr>
              <a:buNone/>
            </a:pPr>
            <a:r>
              <a:rPr lang="en-GB" b="1" dirty="0"/>
              <a:t>Data Preprocessing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Cleaning + transforming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Encoding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Standardizing data</a:t>
            </a:r>
          </a:p>
          <a:p>
            <a:pPr>
              <a:buNone/>
            </a:pPr>
            <a:r>
              <a:rPr lang="en-GB" dirty="0"/>
              <a:t> Cleaning is a </a:t>
            </a:r>
            <a:r>
              <a:rPr lang="en-GB" b="1" dirty="0"/>
              <a:t>subset</a:t>
            </a:r>
            <a:r>
              <a:rPr lang="en-GB" dirty="0"/>
              <a:t> of preprocessing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14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D6B3-2273-624D-D765-9CD91C36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2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difference between data cleaning and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C8427-F065-C68C-C5A3-0FED855D1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485"/>
            <a:ext cx="10515600" cy="5495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b="1" dirty="0"/>
              <a:t>Data Cleaning</a:t>
            </a:r>
          </a:p>
          <a:p>
            <a:r>
              <a:rPr lang="en-GB" sz="2300" b="1" dirty="0"/>
              <a:t>Definition:</a:t>
            </a:r>
            <a:br>
              <a:rPr lang="en-GB" sz="2300" dirty="0"/>
            </a:br>
            <a:r>
              <a:rPr lang="en-GB" sz="2300" dirty="0"/>
              <a:t>Data cleaning is the process of </a:t>
            </a:r>
            <a:r>
              <a:rPr lang="en-GB" sz="2300" b="1" dirty="0"/>
              <a:t>identifying and correcting errors or inconsistencies in raw data</a:t>
            </a:r>
            <a:r>
              <a:rPr lang="en-GB" sz="2300" dirty="0"/>
              <a:t> to ensure accuracy, completeness, and reliability.</a:t>
            </a:r>
          </a:p>
          <a:p>
            <a:r>
              <a:rPr lang="en-GB" sz="2300" b="1" dirty="0"/>
              <a:t>Key Features:</a:t>
            </a:r>
            <a:endParaRPr lang="en-GB" sz="2300" dirty="0"/>
          </a:p>
          <a:p>
            <a:r>
              <a:rPr lang="en-GB" sz="2300" dirty="0"/>
              <a:t>Focuses on </a:t>
            </a:r>
            <a:r>
              <a:rPr lang="en-GB" sz="2300" b="1" dirty="0"/>
              <a:t>fixing problems in the data</a:t>
            </a:r>
            <a:r>
              <a:rPr lang="en-GB" sz="2300" dirty="0"/>
              <a:t> rather than transforming it for analysis.</a:t>
            </a:r>
          </a:p>
          <a:p>
            <a:r>
              <a:rPr lang="en-GB" sz="2300" dirty="0"/>
              <a:t>Deals with </a:t>
            </a:r>
            <a:r>
              <a:rPr lang="en-GB" sz="2300" b="1" dirty="0"/>
              <a:t>errors, missing values, duplicates, and outliers</a:t>
            </a:r>
            <a:r>
              <a:rPr lang="en-GB" sz="23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606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78F1-0497-D3BB-1473-6168975C3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150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difference between data cleaning and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C25C-EE86-40E0-7603-C1C24C838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460"/>
            <a:ext cx="10515600" cy="53449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Common Data Cleaning Tasks:</a:t>
            </a:r>
            <a:endParaRPr lang="en-GB" dirty="0"/>
          </a:p>
          <a:p>
            <a:r>
              <a:rPr lang="en-GB" b="1" dirty="0"/>
              <a:t>Handling Missing Values:</a:t>
            </a:r>
            <a:r>
              <a:rPr lang="en-GB" dirty="0"/>
              <a:t> Filling in, removing, or imputing missing data.</a:t>
            </a:r>
          </a:p>
          <a:p>
            <a:r>
              <a:rPr lang="en-GB" b="1" dirty="0"/>
              <a:t>Correcting Errors:</a:t>
            </a:r>
            <a:r>
              <a:rPr lang="en-GB" dirty="0"/>
              <a:t> Fixing typos, inconsistent spellings, or wrong entries.</a:t>
            </a:r>
          </a:p>
          <a:p>
            <a:r>
              <a:rPr lang="en-GB" b="1" dirty="0"/>
              <a:t>Removing Duplicates:</a:t>
            </a:r>
            <a:r>
              <a:rPr lang="en-GB" dirty="0"/>
              <a:t> Ensuring that each data record appears only once.</a:t>
            </a:r>
          </a:p>
          <a:p>
            <a:r>
              <a:rPr lang="en-GB" b="1" dirty="0"/>
              <a:t>Filtering Outliers:</a:t>
            </a:r>
            <a:r>
              <a:rPr lang="en-GB" dirty="0"/>
              <a:t> Identifying and managing extreme values that may distort analysis.</a:t>
            </a:r>
          </a:p>
          <a:p>
            <a:pPr marL="0" indent="0">
              <a:buNone/>
            </a:pPr>
            <a:r>
              <a:rPr lang="en-GB" b="1" dirty="0"/>
              <a:t>Example (Banking Scenario):</a:t>
            </a:r>
            <a:endParaRPr lang="en-GB" dirty="0"/>
          </a:p>
          <a:p>
            <a:r>
              <a:rPr lang="en-GB" dirty="0"/>
              <a:t>Correcting wrongly entered customer income values (e.g., MWK 25,000 entered as 2,500,000)</a:t>
            </a:r>
          </a:p>
          <a:p>
            <a:r>
              <a:rPr lang="en-GB" dirty="0"/>
              <a:t>Removing duplicate loan applications from the dataset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43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6650-99F7-249E-AE7B-58C8F99B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07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difference between data cleaning and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C808-223C-A69E-C5C4-5A9467D20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045"/>
            <a:ext cx="10515600" cy="5439266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Data Preprocessing</a:t>
            </a:r>
          </a:p>
          <a:p>
            <a:r>
              <a:rPr lang="en-GB" b="1" dirty="0"/>
              <a:t>Definition:</a:t>
            </a:r>
            <a:br>
              <a:rPr lang="en-GB" dirty="0"/>
            </a:br>
            <a:r>
              <a:rPr lang="en-GB" dirty="0"/>
              <a:t>Data preprocessing is a broader process of </a:t>
            </a:r>
            <a:r>
              <a:rPr lang="en-GB" b="1" dirty="0"/>
              <a:t>transforming and organizing data</a:t>
            </a:r>
            <a:r>
              <a:rPr lang="en-GB" dirty="0"/>
              <a:t> so it is ready for </a:t>
            </a:r>
            <a:r>
              <a:rPr lang="en-GB" b="1" dirty="0"/>
              <a:t>analysis, </a:t>
            </a:r>
            <a:r>
              <a:rPr lang="en-GB" b="1" dirty="0" err="1"/>
              <a:t>modeling</a:t>
            </a:r>
            <a:r>
              <a:rPr lang="en-GB" b="1" dirty="0"/>
              <a:t>, or machine learning</a:t>
            </a:r>
            <a:r>
              <a:rPr lang="en-GB" dirty="0"/>
              <a:t>. It includes cleaning but also other preparatory steps.</a:t>
            </a:r>
          </a:p>
          <a:p>
            <a:r>
              <a:rPr lang="en-GB" b="1" dirty="0"/>
              <a:t>Key Features:</a:t>
            </a:r>
            <a:endParaRPr lang="en-GB" dirty="0"/>
          </a:p>
          <a:p>
            <a:r>
              <a:rPr lang="en-GB" dirty="0"/>
              <a:t>Prepares data for </a:t>
            </a:r>
            <a:r>
              <a:rPr lang="en-GB" b="1" dirty="0"/>
              <a:t>analysis and </a:t>
            </a:r>
            <a:r>
              <a:rPr lang="en-GB" b="1" dirty="0" err="1"/>
              <a:t>modeling</a:t>
            </a:r>
            <a:r>
              <a:rPr lang="en-GB" dirty="0"/>
              <a:t>, not just correcting errors.</a:t>
            </a:r>
          </a:p>
          <a:p>
            <a:r>
              <a:rPr lang="en-GB" dirty="0"/>
              <a:t>Includes </a:t>
            </a:r>
            <a:r>
              <a:rPr lang="en-GB" b="1" dirty="0"/>
              <a:t>data cleaning, transformation, normalization, and encoding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0108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521B-743F-B10D-E0AC-410D697B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Common Data Preprocessing Tasks: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9923-BFB6-8837-5AAC-D1F0BC8CB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Data Cleaning:</a:t>
            </a:r>
            <a:r>
              <a:rPr lang="en-GB" dirty="0"/>
              <a:t> (As described above)</a:t>
            </a:r>
          </a:p>
          <a:p>
            <a:r>
              <a:rPr lang="en-GB" b="1" dirty="0"/>
              <a:t>Data Transformation:</a:t>
            </a:r>
            <a:r>
              <a:rPr lang="en-GB" dirty="0"/>
              <a:t> Changing data formats, units, or scales to standardize data.</a:t>
            </a:r>
          </a:p>
          <a:p>
            <a:r>
              <a:rPr lang="en-GB" b="1" dirty="0"/>
              <a:t>Data Normalization/Scaling:</a:t>
            </a:r>
            <a:r>
              <a:rPr lang="en-GB" dirty="0"/>
              <a:t> Adjusting numeric values to a common scale (e.g., 0–1).</a:t>
            </a:r>
          </a:p>
          <a:p>
            <a:r>
              <a:rPr lang="en-GB" b="1" dirty="0"/>
              <a:t>Data Encoding:</a:t>
            </a:r>
            <a:r>
              <a:rPr lang="en-GB" dirty="0"/>
              <a:t> Converting categorical variables into numeric form (e.g., “Savings” → 1, “Current” → 2).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6168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EE74-DCEB-BDA0-27F6-A8B27A41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Common Data Preprocessing Tasks: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E0167-4CFF-3FC1-3B4B-65ED0E32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Data Integration:</a:t>
            </a:r>
            <a:r>
              <a:rPr lang="en-GB" dirty="0"/>
              <a:t> Combining data from multiple sources into a single dataset.</a:t>
            </a:r>
          </a:p>
          <a:p>
            <a:r>
              <a:rPr lang="en-GB" b="1" dirty="0"/>
              <a:t>Feature Selection/Extraction:</a:t>
            </a:r>
            <a:r>
              <a:rPr lang="en-GB" dirty="0"/>
              <a:t> Choosing relevant variables for analysis.</a:t>
            </a:r>
          </a:p>
          <a:p>
            <a:r>
              <a:rPr lang="en-GB" b="1" dirty="0"/>
              <a:t>Example (Banking Scenario):</a:t>
            </a:r>
            <a:endParaRPr lang="en-GB" dirty="0"/>
          </a:p>
          <a:p>
            <a:r>
              <a:rPr lang="en-GB" dirty="0"/>
              <a:t>Encoding account types: Savings = 1, Current = 2, Fixed Deposit = 3</a:t>
            </a:r>
          </a:p>
          <a:p>
            <a:r>
              <a:rPr lang="en-GB" dirty="0"/>
              <a:t>Normalizing loan amounts so that small and large loans are on the same scale for analysis</a:t>
            </a:r>
          </a:p>
          <a:p>
            <a:r>
              <a:rPr lang="en-GB" dirty="0"/>
              <a:t>Merging customer demographic data with loan history for predictive </a:t>
            </a:r>
            <a:r>
              <a:rPr lang="en-GB" dirty="0" err="1"/>
              <a:t>modeling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879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265C-176E-2293-626E-AAE9217C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84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Data Cleaning – Key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E270-10B6-B39A-B7CA-AAF477462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974"/>
            <a:ext cx="10515600" cy="5778630"/>
          </a:xfrm>
        </p:spPr>
        <p:txBody>
          <a:bodyPr>
            <a:normAutofit lnSpcReduction="10000"/>
          </a:bodyPr>
          <a:lstStyle/>
          <a:p>
            <a:r>
              <a:rPr lang="en-GB" sz="2300" dirty="0"/>
              <a:t>Handling missing values</a:t>
            </a:r>
          </a:p>
          <a:p>
            <a:r>
              <a:rPr lang="en-GB" sz="2300" dirty="0"/>
              <a:t>Removing duplicates</a:t>
            </a:r>
          </a:p>
          <a:p>
            <a:r>
              <a:rPr lang="en-GB" sz="2300" dirty="0"/>
              <a:t>Correcting inconsistencies</a:t>
            </a:r>
          </a:p>
          <a:p>
            <a:r>
              <a:rPr lang="en-GB" sz="2300" dirty="0"/>
              <a:t>Detecting outliers</a:t>
            </a:r>
          </a:p>
          <a:p>
            <a:r>
              <a:rPr lang="en-GB" sz="2300" dirty="0"/>
              <a:t>Validating data ranges</a:t>
            </a:r>
          </a:p>
          <a:p>
            <a:pPr marL="0" indent="0">
              <a:buNone/>
            </a:pPr>
            <a:r>
              <a:rPr lang="en-GB" b="1" dirty="0"/>
              <a:t>Handling Missing Data</a:t>
            </a:r>
          </a:p>
          <a:p>
            <a:pPr>
              <a:buNone/>
            </a:pPr>
            <a:r>
              <a:rPr lang="en-GB" sz="2300" dirty="0"/>
              <a:t>Common approaches: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Delete records (listwise deletion)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Replace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300" dirty="0"/>
              <a:t>Mean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300" dirty="0"/>
              <a:t>Median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300" dirty="0"/>
              <a:t>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Use statistical estimation</a:t>
            </a:r>
          </a:p>
          <a:p>
            <a:pPr marL="0" indent="0">
              <a:buNone/>
            </a:pPr>
            <a:r>
              <a:rPr lang="en-GB" sz="2400" b="1" i="1" dirty="0"/>
              <a:t>Example:</a:t>
            </a:r>
            <a:r>
              <a:rPr lang="en-GB" sz="2400" b="1" dirty="0"/>
              <a:t> </a:t>
            </a:r>
            <a:r>
              <a:rPr lang="en-GB" sz="2400" dirty="0"/>
              <a:t>Missing exam score → replace with class mean</a:t>
            </a:r>
            <a:endParaRPr lang="en-GB" sz="2300" dirty="0"/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56547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8F860-C5D1-FB4E-E925-DED6EDAF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12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Example Data set that needs cleaning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E232BE-950F-25B2-CFD5-386D461471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52454"/>
          <a:ext cx="10515603" cy="429768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29791111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17466143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712016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54504944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9352242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88018978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9078415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Customer_ID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Income (MWK)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Loan_Amount (MWK)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Account_Type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Loan_Status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2630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429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120000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4067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Charly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Saving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Rejected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8551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8575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6789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N/A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876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Grace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Approve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277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Henry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120000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539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Irene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Rejected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6164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Jack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-50000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4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025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A6BB-6A48-3F3D-750E-49885136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56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Handling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7F8E6-EF3F-AFB9-6BC2-0C48E6D08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694"/>
            <a:ext cx="10515600" cy="5769203"/>
          </a:xfrm>
        </p:spPr>
        <p:txBody>
          <a:bodyPr/>
          <a:lstStyle/>
          <a:p>
            <a:pPr>
              <a:buNone/>
            </a:pPr>
            <a:r>
              <a:rPr lang="en-GB" sz="2300" b="1" dirty="0"/>
              <a:t>Outliers</a:t>
            </a:r>
            <a:r>
              <a:rPr lang="en-GB" sz="2300" dirty="0"/>
              <a:t> = extreme values that distort analysis</a:t>
            </a:r>
          </a:p>
          <a:p>
            <a:pPr>
              <a:buNone/>
            </a:pPr>
            <a:r>
              <a:rPr lang="en-GB" sz="2300" dirty="0"/>
              <a:t>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Identify using boxplots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Verify data entry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Decide to keep or remove</a:t>
            </a:r>
          </a:p>
          <a:p>
            <a:pPr marL="0" indent="0">
              <a:buNone/>
            </a:pPr>
            <a:r>
              <a:rPr lang="en-GB" b="1" i="1" dirty="0"/>
              <a:t>Example:</a:t>
            </a:r>
            <a:r>
              <a:rPr lang="en-GB" b="1" dirty="0"/>
              <a:t> </a:t>
            </a:r>
            <a:r>
              <a:rPr lang="en-GB" dirty="0"/>
              <a:t>Score = 350 out of 100 → data entry error</a:t>
            </a:r>
          </a:p>
        </p:txBody>
      </p:sp>
    </p:spTree>
    <p:extLst>
      <p:ext uri="{BB962C8B-B14F-4D97-AF65-F5344CB8AC3E}">
        <p14:creationId xmlns:p14="http://schemas.microsoft.com/office/powerpoint/2010/main" val="328304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3048-7C5E-7C27-1144-EEBB2040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5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Data Transformation (Concept)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43CED-B061-2AFD-FB29-D09A5EB0E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706"/>
            <a:ext cx="10515600" cy="5957739"/>
          </a:xfrm>
        </p:spPr>
        <p:txBody>
          <a:bodyPr/>
          <a:lstStyle/>
          <a:p>
            <a:pPr>
              <a:buNone/>
            </a:pPr>
            <a:r>
              <a:rPr lang="en-GB" sz="2300" dirty="0"/>
              <a:t>Data transformation changes data format or structure.</a:t>
            </a:r>
          </a:p>
          <a:p>
            <a:pPr>
              <a:buNone/>
            </a:pPr>
            <a:r>
              <a:rPr lang="en-GB" sz="2300" b="1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Creating new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Grouping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Normalizing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Recoding categories</a:t>
            </a:r>
          </a:p>
          <a:p>
            <a:pPr>
              <a:buNone/>
            </a:pPr>
            <a:r>
              <a:rPr lang="en-GB" sz="2300" dirty="0"/>
              <a:t>This is commonly done in </a:t>
            </a:r>
            <a:r>
              <a:rPr lang="en-GB" sz="2300" b="1" dirty="0"/>
              <a:t>SPSS</a:t>
            </a:r>
            <a:endParaRPr lang="en-GB" sz="23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325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C3C1-213E-C0C8-1016-6DBC7580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Statistical Package for Social Scientists (SPSS)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3983-CD40-2AE1-F3C1-CC991754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dirty="0"/>
              <a:t>What is SPSS?</a:t>
            </a:r>
          </a:p>
          <a:p>
            <a:pPr>
              <a:buNone/>
            </a:pPr>
            <a:r>
              <a:rPr lang="en-GB" sz="1600" b="1" dirty="0"/>
              <a:t>SPSS</a:t>
            </a:r>
            <a:r>
              <a:rPr lang="en-GB" sz="1600" dirty="0"/>
              <a:t> (Statistical Package for Social Sciences) is a software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Data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Statistical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Data visualization</a:t>
            </a:r>
          </a:p>
          <a:p>
            <a:pPr>
              <a:buNone/>
            </a:pPr>
            <a:r>
              <a:rPr lang="en-GB" sz="1600" b="1" dirty="0"/>
              <a:t>Widely 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Social sciences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Health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Business analytics</a:t>
            </a:r>
          </a:p>
          <a:p>
            <a:pPr marL="0" indent="0">
              <a:buNone/>
            </a:pP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1388640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BC34-5D7C-27D5-6193-32BA860D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0417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Why Use SPSS?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BC6A4-30CD-7D15-186B-6765FC6B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797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User-friendly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Menu-driven (no heavy coding)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Powerful statistical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dirty="0"/>
              <a:t>Ideal for beginners and researchers</a:t>
            </a:r>
          </a:p>
          <a:p>
            <a:pPr marL="0" indent="0">
              <a:buNone/>
            </a:pPr>
            <a:endParaRPr lang="en-GB" sz="2300" dirty="0"/>
          </a:p>
          <a:p>
            <a:pPr>
              <a:buNone/>
            </a:pPr>
            <a:r>
              <a:rPr lang="en-GB" sz="2300" b="1" dirty="0"/>
              <a:t>SPSS Working Windows (Overview)</a:t>
            </a:r>
          </a:p>
          <a:p>
            <a:pPr>
              <a:buNone/>
            </a:pPr>
            <a:r>
              <a:rPr lang="en-GB" sz="2300" dirty="0"/>
              <a:t>SPSS has </a:t>
            </a:r>
            <a:r>
              <a:rPr lang="en-GB" sz="2300" b="1" dirty="0"/>
              <a:t>three main windows</a:t>
            </a:r>
            <a:r>
              <a:rPr lang="en-GB" sz="2300" dirty="0"/>
              <a:t>:</a:t>
            </a:r>
          </a:p>
          <a:p>
            <a:pPr>
              <a:buFont typeface="+mj-lt"/>
              <a:buAutoNum type="arabicPeriod"/>
            </a:pPr>
            <a:r>
              <a:rPr lang="en-GB" sz="2300" dirty="0"/>
              <a:t>Data View</a:t>
            </a:r>
          </a:p>
          <a:p>
            <a:pPr>
              <a:buFont typeface="+mj-lt"/>
              <a:buAutoNum type="arabicPeriod"/>
            </a:pPr>
            <a:r>
              <a:rPr lang="en-GB" sz="2300" dirty="0"/>
              <a:t>Variable View</a:t>
            </a:r>
          </a:p>
          <a:p>
            <a:pPr>
              <a:buFont typeface="+mj-lt"/>
              <a:buAutoNum type="arabicPeriod"/>
            </a:pPr>
            <a:r>
              <a:rPr lang="en-GB" sz="2300" dirty="0"/>
              <a:t>Output View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9078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D950-F00A-1FB7-9175-7B1A59FEB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287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SPSS Working Windows (Overview)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8E84-5D91-1AC3-B0E3-7E7FFCBE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523"/>
            <a:ext cx="10515600" cy="5656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700" b="1" dirty="0"/>
              <a:t>Data View Window</a:t>
            </a:r>
          </a:p>
          <a:p>
            <a:pPr>
              <a:buNone/>
            </a:pPr>
            <a:r>
              <a:rPr lang="en-GB" sz="2700" dirty="0"/>
              <a:t>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700" dirty="0"/>
              <a:t>Entering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700" dirty="0"/>
              <a:t>Viewing cases (rows)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700" dirty="0"/>
              <a:t>Viewing variables (columns)</a:t>
            </a:r>
          </a:p>
          <a:p>
            <a:pPr>
              <a:buNone/>
            </a:pPr>
            <a:r>
              <a:rPr lang="en-GB" sz="2700" dirty="0"/>
              <a:t>Rows = cases (students)</a:t>
            </a:r>
          </a:p>
          <a:p>
            <a:pPr>
              <a:buNone/>
            </a:pPr>
            <a:r>
              <a:rPr lang="en-GB" sz="2700" dirty="0"/>
              <a:t> Columns = variables (score, age, gender)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99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7ACA-46FB-6498-8561-C55CC43B3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SPSS Working Windows (Overview)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5A95F-3DD2-853D-798E-19B13E125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 View Window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Used for: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Defining variables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Setting data properties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fields: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Missing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 (Nominal, Ordinal, Scale)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2953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EF7A-0ABB-8619-6BD9-A082C0F5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SPSS Working Windows (Overview)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494B0-CFB4-645E-DDD3-26D257F80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Output View Window</a:t>
            </a:r>
          </a:p>
          <a:p>
            <a:pPr>
              <a:buNone/>
            </a:pPr>
            <a:r>
              <a:rPr lang="en-GB" dirty="0"/>
              <a:t>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Viewing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Statistical summaries</a:t>
            </a:r>
          </a:p>
          <a:p>
            <a:pPr>
              <a:buNone/>
            </a:pPr>
            <a:r>
              <a:rPr lang="en-GB" dirty="0"/>
              <a:t> Results appear here after running analyses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3998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3E95-FB63-919A-0266-CF5D4EBA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56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Basic Operations in SPSS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5B3E-9945-AA7E-5D37-82D95257D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694"/>
            <a:ext cx="10515600" cy="5300269"/>
          </a:xfrm>
        </p:spPr>
        <p:txBody>
          <a:bodyPr/>
          <a:lstStyle/>
          <a:p>
            <a:pPr>
              <a:buNone/>
            </a:pPr>
            <a:r>
              <a:rPr lang="en-GB" b="1" dirty="0"/>
              <a:t>Common basic 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Creating a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Entering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Saving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Opening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Running descriptive statistics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511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816C-95B4-AA6F-9639-7ED54FD7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Dataset in SPSS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72052-82DA-E9A4-2196-0FA402A89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Steps:</a:t>
            </a:r>
          </a:p>
          <a:p>
            <a:r>
              <a:rPr lang="en-GB" dirty="0"/>
              <a:t>Open SPSS</a:t>
            </a:r>
          </a:p>
          <a:p>
            <a:r>
              <a:rPr lang="en-GB" dirty="0"/>
              <a:t>Go to Variable View</a:t>
            </a:r>
          </a:p>
          <a:p>
            <a:r>
              <a:rPr lang="en-GB" dirty="0"/>
              <a:t>Define variables</a:t>
            </a:r>
          </a:p>
          <a:p>
            <a:r>
              <a:rPr lang="en-GB" dirty="0"/>
              <a:t>Switch to Data View</a:t>
            </a:r>
          </a:p>
          <a:p>
            <a:r>
              <a:rPr lang="en-GB" dirty="0"/>
              <a:t>Enter data</a:t>
            </a:r>
          </a:p>
          <a:p>
            <a:r>
              <a:rPr lang="en-GB" dirty="0"/>
              <a:t>Save file (.sav)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201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B4C2-7071-B352-3C3F-E625A249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Running Basic Statistics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732F-C931-B766-9DDC-E102CAD1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/>
              <a:t>Menu path: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Analyze</a:t>
            </a:r>
            <a:r>
              <a:rPr lang="en-GB" b="1" dirty="0"/>
              <a:t> → Descriptive Statistics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Frequencies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Descriptives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Explore</a:t>
            </a:r>
          </a:p>
          <a:p>
            <a:pPr>
              <a:buNone/>
            </a:pPr>
            <a:r>
              <a:rPr lang="en-GB" b="1" dirty="0"/>
              <a:t> Example outputs: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Median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Standard deviation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895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2E00-AE82-45BA-D205-594D78FD3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Transforming Data in SPSS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DC47-C719-7E45-2FF1-28EE54448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Data transformation allows you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new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Modify existing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Prepare data for analysis</a:t>
            </a:r>
          </a:p>
          <a:p>
            <a:pPr>
              <a:buNone/>
            </a:pPr>
            <a:r>
              <a:rPr lang="en-GB" dirty="0"/>
              <a:t>Menu path:</a:t>
            </a:r>
            <a:br>
              <a:rPr lang="en-GB" dirty="0"/>
            </a:br>
            <a:r>
              <a:rPr lang="en-GB" b="1" dirty="0"/>
              <a:t>Transform → Compute Variable</a:t>
            </a:r>
            <a:br>
              <a:rPr lang="en-GB" dirty="0"/>
            </a:br>
            <a:r>
              <a:rPr lang="en-GB" b="1" dirty="0"/>
              <a:t>Transform → Recode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0403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69F0-138B-A21F-817C-AF9ECF55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Compute Variable (Example)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1E6C-79ED-6E72-C5B5-AC7A5565E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Use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Calculating totals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Calculating averages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Creating indexes</a:t>
            </a:r>
          </a:p>
          <a:p>
            <a:pPr>
              <a:buNone/>
            </a:pPr>
            <a:r>
              <a:rPr lang="en-GB" b="1" dirty="0"/>
              <a:t> Example:</a:t>
            </a:r>
          </a:p>
          <a:p>
            <a:pPr>
              <a:buNone/>
            </a:pPr>
            <a:r>
              <a:rPr lang="en-GB" dirty="0" err="1"/>
              <a:t>FinalScore</a:t>
            </a:r>
            <a:r>
              <a:rPr lang="en-GB" dirty="0"/>
              <a:t> = (Test + Exam) / 2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2483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1153</Words>
  <Application>Microsoft Office PowerPoint</Application>
  <PresentationFormat>Widescreen</PresentationFormat>
  <Paragraphs>291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 Reviewing Data Collection Methods</vt:lpstr>
      <vt:lpstr>What is Data Collection?</vt:lpstr>
      <vt:lpstr>Common Data Collection Methods </vt:lpstr>
      <vt:lpstr>Types of Data Collected</vt:lpstr>
      <vt:lpstr>Data Collection and Preprocessing (Concept) </vt:lpstr>
      <vt:lpstr>Why Preprocessing is Necessary</vt:lpstr>
      <vt:lpstr>Data Preprocessing Workflow</vt:lpstr>
      <vt:lpstr>Data Cleaning vs Preprocessing</vt:lpstr>
      <vt:lpstr>difference between data cleaning and data preprocessing</vt:lpstr>
      <vt:lpstr>difference between data cleaning and data preprocessing</vt:lpstr>
      <vt:lpstr>difference between data cleaning and data preprocessing</vt:lpstr>
      <vt:lpstr>Common Data Preprocessing Tasks: </vt:lpstr>
      <vt:lpstr>Common Data Preprocessing Tasks: </vt:lpstr>
      <vt:lpstr>Data Cleaning – Key Activities</vt:lpstr>
      <vt:lpstr>Example Data set that needs cleaning</vt:lpstr>
      <vt:lpstr>Handling Outliers</vt:lpstr>
      <vt:lpstr>Data Transformation (Concept)</vt:lpstr>
      <vt:lpstr>Introducing Statistical Package for Social Scientists (SPSS)</vt:lpstr>
      <vt:lpstr>Why Use SPSS? </vt:lpstr>
      <vt:lpstr>SPSS Working Windows (Overview) </vt:lpstr>
      <vt:lpstr>SPSS Working Windows (Overview) </vt:lpstr>
      <vt:lpstr>SPSS Working Windows (Overview) </vt:lpstr>
      <vt:lpstr>Basic Operations in SPSS</vt:lpstr>
      <vt:lpstr>Creating a Dataset in SPSS </vt:lpstr>
      <vt:lpstr>Running Basic Statistics </vt:lpstr>
      <vt:lpstr>Transforming Data in SPSS </vt:lpstr>
      <vt:lpstr>Compute Variable (Example)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</dc:creator>
  <cp:lastModifiedBy>Paul</cp:lastModifiedBy>
  <cp:revision>4</cp:revision>
  <dcterms:created xsi:type="dcterms:W3CDTF">2026-01-29T08:21:34Z</dcterms:created>
  <dcterms:modified xsi:type="dcterms:W3CDTF">2026-02-02T13:52:50Z</dcterms:modified>
</cp:coreProperties>
</file>