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8" d="100"/>
          <a:sy n="68" d="100"/>
        </p:scale>
        <p:origin x="61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E50FA44-BF4C-42A0-BDEF-92BC62A6DDC6}"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408B8F-DD01-45C6-8C83-28230F9A1275}" type="slidenum">
              <a:rPr lang="en-US" smtClean="0"/>
              <a:t>‹#›</a:t>
            </a:fld>
            <a:endParaRPr lang="en-US"/>
          </a:p>
        </p:txBody>
      </p:sp>
    </p:spTree>
    <p:extLst>
      <p:ext uri="{BB962C8B-B14F-4D97-AF65-F5344CB8AC3E}">
        <p14:creationId xmlns:p14="http://schemas.microsoft.com/office/powerpoint/2010/main" val="3913622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E50FA44-BF4C-42A0-BDEF-92BC62A6DDC6}"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408B8F-DD01-45C6-8C83-28230F9A1275}" type="slidenum">
              <a:rPr lang="en-US" smtClean="0"/>
              <a:t>‹#›</a:t>
            </a:fld>
            <a:endParaRPr lang="en-US"/>
          </a:p>
        </p:txBody>
      </p:sp>
    </p:spTree>
    <p:extLst>
      <p:ext uri="{BB962C8B-B14F-4D97-AF65-F5344CB8AC3E}">
        <p14:creationId xmlns:p14="http://schemas.microsoft.com/office/powerpoint/2010/main" val="102262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E50FA44-BF4C-42A0-BDEF-92BC62A6DDC6}"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408B8F-DD01-45C6-8C83-28230F9A1275}" type="slidenum">
              <a:rPr lang="en-US" smtClean="0"/>
              <a:t>‹#›</a:t>
            </a:fld>
            <a:endParaRPr lang="en-US"/>
          </a:p>
        </p:txBody>
      </p:sp>
    </p:spTree>
    <p:extLst>
      <p:ext uri="{BB962C8B-B14F-4D97-AF65-F5344CB8AC3E}">
        <p14:creationId xmlns:p14="http://schemas.microsoft.com/office/powerpoint/2010/main" val="4116359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E50FA44-BF4C-42A0-BDEF-92BC62A6DDC6}"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408B8F-DD01-45C6-8C83-28230F9A1275}" type="slidenum">
              <a:rPr lang="en-US" smtClean="0"/>
              <a:t>‹#›</a:t>
            </a:fld>
            <a:endParaRPr lang="en-US"/>
          </a:p>
        </p:txBody>
      </p:sp>
    </p:spTree>
    <p:extLst>
      <p:ext uri="{BB962C8B-B14F-4D97-AF65-F5344CB8AC3E}">
        <p14:creationId xmlns:p14="http://schemas.microsoft.com/office/powerpoint/2010/main" val="1591425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E50FA44-BF4C-42A0-BDEF-92BC62A6DDC6}" type="datetimeFigureOut">
              <a:rPr lang="en-US" smtClean="0"/>
              <a:t>5/29/2026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408B8F-DD01-45C6-8C83-28230F9A1275}" type="slidenum">
              <a:rPr lang="en-US" smtClean="0"/>
              <a:t>‹#›</a:t>
            </a:fld>
            <a:endParaRPr lang="en-US"/>
          </a:p>
        </p:txBody>
      </p:sp>
    </p:spTree>
    <p:extLst>
      <p:ext uri="{BB962C8B-B14F-4D97-AF65-F5344CB8AC3E}">
        <p14:creationId xmlns:p14="http://schemas.microsoft.com/office/powerpoint/2010/main" val="2121184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E50FA44-BF4C-42A0-BDEF-92BC62A6DDC6}" type="datetimeFigureOut">
              <a:rPr lang="en-US" smtClean="0"/>
              <a:t>5/29/2026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408B8F-DD01-45C6-8C83-28230F9A1275}" type="slidenum">
              <a:rPr lang="en-US" smtClean="0"/>
              <a:t>‹#›</a:t>
            </a:fld>
            <a:endParaRPr lang="en-US"/>
          </a:p>
        </p:txBody>
      </p:sp>
    </p:spTree>
    <p:extLst>
      <p:ext uri="{BB962C8B-B14F-4D97-AF65-F5344CB8AC3E}">
        <p14:creationId xmlns:p14="http://schemas.microsoft.com/office/powerpoint/2010/main" val="1501172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50FA44-BF4C-42A0-BDEF-92BC62A6DDC6}" type="datetimeFigureOut">
              <a:rPr lang="en-US" smtClean="0"/>
              <a:t>5/29/2026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408B8F-DD01-45C6-8C83-28230F9A1275}" type="slidenum">
              <a:rPr lang="en-US" smtClean="0"/>
              <a:t>‹#›</a:t>
            </a:fld>
            <a:endParaRPr lang="en-US"/>
          </a:p>
        </p:txBody>
      </p:sp>
    </p:spTree>
    <p:extLst>
      <p:ext uri="{BB962C8B-B14F-4D97-AF65-F5344CB8AC3E}">
        <p14:creationId xmlns:p14="http://schemas.microsoft.com/office/powerpoint/2010/main" val="1291739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E50FA44-BF4C-42A0-BDEF-92BC62A6DDC6}"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408B8F-DD01-45C6-8C83-28230F9A1275}" type="slidenum">
              <a:rPr lang="en-US" smtClean="0"/>
              <a:t>‹#›</a:t>
            </a:fld>
            <a:endParaRPr lang="en-US"/>
          </a:p>
        </p:txBody>
      </p:sp>
    </p:spTree>
    <p:extLst>
      <p:ext uri="{BB962C8B-B14F-4D97-AF65-F5344CB8AC3E}">
        <p14:creationId xmlns:p14="http://schemas.microsoft.com/office/powerpoint/2010/main" val="38706871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E50FA44-BF4C-42A0-BDEF-92BC62A6DDC6}"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408B8F-DD01-45C6-8C83-28230F9A1275}" type="slidenum">
              <a:rPr lang="en-US" smtClean="0"/>
              <a:t>‹#›</a:t>
            </a:fld>
            <a:endParaRPr lang="en-US"/>
          </a:p>
        </p:txBody>
      </p:sp>
    </p:spTree>
    <p:extLst>
      <p:ext uri="{BB962C8B-B14F-4D97-AF65-F5344CB8AC3E}">
        <p14:creationId xmlns:p14="http://schemas.microsoft.com/office/powerpoint/2010/main" val="1404364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E50FA44-BF4C-42A0-BDEF-92BC62A6DDC6}"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408B8F-DD01-45C6-8C83-28230F9A1275}" type="slidenum">
              <a:rPr lang="en-US" smtClean="0"/>
              <a:t>‹#›</a:t>
            </a:fld>
            <a:endParaRPr lang="en-US"/>
          </a:p>
        </p:txBody>
      </p:sp>
    </p:spTree>
    <p:extLst>
      <p:ext uri="{BB962C8B-B14F-4D97-AF65-F5344CB8AC3E}">
        <p14:creationId xmlns:p14="http://schemas.microsoft.com/office/powerpoint/2010/main" val="1096104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E50FA44-BF4C-42A0-BDEF-92BC62A6DDC6}"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408B8F-DD01-45C6-8C83-28230F9A1275}"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4543219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E50FA44-BF4C-42A0-BDEF-92BC62A6DDC6}"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408B8F-DD01-45C6-8C83-28230F9A1275}" type="slidenum">
              <a:rPr lang="en-US" smtClean="0"/>
              <a:t>‹#›</a:t>
            </a:fld>
            <a:endParaRPr lang="en-US"/>
          </a:p>
        </p:txBody>
      </p:sp>
    </p:spTree>
    <p:extLst>
      <p:ext uri="{BB962C8B-B14F-4D97-AF65-F5344CB8AC3E}">
        <p14:creationId xmlns:p14="http://schemas.microsoft.com/office/powerpoint/2010/main" val="2094791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E50FA44-BF4C-42A0-BDEF-92BC62A6DDC6}"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408B8F-DD01-45C6-8C83-28230F9A1275}"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308649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E50FA44-BF4C-42A0-BDEF-92BC62A6DDC6}"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408B8F-DD01-45C6-8C83-28230F9A1275}" type="slidenum">
              <a:rPr lang="en-US" smtClean="0"/>
              <a:t>‹#›</a:t>
            </a:fld>
            <a:endParaRPr lang="en-US"/>
          </a:p>
        </p:txBody>
      </p:sp>
    </p:spTree>
    <p:extLst>
      <p:ext uri="{BB962C8B-B14F-4D97-AF65-F5344CB8AC3E}">
        <p14:creationId xmlns:p14="http://schemas.microsoft.com/office/powerpoint/2010/main" val="20869052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E50FA44-BF4C-42A0-BDEF-92BC62A6DDC6}"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408B8F-DD01-45C6-8C83-28230F9A1275}" type="slidenum">
              <a:rPr lang="en-US" smtClean="0"/>
              <a:t>‹#›</a:t>
            </a:fld>
            <a:endParaRPr lang="en-US"/>
          </a:p>
        </p:txBody>
      </p:sp>
    </p:spTree>
    <p:extLst>
      <p:ext uri="{BB962C8B-B14F-4D97-AF65-F5344CB8AC3E}">
        <p14:creationId xmlns:p14="http://schemas.microsoft.com/office/powerpoint/2010/main" val="34313524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E50FA44-BF4C-42A0-BDEF-92BC62A6DDC6}"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408B8F-DD01-45C6-8C83-28230F9A1275}" type="slidenum">
              <a:rPr lang="en-US" smtClean="0"/>
              <a:t>‹#›</a:t>
            </a:fld>
            <a:endParaRPr lang="en-US"/>
          </a:p>
        </p:txBody>
      </p:sp>
    </p:spTree>
    <p:extLst>
      <p:ext uri="{BB962C8B-B14F-4D97-AF65-F5344CB8AC3E}">
        <p14:creationId xmlns:p14="http://schemas.microsoft.com/office/powerpoint/2010/main" val="32768273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E50FA44-BF4C-42A0-BDEF-92BC62A6DDC6}" type="datetimeFigureOut">
              <a:rPr lang="en-US" smtClean="0"/>
              <a:t>5/29/2026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3408B8F-DD01-45C6-8C83-28230F9A1275}" type="slidenum">
              <a:rPr lang="en-US" smtClean="0"/>
              <a:t>‹#›</a:t>
            </a:fld>
            <a:endParaRPr lang="en-US"/>
          </a:p>
        </p:txBody>
      </p:sp>
    </p:spTree>
    <p:extLst>
      <p:ext uri="{BB962C8B-B14F-4D97-AF65-F5344CB8AC3E}">
        <p14:creationId xmlns:p14="http://schemas.microsoft.com/office/powerpoint/2010/main" val="491250045"/>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www.tutorialspoint.com/internet_of_things/index.htm"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026"/>
          <p:cNvSpPr>
            <a:spLocks noGrp="1" noChangeArrowheads="1"/>
          </p:cNvSpPr>
          <p:nvPr>
            <p:ph type="ctrTitle"/>
          </p:nvPr>
        </p:nvSpPr>
        <p:spPr>
          <a:xfrm>
            <a:off x="1952897" y="2861446"/>
            <a:ext cx="7772400" cy="838200"/>
          </a:xfrm>
        </p:spPr>
        <p:txBody>
          <a:bodyPr>
            <a:normAutofit fontScale="90000"/>
          </a:bodyPr>
          <a:lstStyle/>
          <a:p>
            <a:pPr algn="ctr" eaLnBrk="1" hangingPunct="1">
              <a:defRPr/>
            </a:pPr>
            <a:r>
              <a:rPr lang="en-US" sz="4800" dirty="0"/>
              <a:t>TOPIC 1:</a:t>
            </a:r>
            <a:br>
              <a:rPr lang="en-US" sz="4800" dirty="0"/>
            </a:br>
            <a:r>
              <a:rPr lang="en-US" sz="4800" dirty="0"/>
              <a:t/>
            </a:r>
            <a:br>
              <a:rPr lang="en-US" sz="4800" dirty="0"/>
            </a:br>
            <a:r>
              <a:rPr lang="en-US" sz="4800" dirty="0"/>
              <a:t>Uses of Computer Networks</a:t>
            </a:r>
            <a:endParaRPr lang="en-US" sz="4800" dirty="0">
              <a:solidFill>
                <a:srgbClr val="3333FF"/>
              </a:solidFill>
            </a:endParaRPr>
          </a:p>
        </p:txBody>
      </p:sp>
      <p:sp>
        <p:nvSpPr>
          <p:cNvPr id="6"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324529373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pPr eaLnBrk="1" hangingPunct="1">
              <a:defRPr/>
            </a:pPr>
            <a:r>
              <a:rPr lang="en-GB" dirty="0"/>
              <a:t>Learning Outcomes</a:t>
            </a:r>
            <a:endParaRPr lang="en-US" dirty="0"/>
          </a:p>
        </p:txBody>
      </p:sp>
      <p:sp>
        <p:nvSpPr>
          <p:cNvPr id="20483" name="Rectangle 3"/>
          <p:cNvSpPr>
            <a:spLocks noGrp="1" noChangeArrowheads="1"/>
          </p:cNvSpPr>
          <p:nvPr>
            <p:ph idx="1"/>
          </p:nvPr>
        </p:nvSpPr>
        <p:spPr>
          <a:xfrm>
            <a:off x="1762540" y="1600201"/>
            <a:ext cx="8772939" cy="4530725"/>
          </a:xfrm>
        </p:spPr>
        <p:txBody>
          <a:bodyPr/>
          <a:lstStyle/>
          <a:p>
            <a:pPr algn="just" eaLnBrk="1" hangingPunct="1">
              <a:buClrTx/>
              <a:buFont typeface="Wingdings" panose="05000000000000000000" pitchFamily="2" charset="2"/>
              <a:buChar char="v"/>
            </a:pPr>
            <a:r>
              <a:rPr lang="en-US" altLang="en-US" dirty="0"/>
              <a:t>Definition of Computer Networks</a:t>
            </a:r>
          </a:p>
          <a:p>
            <a:pPr algn="just" eaLnBrk="1" hangingPunct="1">
              <a:buClrTx/>
              <a:buFont typeface="Wingdings" panose="05000000000000000000" pitchFamily="2" charset="2"/>
              <a:buChar char="v"/>
            </a:pPr>
            <a:r>
              <a:rPr lang="en-US" altLang="en-US" dirty="0"/>
              <a:t>Business applications</a:t>
            </a:r>
          </a:p>
          <a:p>
            <a:pPr algn="just" eaLnBrk="1" hangingPunct="1">
              <a:buClrTx/>
              <a:buFont typeface="Wingdings" panose="05000000000000000000" pitchFamily="2" charset="2"/>
              <a:buChar char="v"/>
            </a:pPr>
            <a:r>
              <a:rPr lang="en-US" altLang="en-US" dirty="0"/>
              <a:t>Home applications</a:t>
            </a:r>
          </a:p>
          <a:p>
            <a:pPr algn="just" eaLnBrk="1" hangingPunct="1">
              <a:buClrTx/>
              <a:buFont typeface="Wingdings" panose="05000000000000000000" pitchFamily="2" charset="2"/>
              <a:buChar char="v"/>
            </a:pPr>
            <a:r>
              <a:rPr lang="en-US" altLang="en-US" dirty="0"/>
              <a:t>Mobile applications</a:t>
            </a:r>
          </a:p>
          <a:p>
            <a:pPr algn="just" eaLnBrk="1" hangingPunct="1">
              <a:buClrTx/>
              <a:buFont typeface="Wingdings" panose="05000000000000000000" pitchFamily="2" charset="2"/>
              <a:buChar char="v"/>
            </a:pPr>
            <a:r>
              <a:rPr lang="en-US" altLang="en-US" dirty="0"/>
              <a:t>Social applications</a:t>
            </a:r>
          </a:p>
        </p:txBody>
      </p:sp>
      <p:sp>
        <p:nvSpPr>
          <p:cNvPr id="9"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368467901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pPr eaLnBrk="1" hangingPunct="1">
              <a:defRPr/>
            </a:pPr>
            <a:r>
              <a:rPr lang="en-GB" dirty="0"/>
              <a:t>Computer Networks Definition</a:t>
            </a:r>
            <a:endParaRPr lang="en-US" dirty="0"/>
          </a:p>
        </p:txBody>
      </p:sp>
      <p:sp>
        <p:nvSpPr>
          <p:cNvPr id="20483" name="Rectangle 3"/>
          <p:cNvSpPr>
            <a:spLocks noGrp="1" noChangeArrowheads="1"/>
          </p:cNvSpPr>
          <p:nvPr>
            <p:ph idx="1"/>
          </p:nvPr>
        </p:nvSpPr>
        <p:spPr>
          <a:xfrm>
            <a:off x="1762540" y="1600201"/>
            <a:ext cx="8772939" cy="4530725"/>
          </a:xfrm>
        </p:spPr>
        <p:txBody>
          <a:bodyPr/>
          <a:lstStyle/>
          <a:p>
            <a:pPr algn="just" eaLnBrk="1" hangingPunct="1">
              <a:buClrTx/>
              <a:buFont typeface="Wingdings" panose="05000000000000000000" pitchFamily="2" charset="2"/>
              <a:buChar char="§"/>
            </a:pPr>
            <a:r>
              <a:rPr lang="en-US" altLang="en-US" dirty="0"/>
              <a:t>Connection of two or more computing devices in order to share resources.</a:t>
            </a:r>
          </a:p>
          <a:p>
            <a:pPr algn="just" eaLnBrk="1" hangingPunct="1">
              <a:buClrTx/>
              <a:buFont typeface="Wingdings" panose="05000000000000000000" pitchFamily="2" charset="2"/>
              <a:buChar char="§"/>
            </a:pPr>
            <a:r>
              <a:rPr lang="en-US" altLang="en-US" dirty="0"/>
              <a:t>Devices are connected by transmission media and channels, and are guided by a set of rules for communication purposes that allow users to communicate with each other and share resources.</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133959040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pPr eaLnBrk="1" hangingPunct="1">
              <a:defRPr/>
            </a:pPr>
            <a:r>
              <a:rPr lang="en-GB" dirty="0"/>
              <a:t>Uses: Business Applications</a:t>
            </a:r>
            <a:endParaRPr lang="en-US" dirty="0"/>
          </a:p>
        </p:txBody>
      </p:sp>
      <p:sp>
        <p:nvSpPr>
          <p:cNvPr id="20483" name="Rectangle 3"/>
          <p:cNvSpPr>
            <a:spLocks noGrp="1" noChangeArrowheads="1"/>
          </p:cNvSpPr>
          <p:nvPr>
            <p:ph idx="1"/>
          </p:nvPr>
        </p:nvSpPr>
        <p:spPr>
          <a:xfrm>
            <a:off x="1762540" y="1600201"/>
            <a:ext cx="8772939" cy="4530725"/>
          </a:xfrm>
        </p:spPr>
        <p:txBody>
          <a:bodyPr/>
          <a:lstStyle/>
          <a:p>
            <a:pPr algn="just" eaLnBrk="1" hangingPunct="1">
              <a:buClrTx/>
              <a:buFont typeface="Wingdings" panose="05000000000000000000" pitchFamily="2" charset="2"/>
              <a:buChar char="§"/>
            </a:pPr>
            <a:r>
              <a:rPr lang="en-US" altLang="en-US" dirty="0"/>
              <a:t>Resource sharing</a:t>
            </a:r>
          </a:p>
          <a:p>
            <a:pPr algn="just" eaLnBrk="1" hangingPunct="1">
              <a:buClrTx/>
              <a:buFont typeface="Wingdings" panose="05000000000000000000" pitchFamily="2" charset="2"/>
              <a:buChar char="§"/>
            </a:pPr>
            <a:r>
              <a:rPr lang="en-US" altLang="en-US" dirty="0"/>
              <a:t>Communication</a:t>
            </a:r>
          </a:p>
          <a:p>
            <a:pPr algn="just" eaLnBrk="1" hangingPunct="1">
              <a:buClrTx/>
              <a:buFont typeface="Wingdings" panose="05000000000000000000" pitchFamily="2" charset="2"/>
              <a:buChar char="§"/>
            </a:pPr>
            <a:r>
              <a:rPr lang="en-US" altLang="en-US" dirty="0"/>
              <a:t>Buying and Selling online (E-commerce)</a:t>
            </a:r>
          </a:p>
          <a:p>
            <a:pPr algn="just" eaLnBrk="1" hangingPunct="1">
              <a:buClrTx/>
              <a:buFont typeface="Wingdings" panose="05000000000000000000" pitchFamily="2" charset="2"/>
              <a:buChar char="§"/>
            </a:pPr>
            <a:r>
              <a:rPr lang="en-US" altLang="en-US" dirty="0"/>
              <a:t>Online Transaction Processing</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6057953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pPr eaLnBrk="1" hangingPunct="1">
              <a:defRPr/>
            </a:pPr>
            <a:r>
              <a:rPr lang="en-GB" dirty="0"/>
              <a:t>Uses: Home Applications</a:t>
            </a:r>
            <a:endParaRPr lang="en-US" dirty="0"/>
          </a:p>
        </p:txBody>
      </p:sp>
      <p:sp>
        <p:nvSpPr>
          <p:cNvPr id="20483" name="Rectangle 3"/>
          <p:cNvSpPr>
            <a:spLocks noGrp="1" noChangeArrowheads="1"/>
          </p:cNvSpPr>
          <p:nvPr>
            <p:ph idx="1"/>
          </p:nvPr>
        </p:nvSpPr>
        <p:spPr>
          <a:xfrm>
            <a:off x="1762540" y="1600201"/>
            <a:ext cx="8772939" cy="4530725"/>
          </a:xfrm>
        </p:spPr>
        <p:txBody>
          <a:bodyPr/>
          <a:lstStyle/>
          <a:p>
            <a:pPr eaLnBrk="1" hangingPunct="1">
              <a:buClrTx/>
              <a:buFont typeface="Wingdings" panose="05000000000000000000" pitchFamily="2" charset="2"/>
              <a:buChar char="§"/>
            </a:pPr>
            <a:r>
              <a:rPr lang="en-US" altLang="en-US" dirty="0"/>
              <a:t>Personal communication</a:t>
            </a:r>
          </a:p>
          <a:p>
            <a:pPr eaLnBrk="1" hangingPunct="1">
              <a:buClrTx/>
              <a:buFont typeface="Wingdings" panose="05000000000000000000" pitchFamily="2" charset="2"/>
              <a:buChar char="§"/>
            </a:pPr>
            <a:r>
              <a:rPr lang="en-US" altLang="en-US" dirty="0"/>
              <a:t>Entertainment</a:t>
            </a:r>
          </a:p>
          <a:p>
            <a:pPr eaLnBrk="1" hangingPunct="1">
              <a:buClrTx/>
              <a:buFont typeface="Wingdings" panose="05000000000000000000" pitchFamily="2" charset="2"/>
              <a:buChar char="§"/>
            </a:pPr>
            <a:r>
              <a:rPr lang="en-US" altLang="en-US" dirty="0"/>
              <a:t>Security</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34159500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pPr eaLnBrk="1" hangingPunct="1">
              <a:defRPr/>
            </a:pPr>
            <a:r>
              <a:rPr lang="en-GB" dirty="0"/>
              <a:t>Uses: Mobile Applications</a:t>
            </a:r>
            <a:endParaRPr lang="en-US" dirty="0"/>
          </a:p>
        </p:txBody>
      </p:sp>
      <p:sp>
        <p:nvSpPr>
          <p:cNvPr id="20483" name="Rectangle 3"/>
          <p:cNvSpPr>
            <a:spLocks noGrp="1" noChangeArrowheads="1"/>
          </p:cNvSpPr>
          <p:nvPr>
            <p:ph idx="1"/>
          </p:nvPr>
        </p:nvSpPr>
        <p:spPr>
          <a:xfrm>
            <a:off x="1524001" y="1205949"/>
            <a:ext cx="9143999" cy="5247861"/>
          </a:xfrm>
        </p:spPr>
        <p:txBody>
          <a:bodyPr/>
          <a:lstStyle/>
          <a:p>
            <a:pPr algn="just" eaLnBrk="1" hangingPunct="1">
              <a:buClrTx/>
              <a:buFont typeface="Wingdings" panose="05000000000000000000" pitchFamily="2" charset="2"/>
              <a:buChar char="§"/>
            </a:pPr>
            <a:r>
              <a:rPr lang="en-US" altLang="en-US" dirty="0"/>
              <a:t>Global Positioning System (GPS):</a:t>
            </a:r>
          </a:p>
          <a:p>
            <a:pPr lvl="1" algn="just" eaLnBrk="1" hangingPunct="1">
              <a:buClrTx/>
              <a:buFont typeface="Wingdings" panose="05000000000000000000" pitchFamily="2" charset="2"/>
              <a:buChar char="ü"/>
            </a:pPr>
            <a:r>
              <a:rPr lang="en-US" altLang="en-US" dirty="0"/>
              <a:t>Mobile maps to search for locations and geo-tagging.</a:t>
            </a:r>
          </a:p>
          <a:p>
            <a:pPr lvl="1" algn="just" eaLnBrk="1" hangingPunct="1">
              <a:buClrTx/>
              <a:buFont typeface="Wingdings" panose="05000000000000000000" pitchFamily="2" charset="2"/>
              <a:buChar char="ü"/>
            </a:pPr>
            <a:r>
              <a:rPr lang="en-US" altLang="en-US" dirty="0"/>
              <a:t>Vehicle Tracking Systems</a:t>
            </a:r>
          </a:p>
          <a:p>
            <a:pPr lvl="1" algn="just" eaLnBrk="1" hangingPunct="1">
              <a:buClrTx/>
              <a:buFont typeface="Wingdings" panose="05000000000000000000" pitchFamily="2" charset="2"/>
              <a:buChar char="ü"/>
            </a:pPr>
            <a:r>
              <a:rPr lang="en-US" altLang="en-US" dirty="0"/>
              <a:t>Taxis and Trucks (to charge for rentals and hiring)</a:t>
            </a:r>
          </a:p>
          <a:p>
            <a:pPr algn="just" eaLnBrk="1" hangingPunct="1">
              <a:buClrTx/>
              <a:buFont typeface="Wingdings" panose="05000000000000000000" pitchFamily="2" charset="2"/>
              <a:buChar char="§"/>
            </a:pPr>
            <a:r>
              <a:rPr lang="en-US" altLang="en-US" dirty="0"/>
              <a:t>Cellular Networks:</a:t>
            </a:r>
          </a:p>
          <a:p>
            <a:pPr lvl="1" algn="just" eaLnBrk="1" hangingPunct="1">
              <a:buClrTx/>
              <a:buFont typeface="Wingdings" panose="05000000000000000000" pitchFamily="2" charset="2"/>
              <a:buChar char="ü"/>
            </a:pPr>
            <a:r>
              <a:rPr lang="en-US" altLang="en-US" dirty="0"/>
              <a:t>Communication</a:t>
            </a:r>
          </a:p>
          <a:p>
            <a:pPr lvl="1" algn="just" eaLnBrk="1" hangingPunct="1">
              <a:buClrTx/>
              <a:buFont typeface="Wingdings" panose="05000000000000000000" pitchFamily="2" charset="2"/>
              <a:buChar char="ü"/>
            </a:pPr>
            <a:r>
              <a:rPr lang="en-US" altLang="en-US" dirty="0"/>
              <a:t>Connecting to remote computers, etc.</a:t>
            </a:r>
          </a:p>
          <a:p>
            <a:pPr algn="just" eaLnBrk="1" hangingPunct="1">
              <a:buClrTx/>
              <a:buFont typeface="Wingdings" panose="05000000000000000000" pitchFamily="2" charset="2"/>
              <a:buChar char="§"/>
            </a:pPr>
            <a:r>
              <a:rPr lang="en-US" altLang="en-US" dirty="0"/>
              <a:t>Mobile Phones:</a:t>
            </a:r>
          </a:p>
          <a:p>
            <a:pPr lvl="1" algn="just" eaLnBrk="1" hangingPunct="1">
              <a:buClrTx/>
              <a:buFont typeface="Wingdings" panose="05000000000000000000" pitchFamily="2" charset="2"/>
              <a:buChar char="ü"/>
            </a:pPr>
            <a:r>
              <a:rPr lang="en-US" altLang="en-US" dirty="0"/>
              <a:t>Texting through SMSs</a:t>
            </a:r>
          </a:p>
          <a:p>
            <a:pPr lvl="1" algn="just" eaLnBrk="1" hangingPunct="1">
              <a:buClrTx/>
              <a:buFont typeface="Wingdings" panose="05000000000000000000" pitchFamily="2" charset="2"/>
              <a:buChar char="ü"/>
            </a:pPr>
            <a:r>
              <a:rPr lang="en-US" altLang="en-US" dirty="0"/>
              <a:t>Calling, etc.</a:t>
            </a:r>
          </a:p>
          <a:p>
            <a:pPr algn="just" eaLnBrk="1" hangingPunct="1">
              <a:buClrTx/>
              <a:buFont typeface="Wingdings" panose="05000000000000000000" pitchFamily="2" charset="2"/>
              <a:buChar char="§"/>
            </a:pPr>
            <a:endParaRPr lang="en-US" altLang="en-US" dirty="0"/>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245746517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pPr eaLnBrk="1" hangingPunct="1">
              <a:defRPr/>
            </a:pPr>
            <a:r>
              <a:rPr lang="en-GB" dirty="0"/>
              <a:t>Uses: Mobile Applications</a:t>
            </a:r>
            <a:endParaRPr lang="en-US" dirty="0"/>
          </a:p>
        </p:txBody>
      </p:sp>
      <p:sp>
        <p:nvSpPr>
          <p:cNvPr id="20483" name="Rectangle 3"/>
          <p:cNvSpPr>
            <a:spLocks noGrp="1" noChangeArrowheads="1"/>
          </p:cNvSpPr>
          <p:nvPr>
            <p:ph idx="1"/>
          </p:nvPr>
        </p:nvSpPr>
        <p:spPr>
          <a:xfrm>
            <a:off x="1762540" y="1348408"/>
            <a:ext cx="8772939" cy="5257800"/>
          </a:xfrm>
        </p:spPr>
        <p:txBody>
          <a:bodyPr/>
          <a:lstStyle/>
          <a:p>
            <a:pPr algn="just" eaLnBrk="1" hangingPunct="1">
              <a:buClrTx/>
              <a:buFont typeface="Wingdings" panose="05000000000000000000" pitchFamily="2" charset="2"/>
              <a:buChar char="§"/>
            </a:pPr>
            <a:r>
              <a:rPr lang="en-US" altLang="en-US" dirty="0"/>
              <a:t>Smart Phones:</a:t>
            </a:r>
          </a:p>
          <a:p>
            <a:pPr lvl="1" algn="just" eaLnBrk="1" hangingPunct="1">
              <a:buClrTx/>
              <a:buFont typeface="Wingdings" panose="05000000000000000000" pitchFamily="2" charset="2"/>
              <a:buChar char="ü"/>
            </a:pPr>
            <a:r>
              <a:rPr lang="en-US" altLang="en-US" dirty="0"/>
              <a:t>Fast data services</a:t>
            </a:r>
          </a:p>
          <a:p>
            <a:pPr lvl="1" algn="just" eaLnBrk="1" hangingPunct="1">
              <a:buClrTx/>
              <a:buFont typeface="Wingdings" panose="05000000000000000000" pitchFamily="2" charset="2"/>
              <a:buChar char="ü"/>
            </a:pPr>
            <a:r>
              <a:rPr lang="en-US" altLang="en-US" dirty="0"/>
              <a:t>Advanced handling of phone calls.</a:t>
            </a:r>
          </a:p>
          <a:p>
            <a:pPr algn="just" eaLnBrk="1" hangingPunct="1">
              <a:buClrTx/>
              <a:buFont typeface="Wingdings" panose="05000000000000000000" pitchFamily="2" charset="2"/>
              <a:buChar char="§"/>
            </a:pPr>
            <a:r>
              <a:rPr lang="en-US" altLang="en-US" dirty="0"/>
              <a:t>Wireless Hotspots:</a:t>
            </a:r>
          </a:p>
          <a:p>
            <a:pPr lvl="1" algn="just" eaLnBrk="1" hangingPunct="1">
              <a:buClrTx/>
              <a:buFont typeface="Wingdings" panose="05000000000000000000" pitchFamily="2" charset="2"/>
              <a:buChar char="ü"/>
            </a:pPr>
            <a:r>
              <a:rPr lang="en-US" altLang="en-US" dirty="0"/>
              <a:t>Provide internet access in public places like Hotels, Airports, Coffee shops, etc.</a:t>
            </a:r>
          </a:p>
          <a:p>
            <a:pPr algn="just" eaLnBrk="1" hangingPunct="1">
              <a:buClrTx/>
              <a:buFont typeface="Wingdings" panose="05000000000000000000" pitchFamily="2" charset="2"/>
              <a:buChar char="§"/>
            </a:pPr>
            <a:r>
              <a:rPr lang="en-US" altLang="en-US" dirty="0"/>
              <a:t>Military:</a:t>
            </a:r>
          </a:p>
          <a:p>
            <a:pPr lvl="1" algn="just" eaLnBrk="1" hangingPunct="1">
              <a:buClrTx/>
              <a:buFont typeface="Wingdings" panose="05000000000000000000" pitchFamily="2" charset="2"/>
              <a:buChar char="ü"/>
            </a:pPr>
            <a:r>
              <a:rPr lang="en-US" altLang="en-US" dirty="0"/>
              <a:t>Installing own networks instead of relying on local network for the enemy for security purposes.</a:t>
            </a:r>
          </a:p>
          <a:p>
            <a:pPr algn="just" eaLnBrk="1" hangingPunct="1">
              <a:buClrTx/>
              <a:buFont typeface="Wingdings" panose="05000000000000000000" pitchFamily="2" charset="2"/>
              <a:buChar char="§"/>
            </a:pPr>
            <a:endParaRPr lang="en-US" altLang="en-US" dirty="0"/>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17838306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pPr eaLnBrk="1" hangingPunct="1">
              <a:defRPr/>
            </a:pPr>
            <a:r>
              <a:rPr lang="en-GB" dirty="0"/>
              <a:t>Uses: Mobile Applications</a:t>
            </a:r>
            <a:endParaRPr lang="en-US" dirty="0"/>
          </a:p>
        </p:txBody>
      </p:sp>
      <p:sp>
        <p:nvSpPr>
          <p:cNvPr id="20483" name="Rectangle 3"/>
          <p:cNvSpPr>
            <a:spLocks noGrp="1" noChangeArrowheads="1"/>
          </p:cNvSpPr>
          <p:nvPr>
            <p:ph idx="1"/>
          </p:nvPr>
        </p:nvSpPr>
        <p:spPr>
          <a:xfrm>
            <a:off x="1765855" y="1355034"/>
            <a:ext cx="8772939" cy="5257800"/>
          </a:xfrm>
        </p:spPr>
        <p:txBody>
          <a:bodyPr/>
          <a:lstStyle/>
          <a:p>
            <a:pPr algn="just" eaLnBrk="1" hangingPunct="1">
              <a:buClrTx/>
              <a:buFont typeface="Wingdings" panose="05000000000000000000" pitchFamily="2" charset="2"/>
              <a:buChar char="§"/>
            </a:pPr>
            <a:r>
              <a:rPr lang="en-US" altLang="en-US" dirty="0"/>
              <a:t>Mobile Commerce:</a:t>
            </a:r>
          </a:p>
          <a:p>
            <a:pPr lvl="1" algn="just" eaLnBrk="1" hangingPunct="1">
              <a:buClrTx/>
              <a:buFont typeface="Wingdings" panose="05000000000000000000" pitchFamily="2" charset="2"/>
              <a:buChar char="ü"/>
            </a:pPr>
            <a:r>
              <a:rPr lang="en-US" altLang="en-US" dirty="0"/>
              <a:t>Vending machines</a:t>
            </a:r>
          </a:p>
          <a:p>
            <a:pPr lvl="1" algn="just" eaLnBrk="1" hangingPunct="1">
              <a:buClrTx/>
              <a:buFont typeface="Wingdings" panose="05000000000000000000" pitchFamily="2" charset="2"/>
              <a:buChar char="ü"/>
            </a:pPr>
            <a:r>
              <a:rPr lang="en-US" altLang="en-US" dirty="0"/>
              <a:t>Movie tickets.</a:t>
            </a:r>
          </a:p>
          <a:p>
            <a:pPr algn="just" eaLnBrk="1" hangingPunct="1">
              <a:buClrTx/>
              <a:buFont typeface="Wingdings" panose="05000000000000000000" pitchFamily="2" charset="2"/>
              <a:buChar char="§"/>
            </a:pPr>
            <a:r>
              <a:rPr lang="en-US" altLang="en-US" dirty="0"/>
              <a:t>Sensor Networks:</a:t>
            </a:r>
          </a:p>
          <a:p>
            <a:pPr lvl="1" algn="just" eaLnBrk="1" hangingPunct="1">
              <a:buClrTx/>
              <a:buFont typeface="Wingdings" panose="05000000000000000000" pitchFamily="2" charset="2"/>
              <a:buChar char="ü"/>
            </a:pPr>
            <a:r>
              <a:rPr lang="en-US" altLang="en-US" dirty="0"/>
              <a:t>For example, your car might gather data on its location, speed, vibration, and fuel efficiency from its on-board diagnostic system and upload this information to a database. This data can help find potholes, plan trips around congested roads, and tell you if you are a ‘‘gas guzzler’’ compared to other drivers on the same stretch of road.</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314583502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pPr eaLnBrk="1" hangingPunct="1">
              <a:defRPr/>
            </a:pPr>
            <a:r>
              <a:rPr lang="en-GB" dirty="0"/>
              <a:t>Uses: Mobile Applications</a:t>
            </a:r>
            <a:endParaRPr lang="en-US" dirty="0"/>
          </a:p>
        </p:txBody>
      </p:sp>
      <p:sp>
        <p:nvSpPr>
          <p:cNvPr id="20483" name="Rectangle 3"/>
          <p:cNvSpPr>
            <a:spLocks noGrp="1" noChangeArrowheads="1"/>
          </p:cNvSpPr>
          <p:nvPr>
            <p:ph idx="1"/>
          </p:nvPr>
        </p:nvSpPr>
        <p:spPr>
          <a:xfrm>
            <a:off x="1762540" y="1348408"/>
            <a:ext cx="8772939" cy="5257800"/>
          </a:xfrm>
        </p:spPr>
        <p:txBody>
          <a:bodyPr/>
          <a:lstStyle/>
          <a:p>
            <a:pPr algn="just" eaLnBrk="1" hangingPunct="1">
              <a:buClrTx/>
              <a:buFont typeface="Wingdings" panose="05000000000000000000" pitchFamily="2" charset="2"/>
              <a:buChar char="§"/>
            </a:pPr>
            <a:r>
              <a:rPr lang="en-US" altLang="en-US" dirty="0"/>
              <a:t>Wearable computers:</a:t>
            </a:r>
          </a:p>
          <a:p>
            <a:pPr lvl="1" algn="just" eaLnBrk="1" hangingPunct="1">
              <a:buClrTx/>
              <a:buFont typeface="Wingdings" panose="05000000000000000000" pitchFamily="2" charset="2"/>
              <a:buChar char="ü"/>
            </a:pPr>
            <a:r>
              <a:rPr lang="en-US" altLang="en-US" dirty="0"/>
              <a:t>Such as smart watches, pacemakers, and insulin pumps.</a:t>
            </a:r>
          </a:p>
          <a:p>
            <a:pPr algn="just" eaLnBrk="1" hangingPunct="1">
              <a:buClrTx/>
              <a:buFont typeface="Wingdings" panose="05000000000000000000" pitchFamily="2" charset="2"/>
              <a:buChar char="§"/>
            </a:pPr>
            <a:r>
              <a:rPr lang="en-US" altLang="en-US" dirty="0"/>
              <a:t>Handheld computers:</a:t>
            </a:r>
          </a:p>
          <a:p>
            <a:pPr lvl="1" algn="just" eaLnBrk="1" hangingPunct="1">
              <a:buClrTx/>
              <a:buFont typeface="Wingdings" panose="05000000000000000000" pitchFamily="2" charset="2"/>
              <a:buChar char="ü"/>
            </a:pPr>
            <a:r>
              <a:rPr lang="en-US" altLang="en-US" dirty="0"/>
              <a:t>Inventory Management</a:t>
            </a:r>
          </a:p>
          <a:p>
            <a:pPr lvl="1" algn="just" eaLnBrk="1" hangingPunct="1">
              <a:buClrTx/>
              <a:buFont typeface="Wingdings" panose="05000000000000000000" pitchFamily="2" charset="2"/>
              <a:buChar char="ü"/>
            </a:pPr>
            <a:r>
              <a:rPr lang="en-US" altLang="en-US" dirty="0"/>
              <a:t>Stock Management</a:t>
            </a:r>
          </a:p>
          <a:p>
            <a:pPr algn="just" eaLnBrk="1" hangingPunct="1">
              <a:buClrTx/>
              <a:buFont typeface="Wingdings" panose="05000000000000000000" pitchFamily="2" charset="2"/>
              <a:buChar char="§"/>
            </a:pPr>
            <a:endParaRPr lang="en-US" altLang="en-US" dirty="0"/>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9463747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pPr eaLnBrk="1" hangingPunct="1">
              <a:defRPr/>
            </a:pPr>
            <a:r>
              <a:rPr lang="en-GB" dirty="0"/>
              <a:t>Uses: Social or Personal Life</a:t>
            </a:r>
            <a:endParaRPr lang="en-US" dirty="0"/>
          </a:p>
        </p:txBody>
      </p:sp>
      <p:sp>
        <p:nvSpPr>
          <p:cNvPr id="20483" name="Rectangle 3"/>
          <p:cNvSpPr>
            <a:spLocks noGrp="1" noChangeArrowheads="1"/>
          </p:cNvSpPr>
          <p:nvPr>
            <p:ph idx="1"/>
          </p:nvPr>
        </p:nvSpPr>
        <p:spPr>
          <a:xfrm>
            <a:off x="1762540" y="1600201"/>
            <a:ext cx="8772939" cy="4530725"/>
          </a:xfrm>
        </p:spPr>
        <p:txBody>
          <a:bodyPr/>
          <a:lstStyle/>
          <a:p>
            <a:pPr eaLnBrk="1" hangingPunct="1">
              <a:buClrTx/>
              <a:buFont typeface="Wingdings" panose="05000000000000000000" pitchFamily="2" charset="2"/>
              <a:buChar char="§"/>
            </a:pPr>
            <a:r>
              <a:rPr lang="en-US" altLang="en-US" dirty="0"/>
              <a:t>Online Dating</a:t>
            </a:r>
          </a:p>
          <a:p>
            <a:pPr eaLnBrk="1" hangingPunct="1">
              <a:buClrTx/>
              <a:buFont typeface="Wingdings" panose="05000000000000000000" pitchFamily="2" charset="2"/>
              <a:buChar char="§"/>
            </a:pPr>
            <a:endParaRPr lang="en-US" altLang="en-US" dirty="0"/>
          </a:p>
          <a:p>
            <a:pPr eaLnBrk="1" hangingPunct="1">
              <a:buClrTx/>
              <a:buFont typeface="Wingdings" panose="05000000000000000000" pitchFamily="2" charset="2"/>
              <a:buChar char="§"/>
            </a:pPr>
            <a:r>
              <a:rPr lang="en-US" altLang="en-US" dirty="0"/>
              <a:t>Social Networking</a:t>
            </a:r>
          </a:p>
          <a:p>
            <a:pPr eaLnBrk="1" hangingPunct="1">
              <a:buClrTx/>
              <a:buFont typeface="Wingdings" panose="05000000000000000000" pitchFamily="2" charset="2"/>
              <a:buChar char="§"/>
            </a:pPr>
            <a:endParaRPr lang="en-US" altLang="en-US" dirty="0"/>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21530759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026"/>
          <p:cNvSpPr>
            <a:spLocks noGrp="1" noChangeArrowheads="1"/>
          </p:cNvSpPr>
          <p:nvPr>
            <p:ph type="ctrTitle"/>
          </p:nvPr>
        </p:nvSpPr>
        <p:spPr>
          <a:xfrm>
            <a:off x="1952897" y="2861446"/>
            <a:ext cx="7772400" cy="838200"/>
          </a:xfrm>
        </p:spPr>
        <p:txBody>
          <a:bodyPr>
            <a:normAutofit fontScale="90000"/>
          </a:bodyPr>
          <a:lstStyle/>
          <a:p>
            <a:pPr algn="ctr" eaLnBrk="1" hangingPunct="1">
              <a:defRPr/>
            </a:pPr>
            <a:r>
              <a:rPr lang="en-US" sz="4800" dirty="0"/>
              <a:t>TOPIC 2:</a:t>
            </a:r>
            <a:br>
              <a:rPr lang="en-US" sz="4800" dirty="0"/>
            </a:br>
            <a:r>
              <a:rPr lang="en-US" sz="4800" dirty="0"/>
              <a:t/>
            </a:r>
            <a:br>
              <a:rPr lang="en-US" sz="4800" dirty="0"/>
            </a:br>
            <a:r>
              <a:rPr lang="en-US" sz="4800" dirty="0"/>
              <a:t>Telecommunication Systems</a:t>
            </a:r>
            <a:endParaRPr lang="en-US" sz="4800" dirty="0">
              <a:solidFill>
                <a:srgbClr val="3333FF"/>
              </a:solidFill>
            </a:endParaRPr>
          </a:p>
        </p:txBody>
      </p:sp>
      <p:sp>
        <p:nvSpPr>
          <p:cNvPr id="7"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244463602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pPr eaLnBrk="1" hangingPunct="1">
              <a:defRPr/>
            </a:pPr>
            <a:r>
              <a:rPr lang="en-GB" dirty="0"/>
              <a:t>Learning Outcomes</a:t>
            </a:r>
            <a:endParaRPr lang="en-US" dirty="0"/>
          </a:p>
        </p:txBody>
      </p:sp>
      <p:sp>
        <p:nvSpPr>
          <p:cNvPr id="20483" name="Rectangle 3"/>
          <p:cNvSpPr>
            <a:spLocks noGrp="1" noChangeArrowheads="1"/>
          </p:cNvSpPr>
          <p:nvPr>
            <p:ph idx="1"/>
          </p:nvPr>
        </p:nvSpPr>
        <p:spPr>
          <a:xfrm>
            <a:off x="1762540" y="1600201"/>
            <a:ext cx="8772939" cy="4530725"/>
          </a:xfrm>
        </p:spPr>
        <p:txBody>
          <a:bodyPr/>
          <a:lstStyle/>
          <a:p>
            <a:pPr algn="just" eaLnBrk="1" hangingPunct="1">
              <a:buClrTx/>
              <a:buFont typeface="Wingdings" panose="05000000000000000000" pitchFamily="2" charset="2"/>
              <a:buChar char="v"/>
            </a:pPr>
            <a:r>
              <a:rPr lang="en-US" altLang="en-US" dirty="0"/>
              <a:t>Components and functions of telecommunication systems</a:t>
            </a:r>
          </a:p>
          <a:p>
            <a:pPr algn="just" eaLnBrk="1" hangingPunct="1">
              <a:buClrTx/>
              <a:buFont typeface="Wingdings" panose="05000000000000000000" pitchFamily="2" charset="2"/>
              <a:buChar char="v"/>
            </a:pPr>
            <a:r>
              <a:rPr lang="en-US" altLang="en-US" dirty="0"/>
              <a:t>Data Transmission Modes</a:t>
            </a:r>
          </a:p>
          <a:p>
            <a:pPr algn="just" eaLnBrk="1" hangingPunct="1">
              <a:buClrTx/>
              <a:buFont typeface="Wingdings" panose="05000000000000000000" pitchFamily="2" charset="2"/>
              <a:buChar char="v"/>
            </a:pPr>
            <a:r>
              <a:rPr lang="en-US" altLang="en-US" dirty="0"/>
              <a:t>Communication networks</a:t>
            </a:r>
          </a:p>
          <a:p>
            <a:pPr algn="just" eaLnBrk="1" hangingPunct="1">
              <a:buClrTx/>
              <a:buFont typeface="Wingdings" panose="05000000000000000000" pitchFamily="2" charset="2"/>
              <a:buChar char="v"/>
            </a:pPr>
            <a:r>
              <a:rPr lang="en-US" altLang="en-US" dirty="0"/>
              <a:t>Network hardware</a:t>
            </a:r>
          </a:p>
          <a:p>
            <a:pPr algn="just" eaLnBrk="1" hangingPunct="1">
              <a:buClrTx/>
              <a:buFont typeface="Wingdings" panose="05000000000000000000" pitchFamily="2" charset="2"/>
              <a:buChar char="v"/>
            </a:pPr>
            <a:r>
              <a:rPr lang="en-US" altLang="en-US" dirty="0"/>
              <a:t>Network topologies</a:t>
            </a:r>
          </a:p>
          <a:p>
            <a:pPr algn="just" eaLnBrk="1" hangingPunct="1">
              <a:buClrTx/>
              <a:buFont typeface="Wingdings" panose="05000000000000000000" pitchFamily="2" charset="2"/>
              <a:buChar char="v"/>
            </a:pPr>
            <a:r>
              <a:rPr lang="en-US" altLang="en-US" dirty="0"/>
              <a:t>Private branch exchange</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12614655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pPr eaLnBrk="1" hangingPunct="1">
              <a:defRPr/>
            </a:pPr>
            <a:r>
              <a:rPr lang="en-GB" dirty="0"/>
              <a:t>Communication</a:t>
            </a:r>
            <a:endParaRPr lang="en-US" dirty="0"/>
          </a:p>
        </p:txBody>
      </p:sp>
      <p:sp>
        <p:nvSpPr>
          <p:cNvPr id="20483" name="Rectangle 3"/>
          <p:cNvSpPr>
            <a:spLocks noGrp="1" noChangeArrowheads="1"/>
          </p:cNvSpPr>
          <p:nvPr>
            <p:ph idx="1"/>
          </p:nvPr>
        </p:nvSpPr>
        <p:spPr/>
        <p:txBody>
          <a:bodyPr>
            <a:normAutofit/>
          </a:bodyPr>
          <a:lstStyle/>
          <a:p>
            <a:pPr algn="just" eaLnBrk="1" hangingPunct="1">
              <a:buClrTx/>
              <a:buFont typeface="Wingdings" panose="05000000000000000000" pitchFamily="2" charset="2"/>
              <a:buChar char="§"/>
            </a:pPr>
            <a:r>
              <a:rPr lang="en-US" altLang="en-US" dirty="0"/>
              <a:t>Communication is the exchange of information between a sender and a receiver.</a:t>
            </a:r>
          </a:p>
          <a:p>
            <a:pPr algn="just" eaLnBrk="1" hangingPunct="1">
              <a:buClrTx/>
              <a:buFont typeface="Wingdings" panose="05000000000000000000" pitchFamily="2" charset="2"/>
              <a:buChar char="§"/>
            </a:pPr>
            <a:endParaRPr lang="en-US" altLang="en-US" dirty="0"/>
          </a:p>
          <a:p>
            <a:pPr algn="just" eaLnBrk="1" hangingPunct="1">
              <a:buClrTx/>
              <a:buFont typeface="Wingdings" panose="05000000000000000000" pitchFamily="2" charset="2"/>
              <a:buChar char="§"/>
            </a:pPr>
            <a:r>
              <a:rPr lang="en-US" altLang="en-US" dirty="0"/>
              <a:t>Communication can be done locally (face to face), or remotely (over a distance).</a:t>
            </a:r>
          </a:p>
          <a:p>
            <a:pPr algn="just" eaLnBrk="1" hangingPunct="1">
              <a:buClrTx/>
              <a:buFont typeface="Wingdings" panose="05000000000000000000" pitchFamily="2" charset="2"/>
              <a:buChar char="§"/>
            </a:pPr>
            <a:endParaRPr lang="en-US" altLang="en-US" dirty="0"/>
          </a:p>
          <a:p>
            <a:pPr algn="just" eaLnBrk="1" hangingPunct="1">
              <a:buClrTx/>
              <a:buFont typeface="Wingdings" panose="05000000000000000000" pitchFamily="2" charset="2"/>
              <a:buChar char="§"/>
            </a:pPr>
            <a:r>
              <a:rPr lang="en-US" altLang="en-US" dirty="0"/>
              <a:t>On the other hand, data communication is the transmission of a signal by way of a medium from a sender to a receiver.</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78773407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pPr eaLnBrk="1" hangingPunct="1">
              <a:defRPr/>
            </a:pPr>
            <a:r>
              <a:rPr lang="en-GB" dirty="0"/>
              <a:t>Telecommunication</a:t>
            </a:r>
            <a:endParaRPr lang="en-US" dirty="0"/>
          </a:p>
        </p:txBody>
      </p:sp>
      <p:sp>
        <p:nvSpPr>
          <p:cNvPr id="20483" name="Rectangle 3"/>
          <p:cNvSpPr>
            <a:spLocks noGrp="1" noChangeArrowheads="1"/>
          </p:cNvSpPr>
          <p:nvPr>
            <p:ph idx="1"/>
          </p:nvPr>
        </p:nvSpPr>
        <p:spPr>
          <a:xfrm>
            <a:off x="1683026" y="1600201"/>
            <a:ext cx="8839200" cy="4530725"/>
          </a:xfrm>
        </p:spPr>
        <p:txBody>
          <a:bodyPr/>
          <a:lstStyle/>
          <a:p>
            <a:pPr eaLnBrk="1" hangingPunct="1">
              <a:buClrTx/>
              <a:buFont typeface="Wingdings" panose="05000000000000000000" pitchFamily="2" charset="2"/>
              <a:buChar char="§"/>
            </a:pPr>
            <a:r>
              <a:rPr lang="en-US" altLang="en-US" dirty="0"/>
              <a:t>The term telecommunication is used to refer to communication that takes place between two devices located far from each other.</a:t>
            </a:r>
          </a:p>
          <a:p>
            <a:pPr eaLnBrk="1" hangingPunct="1">
              <a:buClrTx/>
              <a:buFont typeface="Wingdings" panose="05000000000000000000" pitchFamily="2" charset="2"/>
              <a:buChar char="§"/>
            </a:pPr>
            <a:r>
              <a:rPr lang="en-US" altLang="en-US" dirty="0"/>
              <a:t>Tele is a Greek word for “Far”</a:t>
            </a:r>
          </a:p>
          <a:p>
            <a:pPr eaLnBrk="1" hangingPunct="1">
              <a:buClrTx/>
              <a:buFont typeface="Wingdings" panose="05000000000000000000" pitchFamily="2" charset="2"/>
              <a:buChar char="§"/>
            </a:pPr>
            <a:r>
              <a:rPr lang="en-US" altLang="en-US" dirty="0"/>
              <a:t>A telecommunication system allows distant communication using electrical signals or electromagnetic waves and some basic components to support the system.</a:t>
            </a:r>
          </a:p>
          <a:p>
            <a:pPr eaLnBrk="1" hangingPunct="1">
              <a:buClrTx/>
              <a:buFont typeface="Wingdings" panose="05000000000000000000" pitchFamily="2" charset="2"/>
              <a:buChar char="§"/>
            </a:pPr>
            <a:r>
              <a:rPr lang="en-US" altLang="en-US" dirty="0"/>
              <a:t>Examples include telephone, telegraph and television.</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403268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p:txBody>
          <a:bodyPr>
            <a:normAutofit/>
          </a:bodyPr>
          <a:lstStyle/>
          <a:p>
            <a:pPr eaLnBrk="1" hangingPunct="1">
              <a:defRPr/>
            </a:pPr>
            <a:r>
              <a:rPr lang="en-US" dirty="0"/>
              <a:t>Components and Functions of Telecommunication Systems</a:t>
            </a:r>
          </a:p>
        </p:txBody>
      </p:sp>
      <p:sp>
        <p:nvSpPr>
          <p:cNvPr id="36867" name="Rectangle 3"/>
          <p:cNvSpPr>
            <a:spLocks noGrp="1" noChangeArrowheads="1"/>
          </p:cNvSpPr>
          <p:nvPr>
            <p:ph idx="1"/>
          </p:nvPr>
        </p:nvSpPr>
        <p:spPr>
          <a:xfrm>
            <a:off x="1524000" y="1507436"/>
            <a:ext cx="9144000" cy="5257800"/>
          </a:xfrm>
        </p:spPr>
        <p:txBody>
          <a:bodyPr>
            <a:normAutofit fontScale="92500"/>
          </a:bodyPr>
          <a:lstStyle/>
          <a:p>
            <a:pPr algn="just" eaLnBrk="1" hangingPunct="1">
              <a:buClrTx/>
              <a:buFont typeface="Wingdings" panose="05000000000000000000" pitchFamily="2" charset="2"/>
              <a:buChar char="§"/>
            </a:pPr>
            <a:r>
              <a:rPr lang="en-US" altLang="en-US" sz="2400" dirty="0"/>
              <a:t>Sender:</a:t>
            </a:r>
          </a:p>
          <a:p>
            <a:pPr lvl="1" algn="just" eaLnBrk="1" hangingPunct="1">
              <a:buClrTx/>
              <a:buFont typeface="Wingdings" panose="05000000000000000000" pitchFamily="2" charset="2"/>
              <a:buChar char="ü"/>
            </a:pPr>
            <a:r>
              <a:rPr lang="en-US" altLang="en-US" sz="2100" dirty="0"/>
              <a:t>Device that originates, or generates information transfer to one or more receivers. Takes in information and converts it to a signal ready for transmission.</a:t>
            </a:r>
          </a:p>
          <a:p>
            <a:pPr algn="just" eaLnBrk="1" hangingPunct="1">
              <a:buClrTx/>
              <a:buFont typeface="Wingdings" panose="05000000000000000000" pitchFamily="2" charset="2"/>
              <a:buChar char="§"/>
            </a:pPr>
            <a:r>
              <a:rPr lang="en-US" altLang="en-US" sz="2400" dirty="0"/>
              <a:t>Channel:</a:t>
            </a:r>
          </a:p>
          <a:p>
            <a:pPr lvl="1" algn="just" eaLnBrk="1" hangingPunct="1">
              <a:buClrTx/>
              <a:buFont typeface="Wingdings" panose="05000000000000000000" pitchFamily="2" charset="2"/>
              <a:buChar char="ü"/>
            </a:pPr>
            <a:r>
              <a:rPr lang="en-US" altLang="en-US" sz="2100" dirty="0"/>
              <a:t>Physical path by which a message travels from the sender to the receiver, e.g. twisted pair cable, coaxial cable, fiber-optic, radio waves, etc.</a:t>
            </a:r>
          </a:p>
          <a:p>
            <a:pPr algn="just" eaLnBrk="1" hangingPunct="1">
              <a:buClrTx/>
              <a:buFont typeface="Wingdings" panose="05000000000000000000" pitchFamily="2" charset="2"/>
              <a:buChar char="§"/>
            </a:pPr>
            <a:r>
              <a:rPr lang="en-US" altLang="en-US" sz="2400" dirty="0"/>
              <a:t>Receiver:</a:t>
            </a:r>
          </a:p>
          <a:p>
            <a:pPr lvl="1" algn="just" eaLnBrk="1" hangingPunct="1">
              <a:buClrTx/>
              <a:buFont typeface="Wingdings" panose="05000000000000000000" pitchFamily="2" charset="2"/>
              <a:buChar char="ü"/>
            </a:pPr>
            <a:r>
              <a:rPr lang="en-US" altLang="en-US" sz="2100" dirty="0"/>
              <a:t>Takes the signal from the channel and converts it back into usable information. Receives the signal or message coming from the sender.</a:t>
            </a:r>
          </a:p>
          <a:p>
            <a:pPr algn="just" eaLnBrk="1" hangingPunct="1">
              <a:buClrTx/>
              <a:buFont typeface="Wingdings" panose="05000000000000000000" pitchFamily="2" charset="2"/>
              <a:buChar char="§"/>
            </a:pPr>
            <a:r>
              <a:rPr lang="en-US" altLang="en-US" sz="2400" dirty="0"/>
              <a:t>Multiplexer (MUX):</a:t>
            </a:r>
          </a:p>
          <a:p>
            <a:pPr lvl="1" algn="just" eaLnBrk="1" hangingPunct="1">
              <a:buClrTx/>
              <a:buFont typeface="Wingdings" panose="05000000000000000000" pitchFamily="2" charset="2"/>
              <a:buChar char="ü"/>
            </a:pPr>
            <a:r>
              <a:rPr lang="en-US" altLang="en-US" sz="2100" dirty="0"/>
              <a:t>Can receive multiple input signals and combine them into a single output signal in a recoverable manner for each input signal.</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413045400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p:txBody>
          <a:bodyPr/>
          <a:lstStyle/>
          <a:p>
            <a:pPr eaLnBrk="1" hangingPunct="1">
              <a:defRPr/>
            </a:pPr>
            <a:r>
              <a:rPr lang="en-GB" dirty="0"/>
              <a:t>Data Transmission Modes</a:t>
            </a:r>
            <a:endParaRPr lang="en-US" dirty="0"/>
          </a:p>
        </p:txBody>
      </p:sp>
      <p:graphicFrame>
        <p:nvGraphicFramePr>
          <p:cNvPr id="21508" name="Object 8"/>
          <p:cNvGraphicFramePr>
            <a:graphicFrameLocks noGrp="1" noChangeAspect="1"/>
          </p:cNvGraphicFramePr>
          <p:nvPr>
            <p:ph idx="1"/>
          </p:nvPr>
        </p:nvGraphicFramePr>
        <p:xfrm>
          <a:off x="2274888" y="3500438"/>
          <a:ext cx="5400675" cy="1200150"/>
        </p:xfrm>
        <a:graphic>
          <a:graphicData uri="http://schemas.openxmlformats.org/presentationml/2006/ole">
            <mc:AlternateContent xmlns:mc="http://schemas.openxmlformats.org/markup-compatibility/2006">
              <mc:Choice xmlns:v="urn:schemas-microsoft-com:vml" Requires="v">
                <p:oleObj spid="_x0000_s1027" name="Bitmap Image" r:id="rId3" imgW="5401429" imgH="1200318" progId="Paint.Picture">
                  <p:embed/>
                </p:oleObj>
              </mc:Choice>
              <mc:Fallback>
                <p:oleObj name="Bitmap Image" r:id="rId3" imgW="5401429" imgH="1200318" progId="Paint.Picture">
                  <p:embed/>
                  <p:pic>
                    <p:nvPicPr>
                      <p:cNvPr id="21508"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4888" y="3500438"/>
                        <a:ext cx="5400675"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
        <p:nvSpPr>
          <p:cNvPr id="21507" name="Rectangle 3"/>
          <p:cNvSpPr>
            <a:spLocks noGrp="1" noChangeArrowheads="1"/>
          </p:cNvSpPr>
          <p:nvPr>
            <p:ph type="body" idx="4294967295"/>
          </p:nvPr>
        </p:nvSpPr>
        <p:spPr>
          <a:xfrm>
            <a:off x="0" y="1600200"/>
            <a:ext cx="8229600" cy="4865688"/>
          </a:xfrm>
        </p:spPr>
        <p:txBody>
          <a:bodyPr/>
          <a:lstStyle/>
          <a:p>
            <a:pPr algn="just" eaLnBrk="1" hangingPunct="1">
              <a:buClrTx/>
              <a:buFont typeface="Wingdings" panose="05000000000000000000" pitchFamily="2" charset="2"/>
              <a:buChar char="§"/>
            </a:pPr>
            <a:r>
              <a:rPr lang="en-US" altLang="en-US" dirty="0"/>
              <a:t>Simplex (one way street)</a:t>
            </a:r>
          </a:p>
          <a:p>
            <a:pPr lvl="1" algn="just" eaLnBrk="1" hangingPunct="1">
              <a:buClr>
                <a:schemeClr val="tx2"/>
              </a:buClr>
              <a:buSzPct val="60000"/>
              <a:buFont typeface="Wingdings" panose="05000000000000000000" pitchFamily="2" charset="2"/>
              <a:buChar char="ü"/>
            </a:pPr>
            <a:r>
              <a:rPr lang="en-GB" altLang="en-US" dirty="0"/>
              <a:t>The communication is unidirectional</a:t>
            </a:r>
          </a:p>
          <a:p>
            <a:pPr lvl="1" algn="just" eaLnBrk="1" hangingPunct="1">
              <a:buClr>
                <a:schemeClr val="tx2"/>
              </a:buClr>
              <a:buSzPct val="60000"/>
              <a:buFont typeface="Wingdings" panose="05000000000000000000" pitchFamily="2" charset="2"/>
              <a:buChar char="ü"/>
            </a:pPr>
            <a:r>
              <a:rPr lang="en-GB" altLang="en-US" dirty="0"/>
              <a:t>Only one device on a link can transmit; the other can only receive</a:t>
            </a:r>
          </a:p>
          <a:p>
            <a:pPr lvl="1" algn="just" eaLnBrk="1" hangingPunct="1">
              <a:buClr>
                <a:schemeClr val="tx2"/>
              </a:buClr>
              <a:buSzPct val="60000"/>
              <a:buFont typeface="Wingdings" panose="05000000000000000000" pitchFamily="2" charset="2"/>
              <a:buChar char="ü"/>
            </a:pPr>
            <a:r>
              <a:rPr lang="en-GB" altLang="en-US" dirty="0"/>
              <a:t>Use the entire capacity of the channel to send data</a:t>
            </a:r>
          </a:p>
          <a:p>
            <a:pPr lvl="1" algn="just" eaLnBrk="1" hangingPunct="1">
              <a:buClr>
                <a:schemeClr val="tx2"/>
              </a:buClr>
              <a:buSzPct val="60000"/>
              <a:buFont typeface="Wingdings" panose="05000000000000000000" pitchFamily="2" charset="2"/>
              <a:buChar char="ü"/>
            </a:pPr>
            <a:r>
              <a:rPr lang="en-GB" altLang="en-US" dirty="0"/>
              <a:t>Example: Keyboards, Monitors</a:t>
            </a:r>
            <a:endParaRPr lang="en-US" altLang="en-US" dirty="0"/>
          </a:p>
        </p:txBody>
      </p:sp>
      <p:sp>
        <p:nvSpPr>
          <p:cNvPr id="156687" name="Rectangle 15"/>
          <p:cNvSpPr>
            <a:spLocks noChangeArrowheads="1"/>
          </p:cNvSpPr>
          <p:nvPr/>
        </p:nvSpPr>
        <p:spPr bwMode="auto">
          <a:xfrm>
            <a:off x="3886200" y="5257800"/>
            <a:ext cx="609600" cy="304800"/>
          </a:xfrm>
          <a:prstGeom prst="rect">
            <a:avLst/>
          </a:prstGeom>
          <a:solidFill>
            <a:srgbClr val="CC0000"/>
          </a:solidFill>
          <a:ln w="9525">
            <a:solidFill>
              <a:schemeClr val="tx1"/>
            </a:solidFill>
            <a:miter lim="800000"/>
            <a:headEnd/>
            <a:tailEnd/>
          </a:ln>
        </p:spPr>
        <p:txBody>
          <a:bodyPr wrap="none" lIns="92075" tIns="46038" rIns="92075" bIns="46038"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ClrTx/>
              <a:buFontTx/>
              <a:buNone/>
            </a:pPr>
            <a:r>
              <a:rPr lang="en-US" altLang="en-US" sz="1800" b="1">
                <a:solidFill>
                  <a:schemeClr val="bg1"/>
                </a:solidFill>
              </a:rPr>
              <a:t>Data</a:t>
            </a:r>
          </a:p>
        </p:txBody>
      </p:sp>
    </p:spTree>
    <p:extLst>
      <p:ext uri="{BB962C8B-B14F-4D97-AF65-F5344CB8AC3E}">
        <p14:creationId xmlns:p14="http://schemas.microsoft.com/office/powerpoint/2010/main" val="38052956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63" presetClass="path" presetSubtype="0" repeatCount="indefinite" accel="50000" decel="50000" fill="hold" grpId="0" nodeType="afterEffect">
                                  <p:stCondLst>
                                    <p:cond delay="5000"/>
                                  </p:stCondLst>
                                  <p:childTnLst>
                                    <p:animMotion origin="layout" path="M 3.33333E-6 3.395E-6 L 0.45833 3.395E-6 " pathEditMode="relative" rAng="0" ptsTypes="AA">
                                      <p:cBhvr>
                                        <p:cTn id="6" dur="5000" fill="hold"/>
                                        <p:tgtEl>
                                          <p:spTgt spid="156687"/>
                                        </p:tgtEl>
                                        <p:attrNameLst>
                                          <p:attrName>ppt_x</p:attrName>
                                          <p:attrName>ppt_y</p:attrName>
                                        </p:attrNameLst>
                                      </p:cBhvr>
                                      <p:rCtr x="2291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8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p:txBody>
          <a:bodyPr/>
          <a:lstStyle/>
          <a:p>
            <a:pPr eaLnBrk="1" hangingPunct="1">
              <a:defRPr/>
            </a:pPr>
            <a:r>
              <a:rPr lang="en-GB" dirty="0"/>
              <a:t>Data Transmission Modes Cont’d</a:t>
            </a:r>
            <a:endParaRPr lang="en-US" dirty="0"/>
          </a:p>
        </p:txBody>
      </p:sp>
      <p:graphicFrame>
        <p:nvGraphicFramePr>
          <p:cNvPr id="22532" name="Object 5"/>
          <p:cNvGraphicFramePr>
            <a:graphicFrameLocks noGrp="1" noChangeAspect="1"/>
          </p:cNvGraphicFramePr>
          <p:nvPr>
            <p:ph idx="1"/>
            <p:extLst/>
          </p:nvPr>
        </p:nvGraphicFramePr>
        <p:xfrm>
          <a:off x="2274888" y="3671888"/>
          <a:ext cx="5400675" cy="857250"/>
        </p:xfrm>
        <a:graphic>
          <a:graphicData uri="http://schemas.openxmlformats.org/presentationml/2006/ole">
            <mc:AlternateContent xmlns:mc="http://schemas.openxmlformats.org/markup-compatibility/2006">
              <mc:Choice xmlns:v="urn:schemas-microsoft-com:vml" Requires="v">
                <p:oleObj spid="_x0000_s2051" name="Bitmap Image" r:id="rId3" imgW="5401429" imgH="857143" progId="Paint.Picture">
                  <p:embed/>
                </p:oleObj>
              </mc:Choice>
              <mc:Fallback>
                <p:oleObj name="Bitmap Image" r:id="rId3" imgW="5401429" imgH="857143" progId="Paint.Picture">
                  <p:embed/>
                  <p:pic>
                    <p:nvPicPr>
                      <p:cNvPr id="22532"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4888" y="3671888"/>
                        <a:ext cx="5400675"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
        <p:nvSpPr>
          <p:cNvPr id="22531" name="Rectangle 3"/>
          <p:cNvSpPr>
            <a:spLocks noGrp="1" noChangeArrowheads="1"/>
          </p:cNvSpPr>
          <p:nvPr>
            <p:ph type="body" idx="4294967295"/>
          </p:nvPr>
        </p:nvSpPr>
        <p:spPr>
          <a:xfrm>
            <a:off x="0" y="1600200"/>
            <a:ext cx="8229600" cy="5013325"/>
          </a:xfrm>
        </p:spPr>
        <p:txBody>
          <a:bodyPr/>
          <a:lstStyle/>
          <a:p>
            <a:pPr algn="just" eaLnBrk="1" hangingPunct="1">
              <a:buClrTx/>
              <a:buFont typeface="Wingdings" panose="05000000000000000000" pitchFamily="2" charset="2"/>
              <a:buChar char="§"/>
            </a:pPr>
            <a:r>
              <a:rPr lang="en-GB" altLang="en-US" dirty="0"/>
              <a:t>Half-Duplex (one-lane with two-directional traffic)</a:t>
            </a:r>
            <a:endParaRPr lang="en-US" altLang="en-US" dirty="0"/>
          </a:p>
          <a:p>
            <a:pPr lvl="1" algn="just" eaLnBrk="1" hangingPunct="1">
              <a:buClrTx/>
              <a:buSzPct val="60000"/>
              <a:buFont typeface="Wingdings" panose="05000000000000000000" pitchFamily="2" charset="2"/>
              <a:buChar char="ü"/>
            </a:pPr>
            <a:r>
              <a:rPr lang="en-GB" altLang="en-US" dirty="0"/>
              <a:t>Each station can both transmit and receive, but not at the same time</a:t>
            </a:r>
          </a:p>
          <a:p>
            <a:pPr lvl="1" algn="just" eaLnBrk="1" hangingPunct="1">
              <a:buClrTx/>
              <a:buSzPct val="60000"/>
              <a:buFont typeface="Wingdings" panose="05000000000000000000" pitchFamily="2" charset="2"/>
              <a:buChar char="ü"/>
            </a:pPr>
            <a:r>
              <a:rPr lang="en-GB" altLang="en-US" dirty="0"/>
              <a:t>When one device is sending, the other can only receive, and vice versa</a:t>
            </a:r>
          </a:p>
          <a:p>
            <a:pPr lvl="1" algn="just" eaLnBrk="1" hangingPunct="1">
              <a:buClrTx/>
              <a:buSzPct val="60000"/>
              <a:buFont typeface="Wingdings" panose="05000000000000000000" pitchFamily="2" charset="2"/>
              <a:buChar char="ü"/>
            </a:pPr>
            <a:r>
              <a:rPr lang="en-GB" altLang="en-US" dirty="0"/>
              <a:t>The entire capacity of a channel is taken over by the transmitting device</a:t>
            </a:r>
          </a:p>
          <a:p>
            <a:pPr lvl="1" algn="just" eaLnBrk="1" hangingPunct="1">
              <a:buClrTx/>
              <a:buSzPct val="60000"/>
              <a:buFont typeface="Wingdings" panose="05000000000000000000" pitchFamily="2" charset="2"/>
              <a:buChar char="ü"/>
            </a:pPr>
            <a:r>
              <a:rPr lang="en-GB" altLang="en-US" dirty="0"/>
              <a:t>Example: Walkie-talkies</a:t>
            </a:r>
          </a:p>
        </p:txBody>
      </p:sp>
      <p:sp>
        <p:nvSpPr>
          <p:cNvPr id="161799" name="Rectangle 7"/>
          <p:cNvSpPr>
            <a:spLocks noChangeArrowheads="1"/>
          </p:cNvSpPr>
          <p:nvPr/>
        </p:nvSpPr>
        <p:spPr bwMode="auto">
          <a:xfrm>
            <a:off x="3962400" y="5410200"/>
            <a:ext cx="609600" cy="304800"/>
          </a:xfrm>
          <a:prstGeom prst="rect">
            <a:avLst/>
          </a:prstGeom>
          <a:solidFill>
            <a:srgbClr val="CC0000"/>
          </a:solidFill>
          <a:ln w="9525">
            <a:solidFill>
              <a:schemeClr val="tx1"/>
            </a:solidFill>
            <a:miter lim="800000"/>
            <a:headEnd/>
            <a:tailEnd/>
          </a:ln>
        </p:spPr>
        <p:txBody>
          <a:bodyPr wrap="none" lIns="92075" tIns="46038" rIns="92075" bIns="46038"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ClrTx/>
              <a:buFontTx/>
              <a:buNone/>
            </a:pPr>
            <a:r>
              <a:rPr lang="en-US" altLang="en-US" sz="1800" b="1">
                <a:solidFill>
                  <a:schemeClr val="bg1"/>
                </a:solidFill>
              </a:rPr>
              <a:t>Data</a:t>
            </a:r>
          </a:p>
        </p:txBody>
      </p:sp>
      <p:sp>
        <p:nvSpPr>
          <p:cNvPr id="161800" name="Rectangle 8"/>
          <p:cNvSpPr>
            <a:spLocks noChangeArrowheads="1"/>
          </p:cNvSpPr>
          <p:nvPr/>
        </p:nvSpPr>
        <p:spPr bwMode="auto">
          <a:xfrm>
            <a:off x="7620000" y="5867404"/>
            <a:ext cx="609600" cy="304800"/>
          </a:xfrm>
          <a:prstGeom prst="rect">
            <a:avLst/>
          </a:prstGeom>
          <a:solidFill>
            <a:srgbClr val="3333FF"/>
          </a:solidFill>
          <a:ln w="9525">
            <a:solidFill>
              <a:schemeClr val="tx1"/>
            </a:solidFill>
            <a:miter lim="800000"/>
            <a:headEnd/>
            <a:tailEnd/>
          </a:ln>
        </p:spPr>
        <p:txBody>
          <a:bodyPr wrap="none" lIns="92075" tIns="46038" rIns="92075" bIns="46038"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ClrTx/>
              <a:buFontTx/>
              <a:buNone/>
            </a:pPr>
            <a:r>
              <a:rPr lang="en-US" altLang="en-US" sz="1800" b="1">
                <a:solidFill>
                  <a:schemeClr val="bg1"/>
                </a:solidFill>
              </a:rPr>
              <a:t>Data</a:t>
            </a:r>
          </a:p>
        </p:txBody>
      </p:sp>
    </p:spTree>
    <p:extLst>
      <p:ext uri="{BB962C8B-B14F-4D97-AF65-F5344CB8AC3E}">
        <p14:creationId xmlns:p14="http://schemas.microsoft.com/office/powerpoint/2010/main" val="10294651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63" presetClass="path" presetSubtype="0" repeatCount="indefinite" accel="50000" decel="50000" fill="hold" grpId="0" nodeType="afterEffect">
                                  <p:stCondLst>
                                    <p:cond delay="5000"/>
                                  </p:stCondLst>
                                  <p:endCondLst>
                                    <p:cond evt="onNext" delay="0">
                                      <p:tgtEl>
                                        <p:sldTgt/>
                                      </p:tgtEl>
                                    </p:cond>
                                  </p:endCondLst>
                                  <p:childTnLst>
                                    <p:animMotion origin="layout" path="M 5.55112E-17 -7.77058E-7 L 0.425 -7.77058E-7 " pathEditMode="relative" rAng="0" ptsTypes="AA">
                                      <p:cBhvr>
                                        <p:cTn id="6" dur="5000" fill="hold"/>
                                        <p:tgtEl>
                                          <p:spTgt spid="161799"/>
                                        </p:tgtEl>
                                        <p:attrNameLst>
                                          <p:attrName>ppt_x</p:attrName>
                                          <p:attrName>ppt_y</p:attrName>
                                        </p:attrNameLst>
                                      </p:cBhvr>
                                      <p:rCtr x="21250" y="0"/>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61799"/>
                                        </p:tgtEl>
                                        <p:attrNameLst>
                                          <p:attrName>style.visibility</p:attrName>
                                        </p:attrNameLst>
                                      </p:cBhvr>
                                      <p:to>
                                        <p:strVal val="hidden"/>
                                      </p:to>
                                    </p:set>
                                  </p:childTnLst>
                                </p:cTn>
                              </p:par>
                            </p:childTnLst>
                          </p:cTn>
                        </p:par>
                        <p:par>
                          <p:cTn id="11" fill="hold" nodeType="afterGroup">
                            <p:stCondLst>
                              <p:cond delay="0"/>
                            </p:stCondLst>
                            <p:childTnLst>
                              <p:par>
                                <p:cTn id="12" presetID="35" presetClass="path" presetSubtype="0" repeatCount="indefinite" accel="50000" decel="50000" fill="hold" grpId="0" nodeType="afterEffect">
                                  <p:stCondLst>
                                    <p:cond delay="0"/>
                                  </p:stCondLst>
                                  <p:childTnLst>
                                    <p:animMotion origin="layout" path="M 0 8.97317E-7 L -0.40833 8.97317E-7 " pathEditMode="relative" rAng="0" ptsTypes="AA">
                                      <p:cBhvr>
                                        <p:cTn id="13" dur="5000" fill="hold"/>
                                        <p:tgtEl>
                                          <p:spTgt spid="161800"/>
                                        </p:tgtEl>
                                        <p:attrNameLst>
                                          <p:attrName>ppt_x</p:attrName>
                                          <p:attrName>ppt_y</p:attrName>
                                        </p:attrNameLst>
                                      </p:cBhvr>
                                      <p:rCtr x="-2041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9" grpId="0" animBg="1"/>
      <p:bldP spid="161799" grpId="1" animBg="1"/>
      <p:bldP spid="16180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p:txBody>
          <a:bodyPr/>
          <a:lstStyle/>
          <a:p>
            <a:pPr eaLnBrk="1" hangingPunct="1">
              <a:defRPr/>
            </a:pPr>
            <a:r>
              <a:rPr lang="en-GB" dirty="0"/>
              <a:t>Data Transmission Modes Cont’d</a:t>
            </a:r>
            <a:endParaRPr lang="en-US" dirty="0"/>
          </a:p>
        </p:txBody>
      </p:sp>
      <p:graphicFrame>
        <p:nvGraphicFramePr>
          <p:cNvPr id="23556" name="Object 5"/>
          <p:cNvGraphicFramePr>
            <a:graphicFrameLocks noGrp="1" noChangeAspect="1"/>
          </p:cNvGraphicFramePr>
          <p:nvPr>
            <p:ph idx="1"/>
            <p:extLst/>
          </p:nvPr>
        </p:nvGraphicFramePr>
        <p:xfrm>
          <a:off x="2319338" y="3716338"/>
          <a:ext cx="5314950" cy="771525"/>
        </p:xfrm>
        <a:graphic>
          <a:graphicData uri="http://schemas.openxmlformats.org/presentationml/2006/ole">
            <mc:AlternateContent xmlns:mc="http://schemas.openxmlformats.org/markup-compatibility/2006">
              <mc:Choice xmlns:v="urn:schemas-microsoft-com:vml" Requires="v">
                <p:oleObj spid="_x0000_s3075" name="Bitmap Image" r:id="rId3" imgW="5315692" imgH="771429" progId="Paint.Picture">
                  <p:embed/>
                </p:oleObj>
              </mc:Choice>
              <mc:Fallback>
                <p:oleObj name="Bitmap Image" r:id="rId3" imgW="5315692" imgH="771429" progId="Paint.Picture">
                  <p:embed/>
                  <p:pic>
                    <p:nvPicPr>
                      <p:cNvPr id="23556"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9338" y="3716338"/>
                        <a:ext cx="5314950" cy="77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
        <p:nvSpPr>
          <p:cNvPr id="23555" name="Rectangle 3"/>
          <p:cNvSpPr>
            <a:spLocks noGrp="1" noChangeArrowheads="1"/>
          </p:cNvSpPr>
          <p:nvPr>
            <p:ph type="body" idx="4294967295"/>
          </p:nvPr>
        </p:nvSpPr>
        <p:spPr>
          <a:xfrm>
            <a:off x="0" y="1825625"/>
            <a:ext cx="10515600" cy="4351338"/>
          </a:xfrm>
        </p:spPr>
        <p:txBody>
          <a:bodyPr/>
          <a:lstStyle/>
          <a:p>
            <a:pPr algn="just" eaLnBrk="1" hangingPunct="1">
              <a:buClrTx/>
              <a:buFont typeface="Wingdings" panose="05000000000000000000" pitchFamily="2" charset="2"/>
              <a:buChar char="§"/>
            </a:pPr>
            <a:r>
              <a:rPr lang="en-GB" altLang="en-US" dirty="0"/>
              <a:t>Full-Duplex (Duplex) (two-way street)</a:t>
            </a:r>
            <a:endParaRPr lang="en-US" altLang="en-US" dirty="0"/>
          </a:p>
          <a:p>
            <a:pPr lvl="1" algn="just" eaLnBrk="1" hangingPunct="1">
              <a:buClrTx/>
              <a:buSzPct val="60000"/>
              <a:buFont typeface="Wingdings" panose="05000000000000000000" pitchFamily="2" charset="2"/>
              <a:buChar char="ü"/>
            </a:pPr>
            <a:r>
              <a:rPr lang="en-GB" altLang="en-US" sz="2200" dirty="0"/>
              <a:t>Both stations can transmit and receive at same time</a:t>
            </a:r>
          </a:p>
          <a:p>
            <a:pPr lvl="1" algn="just" eaLnBrk="1" hangingPunct="1">
              <a:buClrTx/>
              <a:buSzPct val="60000"/>
              <a:buFont typeface="Wingdings" panose="05000000000000000000" pitchFamily="2" charset="2"/>
              <a:buChar char="ü"/>
            </a:pPr>
            <a:r>
              <a:rPr lang="en-GB" altLang="en-US" sz="2200" dirty="0"/>
              <a:t>Signals going in either direction sharing the capacity of the link</a:t>
            </a:r>
          </a:p>
          <a:p>
            <a:pPr lvl="1" algn="just" eaLnBrk="1" hangingPunct="1">
              <a:buClrTx/>
              <a:buSzPct val="60000"/>
              <a:buFont typeface="Wingdings" panose="05000000000000000000" pitchFamily="2" charset="2"/>
              <a:buChar char="ü"/>
            </a:pPr>
            <a:r>
              <a:rPr lang="en-GB" altLang="en-US" sz="2200" dirty="0"/>
              <a:t>Sharing can occur in two ways:</a:t>
            </a:r>
          </a:p>
          <a:p>
            <a:pPr lvl="2" algn="just" eaLnBrk="1" hangingPunct="1">
              <a:buClr>
                <a:schemeClr val="tx2"/>
              </a:buClr>
              <a:buSzPct val="60000"/>
              <a:buFont typeface="Courier New" panose="02070309020205020404" pitchFamily="49" charset="0"/>
              <a:buChar char="o"/>
            </a:pPr>
            <a:r>
              <a:rPr lang="en-GB" altLang="en-US" sz="1800" dirty="0"/>
              <a:t>Link has two physically separate transmission paths</a:t>
            </a:r>
          </a:p>
          <a:p>
            <a:pPr lvl="2" algn="just" eaLnBrk="1" hangingPunct="1">
              <a:buClr>
                <a:schemeClr val="tx2"/>
              </a:buClr>
              <a:buSzPct val="60000"/>
              <a:buFont typeface="Courier New" panose="02070309020205020404" pitchFamily="49" charset="0"/>
              <a:buChar char="o"/>
            </a:pPr>
            <a:r>
              <a:rPr lang="en-GB" altLang="en-US" sz="1800" dirty="0"/>
              <a:t>One for sending and the other for receiving</a:t>
            </a:r>
          </a:p>
          <a:p>
            <a:pPr lvl="2" algn="just" eaLnBrk="1" hangingPunct="1">
              <a:buClr>
                <a:schemeClr val="tx2"/>
              </a:buClr>
              <a:buSzPct val="60000"/>
              <a:buFont typeface="Courier New" panose="02070309020205020404" pitchFamily="49" charset="0"/>
              <a:buChar char="o"/>
            </a:pPr>
            <a:r>
              <a:rPr lang="en-GB" altLang="en-US" sz="1800" dirty="0"/>
              <a:t>The capacity of the channel is divided between signals travelling in both directions</a:t>
            </a:r>
          </a:p>
          <a:p>
            <a:pPr lvl="2" algn="just" eaLnBrk="1" hangingPunct="1">
              <a:buClr>
                <a:schemeClr val="tx2"/>
              </a:buClr>
              <a:buSzPct val="60000"/>
              <a:buFont typeface="Courier New" panose="02070309020205020404" pitchFamily="49" charset="0"/>
              <a:buChar char="o"/>
            </a:pPr>
            <a:r>
              <a:rPr lang="en-GB" altLang="en-US" sz="1800" dirty="0"/>
              <a:t>Example: Telephone network</a:t>
            </a:r>
          </a:p>
        </p:txBody>
      </p:sp>
      <p:sp>
        <p:nvSpPr>
          <p:cNvPr id="164872" name="Rectangle 8"/>
          <p:cNvSpPr>
            <a:spLocks noChangeArrowheads="1"/>
          </p:cNvSpPr>
          <p:nvPr/>
        </p:nvSpPr>
        <p:spPr bwMode="auto">
          <a:xfrm>
            <a:off x="3962400" y="5443335"/>
            <a:ext cx="609600" cy="304800"/>
          </a:xfrm>
          <a:prstGeom prst="rect">
            <a:avLst/>
          </a:prstGeom>
          <a:solidFill>
            <a:srgbClr val="CC0000"/>
          </a:solidFill>
          <a:ln w="9525">
            <a:solidFill>
              <a:schemeClr val="tx1"/>
            </a:solidFill>
            <a:miter lim="800000"/>
            <a:headEnd/>
            <a:tailEnd/>
          </a:ln>
        </p:spPr>
        <p:txBody>
          <a:bodyPr wrap="none" lIns="92075" tIns="46038" rIns="92075" bIns="46038"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ClrTx/>
              <a:buFontTx/>
              <a:buNone/>
            </a:pPr>
            <a:r>
              <a:rPr lang="en-US" altLang="en-US" sz="1800" b="1" dirty="0">
                <a:solidFill>
                  <a:schemeClr val="bg1"/>
                </a:solidFill>
              </a:rPr>
              <a:t>Data</a:t>
            </a:r>
          </a:p>
        </p:txBody>
      </p:sp>
      <p:sp>
        <p:nvSpPr>
          <p:cNvPr id="164873" name="Rectangle 9"/>
          <p:cNvSpPr>
            <a:spLocks noChangeArrowheads="1"/>
          </p:cNvSpPr>
          <p:nvPr/>
        </p:nvSpPr>
        <p:spPr bwMode="auto">
          <a:xfrm>
            <a:off x="7620000" y="5973417"/>
            <a:ext cx="609600" cy="304800"/>
          </a:xfrm>
          <a:prstGeom prst="rect">
            <a:avLst/>
          </a:prstGeom>
          <a:solidFill>
            <a:srgbClr val="3333FF"/>
          </a:solidFill>
          <a:ln w="9525">
            <a:solidFill>
              <a:schemeClr val="tx1"/>
            </a:solidFill>
            <a:miter lim="800000"/>
            <a:headEnd/>
            <a:tailEnd/>
          </a:ln>
        </p:spPr>
        <p:txBody>
          <a:bodyPr wrap="none" lIns="92075" tIns="46038" rIns="92075" bIns="46038" anchor="ct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1"/>
              </a:buClr>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rtl="1" eaLnBrk="1" hangingPunct="1">
              <a:spcBef>
                <a:spcPct val="0"/>
              </a:spcBef>
              <a:buClrTx/>
              <a:buFontTx/>
              <a:buNone/>
            </a:pPr>
            <a:r>
              <a:rPr lang="en-US" altLang="en-US" sz="1800" b="1">
                <a:solidFill>
                  <a:schemeClr val="bg1"/>
                </a:solidFill>
              </a:rPr>
              <a:t>Data</a:t>
            </a:r>
          </a:p>
        </p:txBody>
      </p:sp>
    </p:spTree>
    <p:extLst>
      <p:ext uri="{BB962C8B-B14F-4D97-AF65-F5344CB8AC3E}">
        <p14:creationId xmlns:p14="http://schemas.microsoft.com/office/powerpoint/2010/main" val="22421193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63" presetClass="path" presetSubtype="0" repeatCount="indefinite" accel="50000" decel="50000" fill="hold" grpId="0" nodeType="afterEffect">
                                  <p:stCondLst>
                                    <p:cond delay="5000"/>
                                  </p:stCondLst>
                                  <p:childTnLst>
                                    <p:animMotion origin="layout" path="M 5.55112E-17 -7.77058E-7 L 0.425 -7.77058E-7 " pathEditMode="relative" rAng="0" ptsTypes="AA">
                                      <p:cBhvr>
                                        <p:cTn id="6" dur="3000" fill="hold"/>
                                        <p:tgtEl>
                                          <p:spTgt spid="164872"/>
                                        </p:tgtEl>
                                        <p:attrNameLst>
                                          <p:attrName>ppt_x</p:attrName>
                                          <p:attrName>ppt_y</p:attrName>
                                        </p:attrNameLst>
                                      </p:cBhvr>
                                      <p:rCtr x="21250" y="0"/>
                                    </p:animMotion>
                                  </p:childTnLst>
                                </p:cTn>
                              </p:par>
                              <p:par>
                                <p:cTn id="7" presetID="35" presetClass="path" presetSubtype="0" repeatCount="indefinite" accel="50000" decel="50000" fill="hold" grpId="0" nodeType="withEffect">
                                  <p:stCondLst>
                                    <p:cond delay="5000"/>
                                  </p:stCondLst>
                                  <p:childTnLst>
                                    <p:animMotion origin="layout" path="M 0 -2.43293E-6 L -0.40833 -2.43293E-6 " pathEditMode="relative" rAng="0" ptsTypes="AA">
                                      <p:cBhvr>
                                        <p:cTn id="8" dur="3000" fill="hold"/>
                                        <p:tgtEl>
                                          <p:spTgt spid="164873"/>
                                        </p:tgtEl>
                                        <p:attrNameLst>
                                          <p:attrName>ppt_x</p:attrName>
                                          <p:attrName>ppt_y</p:attrName>
                                        </p:attrNameLst>
                                      </p:cBhvr>
                                      <p:rCtr x="-2041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72" grpId="0" animBg="1"/>
      <p:bldP spid="16487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p:txBody>
          <a:bodyPr/>
          <a:lstStyle/>
          <a:p>
            <a:pPr eaLnBrk="1" hangingPunct="1"/>
            <a:r>
              <a:rPr lang="en-US" altLang="en-US" sz="4000" dirty="0"/>
              <a:t>Communication Networks</a:t>
            </a:r>
          </a:p>
        </p:txBody>
      </p:sp>
      <p:sp>
        <p:nvSpPr>
          <p:cNvPr id="36867" name="Rectangle 3"/>
          <p:cNvSpPr>
            <a:spLocks noGrp="1" noChangeArrowheads="1"/>
          </p:cNvSpPr>
          <p:nvPr>
            <p:ph idx="1"/>
          </p:nvPr>
        </p:nvSpPr>
        <p:spPr/>
        <p:txBody>
          <a:bodyPr/>
          <a:lstStyle/>
          <a:p>
            <a:pPr algn="just" eaLnBrk="1" hangingPunct="1">
              <a:buClrTx/>
              <a:buFont typeface="Wingdings" panose="05000000000000000000" pitchFamily="2" charset="2"/>
              <a:buChar char="§"/>
            </a:pPr>
            <a:r>
              <a:rPr lang="en-US" altLang="en-US" sz="2600" dirty="0"/>
              <a:t>Two main types of communication signals:</a:t>
            </a:r>
          </a:p>
          <a:p>
            <a:pPr algn="just" eaLnBrk="1" hangingPunct="1">
              <a:buClrTx/>
              <a:buFont typeface="Wingdings" panose="05000000000000000000" pitchFamily="2" charset="2"/>
              <a:buChar char="§"/>
            </a:pPr>
            <a:r>
              <a:rPr lang="en-US" altLang="en-US" sz="2600" b="1" dirty="0"/>
              <a:t>Analogue </a:t>
            </a:r>
            <a:r>
              <a:rPr lang="en-US" altLang="en-US" sz="2600" dirty="0"/>
              <a:t>transmission transmits data using an information signal that is continuously varying. The signals are continuous in both values and time.</a:t>
            </a:r>
          </a:p>
          <a:p>
            <a:pPr algn="just" eaLnBrk="1" hangingPunct="1">
              <a:buClrTx/>
              <a:buFont typeface="Wingdings" panose="05000000000000000000" pitchFamily="2" charset="2"/>
              <a:buChar char="§"/>
            </a:pPr>
            <a:r>
              <a:rPr lang="en-US" altLang="en-US" sz="2600" b="1" dirty="0"/>
              <a:t>Digital</a:t>
            </a:r>
            <a:r>
              <a:rPr lang="en-US" altLang="en-US" sz="2600" dirty="0"/>
              <a:t> transmission transmits data over a transmission medium discretely (one at a time). The signals are not continuous but discrete in value and time.</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144176618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p:txBody>
          <a:bodyPr/>
          <a:lstStyle/>
          <a:p>
            <a:pPr eaLnBrk="1" hangingPunct="1"/>
            <a:r>
              <a:rPr lang="en-US" altLang="en-US" sz="4000" dirty="0"/>
              <a:t>Analogue Vs. Digital Signals</a:t>
            </a:r>
          </a:p>
        </p:txBody>
      </p:sp>
      <p:graphicFrame>
        <p:nvGraphicFramePr>
          <p:cNvPr id="5" name="Content Placeholder 4"/>
          <p:cNvGraphicFramePr>
            <a:graphicFrameLocks noGrp="1"/>
          </p:cNvGraphicFramePr>
          <p:nvPr>
            <p:ph idx="1"/>
            <p:extLst/>
          </p:nvPr>
        </p:nvGraphicFramePr>
        <p:xfrm>
          <a:off x="2305878" y="1722784"/>
          <a:ext cx="7904922" cy="3887739"/>
        </p:xfrm>
        <a:graphic>
          <a:graphicData uri="http://schemas.openxmlformats.org/drawingml/2006/table">
            <a:tbl>
              <a:tblPr firstRow="1" firstCol="1" bandRow="1">
                <a:tableStyleId>{5940675A-B579-460E-94D1-54222C63F5DA}</a:tableStyleId>
              </a:tblPr>
              <a:tblGrid>
                <a:gridCol w="3952461">
                  <a:extLst>
                    <a:ext uri="{9D8B030D-6E8A-4147-A177-3AD203B41FA5}">
                      <a16:colId xmlns:a16="http://schemas.microsoft.com/office/drawing/2014/main" val="3764755538"/>
                    </a:ext>
                  </a:extLst>
                </a:gridCol>
                <a:gridCol w="3952461">
                  <a:extLst>
                    <a:ext uri="{9D8B030D-6E8A-4147-A177-3AD203B41FA5}">
                      <a16:colId xmlns:a16="http://schemas.microsoft.com/office/drawing/2014/main" val="3709354861"/>
                    </a:ext>
                  </a:extLst>
                </a:gridCol>
              </a:tblGrid>
              <a:tr h="419216">
                <a:tc>
                  <a:txBody>
                    <a:bodyPr/>
                    <a:lstStyle/>
                    <a:p>
                      <a:pPr algn="l">
                        <a:lnSpc>
                          <a:spcPct val="150000"/>
                        </a:lnSpc>
                        <a:spcAft>
                          <a:spcPts val="800"/>
                        </a:spcAft>
                      </a:pPr>
                      <a:r>
                        <a:rPr lang="en-US" sz="1600" b="1" dirty="0">
                          <a:solidFill>
                            <a:schemeClr val="tx1"/>
                          </a:solidFill>
                          <a:effectLst/>
                        </a:rPr>
                        <a:t>Analogue Signals</a:t>
                      </a:r>
                      <a:endParaRPr lang="en-US" sz="16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50000"/>
                        </a:lnSpc>
                        <a:spcAft>
                          <a:spcPts val="800"/>
                        </a:spcAft>
                      </a:pPr>
                      <a:r>
                        <a:rPr lang="en-US" sz="1600" b="1" dirty="0">
                          <a:solidFill>
                            <a:schemeClr val="tx1"/>
                          </a:solidFill>
                          <a:effectLst/>
                        </a:rPr>
                        <a:t>Digital Signals</a:t>
                      </a:r>
                      <a:endParaRPr lang="en-US" sz="16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34266235"/>
                  </a:ext>
                </a:extLst>
              </a:tr>
              <a:tr h="419216">
                <a:tc>
                  <a:txBody>
                    <a:bodyPr/>
                    <a:lstStyle/>
                    <a:p>
                      <a:pPr algn="l">
                        <a:lnSpc>
                          <a:spcPct val="150000"/>
                        </a:lnSpc>
                        <a:spcAft>
                          <a:spcPts val="800"/>
                        </a:spcAft>
                      </a:pPr>
                      <a:r>
                        <a:rPr lang="en-US" sz="1400">
                          <a:effectLst/>
                        </a:rPr>
                        <a:t>Continuous signals</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50000"/>
                        </a:lnSpc>
                        <a:spcAft>
                          <a:spcPts val="800"/>
                        </a:spcAft>
                      </a:pPr>
                      <a:r>
                        <a:rPr lang="en-US" sz="1400" dirty="0">
                          <a:effectLst/>
                        </a:rPr>
                        <a:t>Discrete signals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68425820"/>
                  </a:ext>
                </a:extLst>
              </a:tr>
              <a:tr h="419216">
                <a:tc>
                  <a:txBody>
                    <a:bodyPr/>
                    <a:lstStyle/>
                    <a:p>
                      <a:pPr algn="l">
                        <a:lnSpc>
                          <a:spcPct val="150000"/>
                        </a:lnSpc>
                        <a:spcAft>
                          <a:spcPts val="800"/>
                        </a:spcAft>
                      </a:pPr>
                      <a:r>
                        <a:rPr lang="en-US" sz="1400">
                          <a:effectLst/>
                        </a:rPr>
                        <a:t>Represented by sine waves</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50000"/>
                        </a:lnSpc>
                        <a:spcAft>
                          <a:spcPts val="800"/>
                        </a:spcAft>
                      </a:pPr>
                      <a:r>
                        <a:rPr lang="en-US" sz="1400" dirty="0">
                          <a:effectLst/>
                        </a:rPr>
                        <a:t>Represented by square waves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02260198"/>
                  </a:ext>
                </a:extLst>
              </a:tr>
              <a:tr h="889071">
                <a:tc>
                  <a:txBody>
                    <a:bodyPr/>
                    <a:lstStyle/>
                    <a:p>
                      <a:pPr algn="l">
                        <a:lnSpc>
                          <a:spcPct val="150000"/>
                        </a:lnSpc>
                        <a:spcAft>
                          <a:spcPts val="800"/>
                        </a:spcAft>
                      </a:pPr>
                      <a:r>
                        <a:rPr lang="en-US" sz="1400">
                          <a:effectLst/>
                        </a:rPr>
                        <a:t>Examples include human voice, natural sound, analogue electronic devices</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50000"/>
                        </a:lnSpc>
                        <a:spcAft>
                          <a:spcPts val="800"/>
                        </a:spcAft>
                      </a:pPr>
                      <a:r>
                        <a:rPr lang="en-US" sz="1400" dirty="0">
                          <a:effectLst/>
                        </a:rPr>
                        <a:t>Examples include computers, optical drives, and other electronic devices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86769838"/>
                  </a:ext>
                </a:extLst>
              </a:tr>
              <a:tr h="419216">
                <a:tc>
                  <a:txBody>
                    <a:bodyPr/>
                    <a:lstStyle/>
                    <a:p>
                      <a:pPr algn="l">
                        <a:lnSpc>
                          <a:spcPct val="150000"/>
                        </a:lnSpc>
                        <a:spcAft>
                          <a:spcPts val="800"/>
                        </a:spcAft>
                      </a:pPr>
                      <a:r>
                        <a:rPr lang="en-US" sz="1400">
                          <a:effectLst/>
                        </a:rPr>
                        <a:t>Continuous range of values</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50000"/>
                        </a:lnSpc>
                        <a:spcAft>
                          <a:spcPts val="800"/>
                        </a:spcAft>
                      </a:pPr>
                      <a:r>
                        <a:rPr lang="en-US" sz="1400" dirty="0">
                          <a:effectLst/>
                        </a:rPr>
                        <a:t>Discontinuous values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89105697"/>
                  </a:ext>
                </a:extLst>
              </a:tr>
              <a:tr h="419216">
                <a:tc>
                  <a:txBody>
                    <a:bodyPr/>
                    <a:lstStyle/>
                    <a:p>
                      <a:pPr algn="l">
                        <a:lnSpc>
                          <a:spcPct val="150000"/>
                        </a:lnSpc>
                        <a:spcAft>
                          <a:spcPts val="800"/>
                        </a:spcAft>
                      </a:pPr>
                      <a:r>
                        <a:rPr lang="en-US" sz="1400">
                          <a:effectLst/>
                        </a:rPr>
                        <a:t>Records sound waves as they are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50000"/>
                        </a:lnSpc>
                        <a:spcAft>
                          <a:spcPts val="800"/>
                        </a:spcAft>
                      </a:pPr>
                      <a:r>
                        <a:rPr lang="en-US" sz="1400" dirty="0">
                          <a:effectLst/>
                        </a:rPr>
                        <a:t>Converts into a binary waveform</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32996836"/>
                  </a:ext>
                </a:extLst>
              </a:tr>
              <a:tr h="902588">
                <a:tc>
                  <a:txBody>
                    <a:bodyPr/>
                    <a:lstStyle/>
                    <a:p>
                      <a:pPr algn="l">
                        <a:lnSpc>
                          <a:spcPct val="150000"/>
                        </a:lnSpc>
                        <a:spcAft>
                          <a:spcPts val="800"/>
                        </a:spcAft>
                      </a:pPr>
                      <a:r>
                        <a:rPr lang="en-US" sz="1400">
                          <a:effectLst/>
                        </a:rPr>
                        <a:t>Only used in analog devices.</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50000"/>
                        </a:lnSpc>
                        <a:spcAft>
                          <a:spcPts val="800"/>
                        </a:spcAft>
                      </a:pPr>
                      <a:r>
                        <a:rPr lang="en-US" sz="1400" dirty="0">
                          <a:effectLst/>
                        </a:rPr>
                        <a:t>Suitable for digital electronics like computers, mobiles and more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14814409"/>
                  </a:ext>
                </a:extLst>
              </a:tr>
            </a:tbl>
          </a:graphicData>
        </a:graphic>
      </p:graphicFrame>
      <p:sp>
        <p:nvSpPr>
          <p:cNvPr id="12"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20195523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p:txBody>
          <a:bodyPr/>
          <a:lstStyle/>
          <a:p>
            <a:pPr eaLnBrk="1" hangingPunct="1"/>
            <a:r>
              <a:rPr lang="en-US" altLang="en-US" sz="4000" dirty="0"/>
              <a:t>Analogue Vs. Digital Signals</a:t>
            </a:r>
          </a:p>
        </p:txBody>
      </p:sp>
      <p:sp>
        <p:nvSpPr>
          <p:cNvPr id="10"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pic>
        <p:nvPicPr>
          <p:cNvPr id="6" name="Picture 5" descr="C:\Users\USER\Desktop\MCA\MCA Degree programme documents\HOPE\03-NET225 Jan 2020\RESOURCES\ANALOGUE VS DIGITAL.png"/>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262188"/>
            <a:ext cx="8368748" cy="4257883"/>
          </a:xfrm>
          <a:prstGeom prst="rect">
            <a:avLst/>
          </a:prstGeom>
          <a:noFill/>
          <a:ln>
            <a:noFill/>
          </a:ln>
        </p:spPr>
      </p:pic>
    </p:spTree>
    <p:extLst>
      <p:ext uri="{BB962C8B-B14F-4D97-AF65-F5344CB8AC3E}">
        <p14:creationId xmlns:p14="http://schemas.microsoft.com/office/powerpoint/2010/main" val="67510104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4413693-470E-4461-BD2C-66CF1326095A}"/>
              </a:ext>
            </a:extLst>
          </p:cNvPr>
          <p:cNvSpPr>
            <a:spLocks noGrp="1"/>
          </p:cNvSpPr>
          <p:nvPr>
            <p:ph type="ctrTitle"/>
          </p:nvPr>
        </p:nvSpPr>
        <p:spPr>
          <a:xfrm>
            <a:off x="1606446" y="1219201"/>
            <a:ext cx="9061554" cy="1933575"/>
          </a:xfrm>
        </p:spPr>
        <p:txBody>
          <a:bodyPr>
            <a:normAutofit fontScale="90000"/>
          </a:bodyPr>
          <a:lstStyle/>
          <a:p>
            <a:r>
              <a:rPr lang="en-GB" dirty="0">
                <a:solidFill>
                  <a:srgbClr val="000000"/>
                </a:solidFill>
                <a:effectLst/>
                <a:latin typeface="Lato"/>
              </a:rPr>
              <a:t>Computer Network Components</a:t>
            </a:r>
            <a:br>
              <a:rPr lang="en-GB" dirty="0">
                <a:solidFill>
                  <a:srgbClr val="000000"/>
                </a:solidFill>
                <a:effectLst/>
                <a:latin typeface="Lato"/>
              </a:rPr>
            </a:br>
            <a:endParaRPr lang="en-GB" dirty="0"/>
          </a:p>
        </p:txBody>
      </p:sp>
      <p:sp>
        <p:nvSpPr>
          <p:cNvPr id="4" name="Footer Placeholder 3">
            <a:extLst>
              <a:ext uri="{FF2B5EF4-FFF2-40B4-BE49-F238E27FC236}">
                <a16:creationId xmlns:a16="http://schemas.microsoft.com/office/drawing/2014/main" id="{5507B7FE-5F94-4557-92EE-B34D1A971C28}"/>
              </a:ext>
            </a:extLst>
          </p:cNvPr>
          <p:cNvSpPr>
            <a:spLocks noGrp="1"/>
          </p:cNvSpPr>
          <p:nvPr>
            <p:ph type="ftr" sz="quarter" idx="11"/>
          </p:nvPr>
        </p:nvSpPr>
        <p:spPr/>
        <p:txBody>
          <a:bodyPr/>
          <a:lstStyle/>
          <a:p>
            <a:pPr>
              <a:defRPr/>
            </a:pPr>
            <a:r>
              <a:rPr lang="en-US"/>
              <a:t>CFC-MCA</a:t>
            </a:r>
          </a:p>
        </p:txBody>
      </p:sp>
    </p:spTree>
    <p:extLst>
      <p:ext uri="{BB962C8B-B14F-4D97-AF65-F5344CB8AC3E}">
        <p14:creationId xmlns:p14="http://schemas.microsoft.com/office/powerpoint/2010/main" val="203762882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27B21-950E-4CE3-AA11-1524C39ACEEF}"/>
              </a:ext>
            </a:extLst>
          </p:cNvPr>
          <p:cNvSpPr>
            <a:spLocks noGrp="1"/>
          </p:cNvSpPr>
          <p:nvPr>
            <p:ph type="title"/>
          </p:nvPr>
        </p:nvSpPr>
        <p:spPr/>
        <p:txBody>
          <a:bodyPr>
            <a:normAutofit/>
          </a:bodyPr>
          <a:lstStyle/>
          <a:p>
            <a:pPr algn="ctr"/>
            <a:r>
              <a:rPr lang="en-GB" dirty="0">
                <a:solidFill>
                  <a:srgbClr val="000000"/>
                </a:solidFill>
                <a:effectLst/>
                <a:latin typeface="Lato"/>
              </a:rPr>
              <a:t>Computer Network Components</a:t>
            </a:r>
            <a:br>
              <a:rPr lang="en-GB" dirty="0">
                <a:solidFill>
                  <a:srgbClr val="000000"/>
                </a:solidFill>
                <a:effectLst/>
                <a:latin typeface="Lato"/>
              </a:rPr>
            </a:br>
            <a:r>
              <a:rPr lang="en-GB" dirty="0">
                <a:solidFill>
                  <a:srgbClr val="000000"/>
                </a:solidFill>
                <a:effectLst/>
                <a:latin typeface="Lato"/>
              </a:rPr>
              <a:t>Hardware</a:t>
            </a:r>
            <a:endParaRPr lang="en-GB" dirty="0"/>
          </a:p>
        </p:txBody>
      </p:sp>
      <p:sp>
        <p:nvSpPr>
          <p:cNvPr id="3" name="Content Placeholder 2">
            <a:extLst>
              <a:ext uri="{FF2B5EF4-FFF2-40B4-BE49-F238E27FC236}">
                <a16:creationId xmlns:a16="http://schemas.microsoft.com/office/drawing/2014/main" id="{3B361C16-A18D-45EE-B16A-F138B2BE840F}"/>
              </a:ext>
            </a:extLst>
          </p:cNvPr>
          <p:cNvSpPr>
            <a:spLocks noGrp="1"/>
          </p:cNvSpPr>
          <p:nvPr>
            <p:ph idx="1"/>
          </p:nvPr>
        </p:nvSpPr>
        <p:spPr>
          <a:xfrm>
            <a:off x="1981200" y="1600201"/>
            <a:ext cx="8304551" cy="4890541"/>
          </a:xfrm>
        </p:spPr>
        <p:txBody>
          <a:bodyPr/>
          <a:lstStyle/>
          <a:p>
            <a:r>
              <a:rPr lang="en-GB" dirty="0"/>
              <a:t>Computer networks components comprise both physical parts as well as the software, for installing computer networks, both at organizations and at home. </a:t>
            </a:r>
          </a:p>
          <a:p>
            <a:r>
              <a:rPr lang="en-GB" dirty="0"/>
              <a:t>The hardware components are the server, client, peer, transmission medium, and connecting devices. </a:t>
            </a:r>
          </a:p>
          <a:p>
            <a:r>
              <a:rPr lang="en-GB" dirty="0"/>
              <a:t>The software components are operating system and protocols.</a:t>
            </a:r>
          </a:p>
        </p:txBody>
      </p:sp>
      <p:sp>
        <p:nvSpPr>
          <p:cNvPr id="4" name="Footer Placeholder 3">
            <a:extLst>
              <a:ext uri="{FF2B5EF4-FFF2-40B4-BE49-F238E27FC236}">
                <a16:creationId xmlns:a16="http://schemas.microsoft.com/office/drawing/2014/main" id="{278F4FB0-ADBC-480F-8ED3-7652150561C8}"/>
              </a:ext>
            </a:extLst>
          </p:cNvPr>
          <p:cNvSpPr>
            <a:spLocks noGrp="1"/>
          </p:cNvSpPr>
          <p:nvPr>
            <p:ph type="ftr" sz="quarter" idx="11"/>
          </p:nvPr>
        </p:nvSpPr>
        <p:spPr/>
        <p:txBody>
          <a:bodyPr/>
          <a:lstStyle/>
          <a:p>
            <a:pPr>
              <a:defRPr/>
            </a:pPr>
            <a:r>
              <a:rPr lang="en-US"/>
              <a:t>CFC-MCA</a:t>
            </a:r>
          </a:p>
        </p:txBody>
      </p:sp>
    </p:spTree>
    <p:extLst>
      <p:ext uri="{BB962C8B-B14F-4D97-AF65-F5344CB8AC3E}">
        <p14:creationId xmlns:p14="http://schemas.microsoft.com/office/powerpoint/2010/main" val="170645371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p:txBody>
          <a:bodyPr/>
          <a:lstStyle/>
          <a:p>
            <a:r>
              <a:rPr lang="en-GB" b="0" dirty="0">
                <a:effectLst/>
              </a:rPr>
              <a:t>Computer Network Components</a:t>
            </a:r>
            <a:endParaRPr lang="en-GB" dirty="0"/>
          </a:p>
        </p:txBody>
      </p:sp>
      <p:sp>
        <p:nvSpPr>
          <p:cNvPr id="3" name="Content Placeholder 2">
            <a:extLst>
              <a:ext uri="{FF2B5EF4-FFF2-40B4-BE49-F238E27FC236}">
                <a16:creationId xmlns:a16="http://schemas.microsoft.com/office/drawing/2014/main" id="{1E0FCA85-21D8-4660-AB89-EAD2E314066B}"/>
              </a:ext>
            </a:extLst>
          </p:cNvPr>
          <p:cNvSpPr>
            <a:spLocks noGrp="1"/>
          </p:cNvSpPr>
          <p:nvPr>
            <p:ph idx="1"/>
          </p:nvPr>
        </p:nvSpPr>
        <p:spPr/>
        <p:txBody>
          <a:bodyPr/>
          <a:lstStyle/>
          <a:p>
            <a:endParaRPr lang="en-GB" dirty="0"/>
          </a:p>
          <a:p>
            <a:endParaRPr lang="en-GB" dirty="0"/>
          </a:p>
        </p:txBody>
      </p:sp>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pic>
        <p:nvPicPr>
          <p:cNvPr id="5" name="Picture 4">
            <a:extLst>
              <a:ext uri="{FF2B5EF4-FFF2-40B4-BE49-F238E27FC236}">
                <a16:creationId xmlns:a16="http://schemas.microsoft.com/office/drawing/2014/main" id="{0797FBF3-7E32-4A7F-A4F9-37ADF0894117}"/>
              </a:ext>
            </a:extLst>
          </p:cNvPr>
          <p:cNvPicPr>
            <a:picLocks noChangeAspect="1"/>
          </p:cNvPicPr>
          <p:nvPr/>
        </p:nvPicPr>
        <p:blipFill>
          <a:blip r:embed="rId2"/>
          <a:stretch>
            <a:fillRect/>
          </a:stretch>
        </p:blipFill>
        <p:spPr>
          <a:xfrm>
            <a:off x="1866900" y="1217326"/>
            <a:ext cx="8458200" cy="5562600"/>
          </a:xfrm>
          <a:prstGeom prst="rect">
            <a:avLst/>
          </a:prstGeom>
        </p:spPr>
      </p:pic>
    </p:spTree>
    <p:extLst>
      <p:ext uri="{BB962C8B-B14F-4D97-AF65-F5344CB8AC3E}">
        <p14:creationId xmlns:p14="http://schemas.microsoft.com/office/powerpoint/2010/main" val="418062251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a:xfrm>
            <a:off x="1981200" y="237162"/>
            <a:ext cx="8229600" cy="1143000"/>
          </a:xfrm>
        </p:spPr>
        <p:txBody>
          <a:bodyPr/>
          <a:lstStyle/>
          <a:p>
            <a:r>
              <a:rPr lang="en-GB" b="0" dirty="0">
                <a:effectLst/>
              </a:rPr>
              <a:t>Network Hardware Components</a:t>
            </a:r>
          </a:p>
        </p:txBody>
      </p:sp>
      <p:sp>
        <p:nvSpPr>
          <p:cNvPr id="3" name="Content Placeholder 2">
            <a:extLst>
              <a:ext uri="{FF2B5EF4-FFF2-40B4-BE49-F238E27FC236}">
                <a16:creationId xmlns:a16="http://schemas.microsoft.com/office/drawing/2014/main" id="{1E0FCA85-21D8-4660-AB89-EAD2E314066B}"/>
              </a:ext>
            </a:extLst>
          </p:cNvPr>
          <p:cNvSpPr>
            <a:spLocks noGrp="1"/>
          </p:cNvSpPr>
          <p:nvPr>
            <p:ph idx="1"/>
          </p:nvPr>
        </p:nvSpPr>
        <p:spPr/>
        <p:txBody>
          <a:bodyPr/>
          <a:lstStyle/>
          <a:p>
            <a:r>
              <a:rPr lang="en-GB" dirty="0"/>
              <a:t>Hardware components is said to the physical parts of a computer or electronic system, which work together to perform various tasks. </a:t>
            </a:r>
          </a:p>
          <a:p>
            <a:endParaRPr lang="en-GB" dirty="0"/>
          </a:p>
        </p:txBody>
      </p:sp>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spTree>
    <p:extLst>
      <p:ext uri="{BB962C8B-B14F-4D97-AF65-F5344CB8AC3E}">
        <p14:creationId xmlns:p14="http://schemas.microsoft.com/office/powerpoint/2010/main" val="384270800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a:xfrm>
            <a:off x="1981200" y="237162"/>
            <a:ext cx="8229600" cy="1143000"/>
          </a:xfrm>
        </p:spPr>
        <p:txBody>
          <a:bodyPr/>
          <a:lstStyle/>
          <a:p>
            <a:r>
              <a:rPr lang="en-GB" b="0" dirty="0">
                <a:effectLst/>
              </a:rPr>
              <a:t>Network Hardware Components</a:t>
            </a:r>
            <a:endParaRPr lang="en-GB" dirty="0"/>
          </a:p>
        </p:txBody>
      </p:sp>
      <p:sp>
        <p:nvSpPr>
          <p:cNvPr id="3" name="Content Placeholder 2">
            <a:extLst>
              <a:ext uri="{FF2B5EF4-FFF2-40B4-BE49-F238E27FC236}">
                <a16:creationId xmlns:a16="http://schemas.microsoft.com/office/drawing/2014/main" id="{1E0FCA85-21D8-4660-AB89-EAD2E314066B}"/>
              </a:ext>
            </a:extLst>
          </p:cNvPr>
          <p:cNvSpPr>
            <a:spLocks noGrp="1"/>
          </p:cNvSpPr>
          <p:nvPr>
            <p:ph idx="1"/>
          </p:nvPr>
        </p:nvSpPr>
        <p:spPr/>
        <p:txBody>
          <a:bodyPr/>
          <a:lstStyle/>
          <a:p>
            <a:pPr marL="0" indent="0">
              <a:buNone/>
            </a:pPr>
            <a:r>
              <a:rPr lang="en-GB" b="1" dirty="0"/>
              <a:t>Servers:</a:t>
            </a:r>
          </a:p>
          <a:p>
            <a:r>
              <a:rPr lang="en-GB" dirty="0"/>
              <a:t>Servers are high-configuration computers that manage the resources of the network. The network operating system is typically installed in the server and so they give user accesses to the network resources. Servers can be of various kinds: file servers, database servers, print servers etc.</a:t>
            </a:r>
          </a:p>
          <a:p>
            <a:endParaRPr lang="en-GB" dirty="0"/>
          </a:p>
          <a:p>
            <a:endParaRPr lang="en-GB" dirty="0"/>
          </a:p>
        </p:txBody>
      </p:sp>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spTree>
    <p:extLst>
      <p:ext uri="{BB962C8B-B14F-4D97-AF65-F5344CB8AC3E}">
        <p14:creationId xmlns:p14="http://schemas.microsoft.com/office/powerpoint/2010/main" val="153009171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a:xfrm>
            <a:off x="1981200" y="237162"/>
            <a:ext cx="8229600" cy="1143000"/>
          </a:xfrm>
        </p:spPr>
        <p:txBody>
          <a:bodyPr>
            <a:normAutofit fontScale="90000"/>
          </a:bodyPr>
          <a:lstStyle/>
          <a:p>
            <a:r>
              <a:rPr lang="en-GB" b="0" dirty="0">
                <a:effectLst/>
              </a:rPr>
              <a:t>Network Hardware Components</a:t>
            </a:r>
            <a:br>
              <a:rPr lang="en-GB" b="0" dirty="0">
                <a:effectLst/>
              </a:rPr>
            </a:br>
            <a:endParaRPr lang="en-GB" dirty="0"/>
          </a:p>
        </p:txBody>
      </p:sp>
      <p:sp>
        <p:nvSpPr>
          <p:cNvPr id="3" name="Content Placeholder 2">
            <a:extLst>
              <a:ext uri="{FF2B5EF4-FFF2-40B4-BE49-F238E27FC236}">
                <a16:creationId xmlns:a16="http://schemas.microsoft.com/office/drawing/2014/main" id="{1E0FCA85-21D8-4660-AB89-EAD2E314066B}"/>
              </a:ext>
            </a:extLst>
          </p:cNvPr>
          <p:cNvSpPr>
            <a:spLocks noGrp="1"/>
          </p:cNvSpPr>
          <p:nvPr>
            <p:ph idx="1"/>
          </p:nvPr>
        </p:nvSpPr>
        <p:spPr>
          <a:xfrm>
            <a:off x="1981200" y="1600200"/>
            <a:ext cx="8424472" cy="5105400"/>
          </a:xfrm>
        </p:spPr>
        <p:txBody>
          <a:bodyPr/>
          <a:lstStyle/>
          <a:p>
            <a:pPr marL="0" indent="0">
              <a:buNone/>
            </a:pPr>
            <a:r>
              <a:rPr lang="en-GB" b="1" dirty="0"/>
              <a:t>Clients:</a:t>
            </a:r>
          </a:p>
          <a:p>
            <a:pPr marL="0" indent="0">
              <a:buNone/>
            </a:pPr>
            <a:r>
              <a:rPr lang="en-GB" dirty="0"/>
              <a:t>Clients are computers that request and receive service from the servers to access and use the network resources.</a:t>
            </a:r>
          </a:p>
          <a:p>
            <a:pPr marL="0" indent="0">
              <a:buNone/>
            </a:pPr>
            <a:endParaRPr lang="en-GB" b="1" dirty="0"/>
          </a:p>
          <a:p>
            <a:pPr marL="0" indent="0">
              <a:buNone/>
            </a:pPr>
            <a:r>
              <a:rPr lang="en-GB" b="1" dirty="0"/>
              <a:t>Peers:</a:t>
            </a:r>
          </a:p>
          <a:p>
            <a:pPr marL="0" indent="0">
              <a:buNone/>
            </a:pPr>
            <a:r>
              <a:rPr lang="en-GB" dirty="0"/>
              <a:t>Peers are computers that provide as well as receive services from other peers in a workgroup network.</a:t>
            </a:r>
          </a:p>
          <a:p>
            <a:pPr marL="0" indent="0">
              <a:buNone/>
            </a:pPr>
            <a:endParaRPr lang="en-GB" dirty="0"/>
          </a:p>
          <a:p>
            <a:endParaRPr lang="en-GB" dirty="0"/>
          </a:p>
        </p:txBody>
      </p:sp>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spTree>
    <p:extLst>
      <p:ext uri="{BB962C8B-B14F-4D97-AF65-F5344CB8AC3E}">
        <p14:creationId xmlns:p14="http://schemas.microsoft.com/office/powerpoint/2010/main" val="39643415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a:xfrm>
            <a:off x="1981200" y="237162"/>
            <a:ext cx="8229600" cy="1143000"/>
          </a:xfrm>
        </p:spPr>
        <p:txBody>
          <a:bodyPr>
            <a:normAutofit fontScale="90000"/>
          </a:bodyPr>
          <a:lstStyle/>
          <a:p>
            <a:r>
              <a:rPr lang="en-GB" b="0" dirty="0">
                <a:effectLst/>
              </a:rPr>
              <a:t>Network Hardware Components</a:t>
            </a:r>
            <a:br>
              <a:rPr lang="en-GB" b="0" dirty="0">
                <a:effectLst/>
              </a:rPr>
            </a:br>
            <a:endParaRPr lang="en-GB" dirty="0"/>
          </a:p>
        </p:txBody>
      </p:sp>
      <p:sp>
        <p:nvSpPr>
          <p:cNvPr id="3" name="Content Placeholder 2">
            <a:extLst>
              <a:ext uri="{FF2B5EF4-FFF2-40B4-BE49-F238E27FC236}">
                <a16:creationId xmlns:a16="http://schemas.microsoft.com/office/drawing/2014/main" id="{1E0FCA85-21D8-4660-AB89-EAD2E314066B}"/>
              </a:ext>
            </a:extLst>
          </p:cNvPr>
          <p:cNvSpPr>
            <a:spLocks noGrp="1"/>
          </p:cNvSpPr>
          <p:nvPr>
            <p:ph idx="1"/>
          </p:nvPr>
        </p:nvSpPr>
        <p:spPr/>
        <p:txBody>
          <a:bodyPr/>
          <a:lstStyle/>
          <a:p>
            <a:pPr marL="0" indent="0">
              <a:buNone/>
            </a:pPr>
            <a:r>
              <a:rPr lang="en-GB" b="1" dirty="0"/>
              <a:t>Transmission Media:</a:t>
            </a:r>
          </a:p>
          <a:p>
            <a:r>
              <a:rPr lang="en-GB" dirty="0"/>
              <a:t> Transmission media are the channels through which data is transferred from one device to another in a network.</a:t>
            </a:r>
          </a:p>
          <a:p>
            <a:r>
              <a:rPr lang="en-GB" dirty="0"/>
              <a:t>Transmission media may be guided media like coaxial cable, fibre optic cables etc; or maybe unguided media like microwaves, infra-red waves etc.</a:t>
            </a:r>
          </a:p>
          <a:p>
            <a:endParaRPr lang="en-GB" dirty="0"/>
          </a:p>
        </p:txBody>
      </p:sp>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spTree>
    <p:extLst>
      <p:ext uri="{BB962C8B-B14F-4D97-AF65-F5344CB8AC3E}">
        <p14:creationId xmlns:p14="http://schemas.microsoft.com/office/powerpoint/2010/main" val="327886057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a:xfrm>
            <a:off x="1981200" y="237162"/>
            <a:ext cx="8229600" cy="1143000"/>
          </a:xfrm>
        </p:spPr>
        <p:txBody>
          <a:bodyPr>
            <a:normAutofit fontScale="90000"/>
          </a:bodyPr>
          <a:lstStyle/>
          <a:p>
            <a:r>
              <a:rPr lang="en-GB" b="0" dirty="0">
                <a:effectLst/>
              </a:rPr>
              <a:t>Network Hardware Components</a:t>
            </a:r>
            <a:br>
              <a:rPr lang="en-GB" b="0" dirty="0">
                <a:effectLst/>
              </a:rPr>
            </a:br>
            <a:endParaRPr lang="en-GB" dirty="0"/>
          </a:p>
        </p:txBody>
      </p:sp>
      <p:sp>
        <p:nvSpPr>
          <p:cNvPr id="3" name="Content Placeholder 2">
            <a:extLst>
              <a:ext uri="{FF2B5EF4-FFF2-40B4-BE49-F238E27FC236}">
                <a16:creationId xmlns:a16="http://schemas.microsoft.com/office/drawing/2014/main" id="{1E0FCA85-21D8-4660-AB89-EAD2E314066B}"/>
              </a:ext>
            </a:extLst>
          </p:cNvPr>
          <p:cNvSpPr>
            <a:spLocks noGrp="1"/>
          </p:cNvSpPr>
          <p:nvPr>
            <p:ph idx="1"/>
          </p:nvPr>
        </p:nvSpPr>
        <p:spPr/>
        <p:txBody>
          <a:bodyPr/>
          <a:lstStyle/>
          <a:p>
            <a:pPr marL="0" indent="0">
              <a:buNone/>
            </a:pPr>
            <a:r>
              <a:rPr lang="en-GB" b="1" dirty="0"/>
              <a:t>Connecting Devices:</a:t>
            </a:r>
          </a:p>
          <a:p>
            <a:pPr marL="0" indent="0">
              <a:buNone/>
            </a:pPr>
            <a:r>
              <a:rPr lang="en-GB" dirty="0"/>
              <a:t>Connecting devices act as middleware between networks or computers, by binding the network media together. </a:t>
            </a:r>
          </a:p>
          <a:p>
            <a:pPr marL="0" indent="0">
              <a:buNone/>
            </a:pPr>
            <a:r>
              <a:rPr lang="en-GB" dirty="0"/>
              <a:t>Some of the common connecting devices are: Routers, Bridges, Hubs, Repeaters, Gateways and Switches.</a:t>
            </a:r>
          </a:p>
          <a:p>
            <a:endParaRPr lang="en-GB" dirty="0"/>
          </a:p>
        </p:txBody>
      </p:sp>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spTree>
    <p:extLst>
      <p:ext uri="{BB962C8B-B14F-4D97-AF65-F5344CB8AC3E}">
        <p14:creationId xmlns:p14="http://schemas.microsoft.com/office/powerpoint/2010/main" val="346645697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a:xfrm>
            <a:off x="1981200" y="237162"/>
            <a:ext cx="8229600" cy="1143000"/>
          </a:xfrm>
        </p:spPr>
        <p:txBody>
          <a:bodyPr>
            <a:normAutofit fontScale="90000"/>
          </a:bodyPr>
          <a:lstStyle/>
          <a:p>
            <a:pPr algn="ctr"/>
            <a:r>
              <a:rPr lang="en-GB" b="0" dirty="0">
                <a:effectLst/>
              </a:rPr>
              <a:t/>
            </a:r>
            <a:br>
              <a:rPr lang="en-GB" b="0" dirty="0">
                <a:effectLst/>
              </a:rPr>
            </a:br>
            <a:r>
              <a:rPr lang="en-GB" b="0" dirty="0">
                <a:effectLst/>
              </a:rPr>
              <a:t/>
            </a:r>
            <a:br>
              <a:rPr lang="en-GB" b="0" dirty="0">
                <a:effectLst/>
              </a:rPr>
            </a:br>
            <a:r>
              <a:rPr lang="en-GB" b="0" dirty="0">
                <a:effectLst/>
              </a:rPr>
              <a:t>Network Connecting Devices</a:t>
            </a:r>
            <a:br>
              <a:rPr lang="en-GB" b="0" dirty="0">
                <a:effectLst/>
              </a:rPr>
            </a:br>
            <a:r>
              <a:rPr lang="en-GB" b="0" dirty="0">
                <a:effectLst/>
              </a:rPr>
              <a:t/>
            </a:r>
            <a:br>
              <a:rPr lang="en-GB" b="0" dirty="0">
                <a:effectLst/>
              </a:rPr>
            </a:br>
            <a:endParaRPr lang="en-GB" dirty="0"/>
          </a:p>
        </p:txBody>
      </p:sp>
      <p:sp>
        <p:nvSpPr>
          <p:cNvPr id="3" name="Content Placeholder 2">
            <a:extLst>
              <a:ext uri="{FF2B5EF4-FFF2-40B4-BE49-F238E27FC236}">
                <a16:creationId xmlns:a16="http://schemas.microsoft.com/office/drawing/2014/main" id="{1E0FCA85-21D8-4660-AB89-EAD2E314066B}"/>
              </a:ext>
            </a:extLst>
          </p:cNvPr>
          <p:cNvSpPr>
            <a:spLocks noGrp="1"/>
          </p:cNvSpPr>
          <p:nvPr>
            <p:ph idx="1"/>
          </p:nvPr>
        </p:nvSpPr>
        <p:spPr/>
        <p:txBody>
          <a:bodyPr/>
          <a:lstStyle/>
          <a:p>
            <a:r>
              <a:rPr lang="en-GB" dirty="0"/>
              <a:t>Connecting devices provides an intermediaries for communication between different networks or computers by linking various devices, this helps to travel data across multiple systems and network efficiently. </a:t>
            </a:r>
          </a:p>
        </p:txBody>
      </p:sp>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spTree>
    <p:extLst>
      <p:ext uri="{BB962C8B-B14F-4D97-AF65-F5344CB8AC3E}">
        <p14:creationId xmlns:p14="http://schemas.microsoft.com/office/powerpoint/2010/main" val="59750119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a:xfrm>
            <a:off x="1981200" y="237162"/>
            <a:ext cx="8229600" cy="1143000"/>
          </a:xfrm>
        </p:spPr>
        <p:txBody>
          <a:bodyPr/>
          <a:lstStyle/>
          <a:p>
            <a:r>
              <a:rPr lang="en-GB" b="0" dirty="0">
                <a:effectLst/>
              </a:rPr>
              <a:t>Network Connecting Devices</a:t>
            </a:r>
            <a:endParaRPr lang="en-GB" dirty="0"/>
          </a:p>
        </p:txBody>
      </p:sp>
      <p:sp>
        <p:nvSpPr>
          <p:cNvPr id="3" name="Content Placeholder 2">
            <a:extLst>
              <a:ext uri="{FF2B5EF4-FFF2-40B4-BE49-F238E27FC236}">
                <a16:creationId xmlns:a16="http://schemas.microsoft.com/office/drawing/2014/main" id="{1E0FCA85-21D8-4660-AB89-EAD2E314066B}"/>
              </a:ext>
            </a:extLst>
          </p:cNvPr>
          <p:cNvSpPr>
            <a:spLocks noGrp="1"/>
          </p:cNvSpPr>
          <p:nvPr>
            <p:ph idx="1"/>
          </p:nvPr>
        </p:nvSpPr>
        <p:spPr/>
        <p:txBody>
          <a:bodyPr/>
          <a:lstStyle/>
          <a:p>
            <a:pPr marL="0" indent="0">
              <a:buNone/>
            </a:pPr>
            <a:r>
              <a:rPr lang="en-GB" b="1" dirty="0"/>
              <a:t>Switches</a:t>
            </a:r>
          </a:p>
          <a:p>
            <a:r>
              <a:rPr lang="en-GB" dirty="0"/>
              <a:t>Switches are networking devices operating at layer 2 or a data link layer of the OSI model. </a:t>
            </a:r>
          </a:p>
          <a:p>
            <a:r>
              <a:rPr lang="en-GB" dirty="0"/>
              <a:t>They connect devices in a network and use packet switching to send, receive or forward data packets or data frames over the network.</a:t>
            </a:r>
          </a:p>
          <a:p>
            <a:endParaRPr lang="en-GB" dirty="0"/>
          </a:p>
          <a:p>
            <a:endParaRPr lang="en-GB" dirty="0"/>
          </a:p>
        </p:txBody>
      </p:sp>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spTree>
    <p:extLst>
      <p:ext uri="{BB962C8B-B14F-4D97-AF65-F5344CB8AC3E}">
        <p14:creationId xmlns:p14="http://schemas.microsoft.com/office/powerpoint/2010/main" val="159402528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p:txBody>
          <a:bodyPr/>
          <a:lstStyle/>
          <a:p>
            <a:r>
              <a:rPr lang="en-GB" b="0" dirty="0">
                <a:effectLst/>
              </a:rPr>
              <a:t>Network Connecting Devices</a:t>
            </a:r>
            <a:endParaRPr lang="en-GB" dirty="0"/>
          </a:p>
        </p:txBody>
      </p:sp>
      <p:sp>
        <p:nvSpPr>
          <p:cNvPr id="3" name="Content Placeholder 2">
            <a:extLst>
              <a:ext uri="{FF2B5EF4-FFF2-40B4-BE49-F238E27FC236}">
                <a16:creationId xmlns:a16="http://schemas.microsoft.com/office/drawing/2014/main" id="{1E0FCA85-21D8-4660-AB89-EAD2E314066B}"/>
              </a:ext>
            </a:extLst>
          </p:cNvPr>
          <p:cNvSpPr>
            <a:spLocks noGrp="1"/>
          </p:cNvSpPr>
          <p:nvPr>
            <p:ph sz="half" idx="1"/>
          </p:nvPr>
        </p:nvSpPr>
        <p:spPr/>
        <p:txBody>
          <a:bodyPr>
            <a:normAutofit lnSpcReduction="10000"/>
          </a:bodyPr>
          <a:lstStyle/>
          <a:p>
            <a:pPr>
              <a:buFont typeface="Wingdings" panose="05000000000000000000" pitchFamily="2" charset="2"/>
              <a:buChar char="Ø"/>
            </a:pPr>
            <a:r>
              <a:rPr lang="en-GB" sz="2000" b="1" u="sng" dirty="0"/>
              <a:t>Switch</a:t>
            </a:r>
            <a:r>
              <a:rPr lang="en-GB" sz="2000" dirty="0"/>
              <a:t> has many ports, to which computers are plugged in. </a:t>
            </a:r>
          </a:p>
          <a:p>
            <a:pPr>
              <a:buFont typeface="Wingdings" panose="05000000000000000000" pitchFamily="2" charset="2"/>
              <a:buChar char="Ø"/>
            </a:pPr>
            <a:r>
              <a:rPr lang="en-GB" sz="2000" dirty="0"/>
              <a:t>When a data frame arrives at any port of a network switch, it examines the destination address, performs necessary checks and sends the frame to the corresponding device(s). </a:t>
            </a:r>
          </a:p>
          <a:p>
            <a:pPr>
              <a:buFont typeface="Wingdings" panose="05000000000000000000" pitchFamily="2" charset="2"/>
              <a:buChar char="Ø"/>
            </a:pPr>
            <a:r>
              <a:rPr lang="en-GB" sz="2000" dirty="0"/>
              <a:t>It supports unicast, multicast as well as broadcast communications.</a:t>
            </a:r>
          </a:p>
          <a:p>
            <a:endParaRPr lang="en-GB" sz="2000" dirty="0"/>
          </a:p>
        </p:txBody>
      </p:sp>
      <p:pic>
        <p:nvPicPr>
          <p:cNvPr id="6" name="Content Placeholder 5">
            <a:extLst>
              <a:ext uri="{FF2B5EF4-FFF2-40B4-BE49-F238E27FC236}">
                <a16:creationId xmlns:a16="http://schemas.microsoft.com/office/drawing/2014/main" id="{9C329FDB-DC2A-42C6-A877-FFF3D196D5AE}"/>
              </a:ext>
            </a:extLst>
          </p:cNvPr>
          <p:cNvPicPr>
            <a:picLocks noGrp="1" noChangeAspect="1"/>
          </p:cNvPicPr>
          <p:nvPr>
            <p:ph sz="half" idx="2"/>
          </p:nvPr>
        </p:nvPicPr>
        <p:blipFill>
          <a:blip r:embed="rId2"/>
          <a:stretch>
            <a:fillRect/>
          </a:stretch>
        </p:blipFill>
        <p:spPr>
          <a:xfrm>
            <a:off x="6172200" y="1798821"/>
            <a:ext cx="4300928" cy="3890855"/>
          </a:xfrm>
          <a:prstGeom prst="rect">
            <a:avLst/>
          </a:prstGeom>
        </p:spPr>
      </p:pic>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spTree>
    <p:extLst>
      <p:ext uri="{BB962C8B-B14F-4D97-AF65-F5344CB8AC3E}">
        <p14:creationId xmlns:p14="http://schemas.microsoft.com/office/powerpoint/2010/main" val="179557932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p:txBody>
          <a:bodyPr/>
          <a:lstStyle/>
          <a:p>
            <a:r>
              <a:rPr lang="en-GB" b="0" dirty="0">
                <a:effectLst/>
              </a:rPr>
              <a:t>Network Connecting Devices</a:t>
            </a:r>
            <a:endParaRPr lang="en-GB" dirty="0"/>
          </a:p>
        </p:txBody>
      </p:sp>
      <p:sp>
        <p:nvSpPr>
          <p:cNvPr id="3" name="Content Placeholder 2">
            <a:extLst>
              <a:ext uri="{FF2B5EF4-FFF2-40B4-BE49-F238E27FC236}">
                <a16:creationId xmlns:a16="http://schemas.microsoft.com/office/drawing/2014/main" id="{1E0FCA85-21D8-4660-AB89-EAD2E314066B}"/>
              </a:ext>
            </a:extLst>
          </p:cNvPr>
          <p:cNvSpPr>
            <a:spLocks noGrp="1"/>
          </p:cNvSpPr>
          <p:nvPr>
            <p:ph sz="half" idx="1"/>
          </p:nvPr>
        </p:nvSpPr>
        <p:spPr>
          <a:xfrm>
            <a:off x="1981200" y="1600200"/>
            <a:ext cx="4038600" cy="4883046"/>
          </a:xfrm>
        </p:spPr>
        <p:style>
          <a:lnRef idx="2">
            <a:schemeClr val="accent1"/>
          </a:lnRef>
          <a:fillRef idx="1">
            <a:schemeClr val="lt1"/>
          </a:fillRef>
          <a:effectRef idx="0">
            <a:schemeClr val="accent1"/>
          </a:effectRef>
          <a:fontRef idx="minor">
            <a:schemeClr val="dk1"/>
          </a:fontRef>
        </p:style>
        <p:txBody>
          <a:bodyPr>
            <a:normAutofit lnSpcReduction="10000"/>
          </a:bodyPr>
          <a:lstStyle/>
          <a:p>
            <a:pPr marL="0" indent="0">
              <a:buNone/>
            </a:pPr>
            <a:r>
              <a:rPr lang="en-GB" b="1" dirty="0"/>
              <a:t>Features of Switches</a:t>
            </a:r>
          </a:p>
          <a:p>
            <a:r>
              <a:rPr lang="en-GB" sz="1800" dirty="0"/>
              <a:t>A switch operates in the layer 2, i.e. data link layer of the OSI model.</a:t>
            </a:r>
          </a:p>
          <a:p>
            <a:r>
              <a:rPr lang="en-GB" sz="1800" dirty="0"/>
              <a:t>It is an intelligent network device that can be conceived as a multiport network bridge.</a:t>
            </a:r>
          </a:p>
          <a:p>
            <a:r>
              <a:rPr lang="en-GB" sz="1800" dirty="0"/>
              <a:t>It uses MAC addresses (addresses of medium access control sublayer) to send data packets to selected destination ports.</a:t>
            </a:r>
          </a:p>
          <a:p>
            <a:r>
              <a:rPr lang="en-GB" sz="1800" dirty="0"/>
              <a:t>It uses packet switching technique to receive and forward data packets from the source to the destination device.</a:t>
            </a:r>
          </a:p>
          <a:p>
            <a:endParaRPr lang="en-GB" dirty="0"/>
          </a:p>
          <a:p>
            <a:endParaRPr lang="en-GB" dirty="0"/>
          </a:p>
        </p:txBody>
      </p:sp>
      <p:sp>
        <p:nvSpPr>
          <p:cNvPr id="6" name="Content Placeholder 5">
            <a:extLst>
              <a:ext uri="{FF2B5EF4-FFF2-40B4-BE49-F238E27FC236}">
                <a16:creationId xmlns:a16="http://schemas.microsoft.com/office/drawing/2014/main" id="{F0B49DB5-98FC-42F0-BDE8-926EEAF8C1C6}"/>
              </a:ext>
            </a:extLst>
          </p:cNvPr>
          <p:cNvSpPr>
            <a:spLocks noGrp="1"/>
          </p:cNvSpPr>
          <p:nvPr>
            <p:ph sz="half" idx="2"/>
          </p:nvPr>
        </p:nvSpPr>
        <p:spPr>
          <a:xfrm>
            <a:off x="6172200" y="1600200"/>
            <a:ext cx="4038600" cy="4983162"/>
          </a:xfrm>
        </p:spPr>
        <p:style>
          <a:lnRef idx="2">
            <a:schemeClr val="accent1"/>
          </a:lnRef>
          <a:fillRef idx="1">
            <a:schemeClr val="lt1"/>
          </a:fillRef>
          <a:effectRef idx="0">
            <a:schemeClr val="accent1"/>
          </a:effectRef>
          <a:fontRef idx="minor">
            <a:schemeClr val="dk1"/>
          </a:fontRef>
        </p:style>
        <p:txBody>
          <a:bodyPr>
            <a:normAutofit lnSpcReduction="10000"/>
          </a:bodyPr>
          <a:lstStyle/>
          <a:p>
            <a:r>
              <a:rPr lang="en-GB" sz="1700" dirty="0"/>
              <a:t>It is supports unicast (one-to-one), multicast (one-to-many), and broadcast (one-to-all) communications.</a:t>
            </a:r>
          </a:p>
          <a:p>
            <a:r>
              <a:rPr lang="en-GB" sz="1700" dirty="0"/>
              <a:t>Transmission mode is full duplex, i.e. communication in the channel occurs in both the directions at the same time. Due to this, collisions do not occur.</a:t>
            </a:r>
          </a:p>
          <a:p>
            <a:r>
              <a:rPr lang="en-GB" sz="1700" dirty="0"/>
              <a:t>Switches are active devices, equipped with network software and network management capabilities.</a:t>
            </a:r>
          </a:p>
          <a:p>
            <a:r>
              <a:rPr lang="en-GB" sz="1700" dirty="0"/>
              <a:t>Switches can perform some error checking before forwarding data to the destined port.</a:t>
            </a:r>
          </a:p>
          <a:p>
            <a:r>
              <a:rPr lang="en-GB" sz="1700" dirty="0"/>
              <a:t>The number of ports is higher 24/48.</a:t>
            </a:r>
          </a:p>
          <a:p>
            <a:endParaRPr lang="en-GB" sz="1700" dirty="0"/>
          </a:p>
        </p:txBody>
      </p:sp>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spTree>
    <p:extLst>
      <p:ext uri="{BB962C8B-B14F-4D97-AF65-F5344CB8AC3E}">
        <p14:creationId xmlns:p14="http://schemas.microsoft.com/office/powerpoint/2010/main" val="259401127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p:txBody>
          <a:bodyPr>
            <a:normAutofit fontScale="90000"/>
          </a:bodyPr>
          <a:lstStyle/>
          <a:p>
            <a:pPr algn="ctr"/>
            <a:r>
              <a:rPr lang="en-GB" b="0" dirty="0">
                <a:effectLst/>
              </a:rPr>
              <a:t>Network Connecting Devices</a:t>
            </a:r>
            <a:br>
              <a:rPr lang="en-GB" b="0" dirty="0">
                <a:effectLst/>
              </a:rPr>
            </a:br>
            <a:r>
              <a:rPr lang="en-GB" dirty="0"/>
              <a:t>Types of Switches</a:t>
            </a:r>
            <a:br>
              <a:rPr lang="en-GB" dirty="0"/>
            </a:br>
            <a:endParaRPr lang="en-GB" dirty="0"/>
          </a:p>
        </p:txBody>
      </p:sp>
      <p:sp>
        <p:nvSpPr>
          <p:cNvPr id="3" name="Content Placeholder 2">
            <a:extLst>
              <a:ext uri="{FF2B5EF4-FFF2-40B4-BE49-F238E27FC236}">
                <a16:creationId xmlns:a16="http://schemas.microsoft.com/office/drawing/2014/main" id="{1E0FCA85-21D8-4660-AB89-EAD2E314066B}"/>
              </a:ext>
            </a:extLst>
          </p:cNvPr>
          <p:cNvSpPr>
            <a:spLocks noGrp="1"/>
          </p:cNvSpPr>
          <p:nvPr>
            <p:ph sz="half" idx="1"/>
          </p:nvPr>
        </p:nvSpPr>
        <p:spPr/>
        <p:txBody>
          <a:bodyPr>
            <a:normAutofit lnSpcReduction="10000"/>
          </a:bodyPr>
          <a:lstStyle/>
          <a:p>
            <a:endParaRPr lang="en-GB" dirty="0"/>
          </a:p>
          <a:p>
            <a:endParaRPr lang="en-GB" dirty="0"/>
          </a:p>
        </p:txBody>
      </p:sp>
      <p:sp>
        <p:nvSpPr>
          <p:cNvPr id="5" name="Content Placeholder 4">
            <a:extLst>
              <a:ext uri="{FF2B5EF4-FFF2-40B4-BE49-F238E27FC236}">
                <a16:creationId xmlns:a16="http://schemas.microsoft.com/office/drawing/2014/main" id="{2AF0533A-B607-4D7D-8D4B-4298EFEA9D49}"/>
              </a:ext>
            </a:extLst>
          </p:cNvPr>
          <p:cNvSpPr>
            <a:spLocks noGrp="1"/>
          </p:cNvSpPr>
          <p:nvPr>
            <p:ph sz="half" idx="2"/>
          </p:nvPr>
        </p:nvSpPr>
        <p:spPr>
          <a:xfrm>
            <a:off x="6172200" y="1600200"/>
            <a:ext cx="4038600" cy="4983162"/>
          </a:xfrm>
        </p:spPr>
        <p:style>
          <a:lnRef idx="2">
            <a:schemeClr val="accent1"/>
          </a:lnRef>
          <a:fillRef idx="1">
            <a:schemeClr val="lt1"/>
          </a:fillRef>
          <a:effectRef idx="0">
            <a:schemeClr val="accent1"/>
          </a:effectRef>
          <a:fontRef idx="minor">
            <a:schemeClr val="dk1"/>
          </a:fontRef>
        </p:style>
        <p:txBody>
          <a:bodyPr>
            <a:normAutofit lnSpcReduction="10000"/>
          </a:bodyPr>
          <a:lstStyle/>
          <a:p>
            <a:pPr marL="0" indent="0">
              <a:buNone/>
            </a:pPr>
            <a:r>
              <a:rPr lang="en-GB" sz="1800" b="1" dirty="0"/>
              <a:t>Unmanaged Switch:</a:t>
            </a:r>
          </a:p>
          <a:p>
            <a:r>
              <a:rPr lang="en-GB" sz="1800" dirty="0"/>
              <a:t> These are inexpensive switches commonly used in home networks and small businesses. </a:t>
            </a:r>
          </a:p>
          <a:p>
            <a:r>
              <a:rPr lang="en-GB" sz="1800" dirty="0"/>
              <a:t>They can be set up by simply plugging in to the network, after which they instantly start operating. </a:t>
            </a:r>
          </a:p>
          <a:p>
            <a:r>
              <a:rPr lang="en-GB" sz="1800" dirty="0"/>
              <a:t>When more devices needs to be added, more switches are simply added by this plug and play method. </a:t>
            </a:r>
          </a:p>
          <a:p>
            <a:r>
              <a:rPr lang="en-GB" sz="1800" dirty="0"/>
              <a:t>They are referred to as u managed since they do not require to be configured or monitored.</a:t>
            </a:r>
          </a:p>
          <a:p>
            <a:endParaRPr lang="en-GB" sz="1800" dirty="0"/>
          </a:p>
        </p:txBody>
      </p:sp>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pic>
        <p:nvPicPr>
          <p:cNvPr id="6" name="Picture 5">
            <a:extLst>
              <a:ext uri="{FF2B5EF4-FFF2-40B4-BE49-F238E27FC236}">
                <a16:creationId xmlns:a16="http://schemas.microsoft.com/office/drawing/2014/main" id="{44C57AF9-0F69-4DCE-A933-EAC0F5FE7F39}"/>
              </a:ext>
            </a:extLst>
          </p:cNvPr>
          <p:cNvPicPr>
            <a:picLocks noChangeAspect="1"/>
          </p:cNvPicPr>
          <p:nvPr/>
        </p:nvPicPr>
        <p:blipFill>
          <a:blip r:embed="rId2"/>
          <a:stretch>
            <a:fillRect/>
          </a:stretch>
        </p:blipFill>
        <p:spPr>
          <a:xfrm>
            <a:off x="1524001" y="1907499"/>
            <a:ext cx="4468723" cy="3121701"/>
          </a:xfrm>
          <a:prstGeom prst="rect">
            <a:avLst/>
          </a:prstGeom>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252807477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p:txBody>
          <a:bodyPr>
            <a:normAutofit fontScale="90000"/>
          </a:bodyPr>
          <a:lstStyle/>
          <a:p>
            <a:pPr algn="ctr"/>
            <a:r>
              <a:rPr lang="en-GB" b="0" dirty="0">
                <a:effectLst/>
              </a:rPr>
              <a:t>Network Connecting Devices</a:t>
            </a:r>
            <a:br>
              <a:rPr lang="en-GB" b="0" dirty="0">
                <a:effectLst/>
              </a:rPr>
            </a:br>
            <a:r>
              <a:rPr lang="en-GB" dirty="0"/>
              <a:t>Types of Switches</a:t>
            </a:r>
            <a:br>
              <a:rPr lang="en-GB" dirty="0"/>
            </a:br>
            <a:endParaRPr lang="en-GB" dirty="0"/>
          </a:p>
        </p:txBody>
      </p:sp>
      <p:sp>
        <p:nvSpPr>
          <p:cNvPr id="5" name="Content Placeholder 4">
            <a:extLst>
              <a:ext uri="{FF2B5EF4-FFF2-40B4-BE49-F238E27FC236}">
                <a16:creationId xmlns:a16="http://schemas.microsoft.com/office/drawing/2014/main" id="{2AF0533A-B607-4D7D-8D4B-4298EFEA9D49}"/>
              </a:ext>
            </a:extLst>
          </p:cNvPr>
          <p:cNvSpPr>
            <a:spLocks noGrp="1"/>
          </p:cNvSpPr>
          <p:nvPr>
            <p:ph sz="half" idx="1"/>
          </p:nvPr>
        </p:nvSpPr>
        <p:spPr>
          <a:xfrm>
            <a:off x="6172200" y="1600200"/>
            <a:ext cx="4038600" cy="5105400"/>
          </a:xfrm>
        </p:spPr>
        <p:style>
          <a:lnRef idx="2">
            <a:schemeClr val="accent1"/>
          </a:lnRef>
          <a:fillRef idx="1">
            <a:schemeClr val="lt1"/>
          </a:fillRef>
          <a:effectRef idx="0">
            <a:schemeClr val="accent1"/>
          </a:effectRef>
          <a:fontRef idx="minor">
            <a:schemeClr val="dk1"/>
          </a:fontRef>
        </p:style>
        <p:txBody>
          <a:bodyPr>
            <a:normAutofit lnSpcReduction="10000"/>
          </a:bodyPr>
          <a:lstStyle/>
          <a:p>
            <a:pPr marL="0" indent="0">
              <a:buNone/>
            </a:pPr>
            <a:r>
              <a:rPr lang="en-GB" sz="1700" b="1" dirty="0"/>
              <a:t>Managed Switch:</a:t>
            </a:r>
          </a:p>
          <a:p>
            <a:r>
              <a:rPr lang="en-GB" sz="1700" dirty="0"/>
              <a:t>These are costly switches that are used in organisations with large and complex networks, since they can be customized to augment the functionalities of a standard switch. </a:t>
            </a:r>
          </a:p>
          <a:p>
            <a:r>
              <a:rPr lang="en-GB" sz="1700" dirty="0"/>
              <a:t>The augmented features may be QoS (Quality of Service) like higher security levels, better precision control and complete network management. </a:t>
            </a:r>
          </a:p>
          <a:p>
            <a:r>
              <a:rPr lang="en-GB" sz="1700" dirty="0"/>
              <a:t>Despite their cost, they are preferred in growing organizations due to their scalability and flexibility. </a:t>
            </a:r>
          </a:p>
          <a:p>
            <a:r>
              <a:rPr lang="en-GB" sz="1700" dirty="0"/>
              <a:t>Simple Network Management Protocol (SNMP) is used for configuring managed switches.</a:t>
            </a:r>
          </a:p>
          <a:p>
            <a:endParaRPr lang="en-GB" sz="1700" dirty="0"/>
          </a:p>
        </p:txBody>
      </p:sp>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pic>
        <p:nvPicPr>
          <p:cNvPr id="6" name="Picture 5">
            <a:extLst>
              <a:ext uri="{FF2B5EF4-FFF2-40B4-BE49-F238E27FC236}">
                <a16:creationId xmlns:a16="http://schemas.microsoft.com/office/drawing/2014/main" id="{44C57AF9-0F69-4DCE-A933-EAC0F5FE7F39}"/>
              </a:ext>
            </a:extLst>
          </p:cNvPr>
          <p:cNvPicPr>
            <a:picLocks noChangeAspect="1"/>
          </p:cNvPicPr>
          <p:nvPr/>
        </p:nvPicPr>
        <p:blipFill>
          <a:blip r:embed="rId2"/>
          <a:stretch>
            <a:fillRect/>
          </a:stretch>
        </p:blipFill>
        <p:spPr>
          <a:xfrm>
            <a:off x="1524001" y="1907499"/>
            <a:ext cx="4468723" cy="3031760"/>
          </a:xfrm>
          <a:prstGeom prst="rect">
            <a:avLst/>
          </a:prstGeom>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200768769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p:txBody>
          <a:bodyPr>
            <a:normAutofit fontScale="90000"/>
          </a:bodyPr>
          <a:lstStyle/>
          <a:p>
            <a:pPr algn="ctr"/>
            <a:r>
              <a:rPr lang="en-GB" b="0" dirty="0">
                <a:effectLst/>
              </a:rPr>
              <a:t>Network Connecting Devices</a:t>
            </a:r>
            <a:br>
              <a:rPr lang="en-GB" b="0" dirty="0">
                <a:effectLst/>
              </a:rPr>
            </a:br>
            <a:r>
              <a:rPr lang="en-GB" dirty="0"/>
              <a:t>Types of Switches</a:t>
            </a:r>
            <a:br>
              <a:rPr lang="en-GB" dirty="0"/>
            </a:br>
            <a:endParaRPr lang="en-GB" dirty="0"/>
          </a:p>
        </p:txBody>
      </p:sp>
      <p:sp>
        <p:nvSpPr>
          <p:cNvPr id="3" name="Content Placeholder 2">
            <a:extLst>
              <a:ext uri="{FF2B5EF4-FFF2-40B4-BE49-F238E27FC236}">
                <a16:creationId xmlns:a16="http://schemas.microsoft.com/office/drawing/2014/main" id="{1E0FCA85-21D8-4660-AB89-EAD2E314066B}"/>
              </a:ext>
            </a:extLst>
          </p:cNvPr>
          <p:cNvSpPr>
            <a:spLocks noGrp="1"/>
          </p:cNvSpPr>
          <p:nvPr>
            <p:ph sz="half" idx="1"/>
          </p:nvPr>
        </p:nvSpPr>
        <p:spPr/>
        <p:txBody>
          <a:bodyPr>
            <a:normAutofit fontScale="92500"/>
          </a:bodyPr>
          <a:lstStyle/>
          <a:p>
            <a:endParaRPr lang="en-GB" dirty="0"/>
          </a:p>
          <a:p>
            <a:endParaRPr lang="en-GB" dirty="0"/>
          </a:p>
        </p:txBody>
      </p:sp>
      <p:sp>
        <p:nvSpPr>
          <p:cNvPr id="5" name="Content Placeholder 4">
            <a:extLst>
              <a:ext uri="{FF2B5EF4-FFF2-40B4-BE49-F238E27FC236}">
                <a16:creationId xmlns:a16="http://schemas.microsoft.com/office/drawing/2014/main" id="{2AF0533A-B607-4D7D-8D4B-4298EFEA9D49}"/>
              </a:ext>
            </a:extLst>
          </p:cNvPr>
          <p:cNvSpPr>
            <a:spLocks noGrp="1"/>
          </p:cNvSpPr>
          <p:nvPr>
            <p:ph sz="half" idx="2"/>
          </p:nvPr>
        </p:nvSpPr>
        <p:spPr>
          <a:xfrm>
            <a:off x="6172200" y="1600200"/>
            <a:ext cx="4038600" cy="4983162"/>
          </a:xfrm>
        </p:spPr>
        <p:style>
          <a:lnRef idx="2">
            <a:schemeClr val="accent1"/>
          </a:lnRef>
          <a:fillRef idx="1">
            <a:schemeClr val="lt1"/>
          </a:fillRef>
          <a:effectRef idx="0">
            <a:schemeClr val="accent1"/>
          </a:effectRef>
          <a:fontRef idx="minor">
            <a:schemeClr val="dk1"/>
          </a:fontRef>
        </p:style>
        <p:txBody>
          <a:bodyPr>
            <a:normAutofit fontScale="92500"/>
          </a:bodyPr>
          <a:lstStyle/>
          <a:p>
            <a:pPr marL="0" indent="0">
              <a:buNone/>
            </a:pPr>
            <a:r>
              <a:rPr lang="en-GB" sz="2000" b="1" dirty="0"/>
              <a:t>LAN Switch:</a:t>
            </a:r>
          </a:p>
          <a:p>
            <a:r>
              <a:rPr lang="en-GB" sz="2000" dirty="0"/>
              <a:t> Local Area Network (LAN) switches connects devices in the internal LAN of an organization. </a:t>
            </a:r>
          </a:p>
          <a:p>
            <a:r>
              <a:rPr lang="en-GB" sz="2000" dirty="0"/>
              <a:t>They are also referred as Ethernet switches or data switches. </a:t>
            </a:r>
          </a:p>
          <a:p>
            <a:r>
              <a:rPr lang="en-GB" sz="2000" dirty="0"/>
              <a:t>These switches are particularly helpful in reducing network congestion or bottlenecks.</a:t>
            </a:r>
          </a:p>
          <a:p>
            <a:r>
              <a:rPr lang="en-GB" sz="2000" dirty="0"/>
              <a:t>They allocate bandwidth in a manner so that there is no overlapping of data packets in a network.</a:t>
            </a:r>
          </a:p>
          <a:p>
            <a:endParaRPr lang="en-GB" sz="2000" dirty="0"/>
          </a:p>
        </p:txBody>
      </p:sp>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pic>
        <p:nvPicPr>
          <p:cNvPr id="6" name="Picture 5">
            <a:extLst>
              <a:ext uri="{FF2B5EF4-FFF2-40B4-BE49-F238E27FC236}">
                <a16:creationId xmlns:a16="http://schemas.microsoft.com/office/drawing/2014/main" id="{44C57AF9-0F69-4DCE-A933-EAC0F5FE7F39}"/>
              </a:ext>
            </a:extLst>
          </p:cNvPr>
          <p:cNvPicPr>
            <a:picLocks noChangeAspect="1"/>
          </p:cNvPicPr>
          <p:nvPr/>
        </p:nvPicPr>
        <p:blipFill>
          <a:blip r:embed="rId2"/>
          <a:stretch>
            <a:fillRect/>
          </a:stretch>
        </p:blipFill>
        <p:spPr>
          <a:xfrm>
            <a:off x="1524001" y="1907499"/>
            <a:ext cx="4468723" cy="2379688"/>
          </a:xfrm>
          <a:prstGeom prst="rect">
            <a:avLst/>
          </a:prstGeom>
        </p:spPr>
      </p:pic>
    </p:spTree>
    <p:extLst>
      <p:ext uri="{BB962C8B-B14F-4D97-AF65-F5344CB8AC3E}">
        <p14:creationId xmlns:p14="http://schemas.microsoft.com/office/powerpoint/2010/main" val="92542421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p:txBody>
          <a:bodyPr>
            <a:normAutofit fontScale="90000"/>
          </a:bodyPr>
          <a:lstStyle/>
          <a:p>
            <a:pPr algn="ctr"/>
            <a:r>
              <a:rPr lang="en-GB" b="0" dirty="0">
                <a:effectLst/>
              </a:rPr>
              <a:t>Network Connecting Devices</a:t>
            </a:r>
            <a:br>
              <a:rPr lang="en-GB" b="0" dirty="0">
                <a:effectLst/>
              </a:rPr>
            </a:br>
            <a:r>
              <a:rPr lang="en-GB" dirty="0"/>
              <a:t>Types of Switches</a:t>
            </a:r>
            <a:br>
              <a:rPr lang="en-GB" dirty="0"/>
            </a:br>
            <a:endParaRPr lang="en-GB" dirty="0"/>
          </a:p>
        </p:txBody>
      </p:sp>
      <p:sp>
        <p:nvSpPr>
          <p:cNvPr id="3" name="Content Placeholder 2">
            <a:extLst>
              <a:ext uri="{FF2B5EF4-FFF2-40B4-BE49-F238E27FC236}">
                <a16:creationId xmlns:a16="http://schemas.microsoft.com/office/drawing/2014/main" id="{1E0FCA85-21D8-4660-AB89-EAD2E314066B}"/>
              </a:ext>
            </a:extLst>
          </p:cNvPr>
          <p:cNvSpPr>
            <a:spLocks noGrp="1"/>
          </p:cNvSpPr>
          <p:nvPr>
            <p:ph sz="half" idx="1"/>
          </p:nvPr>
        </p:nvSpPr>
        <p:spPr/>
        <p:txBody>
          <a:bodyPr/>
          <a:lstStyle/>
          <a:p>
            <a:endParaRPr lang="en-GB" dirty="0"/>
          </a:p>
          <a:p>
            <a:endParaRPr lang="en-GB" dirty="0"/>
          </a:p>
        </p:txBody>
      </p:sp>
      <p:sp>
        <p:nvSpPr>
          <p:cNvPr id="5" name="Content Placeholder 4">
            <a:extLst>
              <a:ext uri="{FF2B5EF4-FFF2-40B4-BE49-F238E27FC236}">
                <a16:creationId xmlns:a16="http://schemas.microsoft.com/office/drawing/2014/main" id="{2AF0533A-B607-4D7D-8D4B-4298EFEA9D49}"/>
              </a:ext>
            </a:extLst>
          </p:cNvPr>
          <p:cNvSpPr>
            <a:spLocks noGrp="1"/>
          </p:cNvSpPr>
          <p:nvPr>
            <p:ph sz="half" idx="2"/>
          </p:nvPr>
        </p:nvSpPr>
        <p:spPr>
          <a:xfrm>
            <a:off x="6172200" y="1600200"/>
            <a:ext cx="4038600" cy="4928016"/>
          </a:xfrm>
        </p:spPr>
        <p:style>
          <a:lnRef idx="2">
            <a:schemeClr val="accent1"/>
          </a:lnRef>
          <a:fillRef idx="1">
            <a:schemeClr val="lt1"/>
          </a:fillRef>
          <a:effectRef idx="0">
            <a:schemeClr val="accent1"/>
          </a:effectRef>
          <a:fontRef idx="minor">
            <a:schemeClr val="dk1"/>
          </a:fontRef>
        </p:style>
        <p:txBody>
          <a:bodyPr/>
          <a:lstStyle/>
          <a:p>
            <a:pPr marL="0" indent="0">
              <a:buNone/>
            </a:pPr>
            <a:r>
              <a:rPr lang="en-GB" sz="2000" b="1" dirty="0"/>
              <a:t>PoE Switch:</a:t>
            </a:r>
          </a:p>
          <a:p>
            <a:r>
              <a:rPr lang="en-GB" sz="2000" dirty="0"/>
              <a:t> Power over Ethernet (PoE) switches are used in PoE </a:t>
            </a:r>
            <a:r>
              <a:rPr lang="en-GB" sz="2000" dirty="0" err="1"/>
              <a:t>Gogabit</a:t>
            </a:r>
            <a:r>
              <a:rPr lang="en-GB" sz="2000" dirty="0"/>
              <a:t> Ethernets. </a:t>
            </a:r>
          </a:p>
          <a:p>
            <a:r>
              <a:rPr lang="en-GB" sz="2000" dirty="0"/>
              <a:t>PoE technology combine data and power transmission over the same cable so that devices connected to it can receive both electricity as well as data over the same line. </a:t>
            </a:r>
          </a:p>
          <a:p>
            <a:r>
              <a:rPr lang="en-GB" sz="2000" dirty="0"/>
              <a:t>PoE switches offer greater flexibility and simplifies the cabling connections</a:t>
            </a:r>
          </a:p>
          <a:p>
            <a:endParaRPr lang="en-GB" sz="2000" dirty="0"/>
          </a:p>
        </p:txBody>
      </p:sp>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pic>
        <p:nvPicPr>
          <p:cNvPr id="6" name="Picture 5">
            <a:extLst>
              <a:ext uri="{FF2B5EF4-FFF2-40B4-BE49-F238E27FC236}">
                <a16:creationId xmlns:a16="http://schemas.microsoft.com/office/drawing/2014/main" id="{44C57AF9-0F69-4DCE-A933-EAC0F5FE7F39}"/>
              </a:ext>
            </a:extLst>
          </p:cNvPr>
          <p:cNvPicPr>
            <a:picLocks noChangeAspect="1"/>
          </p:cNvPicPr>
          <p:nvPr/>
        </p:nvPicPr>
        <p:blipFill>
          <a:blip r:embed="rId2"/>
          <a:stretch>
            <a:fillRect/>
          </a:stretch>
        </p:blipFill>
        <p:spPr>
          <a:xfrm>
            <a:off x="1524001" y="1907499"/>
            <a:ext cx="4468723" cy="2379688"/>
          </a:xfrm>
          <a:prstGeom prst="rect">
            <a:avLst/>
          </a:prstGeom>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348975263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p:txBody>
          <a:bodyPr>
            <a:normAutofit fontScale="90000"/>
          </a:bodyPr>
          <a:lstStyle/>
          <a:p>
            <a:pPr algn="ctr"/>
            <a:r>
              <a:rPr lang="en-GB" b="0" dirty="0">
                <a:effectLst/>
              </a:rPr>
              <a:t>Network Connecting Devices</a:t>
            </a:r>
            <a:br>
              <a:rPr lang="en-GB" b="0" dirty="0">
                <a:effectLst/>
              </a:rPr>
            </a:br>
            <a:r>
              <a:rPr lang="en-GB" b="0" dirty="0">
                <a:effectLst/>
              </a:rPr>
              <a:t>Repeaters</a:t>
            </a:r>
            <a:br>
              <a:rPr lang="en-GB" b="0" dirty="0">
                <a:effectLst/>
              </a:rPr>
            </a:br>
            <a:endParaRPr lang="en-GB" dirty="0"/>
          </a:p>
        </p:txBody>
      </p:sp>
      <p:sp>
        <p:nvSpPr>
          <p:cNvPr id="3" name="Content Placeholder 2">
            <a:extLst>
              <a:ext uri="{FF2B5EF4-FFF2-40B4-BE49-F238E27FC236}">
                <a16:creationId xmlns:a16="http://schemas.microsoft.com/office/drawing/2014/main" id="{1E0FCA85-21D8-4660-AB89-EAD2E314066B}"/>
              </a:ext>
            </a:extLst>
          </p:cNvPr>
          <p:cNvSpPr>
            <a:spLocks noGrp="1"/>
          </p:cNvSpPr>
          <p:nvPr>
            <p:ph sz="half" idx="1"/>
          </p:nvPr>
        </p:nvSpPr>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r>
              <a:rPr lang="en-GB" sz="2000" dirty="0"/>
              <a:t>Repeaters are network devices operating at physical layer of the OSI model that amplify or regenerate an incoming signal before retransmitting it. </a:t>
            </a:r>
          </a:p>
          <a:p>
            <a:endParaRPr lang="en-GB" sz="2000" dirty="0"/>
          </a:p>
          <a:p>
            <a:r>
              <a:rPr lang="en-GB" sz="2000" dirty="0"/>
              <a:t>They are incorporated in networks to expand its coverage area. </a:t>
            </a:r>
          </a:p>
          <a:p>
            <a:endParaRPr lang="en-GB" sz="2000" dirty="0"/>
          </a:p>
          <a:p>
            <a:r>
              <a:rPr lang="en-GB" sz="2000" dirty="0"/>
              <a:t>They are also known as signal boosters.</a:t>
            </a:r>
          </a:p>
          <a:p>
            <a:endParaRPr lang="en-GB" sz="2000" dirty="0"/>
          </a:p>
        </p:txBody>
      </p:sp>
      <p:pic>
        <p:nvPicPr>
          <p:cNvPr id="6" name="Content Placeholder 5">
            <a:extLst>
              <a:ext uri="{FF2B5EF4-FFF2-40B4-BE49-F238E27FC236}">
                <a16:creationId xmlns:a16="http://schemas.microsoft.com/office/drawing/2014/main" id="{3E29D7A6-6DDF-46A9-8DB7-F8DB0820564D}"/>
              </a:ext>
            </a:extLst>
          </p:cNvPr>
          <p:cNvPicPr>
            <a:picLocks noGrp="1" noChangeAspect="1"/>
          </p:cNvPicPr>
          <p:nvPr>
            <p:ph sz="half" idx="2"/>
          </p:nvPr>
        </p:nvPicPr>
        <p:blipFill>
          <a:blip r:embed="rId2"/>
          <a:stretch>
            <a:fillRect/>
          </a:stretch>
        </p:blipFill>
        <p:spPr>
          <a:xfrm>
            <a:off x="6172200" y="1811384"/>
            <a:ext cx="4365171" cy="3866605"/>
          </a:xfrm>
          <a:prstGeom prst="rect">
            <a:avLst/>
          </a:prstGeom>
        </p:spPr>
      </p:pic>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spTree>
    <p:extLst>
      <p:ext uri="{BB962C8B-B14F-4D97-AF65-F5344CB8AC3E}">
        <p14:creationId xmlns:p14="http://schemas.microsoft.com/office/powerpoint/2010/main" val="306508676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p:txBody>
          <a:bodyPr>
            <a:normAutofit fontScale="90000"/>
          </a:bodyPr>
          <a:lstStyle/>
          <a:p>
            <a:pPr algn="ctr"/>
            <a:r>
              <a:rPr lang="en-GB" b="0" dirty="0">
                <a:effectLst/>
              </a:rPr>
              <a:t>Network Connecting Devices</a:t>
            </a:r>
            <a:br>
              <a:rPr lang="en-GB" b="0" dirty="0">
                <a:effectLst/>
              </a:rPr>
            </a:br>
            <a:r>
              <a:rPr lang="en-GB" b="0" dirty="0">
                <a:effectLst/>
              </a:rPr>
              <a:t>Repeaters</a:t>
            </a:r>
            <a:br>
              <a:rPr lang="en-GB" b="0" dirty="0">
                <a:effectLst/>
              </a:rPr>
            </a:br>
            <a:r>
              <a:rPr lang="en-GB" sz="4000" dirty="0"/>
              <a:t>Why are Repeaters needed?</a:t>
            </a:r>
            <a:br>
              <a:rPr lang="en-GB" sz="4000" dirty="0"/>
            </a:br>
            <a:endParaRPr lang="en-GB" dirty="0"/>
          </a:p>
        </p:txBody>
      </p:sp>
      <p:sp>
        <p:nvSpPr>
          <p:cNvPr id="7" name="Content Placeholder 6">
            <a:extLst>
              <a:ext uri="{FF2B5EF4-FFF2-40B4-BE49-F238E27FC236}">
                <a16:creationId xmlns:a16="http://schemas.microsoft.com/office/drawing/2014/main" id="{A6D444B4-DD3C-448D-B5BE-36755E5CDFFE}"/>
              </a:ext>
            </a:extLst>
          </p:cNvPr>
          <p:cNvSpPr>
            <a:spLocks noGrp="1"/>
          </p:cNvSpPr>
          <p:nvPr>
            <p:ph sz="half" idx="1"/>
          </p:nvPr>
        </p:nvSpPr>
        <p:spPr>
          <a:xfrm>
            <a:off x="1981200" y="2403834"/>
            <a:ext cx="4038600" cy="4179527"/>
          </a:xfrm>
        </p:spPr>
        <p:txBody>
          <a:bodyPr/>
          <a:lstStyle/>
          <a:p>
            <a:r>
              <a:rPr lang="en-GB" sz="2000" dirty="0"/>
              <a:t>When an electrical signal is transmitted via a channel, it gets attenuated depending upon the nature of the channel or the technology. </a:t>
            </a:r>
          </a:p>
          <a:p>
            <a:r>
              <a:rPr lang="en-GB" sz="2000" dirty="0"/>
              <a:t>This poses a limitation upon the length of the LAN or coverage area of cellular networks. </a:t>
            </a:r>
          </a:p>
          <a:p>
            <a:r>
              <a:rPr lang="en-GB" sz="2000" dirty="0"/>
              <a:t>This problem is alleviated by installing repeaters at certain intervals.</a:t>
            </a:r>
          </a:p>
        </p:txBody>
      </p:sp>
      <p:sp>
        <p:nvSpPr>
          <p:cNvPr id="9" name="Content Placeholder 8">
            <a:extLst>
              <a:ext uri="{FF2B5EF4-FFF2-40B4-BE49-F238E27FC236}">
                <a16:creationId xmlns:a16="http://schemas.microsoft.com/office/drawing/2014/main" id="{05241723-B4C8-4DB9-B5D1-B633B73D79F9}"/>
              </a:ext>
            </a:extLst>
          </p:cNvPr>
          <p:cNvSpPr>
            <a:spLocks noGrp="1"/>
          </p:cNvSpPr>
          <p:nvPr>
            <p:ph sz="half" idx="2"/>
          </p:nvPr>
        </p:nvSpPr>
        <p:spPr>
          <a:xfrm>
            <a:off x="6172200" y="2403834"/>
            <a:ext cx="4038600" cy="4536898"/>
          </a:xfrm>
        </p:spPr>
        <p:txBody>
          <a:bodyPr/>
          <a:lstStyle/>
          <a:p>
            <a:r>
              <a:rPr lang="en-GB" sz="2000" dirty="0"/>
              <a:t>Repeaters amplifies the attenuated signal and then retransmits it. </a:t>
            </a:r>
          </a:p>
          <a:p>
            <a:endParaRPr lang="en-GB" sz="2000" dirty="0"/>
          </a:p>
          <a:p>
            <a:r>
              <a:rPr lang="en-GB" sz="2000" dirty="0"/>
              <a:t>Digital repeaters can even reconstruct signals distorted by transmission loss. </a:t>
            </a:r>
          </a:p>
          <a:p>
            <a:endParaRPr lang="en-GB" sz="2000" dirty="0"/>
          </a:p>
          <a:p>
            <a:r>
              <a:rPr lang="en-GB" sz="2000" dirty="0"/>
              <a:t>So, repeaters are popularly incorporated to connect between two LANs thus forming a large single LAN.</a:t>
            </a:r>
          </a:p>
        </p:txBody>
      </p:sp>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spTree>
    <p:extLst>
      <p:ext uri="{BB962C8B-B14F-4D97-AF65-F5344CB8AC3E}">
        <p14:creationId xmlns:p14="http://schemas.microsoft.com/office/powerpoint/2010/main" val="41238231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p:txBody>
          <a:bodyPr>
            <a:normAutofit fontScale="90000"/>
          </a:bodyPr>
          <a:lstStyle/>
          <a:p>
            <a:pPr algn="ctr"/>
            <a:r>
              <a:rPr lang="en-GB" b="0" dirty="0">
                <a:effectLst/>
              </a:rPr>
              <a:t>Network Connecting Devices</a:t>
            </a:r>
            <a:br>
              <a:rPr lang="en-GB" b="0" dirty="0">
                <a:effectLst/>
              </a:rPr>
            </a:br>
            <a:r>
              <a:rPr lang="en-GB" b="0" dirty="0">
                <a:effectLst/>
              </a:rPr>
              <a:t>Repeaters</a:t>
            </a:r>
            <a:br>
              <a:rPr lang="en-GB" b="0" dirty="0">
                <a:effectLst/>
              </a:rPr>
            </a:br>
            <a:r>
              <a:rPr lang="en-GB" sz="4000" dirty="0"/>
              <a:t>Types of Repeaters </a:t>
            </a:r>
            <a:br>
              <a:rPr lang="en-GB" sz="4000" dirty="0"/>
            </a:br>
            <a:endParaRPr lang="en-GB" dirty="0"/>
          </a:p>
        </p:txBody>
      </p:sp>
      <p:sp>
        <p:nvSpPr>
          <p:cNvPr id="7" name="Content Placeholder 6">
            <a:extLst>
              <a:ext uri="{FF2B5EF4-FFF2-40B4-BE49-F238E27FC236}">
                <a16:creationId xmlns:a16="http://schemas.microsoft.com/office/drawing/2014/main" id="{A6D444B4-DD3C-448D-B5BE-36755E5CDFFE}"/>
              </a:ext>
            </a:extLst>
          </p:cNvPr>
          <p:cNvSpPr>
            <a:spLocks noGrp="1"/>
          </p:cNvSpPr>
          <p:nvPr>
            <p:ph sz="half" idx="1"/>
          </p:nvPr>
        </p:nvSpPr>
        <p:spPr>
          <a:xfrm>
            <a:off x="1981200" y="1600200"/>
            <a:ext cx="4038600" cy="4983162"/>
          </a:xfrm>
        </p:spPr>
        <p:style>
          <a:lnRef idx="2">
            <a:schemeClr val="accent1"/>
          </a:lnRef>
          <a:fillRef idx="1">
            <a:schemeClr val="lt1"/>
          </a:fillRef>
          <a:effectRef idx="0">
            <a:schemeClr val="accent1"/>
          </a:effectRef>
          <a:fontRef idx="minor">
            <a:schemeClr val="dk1"/>
          </a:fontRef>
        </p:style>
        <p:txBody>
          <a:bodyPr>
            <a:normAutofit lnSpcReduction="10000"/>
          </a:bodyPr>
          <a:lstStyle/>
          <a:p>
            <a:pPr marL="0" indent="0">
              <a:buNone/>
            </a:pPr>
            <a:r>
              <a:rPr lang="en-GB" sz="2400" dirty="0">
                <a:solidFill>
                  <a:schemeClr val="accent1">
                    <a:lumMod val="75000"/>
                  </a:schemeClr>
                </a:solidFill>
              </a:rPr>
              <a:t>According to the types of signals that they regenerate, repeaters can be classified into two categories</a:t>
            </a:r>
            <a:r>
              <a:rPr lang="en-GB" sz="2400" dirty="0"/>
              <a:t>:</a:t>
            </a:r>
          </a:p>
          <a:p>
            <a:pPr marL="0" indent="0">
              <a:buNone/>
            </a:pPr>
            <a:endParaRPr lang="en-GB" sz="2400" dirty="0"/>
          </a:p>
          <a:p>
            <a:pPr marL="457200" indent="-457200">
              <a:buFont typeface="+mj-lt"/>
              <a:buAutoNum type="arabicParenR"/>
            </a:pPr>
            <a:r>
              <a:rPr lang="en-GB" sz="2400" b="1" dirty="0"/>
              <a:t>Analog Repeaters</a:t>
            </a:r>
            <a:r>
              <a:rPr lang="en-GB" sz="2400" dirty="0"/>
              <a:t> </a:t>
            </a:r>
          </a:p>
          <a:p>
            <a:pPr marL="400050" lvl="1" indent="0">
              <a:buNone/>
            </a:pPr>
            <a:r>
              <a:rPr lang="en-GB" sz="2000" i="1" dirty="0"/>
              <a:t>They can only amplify the </a:t>
            </a:r>
            <a:r>
              <a:rPr lang="en-GB" sz="2000" i="1" dirty="0" err="1"/>
              <a:t>analog</a:t>
            </a:r>
            <a:r>
              <a:rPr lang="en-GB" sz="2000" i="1" dirty="0"/>
              <a:t> signal.</a:t>
            </a:r>
          </a:p>
          <a:p>
            <a:pPr marL="400050" lvl="1" indent="0">
              <a:buNone/>
            </a:pPr>
            <a:endParaRPr lang="en-GB" sz="2000" i="1" dirty="0"/>
          </a:p>
          <a:p>
            <a:pPr marL="457200" indent="-457200">
              <a:buFont typeface="+mj-lt"/>
              <a:buAutoNum type="arabicParenR"/>
            </a:pPr>
            <a:r>
              <a:rPr lang="en-GB" sz="2400" b="1" dirty="0"/>
              <a:t>Digital Repeaters</a:t>
            </a:r>
            <a:r>
              <a:rPr lang="en-GB" sz="2400" dirty="0"/>
              <a:t> </a:t>
            </a:r>
          </a:p>
          <a:p>
            <a:pPr marL="400050" lvl="1" indent="0">
              <a:buNone/>
            </a:pPr>
            <a:r>
              <a:rPr lang="en-GB" sz="2000" i="1" dirty="0"/>
              <a:t>They can reconstruct a distorted signal</a:t>
            </a:r>
            <a:r>
              <a:rPr lang="en-GB" sz="2000" dirty="0"/>
              <a:t>.</a:t>
            </a:r>
          </a:p>
          <a:p>
            <a:endParaRPr lang="en-GB" sz="2000" dirty="0"/>
          </a:p>
        </p:txBody>
      </p:sp>
      <p:sp>
        <p:nvSpPr>
          <p:cNvPr id="9" name="Content Placeholder 8">
            <a:extLst>
              <a:ext uri="{FF2B5EF4-FFF2-40B4-BE49-F238E27FC236}">
                <a16:creationId xmlns:a16="http://schemas.microsoft.com/office/drawing/2014/main" id="{05241723-B4C8-4DB9-B5D1-B633B73D79F9}"/>
              </a:ext>
            </a:extLst>
          </p:cNvPr>
          <p:cNvSpPr>
            <a:spLocks noGrp="1"/>
          </p:cNvSpPr>
          <p:nvPr>
            <p:ph sz="half" idx="2"/>
          </p:nvPr>
        </p:nvSpPr>
        <p:spPr>
          <a:xfrm>
            <a:off x="6172200" y="1600201"/>
            <a:ext cx="4038600" cy="5340531"/>
          </a:xfrm>
        </p:spPr>
        <p:style>
          <a:lnRef idx="2">
            <a:schemeClr val="accent1"/>
          </a:lnRef>
          <a:fillRef idx="1">
            <a:schemeClr val="lt1"/>
          </a:fillRef>
          <a:effectRef idx="0">
            <a:schemeClr val="accent1"/>
          </a:effectRef>
          <a:fontRef idx="minor">
            <a:schemeClr val="dk1"/>
          </a:fontRef>
        </p:style>
        <p:txBody>
          <a:bodyPr>
            <a:normAutofit lnSpcReduction="10000"/>
          </a:bodyPr>
          <a:lstStyle/>
          <a:p>
            <a:pPr marL="0" indent="0">
              <a:buNone/>
            </a:pPr>
            <a:r>
              <a:rPr lang="en-GB" sz="2400" dirty="0">
                <a:solidFill>
                  <a:schemeClr val="accent1">
                    <a:lumMod val="75000"/>
                  </a:schemeClr>
                </a:solidFill>
              </a:rPr>
              <a:t>According to the types of networks that they connect, repeaters can be categorized into two types:</a:t>
            </a:r>
          </a:p>
          <a:p>
            <a:pPr marL="0" indent="0">
              <a:buNone/>
            </a:pPr>
            <a:endParaRPr lang="en-GB" sz="2400" dirty="0"/>
          </a:p>
          <a:p>
            <a:pPr marL="457200" indent="-457200">
              <a:buFont typeface="+mj-lt"/>
              <a:buAutoNum type="arabicParenR"/>
            </a:pPr>
            <a:r>
              <a:rPr lang="en-GB" sz="2400" b="1" dirty="0"/>
              <a:t>Wired Repeaters</a:t>
            </a:r>
            <a:r>
              <a:rPr lang="en-GB" sz="2400" dirty="0"/>
              <a:t> </a:t>
            </a:r>
          </a:p>
          <a:p>
            <a:pPr marL="457200" lvl="1" indent="0">
              <a:buNone/>
            </a:pPr>
            <a:r>
              <a:rPr lang="en-GB" sz="2000" dirty="0"/>
              <a:t>They are used in wired LANs.</a:t>
            </a:r>
          </a:p>
          <a:p>
            <a:pPr marL="457200" lvl="1" indent="0">
              <a:buNone/>
            </a:pPr>
            <a:endParaRPr lang="en-GB" sz="2000" dirty="0"/>
          </a:p>
          <a:p>
            <a:pPr marL="457200" indent="-457200">
              <a:buFont typeface="+mj-lt"/>
              <a:buAutoNum type="arabicParenR"/>
            </a:pPr>
            <a:r>
              <a:rPr lang="en-GB" sz="2400" b="1" dirty="0"/>
              <a:t>Wireless Repeaters</a:t>
            </a:r>
            <a:r>
              <a:rPr lang="en-GB" sz="2400" dirty="0"/>
              <a:t> </a:t>
            </a:r>
          </a:p>
          <a:p>
            <a:pPr lvl="1"/>
            <a:r>
              <a:rPr lang="en-GB" sz="2000" dirty="0"/>
              <a:t>They are used in wireless LANs and cellular networks.</a:t>
            </a:r>
          </a:p>
          <a:p>
            <a:endParaRPr lang="en-GB" sz="2000" dirty="0"/>
          </a:p>
        </p:txBody>
      </p:sp>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spTree>
    <p:extLst>
      <p:ext uri="{BB962C8B-B14F-4D97-AF65-F5344CB8AC3E}">
        <p14:creationId xmlns:p14="http://schemas.microsoft.com/office/powerpoint/2010/main" val="215239374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p:txBody>
          <a:bodyPr>
            <a:normAutofit fontScale="90000"/>
          </a:bodyPr>
          <a:lstStyle/>
          <a:p>
            <a:pPr algn="ctr"/>
            <a:r>
              <a:rPr lang="en-GB" b="0" dirty="0">
                <a:effectLst/>
              </a:rPr>
              <a:t>Network Connecting Devices</a:t>
            </a:r>
            <a:br>
              <a:rPr lang="en-GB" b="0" dirty="0">
                <a:effectLst/>
              </a:rPr>
            </a:br>
            <a:r>
              <a:rPr lang="en-GB" b="0" dirty="0">
                <a:effectLst/>
              </a:rPr>
              <a:t>Repeaters</a:t>
            </a:r>
            <a:br>
              <a:rPr lang="en-GB" b="0" dirty="0">
                <a:effectLst/>
              </a:rPr>
            </a:br>
            <a:r>
              <a:rPr lang="en-GB" sz="4000" dirty="0"/>
              <a:t>Types of Repeaters </a:t>
            </a:r>
            <a:br>
              <a:rPr lang="en-GB" sz="4000" dirty="0"/>
            </a:br>
            <a:endParaRPr lang="en-GB" dirty="0"/>
          </a:p>
        </p:txBody>
      </p:sp>
      <p:sp>
        <p:nvSpPr>
          <p:cNvPr id="7" name="Content Placeholder 6">
            <a:extLst>
              <a:ext uri="{FF2B5EF4-FFF2-40B4-BE49-F238E27FC236}">
                <a16:creationId xmlns:a16="http://schemas.microsoft.com/office/drawing/2014/main" id="{A6D444B4-DD3C-448D-B5BE-36755E5CDFFE}"/>
              </a:ext>
            </a:extLst>
          </p:cNvPr>
          <p:cNvSpPr>
            <a:spLocks noGrp="1"/>
          </p:cNvSpPr>
          <p:nvPr>
            <p:ph idx="1"/>
          </p:nvPr>
        </p:nvSpPr>
        <p:spPr/>
        <p:style>
          <a:lnRef idx="2">
            <a:schemeClr val="accent1"/>
          </a:lnRef>
          <a:fillRef idx="1">
            <a:schemeClr val="lt1"/>
          </a:fillRef>
          <a:effectRef idx="0">
            <a:schemeClr val="accent1"/>
          </a:effectRef>
          <a:fontRef idx="minor">
            <a:schemeClr val="dk1"/>
          </a:fontRef>
        </p:style>
        <p:txBody>
          <a:bodyPr/>
          <a:lstStyle/>
          <a:p>
            <a:pPr marL="0" indent="0">
              <a:buNone/>
            </a:pPr>
            <a:r>
              <a:rPr lang="en-GB" dirty="0">
                <a:solidFill>
                  <a:schemeClr val="accent1">
                    <a:lumMod val="75000"/>
                  </a:schemeClr>
                </a:solidFill>
              </a:rPr>
              <a:t>According to the domain of LANs they connect, repeaters can be divided into two categories</a:t>
            </a:r>
          </a:p>
          <a:p>
            <a:pPr marL="0" indent="0">
              <a:buNone/>
            </a:pPr>
            <a:r>
              <a:rPr lang="en-GB" sz="2400" b="1" dirty="0"/>
              <a:t>1)Local Repeaters</a:t>
            </a:r>
            <a:r>
              <a:rPr lang="en-GB" dirty="0"/>
              <a:t> </a:t>
            </a:r>
          </a:p>
          <a:p>
            <a:pPr marL="457200" lvl="1" indent="0">
              <a:buNone/>
            </a:pPr>
            <a:r>
              <a:rPr lang="en-GB" i="1" dirty="0"/>
              <a:t>They connect LAN segments separated by small distance.</a:t>
            </a:r>
          </a:p>
          <a:p>
            <a:pPr marL="457200" lvl="1" indent="0">
              <a:buNone/>
            </a:pPr>
            <a:endParaRPr lang="en-GB" i="1" dirty="0"/>
          </a:p>
          <a:p>
            <a:pPr marL="0" indent="0">
              <a:buNone/>
            </a:pPr>
            <a:r>
              <a:rPr lang="en-GB" sz="2000" b="1" dirty="0"/>
              <a:t>2) Remote Repeaters</a:t>
            </a:r>
            <a:r>
              <a:rPr lang="en-GB" sz="2000" dirty="0"/>
              <a:t> </a:t>
            </a:r>
          </a:p>
          <a:p>
            <a:r>
              <a:rPr lang="en-GB" sz="2000" i="1" dirty="0"/>
              <a:t>They connect LANs that are far from each other.</a:t>
            </a:r>
          </a:p>
          <a:p>
            <a:pPr marL="457200" lvl="1" indent="0">
              <a:buNone/>
            </a:pPr>
            <a:endParaRPr lang="en-GB" i="1" dirty="0"/>
          </a:p>
          <a:p>
            <a:endParaRPr lang="en-GB" sz="2000" dirty="0"/>
          </a:p>
        </p:txBody>
      </p:sp>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spTree>
    <p:extLst>
      <p:ext uri="{BB962C8B-B14F-4D97-AF65-F5344CB8AC3E}">
        <p14:creationId xmlns:p14="http://schemas.microsoft.com/office/powerpoint/2010/main" val="245128196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p:txBody>
          <a:bodyPr>
            <a:normAutofit fontScale="90000"/>
          </a:bodyPr>
          <a:lstStyle/>
          <a:p>
            <a:pPr algn="ctr"/>
            <a:r>
              <a:rPr lang="en-GB" b="0" dirty="0">
                <a:effectLst/>
              </a:rPr>
              <a:t>Network Connecting Devices</a:t>
            </a:r>
            <a:br>
              <a:rPr lang="en-GB" b="0" dirty="0">
                <a:effectLst/>
              </a:rPr>
            </a:br>
            <a:r>
              <a:rPr lang="en-GB" b="0" dirty="0">
                <a:effectLst/>
              </a:rPr>
              <a:t>Repeaters</a:t>
            </a:r>
            <a:r>
              <a:rPr lang="en-GB" sz="4000" dirty="0"/>
              <a:t/>
            </a:r>
            <a:br>
              <a:rPr lang="en-GB" sz="4000" dirty="0"/>
            </a:br>
            <a:endParaRPr lang="en-GB" dirty="0"/>
          </a:p>
        </p:txBody>
      </p:sp>
      <p:sp>
        <p:nvSpPr>
          <p:cNvPr id="7" name="Content Placeholder 6">
            <a:extLst>
              <a:ext uri="{FF2B5EF4-FFF2-40B4-BE49-F238E27FC236}">
                <a16:creationId xmlns:a16="http://schemas.microsoft.com/office/drawing/2014/main" id="{A6D444B4-DD3C-448D-B5BE-36755E5CDFFE}"/>
              </a:ext>
            </a:extLst>
          </p:cNvPr>
          <p:cNvSpPr>
            <a:spLocks noGrp="1"/>
          </p:cNvSpPr>
          <p:nvPr>
            <p:ph sz="half" idx="1"/>
          </p:nvPr>
        </p:nvSpPr>
        <p:spPr>
          <a:xfrm>
            <a:off x="1981200" y="1600200"/>
            <a:ext cx="4038600" cy="4983162"/>
          </a:xfrm>
        </p:spPr>
        <p:style>
          <a:lnRef idx="2">
            <a:schemeClr val="accent1"/>
          </a:lnRef>
          <a:fillRef idx="1">
            <a:schemeClr val="lt1"/>
          </a:fillRef>
          <a:effectRef idx="0">
            <a:schemeClr val="accent1"/>
          </a:effectRef>
          <a:fontRef idx="minor">
            <a:schemeClr val="dk1"/>
          </a:fontRef>
        </p:style>
        <p:txBody>
          <a:bodyPr>
            <a:normAutofit lnSpcReduction="10000"/>
          </a:bodyPr>
          <a:lstStyle/>
          <a:p>
            <a:pPr marL="0" indent="0">
              <a:buNone/>
            </a:pPr>
            <a:r>
              <a:rPr lang="en-GB" sz="2000" b="1" dirty="0">
                <a:solidFill>
                  <a:schemeClr val="accent1">
                    <a:lumMod val="75000"/>
                  </a:schemeClr>
                </a:solidFill>
              </a:rPr>
              <a:t>Advantages of Repeaters</a:t>
            </a:r>
          </a:p>
          <a:p>
            <a:pPr>
              <a:buFont typeface="Wingdings" panose="05000000000000000000" pitchFamily="2" charset="2"/>
              <a:buChar char="Ø"/>
            </a:pPr>
            <a:r>
              <a:rPr lang="en-GB" sz="2000" dirty="0"/>
              <a:t>Repeaters are simple to install and can easily extend the length or the coverage area of networks.</a:t>
            </a:r>
          </a:p>
          <a:p>
            <a:pPr>
              <a:buFont typeface="Wingdings" panose="05000000000000000000" pitchFamily="2" charset="2"/>
              <a:buChar char="Ø"/>
            </a:pPr>
            <a:r>
              <a:rPr lang="en-GB" sz="2000" dirty="0"/>
              <a:t>They are cost effective.</a:t>
            </a:r>
          </a:p>
          <a:p>
            <a:pPr>
              <a:buFont typeface="Wingdings" panose="05000000000000000000" pitchFamily="2" charset="2"/>
              <a:buChar char="Ø"/>
            </a:pPr>
            <a:r>
              <a:rPr lang="en-GB" sz="2000" dirty="0"/>
              <a:t>Repeaters </a:t>
            </a:r>
            <a:r>
              <a:rPr lang="en-GB" sz="2000" dirty="0" err="1"/>
              <a:t>dont</a:t>
            </a:r>
            <a:r>
              <a:rPr lang="en-GB" sz="2000" dirty="0"/>
              <a:t> require any processing overhead. The only time they need to be investigated is in case of degradation of performance.</a:t>
            </a:r>
          </a:p>
          <a:p>
            <a:pPr>
              <a:buFont typeface="Wingdings" panose="05000000000000000000" pitchFamily="2" charset="2"/>
              <a:buChar char="Ø"/>
            </a:pPr>
            <a:r>
              <a:rPr lang="en-GB" sz="2000" dirty="0"/>
              <a:t>They can connect signals using different types of cables.</a:t>
            </a:r>
          </a:p>
          <a:p>
            <a:endParaRPr lang="en-GB" sz="1800" dirty="0"/>
          </a:p>
        </p:txBody>
      </p:sp>
      <p:sp>
        <p:nvSpPr>
          <p:cNvPr id="9" name="Content Placeholder 8">
            <a:extLst>
              <a:ext uri="{FF2B5EF4-FFF2-40B4-BE49-F238E27FC236}">
                <a16:creationId xmlns:a16="http://schemas.microsoft.com/office/drawing/2014/main" id="{05241723-B4C8-4DB9-B5D1-B633B73D79F9}"/>
              </a:ext>
            </a:extLst>
          </p:cNvPr>
          <p:cNvSpPr>
            <a:spLocks noGrp="1"/>
          </p:cNvSpPr>
          <p:nvPr>
            <p:ph sz="half" idx="2"/>
          </p:nvPr>
        </p:nvSpPr>
        <p:spPr>
          <a:xfrm>
            <a:off x="6172200" y="1600201"/>
            <a:ext cx="4038600" cy="5340531"/>
          </a:xfrm>
        </p:spPr>
        <p:style>
          <a:lnRef idx="2">
            <a:schemeClr val="accent1"/>
          </a:lnRef>
          <a:fillRef idx="1">
            <a:schemeClr val="lt1"/>
          </a:fillRef>
          <a:effectRef idx="0">
            <a:schemeClr val="accent1"/>
          </a:effectRef>
          <a:fontRef idx="minor">
            <a:schemeClr val="dk1"/>
          </a:fontRef>
        </p:style>
        <p:txBody>
          <a:bodyPr>
            <a:normAutofit lnSpcReduction="10000"/>
          </a:bodyPr>
          <a:lstStyle/>
          <a:p>
            <a:pPr marL="0" indent="0">
              <a:buNone/>
            </a:pPr>
            <a:r>
              <a:rPr lang="en-GB" sz="2000" b="1" dirty="0">
                <a:solidFill>
                  <a:schemeClr val="accent1">
                    <a:lumMod val="75000"/>
                  </a:schemeClr>
                </a:solidFill>
              </a:rPr>
              <a:t>Disadvantages of Repeaters</a:t>
            </a:r>
          </a:p>
          <a:p>
            <a:r>
              <a:rPr lang="en-GB" sz="2000" dirty="0"/>
              <a:t>Repeaters cannot connect dissimilar networks.</a:t>
            </a:r>
          </a:p>
          <a:p>
            <a:endParaRPr lang="en-GB" sz="2000" dirty="0"/>
          </a:p>
          <a:p>
            <a:r>
              <a:rPr lang="en-GB" sz="2000" dirty="0"/>
              <a:t>They cannot differentiate between actual signal and noise.</a:t>
            </a:r>
          </a:p>
          <a:p>
            <a:endParaRPr lang="en-GB" sz="2000" dirty="0"/>
          </a:p>
          <a:p>
            <a:r>
              <a:rPr lang="en-GB" sz="2000" dirty="0"/>
              <a:t>They cannot reduce network traffic or congestion.</a:t>
            </a:r>
          </a:p>
          <a:p>
            <a:endParaRPr lang="en-GB" sz="2000" dirty="0"/>
          </a:p>
          <a:p>
            <a:r>
              <a:rPr lang="en-GB" sz="2000" dirty="0"/>
              <a:t>Most networks have limitations upon the number of repeaters that can be deployed.</a:t>
            </a:r>
          </a:p>
          <a:p>
            <a:endParaRPr lang="en-GB" sz="2000" dirty="0"/>
          </a:p>
        </p:txBody>
      </p:sp>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spTree>
    <p:extLst>
      <p:ext uri="{BB962C8B-B14F-4D97-AF65-F5344CB8AC3E}">
        <p14:creationId xmlns:p14="http://schemas.microsoft.com/office/powerpoint/2010/main" val="7117761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a:xfrm>
            <a:off x="1981200" y="296091"/>
            <a:ext cx="8229600" cy="1121547"/>
          </a:xfrm>
        </p:spPr>
        <p:txBody>
          <a:bodyPr>
            <a:normAutofit fontScale="90000"/>
          </a:bodyPr>
          <a:lstStyle/>
          <a:p>
            <a:r>
              <a:rPr lang="en-GB" b="0" dirty="0">
                <a:effectLst/>
              </a:rPr>
              <a:t>Network Connecting Devices</a:t>
            </a:r>
            <a:br>
              <a:rPr lang="en-GB" b="0" dirty="0">
                <a:effectLst/>
              </a:rPr>
            </a:br>
            <a:r>
              <a:rPr lang="en-GB" b="0" dirty="0">
                <a:effectLst/>
              </a:rPr>
              <a:t> 			</a:t>
            </a:r>
            <a:r>
              <a:rPr lang="en-GB" dirty="0">
                <a:effectLst/>
              </a:rPr>
              <a:t>Gateways </a:t>
            </a:r>
            <a:br>
              <a:rPr lang="en-GB" dirty="0">
                <a:effectLst/>
              </a:rPr>
            </a:br>
            <a:endParaRPr lang="en-GB" dirty="0"/>
          </a:p>
        </p:txBody>
      </p:sp>
      <p:sp>
        <p:nvSpPr>
          <p:cNvPr id="3" name="Content Placeholder 2">
            <a:extLst>
              <a:ext uri="{FF2B5EF4-FFF2-40B4-BE49-F238E27FC236}">
                <a16:creationId xmlns:a16="http://schemas.microsoft.com/office/drawing/2014/main" id="{1E0FCA85-21D8-4660-AB89-EAD2E314066B}"/>
              </a:ext>
            </a:extLst>
          </p:cNvPr>
          <p:cNvSpPr>
            <a:spLocks noGrp="1"/>
          </p:cNvSpPr>
          <p:nvPr>
            <p:ph sz="half" idx="1"/>
          </p:nvPr>
        </p:nvSpPr>
        <p:spPr>
          <a:xfrm>
            <a:off x="1981200" y="1600200"/>
            <a:ext cx="4038600" cy="4800600"/>
          </a:xfrm>
        </p:spPr>
        <p:style>
          <a:lnRef idx="2">
            <a:schemeClr val="accent1"/>
          </a:lnRef>
          <a:fillRef idx="1">
            <a:schemeClr val="lt1"/>
          </a:fillRef>
          <a:effectRef idx="0">
            <a:schemeClr val="accent1"/>
          </a:effectRef>
          <a:fontRef idx="minor">
            <a:schemeClr val="dk1"/>
          </a:fontRef>
        </p:style>
        <p:txBody>
          <a:bodyPr>
            <a:normAutofit lnSpcReduction="10000"/>
          </a:bodyPr>
          <a:lstStyle/>
          <a:p>
            <a:r>
              <a:rPr lang="en-GB" sz="2400" dirty="0"/>
              <a:t>A gateway is a network node that forms a passage between two networks operating with different transmission protocols. </a:t>
            </a:r>
          </a:p>
          <a:p>
            <a:r>
              <a:rPr lang="en-GB" sz="2400" dirty="0"/>
              <a:t>The most common type of gateways, the network gateway operates at layer 3, i.e. network layer of the OSI (open systems interconnection) model. </a:t>
            </a:r>
          </a:p>
        </p:txBody>
      </p:sp>
      <p:sp>
        <p:nvSpPr>
          <p:cNvPr id="6" name="Content Placeholder 5">
            <a:extLst>
              <a:ext uri="{FF2B5EF4-FFF2-40B4-BE49-F238E27FC236}">
                <a16:creationId xmlns:a16="http://schemas.microsoft.com/office/drawing/2014/main" id="{54B3F45E-288E-440B-9519-B26F11A5C925}"/>
              </a:ext>
            </a:extLst>
          </p:cNvPr>
          <p:cNvSpPr>
            <a:spLocks noGrp="1"/>
          </p:cNvSpPr>
          <p:nvPr>
            <p:ph sz="half" idx="2"/>
          </p:nvPr>
        </p:nvSpPr>
        <p:spPr>
          <a:xfrm>
            <a:off x="6172200" y="1600200"/>
            <a:ext cx="4038600" cy="4800600"/>
          </a:xfrm>
        </p:spPr>
        <p:style>
          <a:lnRef idx="2">
            <a:schemeClr val="accent1"/>
          </a:lnRef>
          <a:fillRef idx="1">
            <a:schemeClr val="lt1"/>
          </a:fillRef>
          <a:effectRef idx="0">
            <a:schemeClr val="accent1"/>
          </a:effectRef>
          <a:fontRef idx="minor">
            <a:schemeClr val="dk1"/>
          </a:fontRef>
        </p:style>
        <p:txBody>
          <a:bodyPr>
            <a:normAutofit lnSpcReduction="10000"/>
          </a:bodyPr>
          <a:lstStyle/>
          <a:p>
            <a:r>
              <a:rPr lang="en-GB" sz="2200" dirty="0"/>
              <a:t>However, depending upon the functionality, a gateway can operate at any of the seven layers of OSI model.</a:t>
            </a:r>
          </a:p>
          <a:p>
            <a:r>
              <a:rPr lang="en-GB" sz="2200" dirty="0"/>
              <a:t> It acts as the entry exit point for a network since all traffic that flows across the networks should pass through the gateway. Only the internal traffic between the nodes of a LAN does not pass through the gateway.</a:t>
            </a:r>
          </a:p>
          <a:p>
            <a:endParaRPr lang="en-GB" sz="2200" dirty="0"/>
          </a:p>
        </p:txBody>
      </p:sp>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spTree>
    <p:extLst>
      <p:ext uri="{BB962C8B-B14F-4D97-AF65-F5344CB8AC3E}">
        <p14:creationId xmlns:p14="http://schemas.microsoft.com/office/powerpoint/2010/main" val="232995301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a:xfrm>
            <a:off x="1981200" y="296091"/>
            <a:ext cx="8229600" cy="1121547"/>
          </a:xfrm>
        </p:spPr>
        <p:txBody>
          <a:bodyPr>
            <a:normAutofit fontScale="90000"/>
          </a:bodyPr>
          <a:lstStyle/>
          <a:p>
            <a:r>
              <a:rPr lang="en-GB" b="0" dirty="0">
                <a:effectLst/>
              </a:rPr>
              <a:t>Network Connecting Devices</a:t>
            </a:r>
            <a:br>
              <a:rPr lang="en-GB" b="0" dirty="0">
                <a:effectLst/>
              </a:rPr>
            </a:br>
            <a:r>
              <a:rPr lang="en-GB" b="0" dirty="0">
                <a:effectLst/>
              </a:rPr>
              <a:t> 			</a:t>
            </a:r>
            <a:r>
              <a:rPr lang="en-GB" dirty="0">
                <a:effectLst/>
              </a:rPr>
              <a:t>Gateways </a:t>
            </a:r>
            <a:br>
              <a:rPr lang="en-GB" dirty="0">
                <a:effectLst/>
              </a:rPr>
            </a:br>
            <a:endParaRPr lang="en-GB" dirty="0"/>
          </a:p>
        </p:txBody>
      </p:sp>
      <p:sp>
        <p:nvSpPr>
          <p:cNvPr id="3" name="Content Placeholder 2">
            <a:extLst>
              <a:ext uri="{FF2B5EF4-FFF2-40B4-BE49-F238E27FC236}">
                <a16:creationId xmlns:a16="http://schemas.microsoft.com/office/drawing/2014/main" id="{1E0FCA85-21D8-4660-AB89-EAD2E314066B}"/>
              </a:ext>
            </a:extLst>
          </p:cNvPr>
          <p:cNvSpPr>
            <a:spLocks noGrp="1"/>
          </p:cNvSpPr>
          <p:nvPr>
            <p:ph sz="half" idx="1"/>
          </p:nvPr>
        </p:nvSpPr>
        <p:spPr>
          <a:xfrm>
            <a:off x="1981200" y="1782763"/>
            <a:ext cx="4038600" cy="4800600"/>
          </a:xfrm>
        </p:spPr>
        <p:style>
          <a:lnRef idx="2">
            <a:schemeClr val="accent1"/>
          </a:lnRef>
          <a:fillRef idx="1">
            <a:schemeClr val="lt1"/>
          </a:fillRef>
          <a:effectRef idx="0">
            <a:schemeClr val="accent1"/>
          </a:effectRef>
          <a:fontRef idx="minor">
            <a:schemeClr val="dk1"/>
          </a:fontRef>
        </p:style>
        <p:txBody>
          <a:bodyPr/>
          <a:lstStyle/>
          <a:p>
            <a:pPr marL="0" indent="0">
              <a:buNone/>
            </a:pPr>
            <a:endParaRPr lang="en-GB" dirty="0"/>
          </a:p>
          <a:p>
            <a:pPr marL="0" indent="0">
              <a:buNone/>
            </a:pPr>
            <a:r>
              <a:rPr lang="en-GB" dirty="0"/>
              <a:t>A gateway is a network node that forms a passage between two networks operating with different transmission protocols. </a:t>
            </a:r>
          </a:p>
          <a:p>
            <a:endParaRPr lang="en-GB" dirty="0"/>
          </a:p>
        </p:txBody>
      </p:sp>
      <p:pic>
        <p:nvPicPr>
          <p:cNvPr id="5" name="Content Placeholder 4">
            <a:extLst>
              <a:ext uri="{FF2B5EF4-FFF2-40B4-BE49-F238E27FC236}">
                <a16:creationId xmlns:a16="http://schemas.microsoft.com/office/drawing/2014/main" id="{B9AE297D-C5A5-437F-B717-291D0B749DDD}"/>
              </a:ext>
            </a:extLst>
          </p:cNvPr>
          <p:cNvPicPr>
            <a:picLocks noGrp="1" noChangeAspect="1"/>
          </p:cNvPicPr>
          <p:nvPr>
            <p:ph sz="half" idx="2"/>
          </p:nvPr>
        </p:nvPicPr>
        <p:blipFill>
          <a:blip r:embed="rId2"/>
          <a:stretch>
            <a:fillRect/>
          </a:stretch>
        </p:blipFill>
        <p:spPr>
          <a:xfrm>
            <a:off x="6172200" y="1748694"/>
            <a:ext cx="4038600" cy="4834669"/>
          </a:xfrm>
          <a:prstGeom prst="rect">
            <a:avLst/>
          </a:prstGeom>
        </p:spPr>
      </p:pic>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sp>
        <p:nvSpPr>
          <p:cNvPr id="7" name="Arrow: Right 6">
            <a:extLst>
              <a:ext uri="{FF2B5EF4-FFF2-40B4-BE49-F238E27FC236}">
                <a16:creationId xmlns:a16="http://schemas.microsoft.com/office/drawing/2014/main" id="{7302906F-D56F-4591-B2DE-A97EB7A28154}"/>
              </a:ext>
            </a:extLst>
          </p:cNvPr>
          <p:cNvSpPr/>
          <p:nvPr/>
        </p:nvSpPr>
        <p:spPr bwMode="auto">
          <a:xfrm>
            <a:off x="6019800" y="3429000"/>
            <a:ext cx="1974671" cy="4572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2075" tIns="46038" rIns="92075" bIns="46038" numCol="1" rtlCol="0" anchor="b" anchorCtr="0" compatLnSpc="1">
            <a:prstTxWarp prst="textNoShape">
              <a:avLst/>
            </a:prstTxWarp>
          </a:bodyPr>
          <a:lstStyle/>
          <a:p>
            <a:pPr algn="r" rtl="1" fontAlgn="base">
              <a:spcBef>
                <a:spcPct val="0"/>
              </a:spcBef>
              <a:spcAft>
                <a:spcPct val="0"/>
              </a:spcAft>
            </a:pPr>
            <a:endParaRPr lang="en-GB" sz="2400">
              <a:latin typeface="Arial" pitchFamily="34" charset="0"/>
              <a:cs typeface="Arial" pitchFamily="34" charset="0"/>
            </a:endParaRPr>
          </a:p>
        </p:txBody>
      </p:sp>
    </p:spTree>
    <p:extLst>
      <p:ext uri="{BB962C8B-B14F-4D97-AF65-F5344CB8AC3E}">
        <p14:creationId xmlns:p14="http://schemas.microsoft.com/office/powerpoint/2010/main" val="173511530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a:xfrm>
            <a:off x="1981200" y="296091"/>
            <a:ext cx="8229600" cy="1121547"/>
          </a:xfrm>
        </p:spPr>
        <p:txBody>
          <a:bodyPr>
            <a:normAutofit fontScale="90000"/>
          </a:bodyPr>
          <a:lstStyle/>
          <a:p>
            <a:r>
              <a:rPr lang="en-GB" b="0" dirty="0">
                <a:effectLst/>
              </a:rPr>
              <a:t>Network Connecting Devices</a:t>
            </a:r>
            <a:br>
              <a:rPr lang="en-GB" b="0" dirty="0">
                <a:effectLst/>
              </a:rPr>
            </a:br>
            <a:r>
              <a:rPr lang="en-GB" b="0" dirty="0">
                <a:effectLst/>
              </a:rPr>
              <a:t> 		</a:t>
            </a:r>
            <a:r>
              <a:rPr lang="en-GB" dirty="0">
                <a:effectLst/>
              </a:rPr>
              <a:t>Gateways </a:t>
            </a:r>
            <a:r>
              <a:rPr lang="en-GB" b="0" dirty="0">
                <a:effectLst/>
              </a:rPr>
              <a:t>Features </a:t>
            </a:r>
            <a:r>
              <a:rPr lang="en-GB" dirty="0">
                <a:effectLst/>
              </a:rPr>
              <a:t> </a:t>
            </a:r>
            <a:br>
              <a:rPr lang="en-GB" dirty="0">
                <a:effectLst/>
              </a:rPr>
            </a:br>
            <a:endParaRPr lang="en-GB" dirty="0"/>
          </a:p>
        </p:txBody>
      </p:sp>
      <p:sp>
        <p:nvSpPr>
          <p:cNvPr id="3" name="Content Placeholder 2">
            <a:extLst>
              <a:ext uri="{FF2B5EF4-FFF2-40B4-BE49-F238E27FC236}">
                <a16:creationId xmlns:a16="http://schemas.microsoft.com/office/drawing/2014/main" id="{1E0FCA85-21D8-4660-AB89-EAD2E314066B}"/>
              </a:ext>
            </a:extLst>
          </p:cNvPr>
          <p:cNvSpPr>
            <a:spLocks noGrp="1"/>
          </p:cNvSpPr>
          <p:nvPr>
            <p:ph sz="half" idx="1"/>
          </p:nvPr>
        </p:nvSpPr>
        <p:spPr>
          <a:xfrm>
            <a:off x="1894115" y="1417638"/>
            <a:ext cx="4038600" cy="5348923"/>
          </a:xfrm>
        </p:spPr>
        <p:style>
          <a:lnRef idx="2">
            <a:schemeClr val="accent1"/>
          </a:lnRef>
          <a:fillRef idx="1">
            <a:schemeClr val="lt1"/>
          </a:fillRef>
          <a:effectRef idx="0">
            <a:schemeClr val="accent1"/>
          </a:effectRef>
          <a:fontRef idx="minor">
            <a:schemeClr val="dk1"/>
          </a:fontRef>
        </p:style>
        <p:txBody>
          <a:bodyPr>
            <a:normAutofit lnSpcReduction="10000"/>
          </a:bodyPr>
          <a:lstStyle/>
          <a:p>
            <a:r>
              <a:rPr lang="en-GB" sz="1800" dirty="0"/>
              <a:t>Gateway is located at the boundary of a network and manages all data that inflows or outflows from that network.</a:t>
            </a:r>
          </a:p>
          <a:p>
            <a:endParaRPr lang="en-GB" sz="1800" dirty="0"/>
          </a:p>
          <a:p>
            <a:r>
              <a:rPr lang="en-GB" sz="1800" dirty="0"/>
              <a:t>It forms a passage between two different networks operating with different transmission protocols.</a:t>
            </a:r>
          </a:p>
          <a:p>
            <a:endParaRPr lang="en-GB" sz="1800" dirty="0"/>
          </a:p>
          <a:p>
            <a:r>
              <a:rPr lang="en-GB" sz="1800" dirty="0"/>
              <a:t>A gateway operates as a protocol converter, providing compatibility between the different protocols used in the two different networks.</a:t>
            </a:r>
          </a:p>
          <a:p>
            <a:r>
              <a:rPr lang="en-GB" sz="1800" dirty="0"/>
              <a:t>The feature that differentiates a gateway from other network devices is that it can operate at any layer of the OSI model.</a:t>
            </a:r>
          </a:p>
          <a:p>
            <a:pPr marL="0" indent="0">
              <a:buNone/>
            </a:pPr>
            <a:endParaRPr lang="en-GB" sz="1800" dirty="0"/>
          </a:p>
          <a:p>
            <a:pPr marL="0" indent="0">
              <a:buNone/>
            </a:pPr>
            <a:endParaRPr lang="en-GB" sz="1800" dirty="0"/>
          </a:p>
        </p:txBody>
      </p:sp>
      <p:sp>
        <p:nvSpPr>
          <p:cNvPr id="8" name="Content Placeholder 7">
            <a:extLst>
              <a:ext uri="{FF2B5EF4-FFF2-40B4-BE49-F238E27FC236}">
                <a16:creationId xmlns:a16="http://schemas.microsoft.com/office/drawing/2014/main" id="{07605AC6-4302-4859-B542-DE79B29DE23D}"/>
              </a:ext>
            </a:extLst>
          </p:cNvPr>
          <p:cNvSpPr>
            <a:spLocks noGrp="1"/>
          </p:cNvSpPr>
          <p:nvPr>
            <p:ph sz="half" idx="2"/>
          </p:nvPr>
        </p:nvSpPr>
        <p:spPr>
          <a:xfrm>
            <a:off x="6172200" y="1417638"/>
            <a:ext cx="4038600" cy="5348922"/>
          </a:xfrm>
        </p:spPr>
        <p:style>
          <a:lnRef idx="2">
            <a:schemeClr val="accent1"/>
          </a:lnRef>
          <a:fillRef idx="1">
            <a:schemeClr val="lt1"/>
          </a:fillRef>
          <a:effectRef idx="0">
            <a:schemeClr val="accent1"/>
          </a:effectRef>
          <a:fontRef idx="minor">
            <a:schemeClr val="dk1"/>
          </a:fontRef>
        </p:style>
        <p:txBody>
          <a:bodyPr>
            <a:normAutofit lnSpcReduction="10000"/>
          </a:bodyPr>
          <a:lstStyle/>
          <a:p>
            <a:r>
              <a:rPr lang="en-GB" sz="1800" dirty="0"/>
              <a:t>It also stores information about the routing paths of the communicating networks.</a:t>
            </a:r>
          </a:p>
          <a:p>
            <a:endParaRPr lang="en-GB" sz="1800" dirty="0"/>
          </a:p>
          <a:p>
            <a:r>
              <a:rPr lang="en-GB" sz="1800" dirty="0"/>
              <a:t>When used in enterprise scenario, a gateway node may be supplemented as proxy server or firewall.</a:t>
            </a:r>
          </a:p>
          <a:p>
            <a:r>
              <a:rPr lang="en-GB" sz="1800" dirty="0"/>
              <a:t>A gateway is generally implemented as a node with multiple NICs (network interface cards) connected to different networks. However, it can also be configured using software.</a:t>
            </a:r>
          </a:p>
          <a:p>
            <a:endParaRPr lang="en-GB" sz="1800" dirty="0"/>
          </a:p>
          <a:p>
            <a:r>
              <a:rPr lang="en-GB" sz="1800" dirty="0"/>
              <a:t>It uses packet switching technique to transmit data across the networks.</a:t>
            </a:r>
          </a:p>
          <a:p>
            <a:endParaRPr lang="en-GB" sz="1800" dirty="0"/>
          </a:p>
        </p:txBody>
      </p:sp>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spTree>
    <p:extLst>
      <p:ext uri="{BB962C8B-B14F-4D97-AF65-F5344CB8AC3E}">
        <p14:creationId xmlns:p14="http://schemas.microsoft.com/office/powerpoint/2010/main" val="117431062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p:txBody>
          <a:bodyPr>
            <a:normAutofit fontScale="90000"/>
          </a:bodyPr>
          <a:lstStyle/>
          <a:p>
            <a:r>
              <a:rPr lang="en-GB" b="0" dirty="0">
                <a:effectLst/>
              </a:rPr>
              <a:t>Network Connecting Devices</a:t>
            </a:r>
            <a:br>
              <a:rPr lang="en-GB" b="0" dirty="0">
                <a:effectLst/>
              </a:rPr>
            </a:br>
            <a:r>
              <a:rPr lang="en-GB" b="0" dirty="0">
                <a:effectLst/>
              </a:rPr>
              <a:t> 		</a:t>
            </a:r>
            <a:r>
              <a:rPr lang="en-GB" dirty="0">
                <a:effectLst/>
              </a:rPr>
              <a:t>Gateways </a:t>
            </a:r>
            <a:r>
              <a:rPr lang="en-GB" b="0" dirty="0">
                <a:effectLst/>
              </a:rPr>
              <a:t>Types </a:t>
            </a:r>
            <a:r>
              <a:rPr lang="en-GB" dirty="0">
                <a:effectLst/>
              </a:rPr>
              <a:t> </a:t>
            </a:r>
            <a:br>
              <a:rPr lang="en-GB" dirty="0">
                <a:effectLst/>
              </a:rPr>
            </a:br>
            <a:endParaRPr lang="en-GB" dirty="0"/>
          </a:p>
        </p:txBody>
      </p:sp>
      <p:sp>
        <p:nvSpPr>
          <p:cNvPr id="3" name="Content Placeholder 2">
            <a:extLst>
              <a:ext uri="{FF2B5EF4-FFF2-40B4-BE49-F238E27FC236}">
                <a16:creationId xmlns:a16="http://schemas.microsoft.com/office/drawing/2014/main" id="{1E0FCA85-21D8-4660-AB89-EAD2E314066B}"/>
              </a:ext>
            </a:extLst>
          </p:cNvPr>
          <p:cNvSpPr>
            <a:spLocks noGrp="1"/>
          </p:cNvSpPr>
          <p:nvPr>
            <p:ph idx="1"/>
          </p:nvPr>
        </p:nvSpPr>
        <p:spPr/>
        <p:style>
          <a:lnRef idx="2">
            <a:schemeClr val="accent1"/>
          </a:lnRef>
          <a:fillRef idx="1">
            <a:schemeClr val="lt1"/>
          </a:fillRef>
          <a:effectRef idx="0">
            <a:schemeClr val="accent1"/>
          </a:effectRef>
          <a:fontRef idx="minor">
            <a:schemeClr val="dk1"/>
          </a:fontRef>
        </p:style>
        <p:txBody>
          <a:bodyPr/>
          <a:lstStyle/>
          <a:p>
            <a:pPr marL="0" indent="0">
              <a:buNone/>
            </a:pPr>
            <a:r>
              <a:rPr lang="en-GB" sz="2000" dirty="0">
                <a:solidFill>
                  <a:schemeClr val="accent1">
                    <a:lumMod val="75000"/>
                  </a:schemeClr>
                </a:solidFill>
              </a:rPr>
              <a:t>On basis of direction of data flow, gateways are broadly divided into two categories:</a:t>
            </a:r>
          </a:p>
          <a:p>
            <a:pPr marL="0" indent="0">
              <a:buNone/>
            </a:pPr>
            <a:r>
              <a:rPr lang="en-GB" sz="1800" b="1" dirty="0"/>
              <a:t>1) Unidirectional Gateways</a:t>
            </a:r>
            <a:r>
              <a:rPr lang="en-GB" sz="2000" dirty="0"/>
              <a:t> </a:t>
            </a:r>
          </a:p>
          <a:p>
            <a:pPr lvl="1"/>
            <a:r>
              <a:rPr lang="en-GB" sz="1800" dirty="0"/>
              <a:t>They allow data to flow in only one direction. Changes made in the source node are replicated in the destination node, but not vice versa. They can be used as archiving tools</a:t>
            </a:r>
            <a:r>
              <a:rPr lang="en-GB" sz="1600" dirty="0"/>
              <a:t>.</a:t>
            </a:r>
          </a:p>
          <a:p>
            <a:pPr marL="0" indent="0">
              <a:buNone/>
            </a:pPr>
            <a:r>
              <a:rPr lang="en-GB" sz="2000" b="1" dirty="0"/>
              <a:t>2) Bidirectional Gateways:</a:t>
            </a:r>
          </a:p>
          <a:p>
            <a:pPr lvl="1"/>
            <a:r>
              <a:rPr lang="en-GB" sz="1600" dirty="0"/>
              <a:t> </a:t>
            </a:r>
            <a:r>
              <a:rPr lang="en-GB" sz="1800" dirty="0"/>
              <a:t>They allow data to flow in both directions. They can be used as synchronization tools.</a:t>
            </a:r>
          </a:p>
          <a:p>
            <a:pPr marL="0" indent="0">
              <a:buNone/>
            </a:pPr>
            <a:endParaRPr lang="en-GB" sz="1400" dirty="0"/>
          </a:p>
        </p:txBody>
      </p:sp>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dirty="0"/>
              <a:t>CFC-MCA</a:t>
            </a:r>
          </a:p>
        </p:txBody>
      </p:sp>
    </p:spTree>
    <p:extLst>
      <p:ext uri="{BB962C8B-B14F-4D97-AF65-F5344CB8AC3E}">
        <p14:creationId xmlns:p14="http://schemas.microsoft.com/office/powerpoint/2010/main" val="248084811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p:txBody>
          <a:bodyPr>
            <a:normAutofit fontScale="90000"/>
          </a:bodyPr>
          <a:lstStyle/>
          <a:p>
            <a:r>
              <a:rPr lang="en-GB" b="0" dirty="0">
                <a:effectLst/>
              </a:rPr>
              <a:t>Network Connecting Devices</a:t>
            </a:r>
            <a:br>
              <a:rPr lang="en-GB" b="0" dirty="0">
                <a:effectLst/>
              </a:rPr>
            </a:br>
            <a:r>
              <a:rPr lang="en-GB" b="0" dirty="0">
                <a:effectLst/>
              </a:rPr>
              <a:t> 		</a:t>
            </a:r>
            <a:r>
              <a:rPr lang="en-GB" dirty="0">
                <a:effectLst/>
              </a:rPr>
              <a:t>Gateways </a:t>
            </a:r>
            <a:r>
              <a:rPr lang="en-GB" b="0" dirty="0">
                <a:effectLst/>
              </a:rPr>
              <a:t>Types </a:t>
            </a:r>
            <a:r>
              <a:rPr lang="en-GB" dirty="0">
                <a:effectLst/>
              </a:rPr>
              <a:t> </a:t>
            </a:r>
            <a:br>
              <a:rPr lang="en-GB" dirty="0">
                <a:effectLst/>
              </a:rPr>
            </a:br>
            <a:endParaRPr lang="en-GB" dirty="0"/>
          </a:p>
        </p:txBody>
      </p:sp>
      <p:sp>
        <p:nvSpPr>
          <p:cNvPr id="3" name="Content Placeholder 2">
            <a:extLst>
              <a:ext uri="{FF2B5EF4-FFF2-40B4-BE49-F238E27FC236}">
                <a16:creationId xmlns:a16="http://schemas.microsoft.com/office/drawing/2014/main" id="{1E0FCA85-21D8-4660-AB89-EAD2E314066B}"/>
              </a:ext>
            </a:extLst>
          </p:cNvPr>
          <p:cNvSpPr>
            <a:spLocks noGrp="1"/>
          </p:cNvSpPr>
          <p:nvPr>
            <p:ph idx="1"/>
          </p:nvPr>
        </p:nvSpPr>
        <p:spPr>
          <a:xfrm>
            <a:off x="1981200" y="1417638"/>
            <a:ext cx="8229600" cy="5287962"/>
          </a:xfrm>
        </p:spPr>
        <p:style>
          <a:lnRef idx="2">
            <a:schemeClr val="accent1"/>
          </a:lnRef>
          <a:fillRef idx="1">
            <a:schemeClr val="lt1"/>
          </a:fillRef>
          <a:effectRef idx="0">
            <a:schemeClr val="accent1"/>
          </a:effectRef>
          <a:fontRef idx="minor">
            <a:schemeClr val="dk1"/>
          </a:fontRef>
        </p:style>
        <p:txBody>
          <a:bodyPr/>
          <a:lstStyle/>
          <a:p>
            <a:r>
              <a:rPr lang="en-GB" sz="2000" dirty="0">
                <a:solidFill>
                  <a:schemeClr val="accent1">
                    <a:lumMod val="75000"/>
                  </a:schemeClr>
                </a:solidFill>
              </a:rPr>
              <a:t>On basis of functionalities, there can be a variety of gateways, the prominent among them are as follows:</a:t>
            </a:r>
          </a:p>
          <a:p>
            <a:pPr marL="457200" indent="-457200">
              <a:buAutoNum type="arabicParenR"/>
            </a:pPr>
            <a:r>
              <a:rPr lang="en-GB" sz="2000" b="1" dirty="0"/>
              <a:t>Network Gateway</a:t>
            </a:r>
          </a:p>
          <a:p>
            <a:pPr marL="400050" lvl="1" indent="0">
              <a:buNone/>
            </a:pPr>
            <a:r>
              <a:rPr lang="en-GB" sz="1800" dirty="0"/>
              <a:t> </a:t>
            </a:r>
            <a:r>
              <a:rPr lang="en-GB" dirty="0"/>
              <a:t>This is the most common type of gateway that provides as interface between two dissimilar networks operating with different protocols. Whenever the term gateway is mentioned without specifying the type, it indicates a network gateway</a:t>
            </a:r>
            <a:r>
              <a:rPr lang="en-GB" sz="1600" dirty="0"/>
              <a:t>.</a:t>
            </a:r>
          </a:p>
          <a:p>
            <a:pPr marL="0" indent="0">
              <a:buNone/>
            </a:pPr>
            <a:r>
              <a:rPr lang="en-GB" sz="2000" b="1" dirty="0"/>
              <a:t>2) Cloud Storage Gateway</a:t>
            </a:r>
            <a:r>
              <a:rPr lang="en-GB" sz="2000" dirty="0"/>
              <a:t> </a:t>
            </a:r>
          </a:p>
          <a:p>
            <a:pPr marL="400050" lvl="1" indent="0">
              <a:buNone/>
            </a:pPr>
            <a:r>
              <a:rPr lang="en-GB" sz="2000" dirty="0"/>
              <a:t>It is a network node or server that translates storage requests with different cloud storage service API calls, such as SOAP (Simple Object Access Protocol) or REST (</a:t>
            </a:r>
            <a:r>
              <a:rPr lang="en-GB" sz="2000" dirty="0" err="1"/>
              <a:t>REpresentational</a:t>
            </a:r>
            <a:r>
              <a:rPr lang="en-GB" sz="2000" dirty="0"/>
              <a:t> State Transfer).It facilitates integration of private cloud storage into applications without necessitating transfer of the applications into any public cloud, thus simplifying data communication.</a:t>
            </a:r>
          </a:p>
          <a:p>
            <a:pPr marL="0" indent="0">
              <a:buNone/>
            </a:pPr>
            <a:endParaRPr lang="en-GB" sz="1050" dirty="0"/>
          </a:p>
        </p:txBody>
      </p:sp>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dirty="0"/>
              <a:t>CFC-MCA</a:t>
            </a:r>
          </a:p>
        </p:txBody>
      </p:sp>
    </p:spTree>
    <p:extLst>
      <p:ext uri="{BB962C8B-B14F-4D97-AF65-F5344CB8AC3E}">
        <p14:creationId xmlns:p14="http://schemas.microsoft.com/office/powerpoint/2010/main" val="288697165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p:txBody>
          <a:bodyPr>
            <a:normAutofit fontScale="90000"/>
          </a:bodyPr>
          <a:lstStyle/>
          <a:p>
            <a:r>
              <a:rPr lang="en-GB" b="0" dirty="0">
                <a:effectLst/>
              </a:rPr>
              <a:t>Network Connecting Devices</a:t>
            </a:r>
            <a:br>
              <a:rPr lang="en-GB" b="0" dirty="0">
                <a:effectLst/>
              </a:rPr>
            </a:br>
            <a:r>
              <a:rPr lang="en-GB" b="0" dirty="0">
                <a:effectLst/>
              </a:rPr>
              <a:t> 		</a:t>
            </a:r>
            <a:r>
              <a:rPr lang="en-GB" dirty="0">
                <a:effectLst/>
              </a:rPr>
              <a:t>Gateways </a:t>
            </a:r>
            <a:r>
              <a:rPr lang="en-GB" b="0" dirty="0">
                <a:effectLst/>
              </a:rPr>
              <a:t>Types </a:t>
            </a:r>
            <a:r>
              <a:rPr lang="en-GB" dirty="0">
                <a:effectLst/>
              </a:rPr>
              <a:t> </a:t>
            </a:r>
            <a:br>
              <a:rPr lang="en-GB" dirty="0">
                <a:effectLst/>
              </a:rPr>
            </a:br>
            <a:endParaRPr lang="en-GB" dirty="0"/>
          </a:p>
        </p:txBody>
      </p:sp>
      <p:sp>
        <p:nvSpPr>
          <p:cNvPr id="3" name="Content Placeholder 2">
            <a:extLst>
              <a:ext uri="{FF2B5EF4-FFF2-40B4-BE49-F238E27FC236}">
                <a16:creationId xmlns:a16="http://schemas.microsoft.com/office/drawing/2014/main" id="{1E0FCA85-21D8-4660-AB89-EAD2E314066B}"/>
              </a:ext>
            </a:extLst>
          </p:cNvPr>
          <p:cNvSpPr>
            <a:spLocks noGrp="1"/>
          </p:cNvSpPr>
          <p:nvPr>
            <p:ph idx="1"/>
          </p:nvPr>
        </p:nvSpPr>
        <p:spPr>
          <a:xfrm>
            <a:off x="1981200" y="1417638"/>
            <a:ext cx="8229600" cy="5287962"/>
          </a:xfrm>
        </p:spPr>
        <p:style>
          <a:lnRef idx="2">
            <a:schemeClr val="accent1"/>
          </a:lnRef>
          <a:fillRef idx="1">
            <a:schemeClr val="lt1"/>
          </a:fillRef>
          <a:effectRef idx="0">
            <a:schemeClr val="accent1"/>
          </a:effectRef>
          <a:fontRef idx="minor">
            <a:schemeClr val="dk1"/>
          </a:fontRef>
        </p:style>
        <p:txBody>
          <a:bodyPr/>
          <a:lstStyle/>
          <a:p>
            <a:r>
              <a:rPr lang="en-GB" sz="2000" dirty="0">
                <a:solidFill>
                  <a:schemeClr val="accent1">
                    <a:lumMod val="75000"/>
                  </a:schemeClr>
                </a:solidFill>
              </a:rPr>
              <a:t>On basis of functionalities, there can be a variety of gateways, the prominent among them are as follows:</a:t>
            </a:r>
          </a:p>
          <a:p>
            <a:pPr marL="0" indent="0">
              <a:buNone/>
            </a:pPr>
            <a:r>
              <a:rPr lang="en-GB" sz="2000" b="1" dirty="0"/>
              <a:t>3) Internet-To-Orbit Gateway (I2O)</a:t>
            </a:r>
            <a:r>
              <a:rPr lang="en-GB" sz="2000" dirty="0"/>
              <a:t> </a:t>
            </a:r>
          </a:p>
          <a:p>
            <a:pPr marL="400050" lvl="1" indent="0">
              <a:buNone/>
            </a:pPr>
            <a:r>
              <a:rPr lang="en-GB" sz="1800" dirty="0"/>
              <a:t>It connects devices on the Internet to satellites and spacecraft orbiting the earth. Two prominent I2O gateways are Project HERMES and Global Educational Network for Satellite Operations (GENSO).</a:t>
            </a:r>
          </a:p>
          <a:p>
            <a:pPr marL="0" indent="0">
              <a:buNone/>
            </a:pPr>
            <a:r>
              <a:rPr lang="en-GB" sz="2000" b="1" dirty="0"/>
              <a:t>4) IoT Gateway</a:t>
            </a:r>
            <a:r>
              <a:rPr lang="en-GB" sz="2000" dirty="0"/>
              <a:t> </a:t>
            </a:r>
          </a:p>
          <a:p>
            <a:pPr marL="400050" lvl="1" indent="0">
              <a:buNone/>
            </a:pPr>
            <a:r>
              <a:rPr lang="en-GB" sz="1800" dirty="0"/>
              <a:t>IoT gateways assimilates sensor data from </a:t>
            </a:r>
            <a:r>
              <a:rPr lang="en-GB" sz="1800" dirty="0">
                <a:hlinkClick r:id="rId2"/>
              </a:rPr>
              <a:t>IoT (Internet of Things)</a:t>
            </a:r>
            <a:r>
              <a:rPr lang="en-GB" sz="1800" dirty="0"/>
              <a:t> devices in the field and translates between sensor protocols before sending it to the cloud network. They connect IoT devices, cloud network and user applications.</a:t>
            </a:r>
          </a:p>
          <a:p>
            <a:pPr marL="0" indent="0">
              <a:buNone/>
            </a:pPr>
            <a:r>
              <a:rPr lang="en-GB" sz="2000" b="1" dirty="0"/>
              <a:t>5) </a:t>
            </a:r>
            <a:r>
              <a:rPr lang="en-GB" sz="2000" b="1" dirty="0" err="1"/>
              <a:t>VoiP</a:t>
            </a:r>
            <a:r>
              <a:rPr lang="en-GB" sz="2000" b="1" dirty="0"/>
              <a:t> Trunk Gateway</a:t>
            </a:r>
            <a:r>
              <a:rPr lang="en-GB" sz="2000" dirty="0"/>
              <a:t> </a:t>
            </a:r>
          </a:p>
          <a:p>
            <a:pPr marL="400050" lvl="1" indent="0">
              <a:buNone/>
            </a:pPr>
            <a:r>
              <a:rPr lang="en-GB" sz="2000" dirty="0"/>
              <a:t>It facilitates data transmission between plain old telephone service (POTS) devices like landline phones and fax machines, with VoIP (voice over Internet Protocol) network.</a:t>
            </a:r>
          </a:p>
          <a:p>
            <a:pPr marL="0" indent="0">
              <a:buNone/>
            </a:pPr>
            <a:endParaRPr lang="en-GB" sz="1050" dirty="0"/>
          </a:p>
        </p:txBody>
      </p:sp>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dirty="0"/>
              <a:t>CFC-MCA</a:t>
            </a:r>
          </a:p>
        </p:txBody>
      </p:sp>
    </p:spTree>
    <p:extLst>
      <p:ext uri="{BB962C8B-B14F-4D97-AF65-F5344CB8AC3E}">
        <p14:creationId xmlns:p14="http://schemas.microsoft.com/office/powerpoint/2010/main" val="47054115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a:xfrm>
            <a:off x="1981200" y="296091"/>
            <a:ext cx="8229600" cy="1121547"/>
          </a:xfrm>
        </p:spPr>
        <p:txBody>
          <a:bodyPr>
            <a:normAutofit fontScale="90000"/>
          </a:bodyPr>
          <a:lstStyle/>
          <a:p>
            <a:r>
              <a:rPr lang="en-GB" b="0" dirty="0">
                <a:effectLst/>
              </a:rPr>
              <a:t>Network Connecting Devices</a:t>
            </a:r>
            <a:br>
              <a:rPr lang="en-GB" b="0" dirty="0">
                <a:effectLst/>
              </a:rPr>
            </a:br>
            <a:r>
              <a:rPr lang="en-GB" b="0" dirty="0">
                <a:effectLst/>
              </a:rPr>
              <a:t> 		</a:t>
            </a:r>
            <a:r>
              <a:rPr lang="en-GB" dirty="0">
                <a:effectLst/>
              </a:rPr>
              <a:t>Bridges </a:t>
            </a:r>
            <a:br>
              <a:rPr lang="en-GB" dirty="0">
                <a:effectLst/>
              </a:rPr>
            </a:br>
            <a:endParaRPr lang="en-GB" dirty="0"/>
          </a:p>
        </p:txBody>
      </p:sp>
      <p:sp>
        <p:nvSpPr>
          <p:cNvPr id="3" name="Content Placeholder 2">
            <a:extLst>
              <a:ext uri="{FF2B5EF4-FFF2-40B4-BE49-F238E27FC236}">
                <a16:creationId xmlns:a16="http://schemas.microsoft.com/office/drawing/2014/main" id="{1E0FCA85-21D8-4660-AB89-EAD2E314066B}"/>
              </a:ext>
            </a:extLst>
          </p:cNvPr>
          <p:cNvSpPr>
            <a:spLocks noGrp="1"/>
          </p:cNvSpPr>
          <p:nvPr>
            <p:ph sz="half" idx="1"/>
          </p:nvPr>
        </p:nvSpPr>
        <p:spPr>
          <a:xfrm>
            <a:off x="1894115" y="1417638"/>
            <a:ext cx="4038600" cy="5348923"/>
          </a:xfrm>
        </p:spPr>
        <p:style>
          <a:lnRef idx="2">
            <a:schemeClr val="accent1"/>
          </a:lnRef>
          <a:fillRef idx="1">
            <a:schemeClr val="lt1"/>
          </a:fillRef>
          <a:effectRef idx="0">
            <a:schemeClr val="accent1"/>
          </a:effectRef>
          <a:fontRef idx="minor">
            <a:schemeClr val="dk1"/>
          </a:fontRef>
        </p:style>
        <p:txBody>
          <a:bodyPr>
            <a:normAutofit lnSpcReduction="10000"/>
          </a:bodyPr>
          <a:lstStyle/>
          <a:p>
            <a:r>
              <a:rPr lang="en-GB" sz="2400" dirty="0"/>
              <a:t>Bridges are used to connect two subnetworks that use interchangeable protocols.</a:t>
            </a:r>
          </a:p>
          <a:p>
            <a:endParaRPr lang="en-GB" sz="2400" dirty="0"/>
          </a:p>
          <a:p>
            <a:r>
              <a:rPr lang="en-GB" sz="2400" dirty="0"/>
              <a:t>It combines two LANs to form an extended LAN. </a:t>
            </a:r>
          </a:p>
          <a:p>
            <a:endParaRPr lang="en-GB" sz="2400" dirty="0"/>
          </a:p>
          <a:p>
            <a:r>
              <a:rPr lang="en-GB" sz="2400" dirty="0"/>
              <a:t>The main difference between the bridge and repeater is that the bridge has a penetrating efficiency.</a:t>
            </a:r>
            <a:endParaRPr lang="en-GB" sz="1600" dirty="0"/>
          </a:p>
        </p:txBody>
      </p:sp>
      <p:pic>
        <p:nvPicPr>
          <p:cNvPr id="5" name="Content Placeholder 4">
            <a:extLst>
              <a:ext uri="{FF2B5EF4-FFF2-40B4-BE49-F238E27FC236}">
                <a16:creationId xmlns:a16="http://schemas.microsoft.com/office/drawing/2014/main" id="{1D9AB38F-721B-484F-86A8-661F1176A34B}"/>
              </a:ext>
            </a:extLst>
          </p:cNvPr>
          <p:cNvPicPr>
            <a:picLocks noGrp="1" noChangeAspect="1"/>
          </p:cNvPicPr>
          <p:nvPr>
            <p:ph sz="half" idx="2"/>
          </p:nvPr>
        </p:nvPicPr>
        <p:blipFill>
          <a:blip r:embed="rId2"/>
          <a:stretch>
            <a:fillRect/>
          </a:stretch>
        </p:blipFill>
        <p:spPr>
          <a:xfrm>
            <a:off x="6172200" y="1480458"/>
            <a:ext cx="4295503" cy="4706983"/>
          </a:xfrm>
          <a:prstGeom prst="rect">
            <a:avLst/>
          </a:prstGeom>
        </p:spPr>
        <p:style>
          <a:lnRef idx="2">
            <a:schemeClr val="accent2"/>
          </a:lnRef>
          <a:fillRef idx="1">
            <a:schemeClr val="lt1"/>
          </a:fillRef>
          <a:effectRef idx="0">
            <a:schemeClr val="accent2"/>
          </a:effectRef>
          <a:fontRef idx="minor">
            <a:schemeClr val="dk1"/>
          </a:fontRef>
        </p:style>
      </p:pic>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sp>
        <p:nvSpPr>
          <p:cNvPr id="6" name="Arrow: Right 5">
            <a:extLst>
              <a:ext uri="{FF2B5EF4-FFF2-40B4-BE49-F238E27FC236}">
                <a16:creationId xmlns:a16="http://schemas.microsoft.com/office/drawing/2014/main" id="{F2834EDF-8E16-4AE0-A15D-3F26E9E4EFC0}"/>
              </a:ext>
            </a:extLst>
          </p:cNvPr>
          <p:cNvSpPr/>
          <p:nvPr/>
        </p:nvSpPr>
        <p:spPr bwMode="auto">
          <a:xfrm>
            <a:off x="5791200" y="3727268"/>
            <a:ext cx="1924594" cy="330925"/>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2075" tIns="46038" rIns="92075" bIns="46038" numCol="1" rtlCol="0" anchor="b" anchorCtr="0" compatLnSpc="1">
            <a:prstTxWarp prst="textNoShape">
              <a:avLst/>
            </a:prstTxWarp>
          </a:bodyPr>
          <a:lstStyle/>
          <a:p>
            <a:pPr algn="r" rtl="1" fontAlgn="base">
              <a:spcBef>
                <a:spcPct val="0"/>
              </a:spcBef>
              <a:spcAft>
                <a:spcPct val="0"/>
              </a:spcAft>
            </a:pPr>
            <a:endParaRPr lang="en-GB" sz="2400">
              <a:latin typeface="Arial" pitchFamily="34" charset="0"/>
              <a:cs typeface="Arial" pitchFamily="34" charset="0"/>
            </a:endParaRPr>
          </a:p>
        </p:txBody>
      </p:sp>
    </p:spTree>
    <p:extLst>
      <p:ext uri="{BB962C8B-B14F-4D97-AF65-F5344CB8AC3E}">
        <p14:creationId xmlns:p14="http://schemas.microsoft.com/office/powerpoint/2010/main" val="408379239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a:xfrm>
            <a:off x="1981200" y="296091"/>
            <a:ext cx="8229600" cy="1121547"/>
          </a:xfrm>
        </p:spPr>
        <p:txBody>
          <a:bodyPr>
            <a:normAutofit fontScale="90000"/>
          </a:bodyPr>
          <a:lstStyle/>
          <a:p>
            <a:r>
              <a:rPr lang="en-GB" b="0" dirty="0">
                <a:effectLst/>
              </a:rPr>
              <a:t>Network Connecting Devices</a:t>
            </a:r>
            <a:br>
              <a:rPr lang="en-GB" b="0" dirty="0">
                <a:effectLst/>
              </a:rPr>
            </a:br>
            <a:r>
              <a:rPr lang="en-GB" b="0" dirty="0">
                <a:effectLst/>
              </a:rPr>
              <a:t> 		</a:t>
            </a:r>
            <a:r>
              <a:rPr lang="en-GB" dirty="0">
                <a:effectLst/>
              </a:rPr>
              <a:t>Gateways </a:t>
            </a:r>
            <a:r>
              <a:rPr lang="en-GB" b="0" dirty="0">
                <a:effectLst/>
              </a:rPr>
              <a:t>Types </a:t>
            </a:r>
            <a:r>
              <a:rPr lang="en-GB" dirty="0">
                <a:effectLst/>
              </a:rPr>
              <a:t> </a:t>
            </a:r>
            <a:br>
              <a:rPr lang="en-GB" dirty="0">
                <a:effectLst/>
              </a:rPr>
            </a:br>
            <a:endParaRPr lang="en-GB" dirty="0"/>
          </a:p>
        </p:txBody>
      </p:sp>
      <p:sp>
        <p:nvSpPr>
          <p:cNvPr id="3" name="Content Placeholder 2">
            <a:extLst>
              <a:ext uri="{FF2B5EF4-FFF2-40B4-BE49-F238E27FC236}">
                <a16:creationId xmlns:a16="http://schemas.microsoft.com/office/drawing/2014/main" id="{1E0FCA85-21D8-4660-AB89-EAD2E314066B}"/>
              </a:ext>
            </a:extLst>
          </p:cNvPr>
          <p:cNvSpPr>
            <a:spLocks noGrp="1"/>
          </p:cNvSpPr>
          <p:nvPr>
            <p:ph sz="half" idx="1"/>
          </p:nvPr>
        </p:nvSpPr>
        <p:spPr>
          <a:xfrm>
            <a:off x="1894115" y="1417638"/>
            <a:ext cx="4038600" cy="5348923"/>
          </a:xfrm>
        </p:spPr>
        <p:style>
          <a:lnRef idx="2">
            <a:schemeClr val="accent1"/>
          </a:lnRef>
          <a:fillRef idx="1">
            <a:schemeClr val="lt1"/>
          </a:fillRef>
          <a:effectRef idx="0">
            <a:schemeClr val="accent1"/>
          </a:effectRef>
          <a:fontRef idx="minor">
            <a:schemeClr val="dk1"/>
          </a:fontRef>
        </p:style>
        <p:txBody>
          <a:bodyPr>
            <a:normAutofit fontScale="92500"/>
          </a:bodyPr>
          <a:lstStyle/>
          <a:p>
            <a:pPr marL="0" indent="0">
              <a:buNone/>
            </a:pPr>
            <a:r>
              <a:rPr lang="en-GB" sz="2400" b="1" dirty="0"/>
              <a:t>Working of Bridges</a:t>
            </a:r>
          </a:p>
          <a:p>
            <a:r>
              <a:rPr lang="en-GB" sz="2400" dirty="0"/>
              <a:t>A bridge accepts all the packets and amplifies all of them to the other side.</a:t>
            </a:r>
          </a:p>
          <a:p>
            <a:r>
              <a:rPr lang="en-GB" sz="2400" dirty="0"/>
              <a:t> The bridges are intelligent devices that allow the passing of only selective packets from them. </a:t>
            </a:r>
          </a:p>
          <a:p>
            <a:r>
              <a:rPr lang="en-GB" sz="2400" dirty="0"/>
              <a:t>A bridge only passes those packets addressed from a node in one network to another node in the other network.</a:t>
            </a:r>
          </a:p>
          <a:p>
            <a:pPr marL="0" indent="0">
              <a:buNone/>
            </a:pPr>
            <a:endParaRPr lang="en-GB" sz="1600" dirty="0"/>
          </a:p>
        </p:txBody>
      </p:sp>
      <p:pic>
        <p:nvPicPr>
          <p:cNvPr id="5" name="Content Placeholder 4">
            <a:extLst>
              <a:ext uri="{FF2B5EF4-FFF2-40B4-BE49-F238E27FC236}">
                <a16:creationId xmlns:a16="http://schemas.microsoft.com/office/drawing/2014/main" id="{869448AA-6C1E-4963-9BB8-62208890AC2D}"/>
              </a:ext>
            </a:extLst>
          </p:cNvPr>
          <p:cNvPicPr>
            <a:picLocks noGrp="1" noChangeAspect="1"/>
          </p:cNvPicPr>
          <p:nvPr>
            <p:ph sz="half" idx="2"/>
          </p:nvPr>
        </p:nvPicPr>
        <p:blipFill>
          <a:blip r:embed="rId2"/>
          <a:stretch>
            <a:fillRect/>
          </a:stretch>
        </p:blipFill>
        <p:spPr>
          <a:xfrm>
            <a:off x="6172200" y="1733007"/>
            <a:ext cx="4399971" cy="4136570"/>
          </a:xfrm>
          <a:prstGeom prst="rect">
            <a:avLst/>
          </a:prstGeom>
        </p:spPr>
        <p:style>
          <a:lnRef idx="2">
            <a:schemeClr val="accent1"/>
          </a:lnRef>
          <a:fillRef idx="1">
            <a:schemeClr val="lt1"/>
          </a:fillRef>
          <a:effectRef idx="0">
            <a:schemeClr val="accent1"/>
          </a:effectRef>
          <a:fontRef idx="minor">
            <a:schemeClr val="dk1"/>
          </a:fontRef>
        </p:style>
      </p:pic>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spTree>
    <p:extLst>
      <p:ext uri="{BB962C8B-B14F-4D97-AF65-F5344CB8AC3E}">
        <p14:creationId xmlns:p14="http://schemas.microsoft.com/office/powerpoint/2010/main" val="148880416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p:txBody>
          <a:bodyPr>
            <a:normAutofit fontScale="90000"/>
          </a:bodyPr>
          <a:lstStyle/>
          <a:p>
            <a:r>
              <a:rPr lang="en-GB" b="0" dirty="0">
                <a:effectLst/>
              </a:rPr>
              <a:t>Network Connecting Devices</a:t>
            </a:r>
            <a:br>
              <a:rPr lang="en-GB" b="0" dirty="0">
                <a:effectLst/>
              </a:rPr>
            </a:br>
            <a:r>
              <a:rPr lang="en-GB" b="0" dirty="0">
                <a:effectLst/>
              </a:rPr>
              <a:t> 		</a:t>
            </a:r>
            <a:r>
              <a:rPr lang="en-GB" dirty="0">
                <a:effectLst/>
              </a:rPr>
              <a:t>Bridge </a:t>
            </a:r>
            <a:r>
              <a:rPr lang="en-GB" b="0" dirty="0">
                <a:effectLst/>
              </a:rPr>
              <a:t>Types </a:t>
            </a:r>
            <a:r>
              <a:rPr lang="en-GB" dirty="0">
                <a:effectLst/>
              </a:rPr>
              <a:t> </a:t>
            </a:r>
            <a:br>
              <a:rPr lang="en-GB" dirty="0">
                <a:effectLst/>
              </a:rPr>
            </a:br>
            <a:endParaRPr lang="en-GB" dirty="0"/>
          </a:p>
        </p:txBody>
      </p:sp>
      <p:sp>
        <p:nvSpPr>
          <p:cNvPr id="8" name="Content Placeholder 7">
            <a:extLst>
              <a:ext uri="{FF2B5EF4-FFF2-40B4-BE49-F238E27FC236}">
                <a16:creationId xmlns:a16="http://schemas.microsoft.com/office/drawing/2014/main" id="{5431C106-D653-48C4-9CF3-FAFAA4C73BBE}"/>
              </a:ext>
            </a:extLst>
          </p:cNvPr>
          <p:cNvSpPr>
            <a:spLocks noGrp="1"/>
          </p:cNvSpPr>
          <p:nvPr>
            <p:ph idx="1"/>
          </p:nvPr>
        </p:nvSpPr>
        <p:spPr>
          <a:xfrm>
            <a:off x="1981200" y="1600200"/>
            <a:ext cx="8229600" cy="4983162"/>
          </a:xfrm>
        </p:spPr>
        <p:txBody>
          <a:bodyPr>
            <a:normAutofit lnSpcReduction="10000"/>
          </a:bodyPr>
          <a:lstStyle/>
          <a:p>
            <a:pPr marL="0" indent="0">
              <a:buNone/>
            </a:pPr>
            <a:r>
              <a:rPr lang="en-GB" sz="2400" b="1" dirty="0">
                <a:solidFill>
                  <a:schemeClr val="accent1">
                    <a:lumMod val="75000"/>
                  </a:schemeClr>
                </a:solidFill>
              </a:rPr>
              <a:t>A bridge performs in the following aspect</a:t>
            </a:r>
          </a:p>
          <a:p>
            <a:r>
              <a:rPr lang="en-GB" sz="2400" dirty="0"/>
              <a:t>A bridge receives all the packets or frame from both LAN (segment) A and B.</a:t>
            </a:r>
          </a:p>
          <a:p>
            <a:r>
              <a:rPr lang="en-GB" sz="2400" dirty="0"/>
              <a:t>A bridge builds a table of addresses from which it can identify that the packets are sent from which LAN (or segment) to which LAN.</a:t>
            </a:r>
          </a:p>
          <a:p>
            <a:r>
              <a:rPr lang="en-GB" sz="2400" dirty="0"/>
              <a:t>The bridge reads the send and discards all packets from LAN A sent to a computer on LAN A and that packets from LAN A send to a computer on LAN B are retransmitted to LAN B.</a:t>
            </a:r>
          </a:p>
          <a:p>
            <a:r>
              <a:rPr lang="en-GB" sz="2400" dirty="0"/>
              <a:t>The packets from LAN B are considered in the same method.</a:t>
            </a:r>
          </a:p>
          <a:p>
            <a:endParaRPr lang="en-GB" sz="2400" dirty="0"/>
          </a:p>
        </p:txBody>
      </p:sp>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spTree>
    <p:extLst>
      <p:ext uri="{BB962C8B-B14F-4D97-AF65-F5344CB8AC3E}">
        <p14:creationId xmlns:p14="http://schemas.microsoft.com/office/powerpoint/2010/main" val="59664782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p:txBody>
          <a:bodyPr>
            <a:normAutofit fontScale="90000"/>
          </a:bodyPr>
          <a:lstStyle/>
          <a:p>
            <a:r>
              <a:rPr lang="en-GB" b="0" dirty="0">
                <a:effectLst/>
              </a:rPr>
              <a:t>Network Connecting Devices</a:t>
            </a:r>
            <a:br>
              <a:rPr lang="en-GB" b="0" dirty="0">
                <a:effectLst/>
              </a:rPr>
            </a:br>
            <a:r>
              <a:rPr lang="en-GB" b="0" dirty="0">
                <a:effectLst/>
              </a:rPr>
              <a:t> 		</a:t>
            </a:r>
            <a:r>
              <a:rPr lang="en-GB" dirty="0">
                <a:effectLst/>
              </a:rPr>
              <a:t>Bridge </a:t>
            </a:r>
            <a:r>
              <a:rPr lang="en-GB" b="0" dirty="0">
                <a:effectLst/>
              </a:rPr>
              <a:t>Types </a:t>
            </a:r>
            <a:r>
              <a:rPr lang="en-GB" dirty="0">
                <a:effectLst/>
              </a:rPr>
              <a:t> </a:t>
            </a:r>
            <a:br>
              <a:rPr lang="en-GB" dirty="0">
                <a:effectLst/>
              </a:rPr>
            </a:br>
            <a:endParaRPr lang="en-GB" dirty="0"/>
          </a:p>
        </p:txBody>
      </p:sp>
      <p:sp>
        <p:nvSpPr>
          <p:cNvPr id="3" name="Content Placeholder 2">
            <a:extLst>
              <a:ext uri="{FF2B5EF4-FFF2-40B4-BE49-F238E27FC236}">
                <a16:creationId xmlns:a16="http://schemas.microsoft.com/office/drawing/2014/main" id="{89F400AE-70AA-46B6-BB6C-5EC4BC4602DF}"/>
              </a:ext>
            </a:extLst>
          </p:cNvPr>
          <p:cNvSpPr>
            <a:spLocks noGrp="1"/>
          </p:cNvSpPr>
          <p:nvPr>
            <p:ph sz="half" idx="1"/>
          </p:nvPr>
        </p:nvSpPr>
        <p:spPr>
          <a:xfrm>
            <a:off x="1981200" y="1600200"/>
            <a:ext cx="4038600" cy="5105400"/>
          </a:xfrm>
        </p:spPr>
        <p:style>
          <a:lnRef idx="2">
            <a:schemeClr val="accent1"/>
          </a:lnRef>
          <a:fillRef idx="1">
            <a:schemeClr val="lt1"/>
          </a:fillRef>
          <a:effectRef idx="0">
            <a:schemeClr val="accent1"/>
          </a:effectRef>
          <a:fontRef idx="minor">
            <a:schemeClr val="dk1"/>
          </a:fontRef>
        </p:style>
        <p:txBody>
          <a:bodyPr>
            <a:normAutofit lnSpcReduction="10000"/>
          </a:bodyPr>
          <a:lstStyle/>
          <a:p>
            <a:pPr marL="0" indent="0">
              <a:buNone/>
            </a:pPr>
            <a:r>
              <a:rPr lang="en-GB" sz="2000" dirty="0"/>
              <a:t>1</a:t>
            </a:r>
            <a:r>
              <a:rPr lang="en-GB" sz="2000" b="1" dirty="0">
                <a:solidFill>
                  <a:schemeClr val="accent1">
                    <a:lumMod val="75000"/>
                  </a:schemeClr>
                </a:solidFill>
              </a:rPr>
              <a:t>. Transparent Bridges</a:t>
            </a:r>
          </a:p>
          <a:p>
            <a:r>
              <a:rPr lang="en-GB" sz="2000" dirty="0"/>
              <a:t>It is also called learning bridges. Bridge construct its table of terminal addresses on its own as it implements connecting two LANs. It facilitates the source location to create its table. It is self-updating. It is a plug and plays bridge.</a:t>
            </a:r>
          </a:p>
          <a:p>
            <a:pPr marL="0" indent="0">
              <a:buNone/>
            </a:pPr>
            <a:r>
              <a:rPr lang="en-GB" sz="2000" b="1" dirty="0">
                <a:solidFill>
                  <a:schemeClr val="accent1">
                    <a:lumMod val="75000"/>
                  </a:schemeClr>
                </a:solidFill>
              </a:rPr>
              <a:t>2. Source Routing Bridge</a:t>
            </a:r>
          </a:p>
          <a:p>
            <a:r>
              <a:rPr lang="en-GB" sz="2000" dirty="0"/>
              <a:t>This sending terminal means the bridges that the frames should stay. This type of bridge is used to prevent looping problem.</a:t>
            </a:r>
          </a:p>
          <a:p>
            <a:endParaRPr lang="en-GB" sz="2000" dirty="0"/>
          </a:p>
        </p:txBody>
      </p:sp>
      <p:pic>
        <p:nvPicPr>
          <p:cNvPr id="6" name="Content Placeholder 5">
            <a:extLst>
              <a:ext uri="{FF2B5EF4-FFF2-40B4-BE49-F238E27FC236}">
                <a16:creationId xmlns:a16="http://schemas.microsoft.com/office/drawing/2014/main" id="{4B7213B0-75CA-43CD-B954-36F0580BA242}"/>
              </a:ext>
            </a:extLst>
          </p:cNvPr>
          <p:cNvPicPr>
            <a:picLocks noGrp="1" noChangeAspect="1"/>
          </p:cNvPicPr>
          <p:nvPr>
            <p:ph sz="half" idx="2"/>
          </p:nvPr>
        </p:nvPicPr>
        <p:blipFill>
          <a:blip r:embed="rId2"/>
          <a:stretch>
            <a:fillRect/>
          </a:stretch>
        </p:blipFill>
        <p:spPr>
          <a:xfrm>
            <a:off x="6172200" y="2090062"/>
            <a:ext cx="4038600" cy="3666308"/>
          </a:xfrm>
          <a:prstGeom prst="rect">
            <a:avLst/>
          </a:prstGeom>
        </p:spPr>
        <p:style>
          <a:lnRef idx="2">
            <a:schemeClr val="accent1"/>
          </a:lnRef>
          <a:fillRef idx="1">
            <a:schemeClr val="lt1"/>
          </a:fillRef>
          <a:effectRef idx="0">
            <a:schemeClr val="accent1"/>
          </a:effectRef>
          <a:fontRef idx="minor">
            <a:schemeClr val="dk1"/>
          </a:fontRef>
        </p:style>
      </p:pic>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spTree>
    <p:extLst>
      <p:ext uri="{BB962C8B-B14F-4D97-AF65-F5344CB8AC3E}">
        <p14:creationId xmlns:p14="http://schemas.microsoft.com/office/powerpoint/2010/main" val="183853297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p:txBody>
          <a:bodyPr>
            <a:normAutofit fontScale="90000"/>
          </a:bodyPr>
          <a:lstStyle/>
          <a:p>
            <a:r>
              <a:rPr lang="en-GB" b="0" dirty="0">
                <a:effectLst/>
              </a:rPr>
              <a:t>Network Connecting Devices</a:t>
            </a:r>
            <a:br>
              <a:rPr lang="en-GB" b="0" dirty="0">
                <a:effectLst/>
              </a:rPr>
            </a:br>
            <a:r>
              <a:rPr lang="en-GB" b="0" dirty="0">
                <a:effectLst/>
              </a:rPr>
              <a:t> 		</a:t>
            </a:r>
            <a:r>
              <a:rPr lang="en-GB" dirty="0">
                <a:effectLst/>
              </a:rPr>
              <a:t>Bridge </a:t>
            </a:r>
            <a:r>
              <a:rPr lang="en-GB" dirty="0"/>
              <a:t>Uses</a:t>
            </a:r>
            <a:r>
              <a:rPr lang="en-GB" b="0" dirty="0">
                <a:effectLst/>
              </a:rPr>
              <a:t> </a:t>
            </a:r>
            <a:r>
              <a:rPr lang="en-GB" dirty="0">
                <a:effectLst/>
              </a:rPr>
              <a:t> </a:t>
            </a:r>
            <a:br>
              <a:rPr lang="en-GB" dirty="0">
                <a:effectLst/>
              </a:rPr>
            </a:br>
            <a:endParaRPr lang="en-GB" dirty="0"/>
          </a:p>
        </p:txBody>
      </p:sp>
      <p:sp>
        <p:nvSpPr>
          <p:cNvPr id="8" name="Content Placeholder 7">
            <a:extLst>
              <a:ext uri="{FF2B5EF4-FFF2-40B4-BE49-F238E27FC236}">
                <a16:creationId xmlns:a16="http://schemas.microsoft.com/office/drawing/2014/main" id="{3E723C51-B07B-4109-A150-97D69EAE1AE3}"/>
              </a:ext>
            </a:extLst>
          </p:cNvPr>
          <p:cNvSpPr>
            <a:spLocks noGrp="1"/>
          </p:cNvSpPr>
          <p:nvPr>
            <p:ph idx="1"/>
          </p:nvPr>
        </p:nvSpPr>
        <p:spPr>
          <a:xfrm>
            <a:off x="1981200" y="1365061"/>
            <a:ext cx="8229600" cy="5270867"/>
          </a:xfrm>
        </p:spPr>
        <p:style>
          <a:lnRef idx="2">
            <a:schemeClr val="accent1"/>
          </a:lnRef>
          <a:fillRef idx="1">
            <a:schemeClr val="lt1"/>
          </a:fillRef>
          <a:effectRef idx="0">
            <a:schemeClr val="accent1"/>
          </a:effectRef>
          <a:fontRef idx="minor">
            <a:schemeClr val="dk1"/>
          </a:fontRef>
        </p:style>
        <p:txBody>
          <a:bodyPr/>
          <a:lstStyle/>
          <a:p>
            <a:pPr marL="0" indent="0">
              <a:buNone/>
            </a:pPr>
            <a:r>
              <a:rPr lang="en-GB" dirty="0">
                <a:solidFill>
                  <a:schemeClr val="accent1">
                    <a:lumMod val="75000"/>
                  </a:schemeClr>
                </a:solidFill>
              </a:rPr>
              <a:t>Uses of Bridges</a:t>
            </a:r>
          </a:p>
          <a:p>
            <a:r>
              <a:rPr lang="en-GB" dirty="0"/>
              <a:t>Bridges are used to divide large busy networks into multiple smaller and interconnected networks to improve performance.</a:t>
            </a:r>
          </a:p>
          <a:p>
            <a:endParaRPr lang="en-GB" dirty="0"/>
          </a:p>
          <a:p>
            <a:r>
              <a:rPr lang="en-GB" dirty="0"/>
              <a:t>Bridges also can increase the physical size of a network.</a:t>
            </a:r>
          </a:p>
          <a:p>
            <a:endParaRPr lang="en-GB" dirty="0"/>
          </a:p>
          <a:p>
            <a:r>
              <a:rPr lang="en-GB" dirty="0"/>
              <a:t>Bridges are also used to connect a LAN segment through a synchronous modem relation to another LAN segment at a remote area.</a:t>
            </a:r>
          </a:p>
          <a:p>
            <a:endParaRPr lang="en-GB" dirty="0"/>
          </a:p>
        </p:txBody>
      </p:sp>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spTree>
    <p:extLst>
      <p:ext uri="{BB962C8B-B14F-4D97-AF65-F5344CB8AC3E}">
        <p14:creationId xmlns:p14="http://schemas.microsoft.com/office/powerpoint/2010/main" val="117326414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p:txBody>
          <a:bodyPr>
            <a:normAutofit fontScale="90000"/>
          </a:bodyPr>
          <a:lstStyle/>
          <a:p>
            <a:pPr algn="ctr"/>
            <a:r>
              <a:rPr lang="en-GB" b="0" dirty="0">
                <a:effectLst/>
              </a:rPr>
              <a:t>Network Connecting Devices</a:t>
            </a:r>
            <a:br>
              <a:rPr lang="en-GB" b="0" dirty="0">
                <a:effectLst/>
              </a:rPr>
            </a:br>
            <a:r>
              <a:rPr lang="en-GB" b="0" dirty="0">
                <a:effectLst/>
              </a:rPr>
              <a:t>Socket</a:t>
            </a:r>
            <a:br>
              <a:rPr lang="en-GB" b="0" dirty="0">
                <a:effectLst/>
              </a:rPr>
            </a:br>
            <a:endParaRPr lang="en-GB" dirty="0"/>
          </a:p>
        </p:txBody>
      </p:sp>
      <p:sp>
        <p:nvSpPr>
          <p:cNvPr id="3" name="Content Placeholder 2">
            <a:extLst>
              <a:ext uri="{FF2B5EF4-FFF2-40B4-BE49-F238E27FC236}">
                <a16:creationId xmlns:a16="http://schemas.microsoft.com/office/drawing/2014/main" id="{1E0FCA85-21D8-4660-AB89-EAD2E314066B}"/>
              </a:ext>
            </a:extLst>
          </p:cNvPr>
          <p:cNvSpPr>
            <a:spLocks noGrp="1"/>
          </p:cNvSpPr>
          <p:nvPr>
            <p:ph sz="half" idx="1"/>
          </p:nvPr>
        </p:nvSpPr>
        <p:spPr>
          <a:xfrm>
            <a:off x="1981200" y="1600201"/>
            <a:ext cx="4038600" cy="4878977"/>
          </a:xfrm>
        </p:spPr>
        <p:style>
          <a:lnRef idx="2">
            <a:schemeClr val="accent1"/>
          </a:lnRef>
          <a:fillRef idx="1">
            <a:schemeClr val="lt1"/>
          </a:fillRef>
          <a:effectRef idx="0">
            <a:schemeClr val="accent1"/>
          </a:effectRef>
          <a:fontRef idx="minor">
            <a:schemeClr val="dk1"/>
          </a:fontRef>
        </p:style>
        <p:txBody>
          <a:bodyPr/>
          <a:lstStyle/>
          <a:p>
            <a:r>
              <a:rPr lang="en-GB" sz="2000" dirty="0"/>
              <a:t>A network socket is a software component within a computer network node that acts as an endpoint for delivering and receiving data. </a:t>
            </a:r>
          </a:p>
          <a:p>
            <a:r>
              <a:rPr lang="en-GB" sz="2000" dirty="0"/>
              <a:t>An application programming interface (API) for the networking architecture defines the structure and properties of a socket.</a:t>
            </a:r>
          </a:p>
          <a:p>
            <a:endParaRPr lang="en-GB" sz="2000" dirty="0"/>
          </a:p>
          <a:p>
            <a:r>
              <a:rPr lang="en-GB" sz="2000" dirty="0"/>
              <a:t>Sockets are only produced over the lifespan of a process in a node-based application.</a:t>
            </a:r>
          </a:p>
          <a:p>
            <a:endParaRPr lang="en-GB" sz="2000" dirty="0"/>
          </a:p>
        </p:txBody>
      </p:sp>
      <p:sp>
        <p:nvSpPr>
          <p:cNvPr id="5" name="Content Placeholder 4">
            <a:extLst>
              <a:ext uri="{FF2B5EF4-FFF2-40B4-BE49-F238E27FC236}">
                <a16:creationId xmlns:a16="http://schemas.microsoft.com/office/drawing/2014/main" id="{EBE5198C-3016-4A86-AE5D-7CC5F72410E1}"/>
              </a:ext>
            </a:extLst>
          </p:cNvPr>
          <p:cNvSpPr>
            <a:spLocks noGrp="1"/>
          </p:cNvSpPr>
          <p:nvPr>
            <p:ph sz="half" idx="2"/>
          </p:nvPr>
        </p:nvSpPr>
        <p:spPr>
          <a:xfrm>
            <a:off x="6172200" y="1600200"/>
            <a:ext cx="4038600" cy="4983162"/>
          </a:xfrm>
        </p:spPr>
        <p:style>
          <a:lnRef idx="2">
            <a:schemeClr val="accent1"/>
          </a:lnRef>
          <a:fillRef idx="1">
            <a:schemeClr val="lt1"/>
          </a:fillRef>
          <a:effectRef idx="0">
            <a:schemeClr val="accent1"/>
          </a:effectRef>
          <a:fontRef idx="minor">
            <a:schemeClr val="dk1"/>
          </a:fontRef>
        </p:style>
        <p:txBody>
          <a:bodyPr/>
          <a:lstStyle/>
          <a:p>
            <a:r>
              <a:rPr lang="en-GB" sz="2000" dirty="0"/>
              <a:t>Because the TCP/IP protocols were standardized during the creation of the Internet, the word "network socket" is most often used in the context of the Internet Protocol suite, and it is hence referred to as an "Internet Socket". </a:t>
            </a:r>
          </a:p>
          <a:p>
            <a:endParaRPr lang="en-GB" sz="2000" dirty="0"/>
          </a:p>
          <a:p>
            <a:r>
              <a:rPr lang="en-GB" sz="2000" dirty="0"/>
              <a:t>In this context, a socket's address, which is the triad of the transport protocol, IP address, and port number, is used to externally identify it to other hosts.</a:t>
            </a:r>
          </a:p>
        </p:txBody>
      </p:sp>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spTree>
    <p:extLst>
      <p:ext uri="{BB962C8B-B14F-4D97-AF65-F5344CB8AC3E}">
        <p14:creationId xmlns:p14="http://schemas.microsoft.com/office/powerpoint/2010/main" val="213938939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p:txBody>
          <a:bodyPr>
            <a:normAutofit fontScale="90000"/>
          </a:bodyPr>
          <a:lstStyle/>
          <a:p>
            <a:pPr algn="ctr"/>
            <a:r>
              <a:rPr lang="en-GB" b="0" dirty="0">
                <a:effectLst/>
              </a:rPr>
              <a:t>Network Connecting Devices</a:t>
            </a:r>
            <a:br>
              <a:rPr lang="en-GB" b="0" dirty="0">
                <a:effectLst/>
              </a:rPr>
            </a:br>
            <a:r>
              <a:rPr lang="en-GB" b="0" dirty="0">
                <a:effectLst/>
              </a:rPr>
              <a:t>Socket </a:t>
            </a:r>
            <a:r>
              <a:rPr lang="en-GB" dirty="0"/>
              <a:t>Types</a:t>
            </a:r>
            <a:r>
              <a:rPr lang="en-GB" b="0" dirty="0">
                <a:effectLst/>
              </a:rPr>
              <a:t/>
            </a:r>
            <a:br>
              <a:rPr lang="en-GB" b="0" dirty="0">
                <a:effectLst/>
              </a:rPr>
            </a:br>
            <a:endParaRPr lang="en-GB" dirty="0"/>
          </a:p>
        </p:txBody>
      </p:sp>
      <p:sp>
        <p:nvSpPr>
          <p:cNvPr id="3" name="Content Placeholder 2">
            <a:extLst>
              <a:ext uri="{FF2B5EF4-FFF2-40B4-BE49-F238E27FC236}">
                <a16:creationId xmlns:a16="http://schemas.microsoft.com/office/drawing/2014/main" id="{1E0FCA85-21D8-4660-AB89-EAD2E314066B}"/>
              </a:ext>
            </a:extLst>
          </p:cNvPr>
          <p:cNvSpPr>
            <a:spLocks noGrp="1"/>
          </p:cNvSpPr>
          <p:nvPr>
            <p:ph sz="half" idx="1"/>
          </p:nvPr>
        </p:nvSpPr>
        <p:spPr>
          <a:xfrm>
            <a:off x="1981200" y="1600201"/>
            <a:ext cx="4038600" cy="5183777"/>
          </a:xfrm>
        </p:spPr>
        <p:style>
          <a:lnRef idx="2">
            <a:schemeClr val="accent1"/>
          </a:lnRef>
          <a:fillRef idx="1">
            <a:schemeClr val="lt1"/>
          </a:fillRef>
          <a:effectRef idx="0">
            <a:schemeClr val="accent1"/>
          </a:effectRef>
          <a:fontRef idx="minor">
            <a:schemeClr val="dk1"/>
          </a:fontRef>
        </p:style>
        <p:txBody>
          <a:bodyPr>
            <a:normAutofit lnSpcReduction="10000"/>
          </a:bodyPr>
          <a:lstStyle/>
          <a:p>
            <a:pPr marL="0" indent="0">
              <a:buNone/>
            </a:pPr>
            <a:r>
              <a:rPr lang="en-GB" sz="2400" dirty="0">
                <a:solidFill>
                  <a:schemeClr val="accent1">
                    <a:lumMod val="75000"/>
                  </a:schemeClr>
                </a:solidFill>
              </a:rPr>
              <a:t>1. Datagram Socket</a:t>
            </a:r>
          </a:p>
          <a:p>
            <a:r>
              <a:rPr lang="en-GB" sz="2400" dirty="0"/>
              <a:t>A datagram socket is a type of network socket in which packets are sent and received without the use of a link. </a:t>
            </a:r>
          </a:p>
          <a:p>
            <a:r>
              <a:rPr lang="en-GB" sz="2400" dirty="0"/>
              <a:t>It resembles a mailbox. Letters (data) are gathered and delivered (transmitted) to a mailbox (receiving socket). </a:t>
            </a:r>
          </a:p>
          <a:p>
            <a:r>
              <a:rPr lang="en-GB" sz="2400" dirty="0"/>
              <a:t>It is a connection-less socket.</a:t>
            </a:r>
          </a:p>
          <a:p>
            <a:endParaRPr lang="en-GB" sz="1800" dirty="0"/>
          </a:p>
        </p:txBody>
      </p:sp>
      <p:sp>
        <p:nvSpPr>
          <p:cNvPr id="5" name="Content Placeholder 4">
            <a:extLst>
              <a:ext uri="{FF2B5EF4-FFF2-40B4-BE49-F238E27FC236}">
                <a16:creationId xmlns:a16="http://schemas.microsoft.com/office/drawing/2014/main" id="{EBE5198C-3016-4A86-AE5D-7CC5F72410E1}"/>
              </a:ext>
            </a:extLst>
          </p:cNvPr>
          <p:cNvSpPr>
            <a:spLocks noGrp="1"/>
          </p:cNvSpPr>
          <p:nvPr>
            <p:ph sz="half" idx="2"/>
          </p:nvPr>
        </p:nvSpPr>
        <p:spPr>
          <a:xfrm>
            <a:off x="6172200" y="1600200"/>
            <a:ext cx="4038600" cy="4983162"/>
          </a:xfrm>
        </p:spPr>
        <p:style>
          <a:lnRef idx="2">
            <a:schemeClr val="accent1"/>
          </a:lnRef>
          <a:fillRef idx="1">
            <a:schemeClr val="lt1"/>
          </a:fillRef>
          <a:effectRef idx="0">
            <a:schemeClr val="accent1"/>
          </a:effectRef>
          <a:fontRef idx="minor">
            <a:schemeClr val="dk1"/>
          </a:fontRef>
        </p:style>
        <p:txBody>
          <a:bodyPr>
            <a:normAutofit lnSpcReduction="10000"/>
          </a:bodyPr>
          <a:lstStyle/>
          <a:p>
            <a:pPr marL="0" indent="0">
              <a:buNone/>
            </a:pPr>
            <a:r>
              <a:rPr lang="en-GB" sz="2400" dirty="0">
                <a:solidFill>
                  <a:schemeClr val="accent1">
                    <a:lumMod val="75000"/>
                  </a:schemeClr>
                </a:solidFill>
              </a:rPr>
              <a:t>2. Stream Socket</a:t>
            </a:r>
          </a:p>
          <a:p>
            <a:r>
              <a:rPr lang="en-GB" sz="2000" dirty="0"/>
              <a:t>A stream socket is a type of network socket in a computer operating system that provides a connection-oriented, sequenced, and unique flow of data without record boundaries, as well as well-defined mechanisms for creating and destroying connections and detecting errors. It is comparable to a telephone. Between the phones (two ends), a link is created.</a:t>
            </a:r>
          </a:p>
          <a:p>
            <a:endParaRPr lang="en-GB" sz="1600" dirty="0"/>
          </a:p>
        </p:txBody>
      </p:sp>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spTree>
    <p:extLst>
      <p:ext uri="{BB962C8B-B14F-4D97-AF65-F5344CB8AC3E}">
        <p14:creationId xmlns:p14="http://schemas.microsoft.com/office/powerpoint/2010/main" val="400803718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p:txBody>
          <a:bodyPr>
            <a:normAutofit/>
          </a:bodyPr>
          <a:lstStyle/>
          <a:p>
            <a:r>
              <a:rPr lang="en-GB" dirty="0">
                <a:effectLst/>
              </a:rPr>
              <a:t>Network Interface Card (NIC)</a:t>
            </a:r>
            <a:br>
              <a:rPr lang="en-GB" dirty="0">
                <a:effectLst/>
              </a:rPr>
            </a:br>
            <a:endParaRPr lang="en-GB" dirty="0"/>
          </a:p>
        </p:txBody>
      </p:sp>
      <p:sp>
        <p:nvSpPr>
          <p:cNvPr id="3" name="Content Placeholder 2">
            <a:extLst>
              <a:ext uri="{FF2B5EF4-FFF2-40B4-BE49-F238E27FC236}">
                <a16:creationId xmlns:a16="http://schemas.microsoft.com/office/drawing/2014/main" id="{1E0FCA85-21D8-4660-AB89-EAD2E314066B}"/>
              </a:ext>
            </a:extLst>
          </p:cNvPr>
          <p:cNvSpPr>
            <a:spLocks noGrp="1"/>
          </p:cNvSpPr>
          <p:nvPr>
            <p:ph idx="1"/>
          </p:nvPr>
        </p:nvSpPr>
        <p:spPr>
          <a:xfrm>
            <a:off x="1981200" y="1600200"/>
            <a:ext cx="8229600" cy="4983162"/>
          </a:xfrm>
        </p:spPr>
        <p:txBody>
          <a:bodyPr/>
          <a:lstStyle/>
          <a:p>
            <a:r>
              <a:rPr lang="en-GB" dirty="0"/>
              <a:t>A network interface card (NIC) is a hardware component without which a computer cannot be connected over a network. </a:t>
            </a:r>
          </a:p>
          <a:p>
            <a:endParaRPr lang="en-GB" dirty="0"/>
          </a:p>
          <a:p>
            <a:r>
              <a:rPr lang="en-GB" dirty="0"/>
              <a:t>It is a circuit board installed in a computer that provides a dedicated network connection to the computer. </a:t>
            </a:r>
          </a:p>
          <a:p>
            <a:endParaRPr lang="en-GB" dirty="0"/>
          </a:p>
          <a:p>
            <a:r>
              <a:rPr lang="en-GB" dirty="0"/>
              <a:t>It is also called network interface controller, network adapter, or LAN adapter.</a:t>
            </a:r>
          </a:p>
          <a:p>
            <a:endParaRPr lang="en-GB" dirty="0"/>
          </a:p>
          <a:p>
            <a:endParaRPr lang="en-GB" dirty="0"/>
          </a:p>
        </p:txBody>
      </p:sp>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spTree>
    <p:extLst>
      <p:ext uri="{BB962C8B-B14F-4D97-AF65-F5344CB8AC3E}">
        <p14:creationId xmlns:p14="http://schemas.microsoft.com/office/powerpoint/2010/main" val="193630074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p:txBody>
          <a:bodyPr>
            <a:normAutofit fontScale="90000"/>
          </a:bodyPr>
          <a:lstStyle/>
          <a:p>
            <a:pPr algn="ctr"/>
            <a:r>
              <a:rPr lang="en-GB" dirty="0">
                <a:effectLst/>
              </a:rPr>
              <a:t>Network Interface Card (NIC)</a:t>
            </a:r>
            <a:br>
              <a:rPr lang="en-GB" dirty="0">
                <a:effectLst/>
              </a:rPr>
            </a:br>
            <a:r>
              <a:rPr lang="en-GB" b="0" dirty="0">
                <a:effectLst/>
              </a:rPr>
              <a:t>Purpose</a:t>
            </a:r>
            <a:br>
              <a:rPr lang="en-GB" b="0" dirty="0">
                <a:effectLst/>
              </a:rPr>
            </a:br>
            <a:endParaRPr lang="en-GB" dirty="0"/>
          </a:p>
        </p:txBody>
      </p:sp>
      <p:sp>
        <p:nvSpPr>
          <p:cNvPr id="3" name="Content Placeholder 2">
            <a:extLst>
              <a:ext uri="{FF2B5EF4-FFF2-40B4-BE49-F238E27FC236}">
                <a16:creationId xmlns:a16="http://schemas.microsoft.com/office/drawing/2014/main" id="{1E0FCA85-21D8-4660-AB89-EAD2E314066B}"/>
              </a:ext>
            </a:extLst>
          </p:cNvPr>
          <p:cNvSpPr>
            <a:spLocks noGrp="1"/>
          </p:cNvSpPr>
          <p:nvPr>
            <p:ph idx="1"/>
          </p:nvPr>
        </p:nvSpPr>
        <p:spPr>
          <a:xfrm>
            <a:off x="1981200" y="1600200"/>
            <a:ext cx="8229600" cy="4983162"/>
          </a:xfrm>
        </p:spPr>
        <p:txBody>
          <a:bodyPr>
            <a:normAutofit lnSpcReduction="10000"/>
          </a:bodyPr>
          <a:lstStyle/>
          <a:p>
            <a:pPr marL="0" indent="0">
              <a:buNone/>
            </a:pPr>
            <a:r>
              <a:rPr lang="en-GB" sz="2400" dirty="0">
                <a:solidFill>
                  <a:schemeClr val="accent1">
                    <a:lumMod val="75000"/>
                  </a:schemeClr>
                </a:solidFill>
              </a:rPr>
              <a:t>Purpose of Using Network Interface Card (NIC)</a:t>
            </a:r>
          </a:p>
          <a:p>
            <a:r>
              <a:rPr lang="en-GB" sz="2400" dirty="0"/>
              <a:t>NIC allows both wired and wireless communications.</a:t>
            </a:r>
          </a:p>
          <a:p>
            <a:endParaRPr lang="en-GB" sz="2400" dirty="0"/>
          </a:p>
          <a:p>
            <a:r>
              <a:rPr lang="en-GB" sz="2400" dirty="0"/>
              <a:t>NIC allows communications between computers connected via local area network (LAN) as well as communications over large-scale network through Internet Protocol (IP).</a:t>
            </a:r>
          </a:p>
          <a:p>
            <a:endParaRPr lang="en-GB" sz="2400" dirty="0"/>
          </a:p>
          <a:p>
            <a:r>
              <a:rPr lang="en-GB" sz="2400" dirty="0"/>
              <a:t>NIC is both a physical layer and a data link layer device, i.e. it provides the necessary hardware circuitry so that the physical layer processes and some data link layer processes can run on it.</a:t>
            </a:r>
          </a:p>
          <a:p>
            <a:endParaRPr lang="en-GB" sz="2000" dirty="0"/>
          </a:p>
          <a:p>
            <a:endParaRPr lang="en-GB" sz="2000" dirty="0"/>
          </a:p>
        </p:txBody>
      </p:sp>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spTree>
    <p:extLst>
      <p:ext uri="{BB962C8B-B14F-4D97-AF65-F5344CB8AC3E}">
        <p14:creationId xmlns:p14="http://schemas.microsoft.com/office/powerpoint/2010/main" val="126896510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p:txBody>
          <a:bodyPr>
            <a:normAutofit fontScale="90000"/>
          </a:bodyPr>
          <a:lstStyle/>
          <a:p>
            <a:pPr algn="ctr"/>
            <a:r>
              <a:rPr lang="en-GB" dirty="0">
                <a:effectLst/>
              </a:rPr>
              <a:t>Network Interface Card (NIC)</a:t>
            </a:r>
            <a:br>
              <a:rPr lang="en-GB" dirty="0">
                <a:effectLst/>
              </a:rPr>
            </a:br>
            <a:r>
              <a:rPr lang="en-GB" b="0" dirty="0">
                <a:effectLst/>
              </a:rPr>
              <a:t>Types</a:t>
            </a:r>
            <a:r>
              <a:rPr lang="en-GB" dirty="0">
                <a:effectLst/>
              </a:rPr>
              <a:t/>
            </a:r>
            <a:br>
              <a:rPr lang="en-GB" dirty="0">
                <a:effectLst/>
              </a:rPr>
            </a:br>
            <a:endParaRPr lang="en-GB" dirty="0"/>
          </a:p>
        </p:txBody>
      </p:sp>
      <p:sp>
        <p:nvSpPr>
          <p:cNvPr id="3" name="Content Placeholder 2">
            <a:extLst>
              <a:ext uri="{FF2B5EF4-FFF2-40B4-BE49-F238E27FC236}">
                <a16:creationId xmlns:a16="http://schemas.microsoft.com/office/drawing/2014/main" id="{1E0FCA85-21D8-4660-AB89-EAD2E314066B}"/>
              </a:ext>
            </a:extLst>
          </p:cNvPr>
          <p:cNvSpPr>
            <a:spLocks noGrp="1"/>
          </p:cNvSpPr>
          <p:nvPr>
            <p:ph sz="half" idx="1"/>
          </p:nvPr>
        </p:nvSpPr>
        <p:spPr>
          <a:xfrm>
            <a:off x="1981200" y="1600200"/>
            <a:ext cx="4038600" cy="4983162"/>
          </a:xfrm>
        </p:spPr>
        <p:style>
          <a:lnRef idx="2">
            <a:schemeClr val="accent1"/>
          </a:lnRef>
          <a:fillRef idx="1">
            <a:schemeClr val="lt1"/>
          </a:fillRef>
          <a:effectRef idx="0">
            <a:schemeClr val="accent1"/>
          </a:effectRef>
          <a:fontRef idx="minor">
            <a:schemeClr val="dk1"/>
          </a:fontRef>
        </p:style>
        <p:txBody>
          <a:bodyPr>
            <a:normAutofit lnSpcReduction="10000"/>
          </a:bodyPr>
          <a:lstStyle/>
          <a:p>
            <a:pPr marL="0" indent="0">
              <a:buNone/>
            </a:pPr>
            <a:r>
              <a:rPr lang="en-GB" sz="2000" dirty="0">
                <a:solidFill>
                  <a:schemeClr val="accent1">
                    <a:lumMod val="75000"/>
                  </a:schemeClr>
                </a:solidFill>
              </a:rPr>
              <a:t>NIC cards are of two types:</a:t>
            </a:r>
          </a:p>
          <a:p>
            <a:pPr marL="0" indent="0">
              <a:buNone/>
            </a:pPr>
            <a:r>
              <a:rPr lang="en-GB" sz="2000" dirty="0"/>
              <a:t>1. Internal Network Cards</a:t>
            </a:r>
          </a:p>
          <a:p>
            <a:r>
              <a:rPr lang="en-GB" sz="2000" dirty="0"/>
              <a:t>In internal networks cards, motherboard has a slot for the network card where it can be inserted. </a:t>
            </a:r>
          </a:p>
          <a:p>
            <a:r>
              <a:rPr lang="en-GB" sz="2000" dirty="0"/>
              <a:t>It requires network cables to provide network access. Internal network cards are of two types. </a:t>
            </a:r>
          </a:p>
          <a:p>
            <a:r>
              <a:rPr lang="en-GB" sz="2000" dirty="0"/>
              <a:t>The first type uses Peripheral Component Interconnect (PCI) connection, while the second type uses Industry Standard Architecture (ISA).</a:t>
            </a:r>
          </a:p>
          <a:p>
            <a:pPr marL="0" indent="0">
              <a:buNone/>
            </a:pPr>
            <a:endParaRPr lang="en-GB" dirty="0"/>
          </a:p>
        </p:txBody>
      </p:sp>
      <p:pic>
        <p:nvPicPr>
          <p:cNvPr id="6" name="Content Placeholder 5">
            <a:extLst>
              <a:ext uri="{FF2B5EF4-FFF2-40B4-BE49-F238E27FC236}">
                <a16:creationId xmlns:a16="http://schemas.microsoft.com/office/drawing/2014/main" id="{B2DAB255-86DE-41B8-9593-D26872D405A6}"/>
              </a:ext>
            </a:extLst>
          </p:cNvPr>
          <p:cNvPicPr>
            <a:picLocks noGrp="1" noChangeAspect="1"/>
          </p:cNvPicPr>
          <p:nvPr>
            <p:ph sz="half" idx="2"/>
          </p:nvPr>
        </p:nvPicPr>
        <p:blipFill>
          <a:blip r:embed="rId2"/>
          <a:stretch>
            <a:fillRect/>
          </a:stretch>
        </p:blipFill>
        <p:spPr>
          <a:xfrm>
            <a:off x="6172200" y="1968138"/>
            <a:ext cx="4321629" cy="3857897"/>
          </a:xfrm>
          <a:prstGeom prst="rect">
            <a:avLst/>
          </a:prstGeom>
        </p:spPr>
        <p:style>
          <a:lnRef idx="2">
            <a:schemeClr val="accent1"/>
          </a:lnRef>
          <a:fillRef idx="1">
            <a:schemeClr val="lt1"/>
          </a:fillRef>
          <a:effectRef idx="0">
            <a:schemeClr val="accent1"/>
          </a:effectRef>
          <a:fontRef idx="minor">
            <a:schemeClr val="dk1"/>
          </a:fontRef>
        </p:style>
      </p:pic>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sp>
        <p:nvSpPr>
          <p:cNvPr id="7" name="Arrow: Right 6">
            <a:extLst>
              <a:ext uri="{FF2B5EF4-FFF2-40B4-BE49-F238E27FC236}">
                <a16:creationId xmlns:a16="http://schemas.microsoft.com/office/drawing/2014/main" id="{191CCCA7-C954-44C2-961B-83007112E768}"/>
              </a:ext>
            </a:extLst>
          </p:cNvPr>
          <p:cNvSpPr/>
          <p:nvPr/>
        </p:nvSpPr>
        <p:spPr bwMode="auto">
          <a:xfrm>
            <a:off x="6000213" y="3744686"/>
            <a:ext cx="2133600" cy="4572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2075" tIns="46038" rIns="92075" bIns="46038" numCol="1" rtlCol="0" anchor="b" anchorCtr="0" compatLnSpc="1">
            <a:prstTxWarp prst="textNoShape">
              <a:avLst/>
            </a:prstTxWarp>
          </a:bodyPr>
          <a:lstStyle/>
          <a:p>
            <a:pPr algn="r" rtl="1" fontAlgn="base">
              <a:spcBef>
                <a:spcPct val="0"/>
              </a:spcBef>
              <a:spcAft>
                <a:spcPct val="0"/>
              </a:spcAft>
            </a:pPr>
            <a:endParaRPr lang="en-GB" sz="2400">
              <a:latin typeface="Arial" pitchFamily="34" charset="0"/>
              <a:cs typeface="Arial" pitchFamily="34" charset="0"/>
            </a:endParaRPr>
          </a:p>
        </p:txBody>
      </p:sp>
      <p:sp>
        <p:nvSpPr>
          <p:cNvPr id="8" name="Rectangle 7">
            <a:extLst>
              <a:ext uri="{FF2B5EF4-FFF2-40B4-BE49-F238E27FC236}">
                <a16:creationId xmlns:a16="http://schemas.microsoft.com/office/drawing/2014/main" id="{383494B7-7388-4E3C-873C-673AF72FEFCC}"/>
              </a:ext>
            </a:extLst>
          </p:cNvPr>
          <p:cNvSpPr/>
          <p:nvPr/>
        </p:nvSpPr>
        <p:spPr>
          <a:xfrm>
            <a:off x="6466529" y="1990777"/>
            <a:ext cx="2355260" cy="369332"/>
          </a:xfrm>
          <a:prstGeom prst="rect">
            <a:avLst/>
          </a:prstGeom>
        </p:spPr>
        <p:style>
          <a:lnRef idx="2">
            <a:schemeClr val="dk1"/>
          </a:lnRef>
          <a:fillRef idx="1">
            <a:schemeClr val="lt1"/>
          </a:fillRef>
          <a:effectRef idx="0">
            <a:schemeClr val="dk1"/>
          </a:effectRef>
          <a:fontRef idx="minor">
            <a:schemeClr val="dk1"/>
          </a:fontRef>
        </p:style>
        <p:txBody>
          <a:bodyPr wrap="none">
            <a:spAutoFit/>
          </a:bodyPr>
          <a:lstStyle/>
          <a:p>
            <a:r>
              <a:rPr lang="en-GB" dirty="0"/>
              <a:t>Internal Network Cards</a:t>
            </a:r>
          </a:p>
        </p:txBody>
      </p:sp>
    </p:spTree>
    <p:extLst>
      <p:ext uri="{BB962C8B-B14F-4D97-AF65-F5344CB8AC3E}">
        <p14:creationId xmlns:p14="http://schemas.microsoft.com/office/powerpoint/2010/main" val="61726787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p:txBody>
          <a:bodyPr>
            <a:normAutofit fontScale="90000"/>
          </a:bodyPr>
          <a:lstStyle/>
          <a:p>
            <a:pPr algn="ctr"/>
            <a:r>
              <a:rPr lang="en-GB" dirty="0">
                <a:effectLst/>
              </a:rPr>
              <a:t>Network Interface Card (NIC)</a:t>
            </a:r>
            <a:br>
              <a:rPr lang="en-GB" dirty="0">
                <a:effectLst/>
              </a:rPr>
            </a:br>
            <a:r>
              <a:rPr lang="en-GB" b="0" dirty="0">
                <a:effectLst/>
              </a:rPr>
              <a:t>Types</a:t>
            </a:r>
            <a:r>
              <a:rPr lang="en-GB" dirty="0">
                <a:effectLst/>
              </a:rPr>
              <a:t/>
            </a:r>
            <a:br>
              <a:rPr lang="en-GB" dirty="0">
                <a:effectLst/>
              </a:rPr>
            </a:br>
            <a:endParaRPr lang="en-GB" dirty="0"/>
          </a:p>
        </p:txBody>
      </p:sp>
      <p:sp>
        <p:nvSpPr>
          <p:cNvPr id="3" name="Content Placeholder 2">
            <a:extLst>
              <a:ext uri="{FF2B5EF4-FFF2-40B4-BE49-F238E27FC236}">
                <a16:creationId xmlns:a16="http://schemas.microsoft.com/office/drawing/2014/main" id="{1E0FCA85-21D8-4660-AB89-EAD2E314066B}"/>
              </a:ext>
            </a:extLst>
          </p:cNvPr>
          <p:cNvSpPr>
            <a:spLocks noGrp="1"/>
          </p:cNvSpPr>
          <p:nvPr>
            <p:ph sz="half" idx="1"/>
          </p:nvPr>
        </p:nvSpPr>
        <p:spPr>
          <a:xfrm>
            <a:off x="1981200" y="1600200"/>
            <a:ext cx="4038600" cy="4983162"/>
          </a:xfrm>
        </p:spPr>
        <p:style>
          <a:lnRef idx="2">
            <a:schemeClr val="accent1"/>
          </a:lnRef>
          <a:fillRef idx="1">
            <a:schemeClr val="lt1"/>
          </a:fillRef>
          <a:effectRef idx="0">
            <a:schemeClr val="accent1"/>
          </a:effectRef>
          <a:fontRef idx="minor">
            <a:schemeClr val="dk1"/>
          </a:fontRef>
        </p:style>
        <p:txBody>
          <a:bodyPr>
            <a:normAutofit lnSpcReduction="10000"/>
          </a:bodyPr>
          <a:lstStyle/>
          <a:p>
            <a:pPr marL="0" indent="0">
              <a:buNone/>
            </a:pPr>
            <a:r>
              <a:rPr lang="en-GB" sz="2000" dirty="0">
                <a:solidFill>
                  <a:schemeClr val="accent1">
                    <a:lumMod val="75000"/>
                  </a:schemeClr>
                </a:solidFill>
              </a:rPr>
              <a:t>NIC cards are of two types:</a:t>
            </a:r>
          </a:p>
          <a:p>
            <a:pPr marL="0" indent="0">
              <a:buNone/>
            </a:pPr>
            <a:r>
              <a:rPr lang="en-GB" sz="2000" dirty="0"/>
              <a:t>2) </a:t>
            </a:r>
            <a:r>
              <a:rPr lang="en-GB" sz="2400" dirty="0"/>
              <a:t>External Network Cards</a:t>
            </a:r>
            <a:endParaRPr lang="en-GB" dirty="0"/>
          </a:p>
          <a:p>
            <a:r>
              <a:rPr lang="en-GB" sz="2000" dirty="0"/>
              <a:t>In desktops and laptops that do not have an internal NIC, external NICs are used.</a:t>
            </a:r>
          </a:p>
          <a:p>
            <a:r>
              <a:rPr lang="en-GB" sz="2000" dirty="0"/>
              <a:t> External network cards are of two types: Wireless and USB based. Wireless network card needs to be inserted into the motherboard, however no network cable is required to connect to the network. </a:t>
            </a:r>
          </a:p>
          <a:p>
            <a:r>
              <a:rPr lang="en-GB" sz="2000" dirty="0"/>
              <a:t>They are useful while traveling or accessing a wireless signal.</a:t>
            </a:r>
          </a:p>
        </p:txBody>
      </p:sp>
      <p:pic>
        <p:nvPicPr>
          <p:cNvPr id="9" name="Content Placeholder 8">
            <a:extLst>
              <a:ext uri="{FF2B5EF4-FFF2-40B4-BE49-F238E27FC236}">
                <a16:creationId xmlns:a16="http://schemas.microsoft.com/office/drawing/2014/main" id="{1CDA22E5-4E1C-412A-B433-731E1A6DDF5A}"/>
              </a:ext>
            </a:extLst>
          </p:cNvPr>
          <p:cNvPicPr>
            <a:picLocks noGrp="1" noChangeAspect="1"/>
          </p:cNvPicPr>
          <p:nvPr>
            <p:ph sz="half" idx="2"/>
          </p:nvPr>
        </p:nvPicPr>
        <p:blipFill>
          <a:blip r:embed="rId2"/>
          <a:stretch>
            <a:fillRect/>
          </a:stretch>
        </p:blipFill>
        <p:spPr>
          <a:xfrm>
            <a:off x="6172200" y="2103757"/>
            <a:ext cx="4038600" cy="3523610"/>
          </a:xfrm>
          <a:prstGeom prst="rect">
            <a:avLst/>
          </a:prstGeom>
        </p:spPr>
        <p:style>
          <a:lnRef idx="2">
            <a:schemeClr val="accent1"/>
          </a:lnRef>
          <a:fillRef idx="1">
            <a:schemeClr val="lt1"/>
          </a:fillRef>
          <a:effectRef idx="0">
            <a:schemeClr val="accent1"/>
          </a:effectRef>
          <a:fontRef idx="minor">
            <a:schemeClr val="dk1"/>
          </a:fontRef>
        </p:style>
      </p:pic>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sp>
        <p:nvSpPr>
          <p:cNvPr id="10" name="Rectangle 9">
            <a:extLst>
              <a:ext uri="{FF2B5EF4-FFF2-40B4-BE49-F238E27FC236}">
                <a16:creationId xmlns:a16="http://schemas.microsoft.com/office/drawing/2014/main" id="{93034CF1-FD70-4534-90F2-7A1B88F71F0B}"/>
              </a:ext>
            </a:extLst>
          </p:cNvPr>
          <p:cNvSpPr/>
          <p:nvPr/>
        </p:nvSpPr>
        <p:spPr>
          <a:xfrm>
            <a:off x="6472921" y="1668713"/>
            <a:ext cx="2390141" cy="369332"/>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r>
              <a:rPr lang="en-GB" dirty="0"/>
              <a:t>External Network Cards</a:t>
            </a:r>
          </a:p>
        </p:txBody>
      </p:sp>
      <p:sp>
        <p:nvSpPr>
          <p:cNvPr id="7" name="Arrow: Right 6">
            <a:extLst>
              <a:ext uri="{FF2B5EF4-FFF2-40B4-BE49-F238E27FC236}">
                <a16:creationId xmlns:a16="http://schemas.microsoft.com/office/drawing/2014/main" id="{191CCCA7-C954-44C2-961B-83007112E768}"/>
              </a:ext>
            </a:extLst>
          </p:cNvPr>
          <p:cNvSpPr/>
          <p:nvPr/>
        </p:nvSpPr>
        <p:spPr bwMode="auto">
          <a:xfrm>
            <a:off x="6019800" y="3636962"/>
            <a:ext cx="1101634" cy="4572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2075" tIns="46038" rIns="92075" bIns="46038" numCol="1" rtlCol="0" anchor="b" anchorCtr="0" compatLnSpc="1">
            <a:prstTxWarp prst="textNoShape">
              <a:avLst/>
            </a:prstTxWarp>
          </a:bodyPr>
          <a:lstStyle/>
          <a:p>
            <a:pPr algn="r" rtl="1" fontAlgn="base">
              <a:spcBef>
                <a:spcPct val="0"/>
              </a:spcBef>
              <a:spcAft>
                <a:spcPct val="0"/>
              </a:spcAft>
            </a:pPr>
            <a:endParaRPr lang="en-GB" sz="2400">
              <a:latin typeface="Arial" pitchFamily="34" charset="0"/>
              <a:cs typeface="Arial" pitchFamily="34" charset="0"/>
            </a:endParaRPr>
          </a:p>
        </p:txBody>
      </p:sp>
    </p:spTree>
    <p:extLst>
      <p:ext uri="{BB962C8B-B14F-4D97-AF65-F5344CB8AC3E}">
        <p14:creationId xmlns:p14="http://schemas.microsoft.com/office/powerpoint/2010/main" val="319992664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p:txBody>
          <a:bodyPr>
            <a:normAutofit fontScale="90000"/>
          </a:bodyPr>
          <a:lstStyle/>
          <a:p>
            <a:pPr algn="ctr"/>
            <a:r>
              <a:rPr lang="en-GB" dirty="0">
                <a:effectLst/>
              </a:rPr>
              <a:t>Network Interface Card (NIC)</a:t>
            </a:r>
            <a:br>
              <a:rPr lang="en-GB" dirty="0">
                <a:effectLst/>
              </a:rPr>
            </a:br>
            <a:r>
              <a:rPr lang="en-GB" b="0" dirty="0">
                <a:effectLst/>
              </a:rPr>
              <a:t>Types</a:t>
            </a:r>
            <a:r>
              <a:rPr lang="en-GB" dirty="0">
                <a:effectLst/>
              </a:rPr>
              <a:t/>
            </a:r>
            <a:br>
              <a:rPr lang="en-GB" dirty="0">
                <a:effectLst/>
              </a:rPr>
            </a:br>
            <a:endParaRPr lang="en-GB" dirty="0"/>
          </a:p>
        </p:txBody>
      </p:sp>
      <p:sp>
        <p:nvSpPr>
          <p:cNvPr id="3" name="Content Placeholder 2">
            <a:extLst>
              <a:ext uri="{FF2B5EF4-FFF2-40B4-BE49-F238E27FC236}">
                <a16:creationId xmlns:a16="http://schemas.microsoft.com/office/drawing/2014/main" id="{1E0FCA85-21D8-4660-AB89-EAD2E314066B}"/>
              </a:ext>
            </a:extLst>
          </p:cNvPr>
          <p:cNvSpPr>
            <a:spLocks noGrp="1"/>
          </p:cNvSpPr>
          <p:nvPr>
            <p:ph sz="half" idx="1"/>
          </p:nvPr>
        </p:nvSpPr>
        <p:spPr>
          <a:xfrm>
            <a:off x="1981200" y="1600200"/>
            <a:ext cx="4038600" cy="4983162"/>
          </a:xfrm>
        </p:spPr>
        <p:style>
          <a:lnRef idx="2">
            <a:schemeClr val="accent1"/>
          </a:lnRef>
          <a:fillRef idx="1">
            <a:schemeClr val="lt1"/>
          </a:fillRef>
          <a:effectRef idx="0">
            <a:schemeClr val="accent1"/>
          </a:effectRef>
          <a:fontRef idx="minor">
            <a:schemeClr val="dk1"/>
          </a:fontRef>
        </p:style>
        <p:txBody>
          <a:bodyPr>
            <a:normAutofit lnSpcReduction="10000"/>
          </a:bodyPr>
          <a:lstStyle/>
          <a:p>
            <a:pPr marL="0" indent="0">
              <a:buNone/>
            </a:pPr>
            <a:r>
              <a:rPr lang="en-GB" sz="2000" dirty="0">
                <a:solidFill>
                  <a:schemeClr val="accent1">
                    <a:lumMod val="75000"/>
                  </a:schemeClr>
                </a:solidFill>
              </a:rPr>
              <a:t>NIC cards are of two types:</a:t>
            </a:r>
          </a:p>
          <a:p>
            <a:pPr marL="0" indent="0">
              <a:buNone/>
            </a:pPr>
            <a:r>
              <a:rPr lang="en-GB" sz="2000" dirty="0"/>
              <a:t>2) </a:t>
            </a:r>
            <a:r>
              <a:rPr lang="en-GB" sz="2400" dirty="0"/>
              <a:t>External Network Cards</a:t>
            </a:r>
            <a:endParaRPr lang="en-GB" dirty="0"/>
          </a:p>
          <a:p>
            <a:r>
              <a:rPr lang="en-GB" sz="2000" dirty="0"/>
              <a:t>In desktops and laptops that do not have an internal NIC, external NICs are used.</a:t>
            </a:r>
          </a:p>
          <a:p>
            <a:r>
              <a:rPr lang="en-GB" sz="2000" dirty="0"/>
              <a:t> External network cards are of two types: Wireless and USB based. Wireless network card needs to be inserted into the motherboard, however no network cable is required to connect to the network. </a:t>
            </a:r>
          </a:p>
          <a:p>
            <a:r>
              <a:rPr lang="en-GB" sz="2000" dirty="0"/>
              <a:t>They are useful while traveling or accessing a wireless signal.</a:t>
            </a:r>
          </a:p>
        </p:txBody>
      </p:sp>
      <p:pic>
        <p:nvPicPr>
          <p:cNvPr id="9" name="Content Placeholder 8">
            <a:extLst>
              <a:ext uri="{FF2B5EF4-FFF2-40B4-BE49-F238E27FC236}">
                <a16:creationId xmlns:a16="http://schemas.microsoft.com/office/drawing/2014/main" id="{1CDA22E5-4E1C-412A-B433-731E1A6DDF5A}"/>
              </a:ext>
            </a:extLst>
          </p:cNvPr>
          <p:cNvPicPr>
            <a:picLocks noGrp="1" noChangeAspect="1"/>
          </p:cNvPicPr>
          <p:nvPr>
            <p:ph sz="half" idx="2"/>
          </p:nvPr>
        </p:nvPicPr>
        <p:blipFill>
          <a:blip r:embed="rId2"/>
          <a:stretch>
            <a:fillRect/>
          </a:stretch>
        </p:blipFill>
        <p:spPr>
          <a:xfrm>
            <a:off x="6172200" y="2103757"/>
            <a:ext cx="4038600" cy="3523610"/>
          </a:xfrm>
          <a:prstGeom prst="rect">
            <a:avLst/>
          </a:prstGeom>
        </p:spPr>
        <p:style>
          <a:lnRef idx="2">
            <a:schemeClr val="accent1"/>
          </a:lnRef>
          <a:fillRef idx="1">
            <a:schemeClr val="lt1"/>
          </a:fillRef>
          <a:effectRef idx="0">
            <a:schemeClr val="accent1"/>
          </a:effectRef>
          <a:fontRef idx="minor">
            <a:schemeClr val="dk1"/>
          </a:fontRef>
        </p:style>
      </p:pic>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sp>
        <p:nvSpPr>
          <p:cNvPr id="10" name="Rectangle 9">
            <a:extLst>
              <a:ext uri="{FF2B5EF4-FFF2-40B4-BE49-F238E27FC236}">
                <a16:creationId xmlns:a16="http://schemas.microsoft.com/office/drawing/2014/main" id="{93034CF1-FD70-4534-90F2-7A1B88F71F0B}"/>
              </a:ext>
            </a:extLst>
          </p:cNvPr>
          <p:cNvSpPr/>
          <p:nvPr/>
        </p:nvSpPr>
        <p:spPr>
          <a:xfrm>
            <a:off x="6472921" y="1668713"/>
            <a:ext cx="2390141" cy="369332"/>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r>
              <a:rPr lang="en-GB" dirty="0"/>
              <a:t>External Network Cards</a:t>
            </a:r>
          </a:p>
        </p:txBody>
      </p:sp>
      <p:sp>
        <p:nvSpPr>
          <p:cNvPr id="7" name="Arrow: Right 6">
            <a:extLst>
              <a:ext uri="{FF2B5EF4-FFF2-40B4-BE49-F238E27FC236}">
                <a16:creationId xmlns:a16="http://schemas.microsoft.com/office/drawing/2014/main" id="{191CCCA7-C954-44C2-961B-83007112E768}"/>
              </a:ext>
            </a:extLst>
          </p:cNvPr>
          <p:cNvSpPr/>
          <p:nvPr/>
        </p:nvSpPr>
        <p:spPr bwMode="auto">
          <a:xfrm>
            <a:off x="6019800" y="3636962"/>
            <a:ext cx="1101634" cy="4572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2075" tIns="46038" rIns="92075" bIns="46038" numCol="1" rtlCol="0" anchor="b" anchorCtr="0" compatLnSpc="1">
            <a:prstTxWarp prst="textNoShape">
              <a:avLst/>
            </a:prstTxWarp>
          </a:bodyPr>
          <a:lstStyle/>
          <a:p>
            <a:pPr algn="r" rtl="1" fontAlgn="base">
              <a:spcBef>
                <a:spcPct val="0"/>
              </a:spcBef>
              <a:spcAft>
                <a:spcPct val="0"/>
              </a:spcAft>
            </a:pPr>
            <a:endParaRPr lang="en-GB" sz="2400">
              <a:latin typeface="Arial" pitchFamily="34" charset="0"/>
              <a:cs typeface="Arial" pitchFamily="34" charset="0"/>
            </a:endParaRPr>
          </a:p>
        </p:txBody>
      </p:sp>
    </p:spTree>
    <p:extLst>
      <p:ext uri="{BB962C8B-B14F-4D97-AF65-F5344CB8AC3E}">
        <p14:creationId xmlns:p14="http://schemas.microsoft.com/office/powerpoint/2010/main" val="405176416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p:txBody>
          <a:bodyPr>
            <a:normAutofit fontScale="90000"/>
          </a:bodyPr>
          <a:lstStyle/>
          <a:p>
            <a:pPr algn="ctr"/>
            <a:r>
              <a:rPr lang="en-GB" dirty="0">
                <a:effectLst/>
              </a:rPr>
              <a:t>Network Interface Card (NIC)</a:t>
            </a:r>
            <a:br>
              <a:rPr lang="en-GB" dirty="0">
                <a:effectLst/>
              </a:rPr>
            </a:br>
            <a:r>
              <a:rPr lang="en-GB" dirty="0">
                <a:effectLst/>
              </a:rPr>
              <a:t>Advantages</a:t>
            </a:r>
            <a:br>
              <a:rPr lang="en-GB" dirty="0">
                <a:effectLst/>
              </a:rPr>
            </a:br>
            <a:endParaRPr lang="en-GB" dirty="0"/>
          </a:p>
        </p:txBody>
      </p:sp>
      <p:sp>
        <p:nvSpPr>
          <p:cNvPr id="8" name="Content Placeholder 7">
            <a:extLst>
              <a:ext uri="{FF2B5EF4-FFF2-40B4-BE49-F238E27FC236}">
                <a16:creationId xmlns:a16="http://schemas.microsoft.com/office/drawing/2014/main" id="{ACAE4640-4094-4285-AED5-25E6FCABB618}"/>
              </a:ext>
            </a:extLst>
          </p:cNvPr>
          <p:cNvSpPr>
            <a:spLocks noGrp="1"/>
          </p:cNvSpPr>
          <p:nvPr>
            <p:ph sz="half" idx="1"/>
          </p:nvPr>
        </p:nvSpPr>
        <p:spPr>
          <a:xfrm>
            <a:off x="1981200" y="1600200"/>
            <a:ext cx="4038600" cy="5105400"/>
          </a:xfrm>
        </p:spPr>
        <p:style>
          <a:lnRef idx="2">
            <a:schemeClr val="accent1"/>
          </a:lnRef>
          <a:fillRef idx="1">
            <a:schemeClr val="lt1"/>
          </a:fillRef>
          <a:effectRef idx="0">
            <a:schemeClr val="accent1"/>
          </a:effectRef>
          <a:fontRef idx="minor">
            <a:schemeClr val="dk1"/>
          </a:fontRef>
        </p:style>
        <p:txBody>
          <a:bodyPr>
            <a:normAutofit fontScale="92500"/>
          </a:bodyPr>
          <a:lstStyle/>
          <a:p>
            <a:pPr marL="0" indent="0">
              <a:buNone/>
            </a:pPr>
            <a:r>
              <a:rPr lang="en-GB" sz="2400" b="1" dirty="0"/>
              <a:t>Faster network Speed</a:t>
            </a:r>
            <a:r>
              <a:rPr lang="en-GB" sz="2400" dirty="0"/>
              <a:t> </a:t>
            </a:r>
          </a:p>
          <a:p>
            <a:r>
              <a:rPr lang="en-GB" sz="1800" dirty="0"/>
              <a:t>One of the major benefits of NICs is that they offer quicker transfer rates than other networking equipment like modems and routers.</a:t>
            </a:r>
          </a:p>
          <a:p>
            <a:pPr marL="0" indent="0">
              <a:buNone/>
            </a:pPr>
            <a:r>
              <a:rPr lang="en-GB" sz="2400" b="1" dirty="0"/>
              <a:t>Reliability </a:t>
            </a:r>
          </a:p>
          <a:p>
            <a:r>
              <a:rPr lang="en-GB" sz="1800" dirty="0"/>
              <a:t>A good quality NIC can provide more reliable network connectivity than built-in adaptors.</a:t>
            </a:r>
          </a:p>
          <a:p>
            <a:pPr marL="0" indent="0">
              <a:buNone/>
            </a:pPr>
            <a:r>
              <a:rPr lang="en-GB" sz="2400" b="1" dirty="0"/>
              <a:t>Security</a:t>
            </a:r>
            <a:r>
              <a:rPr lang="en-GB" dirty="0"/>
              <a:t> </a:t>
            </a:r>
          </a:p>
          <a:p>
            <a:r>
              <a:rPr lang="en-GB" sz="1800" dirty="0"/>
              <a:t>Some network interface cards (NICs) have security features like hardware-based encryption that can add a layer of security to network communications</a:t>
            </a:r>
          </a:p>
        </p:txBody>
      </p:sp>
      <p:sp>
        <p:nvSpPr>
          <p:cNvPr id="11" name="Content Placeholder 10">
            <a:extLst>
              <a:ext uri="{FF2B5EF4-FFF2-40B4-BE49-F238E27FC236}">
                <a16:creationId xmlns:a16="http://schemas.microsoft.com/office/drawing/2014/main" id="{EEF3375B-5956-4DFC-A6C6-F0CF0115E9C6}"/>
              </a:ext>
            </a:extLst>
          </p:cNvPr>
          <p:cNvSpPr>
            <a:spLocks noGrp="1"/>
          </p:cNvSpPr>
          <p:nvPr>
            <p:ph sz="half" idx="2"/>
          </p:nvPr>
        </p:nvSpPr>
        <p:spPr>
          <a:xfrm>
            <a:off x="6172200" y="1600200"/>
            <a:ext cx="4038600" cy="5105400"/>
          </a:xfrm>
        </p:spPr>
        <p:style>
          <a:lnRef idx="2">
            <a:schemeClr val="accent1"/>
          </a:lnRef>
          <a:fillRef idx="1">
            <a:schemeClr val="lt1"/>
          </a:fillRef>
          <a:effectRef idx="0">
            <a:schemeClr val="accent1"/>
          </a:effectRef>
          <a:fontRef idx="minor">
            <a:schemeClr val="dk1"/>
          </a:fontRef>
        </p:style>
        <p:txBody>
          <a:bodyPr>
            <a:normAutofit fontScale="92500"/>
          </a:bodyPr>
          <a:lstStyle/>
          <a:p>
            <a:pPr marL="0" indent="0">
              <a:buNone/>
            </a:pPr>
            <a:r>
              <a:rPr lang="en-GB" sz="2400" b="1" dirty="0"/>
              <a:t>Compatibility</a:t>
            </a:r>
            <a:r>
              <a:rPr lang="en-GB" dirty="0"/>
              <a:t> </a:t>
            </a:r>
          </a:p>
          <a:p>
            <a:r>
              <a:rPr lang="en-GB" sz="1800" dirty="0"/>
              <a:t>Ethernet connections are standardized and widely compatible, and they are used by the majority of NICs.</a:t>
            </a:r>
          </a:p>
          <a:p>
            <a:pPr marL="0" indent="0">
              <a:buNone/>
            </a:pPr>
            <a:r>
              <a:rPr lang="en-GB" sz="2400" b="1" dirty="0"/>
              <a:t>Lower CPU usage </a:t>
            </a:r>
          </a:p>
          <a:p>
            <a:r>
              <a:rPr lang="en-GB" sz="1800" dirty="0"/>
              <a:t>NICs can offload some processing tasks from the CPU, which can reduce CPU usage and improve overall system performance. </a:t>
            </a:r>
          </a:p>
          <a:p>
            <a:r>
              <a:rPr lang="en-GB" sz="1800" dirty="0"/>
              <a:t>One example is CRC (Cyclic redundancy check) is done by NIC for this task which saves so many clocks of the CPU.</a:t>
            </a:r>
          </a:p>
          <a:p>
            <a:endParaRPr lang="en-GB" sz="1800" dirty="0"/>
          </a:p>
        </p:txBody>
      </p:sp>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dirty="0"/>
              <a:t>CFC-MCA</a:t>
            </a:r>
          </a:p>
        </p:txBody>
      </p:sp>
    </p:spTree>
    <p:extLst>
      <p:ext uri="{BB962C8B-B14F-4D97-AF65-F5344CB8AC3E}">
        <p14:creationId xmlns:p14="http://schemas.microsoft.com/office/powerpoint/2010/main" val="321534386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p:txBody>
          <a:bodyPr>
            <a:normAutofit fontScale="90000"/>
          </a:bodyPr>
          <a:lstStyle/>
          <a:p>
            <a:pPr algn="ctr"/>
            <a:r>
              <a:rPr lang="en-GB" dirty="0">
                <a:effectLst/>
              </a:rPr>
              <a:t>Network Interface Card (NIC)</a:t>
            </a:r>
            <a:br>
              <a:rPr lang="en-GB" dirty="0">
                <a:effectLst/>
              </a:rPr>
            </a:br>
            <a:r>
              <a:rPr lang="en-GB" dirty="0">
                <a:effectLst/>
              </a:rPr>
              <a:t>Disadvantages</a:t>
            </a:r>
            <a:br>
              <a:rPr lang="en-GB" dirty="0">
                <a:effectLst/>
              </a:rPr>
            </a:br>
            <a:endParaRPr lang="en-GB" dirty="0"/>
          </a:p>
        </p:txBody>
      </p:sp>
      <p:sp>
        <p:nvSpPr>
          <p:cNvPr id="8" name="Content Placeholder 7">
            <a:extLst>
              <a:ext uri="{FF2B5EF4-FFF2-40B4-BE49-F238E27FC236}">
                <a16:creationId xmlns:a16="http://schemas.microsoft.com/office/drawing/2014/main" id="{ACAE4640-4094-4285-AED5-25E6FCABB618}"/>
              </a:ext>
            </a:extLst>
          </p:cNvPr>
          <p:cNvSpPr>
            <a:spLocks noGrp="1"/>
          </p:cNvSpPr>
          <p:nvPr>
            <p:ph sz="half" idx="1"/>
          </p:nvPr>
        </p:nvSpPr>
        <p:spPr>
          <a:xfrm>
            <a:off x="1981200" y="1600200"/>
            <a:ext cx="4038600" cy="5105400"/>
          </a:xfrm>
        </p:spPr>
        <p:style>
          <a:lnRef idx="2">
            <a:schemeClr val="accent1"/>
          </a:lnRef>
          <a:fillRef idx="1">
            <a:schemeClr val="lt1"/>
          </a:fillRef>
          <a:effectRef idx="0">
            <a:schemeClr val="accent1"/>
          </a:effectRef>
          <a:fontRef idx="minor">
            <a:schemeClr val="dk1"/>
          </a:fontRef>
        </p:style>
        <p:txBody>
          <a:bodyPr>
            <a:normAutofit lnSpcReduction="10000"/>
          </a:bodyPr>
          <a:lstStyle/>
          <a:p>
            <a:pPr marL="0" indent="0">
              <a:buNone/>
            </a:pPr>
            <a:r>
              <a:rPr lang="en-GB" sz="1800" b="1" dirty="0"/>
              <a:t>Limited transfer speed</a:t>
            </a:r>
            <a:r>
              <a:rPr lang="en-GB" sz="2400" dirty="0"/>
              <a:t> </a:t>
            </a:r>
          </a:p>
          <a:p>
            <a:r>
              <a:rPr lang="en-GB" sz="1600" dirty="0"/>
              <a:t>NICs are constrained by the network interface's top performance. For high bandwidth apps like streaming video, large file transfers, or gaming, this can be a bottleneck.</a:t>
            </a:r>
          </a:p>
          <a:p>
            <a:pPr marL="0" indent="0">
              <a:buNone/>
            </a:pPr>
            <a:r>
              <a:rPr lang="en-GB" sz="1800" b="1" dirty="0"/>
              <a:t>Limited compatibility </a:t>
            </a:r>
          </a:p>
          <a:p>
            <a:r>
              <a:rPr lang="en-GB" sz="1600" dirty="0"/>
              <a:t>NICs are constrained by the network interface's top performance. For high bandwidth apps like streaming video, large file transfers, or gaming, this can be a bottleneck.</a:t>
            </a:r>
          </a:p>
          <a:p>
            <a:pPr marL="0" indent="0">
              <a:buNone/>
            </a:pPr>
            <a:r>
              <a:rPr lang="en-GB" sz="1800" b="1" dirty="0"/>
              <a:t>Driver issues</a:t>
            </a:r>
          </a:p>
          <a:p>
            <a:r>
              <a:rPr lang="en-GB" sz="2400" dirty="0"/>
              <a:t> </a:t>
            </a:r>
            <a:r>
              <a:rPr lang="en-GB" sz="1600" dirty="0"/>
              <a:t>Like any hardware, NICs require drivers to function properly. These drivers may be incompatible with certain operating systems or may require frequent updates.</a:t>
            </a:r>
          </a:p>
          <a:p>
            <a:endParaRPr lang="en-GB" sz="1800" dirty="0"/>
          </a:p>
          <a:p>
            <a:endParaRPr lang="en-GB" sz="1800" dirty="0"/>
          </a:p>
          <a:p>
            <a:pPr marL="0" indent="0">
              <a:buNone/>
            </a:pPr>
            <a:endParaRPr lang="en-GB" sz="1800" dirty="0"/>
          </a:p>
        </p:txBody>
      </p:sp>
      <p:sp>
        <p:nvSpPr>
          <p:cNvPr id="11" name="Content Placeholder 10">
            <a:extLst>
              <a:ext uri="{FF2B5EF4-FFF2-40B4-BE49-F238E27FC236}">
                <a16:creationId xmlns:a16="http://schemas.microsoft.com/office/drawing/2014/main" id="{EEF3375B-5956-4DFC-A6C6-F0CF0115E9C6}"/>
              </a:ext>
            </a:extLst>
          </p:cNvPr>
          <p:cNvSpPr>
            <a:spLocks noGrp="1"/>
          </p:cNvSpPr>
          <p:nvPr>
            <p:ph sz="half" idx="2"/>
          </p:nvPr>
        </p:nvSpPr>
        <p:spPr>
          <a:xfrm>
            <a:off x="6172200" y="1600200"/>
            <a:ext cx="4038600" cy="5257800"/>
          </a:xfrm>
        </p:spPr>
        <p:style>
          <a:lnRef idx="2">
            <a:schemeClr val="accent1"/>
          </a:lnRef>
          <a:fillRef idx="1">
            <a:schemeClr val="lt1"/>
          </a:fillRef>
          <a:effectRef idx="0">
            <a:schemeClr val="accent1"/>
          </a:effectRef>
          <a:fontRef idx="minor">
            <a:schemeClr val="dk1"/>
          </a:fontRef>
        </p:style>
        <p:txBody>
          <a:bodyPr>
            <a:normAutofit lnSpcReduction="10000"/>
          </a:bodyPr>
          <a:lstStyle/>
          <a:p>
            <a:pPr marL="0" indent="0">
              <a:buNone/>
            </a:pPr>
            <a:r>
              <a:rPr lang="en-GB" sz="1800" b="1" dirty="0"/>
              <a:t>Cost </a:t>
            </a:r>
          </a:p>
          <a:p>
            <a:r>
              <a:rPr lang="en-GB" sz="1600" dirty="0"/>
              <a:t>NICs can be expensive, especially if you need high-speed, high-bandwidth connections.</a:t>
            </a:r>
          </a:p>
          <a:p>
            <a:pPr marL="0" indent="0">
              <a:buNone/>
            </a:pPr>
            <a:r>
              <a:rPr lang="en-GB" sz="1800" b="1" dirty="0"/>
              <a:t>Power consumption</a:t>
            </a:r>
            <a:r>
              <a:rPr lang="en-GB" dirty="0"/>
              <a:t> </a:t>
            </a:r>
          </a:p>
          <a:p>
            <a:r>
              <a:rPr lang="en-GB" sz="1600" dirty="0"/>
              <a:t>Particularly when several NICs are installed in a system, NICs can use a lot of electricity. </a:t>
            </a:r>
          </a:p>
          <a:p>
            <a:pPr marL="0" indent="0">
              <a:buNone/>
            </a:pPr>
            <a:r>
              <a:rPr lang="en-GB" sz="1800" b="1" dirty="0"/>
              <a:t>Maintenance</a:t>
            </a:r>
            <a:r>
              <a:rPr lang="en-GB" dirty="0"/>
              <a:t> </a:t>
            </a:r>
          </a:p>
          <a:p>
            <a:r>
              <a:rPr lang="en-GB" sz="1600" dirty="0"/>
              <a:t>NICs may require regular maintenance, such as updating drivers or replacing hardware components.</a:t>
            </a:r>
          </a:p>
          <a:p>
            <a:pPr marL="0" indent="0">
              <a:buNone/>
            </a:pPr>
            <a:r>
              <a:rPr lang="en-GB" sz="1800" b="1" dirty="0"/>
              <a:t>Security risks</a:t>
            </a:r>
          </a:p>
          <a:p>
            <a:r>
              <a:rPr lang="en-GB" sz="1600" dirty="0"/>
              <a:t>NICs can be a potential point of vulnerability for your network, especially if they are not properly secured. </a:t>
            </a:r>
          </a:p>
        </p:txBody>
      </p:sp>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dirty="0"/>
              <a:t>CFC-MCA</a:t>
            </a:r>
          </a:p>
        </p:txBody>
      </p:sp>
    </p:spTree>
    <p:extLst>
      <p:ext uri="{BB962C8B-B14F-4D97-AF65-F5344CB8AC3E}">
        <p14:creationId xmlns:p14="http://schemas.microsoft.com/office/powerpoint/2010/main" val="340089145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299-FFFE-455C-B8A3-00130153A887}"/>
              </a:ext>
            </a:extLst>
          </p:cNvPr>
          <p:cNvSpPr>
            <a:spLocks noGrp="1"/>
          </p:cNvSpPr>
          <p:nvPr>
            <p:ph type="title"/>
          </p:nvPr>
        </p:nvSpPr>
        <p:spPr/>
        <p:txBody>
          <a:bodyPr>
            <a:normAutofit/>
          </a:bodyPr>
          <a:lstStyle/>
          <a:p>
            <a:r>
              <a:rPr lang="en-GB" dirty="0">
                <a:effectLst/>
              </a:rPr>
              <a:t>Network Interface Card (NIC)</a:t>
            </a:r>
            <a:br>
              <a:rPr lang="en-GB" dirty="0">
                <a:effectLst/>
              </a:rPr>
            </a:br>
            <a:endParaRPr lang="en-GB" dirty="0"/>
          </a:p>
        </p:txBody>
      </p:sp>
      <p:sp>
        <p:nvSpPr>
          <p:cNvPr id="3" name="Content Placeholder 2">
            <a:extLst>
              <a:ext uri="{FF2B5EF4-FFF2-40B4-BE49-F238E27FC236}">
                <a16:creationId xmlns:a16="http://schemas.microsoft.com/office/drawing/2014/main" id="{1E0FCA85-21D8-4660-AB89-EAD2E314066B}"/>
              </a:ext>
            </a:extLst>
          </p:cNvPr>
          <p:cNvSpPr>
            <a:spLocks noGrp="1"/>
          </p:cNvSpPr>
          <p:nvPr>
            <p:ph idx="1"/>
          </p:nvPr>
        </p:nvSpPr>
        <p:spPr>
          <a:xfrm>
            <a:off x="1981200" y="1600200"/>
            <a:ext cx="8229600" cy="4983162"/>
          </a:xfrm>
        </p:spPr>
        <p:txBody>
          <a:bodyPr/>
          <a:lstStyle/>
          <a:p>
            <a:endParaRPr lang="en-GB" dirty="0"/>
          </a:p>
          <a:p>
            <a:endParaRPr lang="en-GB" dirty="0"/>
          </a:p>
        </p:txBody>
      </p:sp>
      <p:sp>
        <p:nvSpPr>
          <p:cNvPr id="4" name="Footer Placeholder 3">
            <a:extLst>
              <a:ext uri="{FF2B5EF4-FFF2-40B4-BE49-F238E27FC236}">
                <a16:creationId xmlns:a16="http://schemas.microsoft.com/office/drawing/2014/main" id="{9D7C5E43-D8C8-456A-A7EB-93A9FEC00DB8}"/>
              </a:ext>
            </a:extLst>
          </p:cNvPr>
          <p:cNvSpPr>
            <a:spLocks noGrp="1"/>
          </p:cNvSpPr>
          <p:nvPr>
            <p:ph type="ftr" sz="quarter" idx="11"/>
          </p:nvPr>
        </p:nvSpPr>
        <p:spPr/>
        <p:txBody>
          <a:bodyPr/>
          <a:lstStyle/>
          <a:p>
            <a:pPr>
              <a:defRPr/>
            </a:pPr>
            <a:r>
              <a:rPr lang="en-US"/>
              <a:t>CFC-MCA</a:t>
            </a:r>
          </a:p>
        </p:txBody>
      </p:sp>
    </p:spTree>
    <p:extLst>
      <p:ext uri="{BB962C8B-B14F-4D97-AF65-F5344CB8AC3E}">
        <p14:creationId xmlns:p14="http://schemas.microsoft.com/office/powerpoint/2010/main" val="65028756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p:txBody>
          <a:bodyPr/>
          <a:lstStyle/>
          <a:p>
            <a:pPr eaLnBrk="1" hangingPunct="1">
              <a:defRPr/>
            </a:pPr>
            <a:r>
              <a:rPr lang="en-US" dirty="0"/>
              <a:t>Network Hardware: Hubs</a:t>
            </a:r>
          </a:p>
        </p:txBody>
      </p:sp>
      <p:sp>
        <p:nvSpPr>
          <p:cNvPr id="36867" name="Rectangle 3"/>
          <p:cNvSpPr>
            <a:spLocks noGrp="1" noChangeArrowheads="1"/>
          </p:cNvSpPr>
          <p:nvPr>
            <p:ph idx="1"/>
          </p:nvPr>
        </p:nvSpPr>
        <p:spPr>
          <a:xfrm>
            <a:off x="1828800" y="1600201"/>
            <a:ext cx="8719930" cy="4530725"/>
          </a:xfrm>
        </p:spPr>
        <p:txBody>
          <a:bodyPr/>
          <a:lstStyle/>
          <a:p>
            <a:pPr algn="just" eaLnBrk="1" hangingPunct="1">
              <a:buClrTx/>
              <a:buFont typeface="Wingdings" panose="05000000000000000000" pitchFamily="2" charset="2"/>
              <a:buChar char="§"/>
            </a:pPr>
            <a:r>
              <a:rPr lang="en-US" altLang="en-US" dirty="0"/>
              <a:t>Receives data packets and passes on all the information it receives to all the other computers connected to it, including the sender.</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119136159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p:txBody>
          <a:bodyPr/>
          <a:lstStyle/>
          <a:p>
            <a:pPr eaLnBrk="1" hangingPunct="1">
              <a:defRPr/>
            </a:pPr>
            <a:r>
              <a:rPr lang="en-US" dirty="0"/>
              <a:t>Networks Hardware: Switches</a:t>
            </a:r>
          </a:p>
        </p:txBody>
      </p:sp>
      <p:sp>
        <p:nvSpPr>
          <p:cNvPr id="36867" name="Rectangle 3"/>
          <p:cNvSpPr>
            <a:spLocks noGrp="1" noChangeArrowheads="1"/>
          </p:cNvSpPr>
          <p:nvPr>
            <p:ph idx="1"/>
          </p:nvPr>
        </p:nvSpPr>
        <p:spPr>
          <a:xfrm>
            <a:off x="1616766" y="1600201"/>
            <a:ext cx="8958469" cy="4530725"/>
          </a:xfrm>
        </p:spPr>
        <p:txBody>
          <a:bodyPr>
            <a:normAutofit lnSpcReduction="10000"/>
          </a:bodyPr>
          <a:lstStyle/>
          <a:p>
            <a:pPr algn="just" eaLnBrk="1" hangingPunct="1">
              <a:buClrTx/>
              <a:buFont typeface="Wingdings" panose="05000000000000000000" pitchFamily="2" charset="2"/>
              <a:buChar char="§"/>
            </a:pPr>
            <a:r>
              <a:rPr lang="en-US" altLang="en-US" sz="2400" dirty="0"/>
              <a:t>More intelligent than a hub.</a:t>
            </a:r>
          </a:p>
          <a:p>
            <a:pPr algn="just" eaLnBrk="1" hangingPunct="1">
              <a:buClrTx/>
              <a:buFont typeface="Wingdings" panose="05000000000000000000" pitchFamily="2" charset="2"/>
              <a:buChar char="§"/>
            </a:pPr>
            <a:r>
              <a:rPr lang="en-US" altLang="en-US" sz="2400" dirty="0"/>
              <a:t>Able to identify the destination of a data packet. Switches send information only to the destination computer.</a:t>
            </a:r>
          </a:p>
          <a:p>
            <a:pPr algn="just" eaLnBrk="1" hangingPunct="1">
              <a:buClrTx/>
              <a:buFont typeface="Wingdings" panose="05000000000000000000" pitchFamily="2" charset="2"/>
              <a:buChar char="§"/>
            </a:pPr>
            <a:r>
              <a:rPr lang="en-US" altLang="en-US" sz="2400" dirty="0"/>
              <a:t>Performs transparent bridging at up to the speed of the hardware.</a:t>
            </a:r>
          </a:p>
          <a:p>
            <a:pPr algn="just" eaLnBrk="1" hangingPunct="1">
              <a:buClrTx/>
              <a:buFont typeface="Wingdings" panose="05000000000000000000" pitchFamily="2" charset="2"/>
              <a:buChar char="§"/>
            </a:pPr>
            <a:r>
              <a:rPr lang="en-US" altLang="en-US" sz="2400" dirty="0"/>
              <a:t>Come in different categories depending on their transmission speed. Speeds include 10, 100, or 1000 mbps.</a:t>
            </a:r>
          </a:p>
          <a:p>
            <a:pPr algn="just" eaLnBrk="1" hangingPunct="1">
              <a:buClrTx/>
              <a:buFont typeface="Wingdings" panose="05000000000000000000" pitchFamily="2" charset="2"/>
              <a:buChar char="§"/>
            </a:pPr>
            <a:r>
              <a:rPr lang="en-US" altLang="en-US" sz="2400" dirty="0"/>
              <a:t>Types include:</a:t>
            </a:r>
          </a:p>
          <a:p>
            <a:pPr lvl="1" algn="just" eaLnBrk="1" hangingPunct="1">
              <a:buClrTx/>
              <a:buFont typeface="Wingdings" panose="05000000000000000000" pitchFamily="2" charset="2"/>
              <a:buChar char="ü"/>
            </a:pPr>
            <a:r>
              <a:rPr lang="en-US" altLang="en-US" sz="1900" dirty="0"/>
              <a:t>Managed switches</a:t>
            </a:r>
          </a:p>
          <a:p>
            <a:pPr lvl="1" algn="just" eaLnBrk="1" hangingPunct="1">
              <a:buClrTx/>
              <a:buFont typeface="Wingdings" panose="05000000000000000000" pitchFamily="2" charset="2"/>
              <a:buChar char="ü"/>
            </a:pPr>
            <a:r>
              <a:rPr lang="en-US" altLang="en-US" sz="1900" dirty="0"/>
              <a:t>Unmanaged switches</a:t>
            </a:r>
          </a:p>
          <a:p>
            <a:pPr lvl="1" algn="just" eaLnBrk="1" hangingPunct="1">
              <a:buClrTx/>
              <a:buFont typeface="Wingdings" panose="05000000000000000000" pitchFamily="2" charset="2"/>
              <a:buChar char="ü"/>
            </a:pPr>
            <a:r>
              <a:rPr lang="en-US" altLang="en-US" sz="1900" dirty="0"/>
              <a:t>Intelligent or Smart switches</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1123804928"/>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p:txBody>
          <a:bodyPr/>
          <a:lstStyle/>
          <a:p>
            <a:pPr eaLnBrk="1" hangingPunct="1">
              <a:defRPr/>
            </a:pPr>
            <a:r>
              <a:rPr lang="en-US" dirty="0"/>
              <a:t>Networks Hardware: Routers</a:t>
            </a:r>
          </a:p>
        </p:txBody>
      </p:sp>
      <p:sp>
        <p:nvSpPr>
          <p:cNvPr id="36867" name="Rectangle 3"/>
          <p:cNvSpPr>
            <a:spLocks noGrp="1" noChangeArrowheads="1"/>
          </p:cNvSpPr>
          <p:nvPr>
            <p:ph idx="1"/>
          </p:nvPr>
        </p:nvSpPr>
        <p:spPr>
          <a:xfrm>
            <a:off x="1683026" y="1600201"/>
            <a:ext cx="8839200" cy="4530725"/>
          </a:xfrm>
        </p:spPr>
        <p:txBody>
          <a:bodyPr/>
          <a:lstStyle/>
          <a:p>
            <a:pPr algn="just" eaLnBrk="1" hangingPunct="1">
              <a:buClrTx/>
              <a:buFont typeface="Wingdings" panose="05000000000000000000" pitchFamily="2" charset="2"/>
              <a:buChar char="§"/>
            </a:pPr>
            <a:r>
              <a:rPr lang="en-US" altLang="en-US" sz="2400" dirty="0"/>
              <a:t>More intelligent than many network devices.</a:t>
            </a:r>
          </a:p>
          <a:p>
            <a:pPr algn="just" eaLnBrk="1" hangingPunct="1">
              <a:buClrTx/>
              <a:buFont typeface="Wingdings" panose="05000000000000000000" pitchFamily="2" charset="2"/>
              <a:buChar char="§"/>
            </a:pPr>
            <a:r>
              <a:rPr lang="en-US" altLang="en-US" sz="2400" dirty="0"/>
              <a:t>The primary function is to connect two or more networks (or network segments in a very large network) and direct traffic between them.</a:t>
            </a:r>
          </a:p>
          <a:p>
            <a:pPr algn="just" eaLnBrk="1" hangingPunct="1">
              <a:buClrTx/>
              <a:buFont typeface="Wingdings" panose="05000000000000000000" pitchFamily="2" charset="2"/>
              <a:buChar char="§"/>
            </a:pPr>
            <a:r>
              <a:rPr lang="en-US" altLang="en-US" sz="2400" dirty="0"/>
              <a:t>Receives data from the user, looks for the remote address of the other computer making routing decisions along the way, and finally forwards the user data out to a different interface that is closer to the remote computer.</a:t>
            </a:r>
          </a:p>
          <a:p>
            <a:pPr algn="just" eaLnBrk="1" hangingPunct="1">
              <a:buClrTx/>
              <a:buFont typeface="Wingdings" panose="05000000000000000000" pitchFamily="2" charset="2"/>
              <a:buChar char="§"/>
            </a:pPr>
            <a:r>
              <a:rPr lang="en-US" altLang="en-US" sz="2400" dirty="0"/>
              <a:t>Routers act like traffic controllers, working to cut down congestion throughout the network and keeping everything flowing smoothly along the best path.</a:t>
            </a:r>
          </a:p>
          <a:p>
            <a:pPr algn="just" eaLnBrk="1" hangingPunct="1">
              <a:buClrTx/>
              <a:buFont typeface="Wingdings" panose="05000000000000000000" pitchFamily="2" charset="2"/>
              <a:buChar char="§"/>
            </a:pPr>
            <a:endParaRPr lang="en-US" altLang="en-US" sz="2400" dirty="0"/>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842884114"/>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p:txBody>
          <a:bodyPr/>
          <a:lstStyle/>
          <a:p>
            <a:pPr eaLnBrk="1" hangingPunct="1">
              <a:defRPr/>
            </a:pPr>
            <a:r>
              <a:rPr lang="en-US" dirty="0"/>
              <a:t>Networks Hardware: Repeaters</a:t>
            </a:r>
          </a:p>
        </p:txBody>
      </p:sp>
      <p:sp>
        <p:nvSpPr>
          <p:cNvPr id="36867" name="Rectangle 3"/>
          <p:cNvSpPr>
            <a:spLocks noGrp="1" noChangeArrowheads="1"/>
          </p:cNvSpPr>
          <p:nvPr>
            <p:ph idx="1"/>
          </p:nvPr>
        </p:nvSpPr>
        <p:spPr>
          <a:xfrm>
            <a:off x="1659837" y="1600201"/>
            <a:ext cx="8878957" cy="4530725"/>
          </a:xfrm>
        </p:spPr>
        <p:txBody>
          <a:bodyPr/>
          <a:lstStyle/>
          <a:p>
            <a:pPr algn="just" eaLnBrk="1" hangingPunct="1">
              <a:buClrTx/>
              <a:buFont typeface="Wingdings" panose="05000000000000000000" pitchFamily="2" charset="2"/>
              <a:buChar char="§"/>
            </a:pPr>
            <a:r>
              <a:rPr lang="en-US" altLang="en-US" sz="2600" dirty="0"/>
              <a:t>Used to regenerate the signal over the same network before the signal becomes too weak or corrupted so as to extend the length to which the signal can be transmitted over the same network.</a:t>
            </a:r>
          </a:p>
          <a:p>
            <a:pPr algn="just" eaLnBrk="1" hangingPunct="1">
              <a:buClrTx/>
              <a:buFont typeface="Wingdings" panose="05000000000000000000" pitchFamily="2" charset="2"/>
              <a:buChar char="§"/>
            </a:pPr>
            <a:r>
              <a:rPr lang="en-US" altLang="en-US" sz="2600" dirty="0"/>
              <a:t>Does not amplify or boost the signal.</a:t>
            </a:r>
          </a:p>
          <a:p>
            <a:pPr algn="just" eaLnBrk="1" hangingPunct="1">
              <a:buClrTx/>
              <a:buFont typeface="Wingdings" panose="05000000000000000000" pitchFamily="2" charset="2"/>
              <a:buChar char="§"/>
            </a:pPr>
            <a:r>
              <a:rPr lang="en-US" altLang="en-US" sz="2600" dirty="0"/>
              <a:t>Usually a 2-port device.</a:t>
            </a:r>
          </a:p>
          <a:p>
            <a:pPr algn="just" eaLnBrk="1" hangingPunct="1">
              <a:buClrTx/>
              <a:buFont typeface="Wingdings" panose="05000000000000000000" pitchFamily="2" charset="2"/>
              <a:buChar char="§"/>
            </a:pPr>
            <a:endParaRPr lang="en-US" altLang="en-US" sz="2600" dirty="0"/>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279883501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p:txBody>
          <a:bodyPr/>
          <a:lstStyle/>
          <a:p>
            <a:pPr eaLnBrk="1" hangingPunct="1">
              <a:defRPr/>
            </a:pPr>
            <a:r>
              <a:rPr lang="en-US" dirty="0"/>
              <a:t>Networks Hardware: Modems</a:t>
            </a:r>
          </a:p>
        </p:txBody>
      </p:sp>
      <p:sp>
        <p:nvSpPr>
          <p:cNvPr id="36867" name="Rectangle 3"/>
          <p:cNvSpPr>
            <a:spLocks noGrp="1" noChangeArrowheads="1"/>
          </p:cNvSpPr>
          <p:nvPr>
            <p:ph idx="1"/>
          </p:nvPr>
        </p:nvSpPr>
        <p:spPr/>
        <p:txBody>
          <a:bodyPr/>
          <a:lstStyle/>
          <a:p>
            <a:pPr algn="just" eaLnBrk="1" hangingPunct="1">
              <a:buClrTx/>
              <a:buFont typeface="Wingdings" panose="05000000000000000000" pitchFamily="2" charset="2"/>
              <a:buChar char="§"/>
            </a:pPr>
            <a:r>
              <a:rPr lang="en-US" altLang="en-US" sz="2400" dirty="0"/>
              <a:t>Comes from modulator and demodulator. It is therefore a short form of modulator-demodulator. </a:t>
            </a:r>
          </a:p>
          <a:p>
            <a:pPr algn="just" eaLnBrk="1" hangingPunct="1">
              <a:buClrTx/>
              <a:buFont typeface="Wingdings" panose="05000000000000000000" pitchFamily="2" charset="2"/>
              <a:buChar char="§"/>
            </a:pPr>
            <a:r>
              <a:rPr lang="en-US" altLang="en-US" sz="2400" dirty="0"/>
              <a:t>Converts data from a digital format into a format suitable for an analog transmission medium, and converts back analogue signals to digital data on the receiving end.</a:t>
            </a:r>
          </a:p>
          <a:p>
            <a:pPr algn="just" eaLnBrk="1" hangingPunct="1">
              <a:buClrTx/>
              <a:buFont typeface="Wingdings" panose="05000000000000000000" pitchFamily="2" charset="2"/>
              <a:buChar char="§"/>
            </a:pPr>
            <a:r>
              <a:rPr lang="en-US" altLang="en-US" sz="2400" dirty="0"/>
              <a:t>A very good example of a modem is the device that connects your home to your dial-up internet service provider (ISP) and translates the digital signals from your ISP so your computer can understand them. </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2150479775"/>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p:txBody>
          <a:bodyPr/>
          <a:lstStyle/>
          <a:p>
            <a:pPr eaLnBrk="1" hangingPunct="1">
              <a:defRPr/>
            </a:pPr>
            <a:r>
              <a:rPr lang="en-US" dirty="0"/>
              <a:t>Networks Hardware: Gateways</a:t>
            </a:r>
          </a:p>
        </p:txBody>
      </p:sp>
      <p:sp>
        <p:nvSpPr>
          <p:cNvPr id="36867" name="Rectangle 3"/>
          <p:cNvSpPr>
            <a:spLocks noGrp="1" noChangeArrowheads="1"/>
          </p:cNvSpPr>
          <p:nvPr>
            <p:ph idx="1"/>
          </p:nvPr>
        </p:nvSpPr>
        <p:spPr/>
        <p:txBody>
          <a:bodyPr/>
          <a:lstStyle/>
          <a:p>
            <a:pPr algn="just" eaLnBrk="1" hangingPunct="1">
              <a:buClrTx/>
              <a:buFont typeface="Wingdings" panose="05000000000000000000" pitchFamily="2" charset="2"/>
              <a:buChar char="§"/>
            </a:pPr>
            <a:r>
              <a:rPr lang="en-US" altLang="en-US" sz="2600" dirty="0"/>
              <a:t>Provides a remote network with connectivity and access to the host network.</a:t>
            </a:r>
          </a:p>
          <a:p>
            <a:pPr algn="just" eaLnBrk="1" hangingPunct="1">
              <a:buClrTx/>
              <a:buFont typeface="Wingdings" panose="05000000000000000000" pitchFamily="2" charset="2"/>
              <a:buChar char="§"/>
            </a:pPr>
            <a:r>
              <a:rPr lang="en-US" altLang="en-US" sz="2600" dirty="0"/>
              <a:t>It is a passage that connects two networks together working upon different networking models.</a:t>
            </a:r>
          </a:p>
          <a:p>
            <a:pPr algn="just" eaLnBrk="1" hangingPunct="1">
              <a:buClrTx/>
              <a:buFont typeface="Wingdings" panose="05000000000000000000" pitchFamily="2" charset="2"/>
              <a:buChar char="§"/>
            </a:pPr>
            <a:r>
              <a:rPr lang="en-US" altLang="en-US" sz="2600" dirty="0"/>
              <a:t>Just as the router, gateways use forwarding tables to determine where data packets are to be sent. Gateways can be routers or computers with special software and configuration.</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418459788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p:txBody>
          <a:bodyPr/>
          <a:lstStyle/>
          <a:p>
            <a:pPr eaLnBrk="1" hangingPunct="1">
              <a:defRPr/>
            </a:pPr>
            <a:r>
              <a:rPr lang="en-US" dirty="0"/>
              <a:t>Networks Topologies</a:t>
            </a:r>
          </a:p>
        </p:txBody>
      </p:sp>
      <p:sp>
        <p:nvSpPr>
          <p:cNvPr id="36867" name="Rectangle 3"/>
          <p:cNvSpPr>
            <a:spLocks noGrp="1" noChangeArrowheads="1"/>
          </p:cNvSpPr>
          <p:nvPr>
            <p:ph idx="1"/>
          </p:nvPr>
        </p:nvSpPr>
        <p:spPr>
          <a:xfrm>
            <a:off x="1630018" y="1600201"/>
            <a:ext cx="8878957" cy="4530725"/>
          </a:xfrm>
        </p:spPr>
        <p:txBody>
          <a:bodyPr/>
          <a:lstStyle/>
          <a:p>
            <a:pPr algn="just" eaLnBrk="1" hangingPunct="1">
              <a:buClrTx/>
              <a:buFont typeface="Wingdings" panose="05000000000000000000" pitchFamily="2" charset="2"/>
              <a:buChar char="§"/>
            </a:pPr>
            <a:r>
              <a:rPr lang="en-US" altLang="en-US" dirty="0"/>
              <a:t>It is the physical layout of computer networks</a:t>
            </a:r>
            <a:endParaRPr lang="en-GB" altLang="en-US" dirty="0"/>
          </a:p>
          <a:p>
            <a:pPr algn="just" eaLnBrk="1" hangingPunct="1">
              <a:buClrTx/>
              <a:buFont typeface="Wingdings" panose="05000000000000000000" pitchFamily="2" charset="2"/>
              <a:buChar char="§"/>
            </a:pPr>
            <a:r>
              <a:rPr lang="en-US" altLang="en-US" sz="3300" dirty="0"/>
              <a:t>Two or more links form a topology</a:t>
            </a:r>
          </a:p>
          <a:p>
            <a:pPr algn="just" eaLnBrk="1" hangingPunct="1">
              <a:buClrTx/>
              <a:buFont typeface="Wingdings" panose="05000000000000000000" pitchFamily="2" charset="2"/>
              <a:buChar char="§"/>
            </a:pPr>
            <a:r>
              <a:rPr lang="en-US" altLang="en-US" sz="3300" dirty="0"/>
              <a:t>The topology of a network is the geometric representation of the relationship of all the links and linking devices (nodes) to one another.</a:t>
            </a:r>
          </a:p>
          <a:p>
            <a:pPr algn="just" eaLnBrk="1" hangingPunct="1">
              <a:buClrTx/>
              <a:buFont typeface="Wingdings" panose="05000000000000000000" pitchFamily="2" charset="2"/>
              <a:buChar char="§"/>
            </a:pPr>
            <a:r>
              <a:rPr lang="en-US" altLang="en-US" sz="3300" dirty="0"/>
              <a:t>Four topologies : Mesh, Star, Bus, and Ring</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209768759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p:txBody>
          <a:bodyPr/>
          <a:lstStyle/>
          <a:p>
            <a:pPr eaLnBrk="1" hangingPunct="1">
              <a:defRPr/>
            </a:pPr>
            <a:r>
              <a:rPr lang="en-US" dirty="0"/>
              <a:t>Mesh Topology</a:t>
            </a:r>
          </a:p>
        </p:txBody>
      </p:sp>
      <p:sp>
        <p:nvSpPr>
          <p:cNvPr id="38915" name="Rectangle 4"/>
          <p:cNvSpPr>
            <a:spLocks noGrp="1" noChangeArrowheads="1"/>
          </p:cNvSpPr>
          <p:nvPr>
            <p:ph idx="1"/>
          </p:nvPr>
        </p:nvSpPr>
        <p:spPr>
          <a:xfrm>
            <a:off x="1981200" y="1600201"/>
            <a:ext cx="8229600" cy="4760843"/>
          </a:xfrm>
        </p:spPr>
        <p:txBody>
          <a:bodyPr/>
          <a:lstStyle/>
          <a:p>
            <a:pPr algn="just" eaLnBrk="1" hangingPunct="1">
              <a:buClrTx/>
              <a:buFont typeface="Wingdings" panose="05000000000000000000" pitchFamily="2" charset="2"/>
              <a:buChar char="§"/>
            </a:pPr>
            <a:r>
              <a:rPr lang="en-GB" altLang="en-US" dirty="0"/>
              <a:t>Every link is dedicated  point-to-point link</a:t>
            </a:r>
          </a:p>
          <a:p>
            <a:pPr algn="just" eaLnBrk="1" hangingPunct="1">
              <a:buClrTx/>
              <a:buFont typeface="Wingdings" panose="05000000000000000000" pitchFamily="2" charset="2"/>
              <a:buChar char="§"/>
            </a:pPr>
            <a:r>
              <a:rPr lang="en-GB" altLang="en-US" dirty="0"/>
              <a:t>The term dedicated means that the link carries traffic only between the two devices it connects</a:t>
            </a:r>
          </a:p>
          <a:p>
            <a:pPr lvl="1" algn="just" eaLnBrk="1" hangingPunct="1">
              <a:buClrTx/>
              <a:buFont typeface="Wingdings" panose="05000000000000000000" pitchFamily="2" charset="2"/>
              <a:buChar char="§"/>
            </a:pPr>
            <a:endParaRPr lang="en-GB" altLang="en-US" dirty="0"/>
          </a:p>
          <a:p>
            <a:pPr lvl="1" algn="just" eaLnBrk="1" hangingPunct="1">
              <a:buClrTx/>
              <a:buFont typeface="Wingdings" panose="05000000000000000000" pitchFamily="2" charset="2"/>
              <a:buChar char="§"/>
            </a:pPr>
            <a:endParaRPr lang="en-US" altLang="en-US" dirty="0"/>
          </a:p>
        </p:txBody>
      </p:sp>
      <p:sp>
        <p:nvSpPr>
          <p:cNvPr id="9"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pic>
        <p:nvPicPr>
          <p:cNvPr id="38916"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18076" y="3959226"/>
            <a:ext cx="2987675" cy="221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25756458"/>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p:txBody>
          <a:bodyPr/>
          <a:lstStyle/>
          <a:p>
            <a:pPr eaLnBrk="1" hangingPunct="1">
              <a:defRPr/>
            </a:pPr>
            <a:r>
              <a:rPr lang="en-US" dirty="0"/>
              <a:t>Mesh Topology cont’d</a:t>
            </a:r>
          </a:p>
        </p:txBody>
      </p:sp>
      <p:sp>
        <p:nvSpPr>
          <p:cNvPr id="188419" name="Rectangle 3"/>
          <p:cNvSpPr>
            <a:spLocks noGrp="1" noChangeArrowheads="1"/>
          </p:cNvSpPr>
          <p:nvPr>
            <p:ph idx="1"/>
          </p:nvPr>
        </p:nvSpPr>
        <p:spPr/>
        <p:txBody>
          <a:bodyPr/>
          <a:lstStyle/>
          <a:p>
            <a:pPr eaLnBrk="1" hangingPunct="1">
              <a:buClrTx/>
              <a:buFont typeface="Wingdings" panose="05000000000000000000" pitchFamily="2" charset="2"/>
              <a:buChar char="§"/>
              <a:defRPr/>
            </a:pPr>
            <a:r>
              <a:rPr lang="en-GB" dirty="0"/>
              <a:t>To link</a:t>
            </a:r>
            <a:r>
              <a:rPr lang="en-GB" dirty="0">
                <a:solidFill>
                  <a:schemeClr val="tx2"/>
                </a:solidFill>
              </a:rPr>
              <a:t> </a:t>
            </a:r>
            <a:r>
              <a:rPr lang="en-GB" b="1" i="1" dirty="0">
                <a:solidFill>
                  <a:srgbClr val="3333FF"/>
                </a:solidFill>
                <a:effectLst>
                  <a:outerShdw blurRad="38100" dist="38100" dir="2700000" algn="tl">
                    <a:srgbClr val="C0C0C0"/>
                  </a:outerShdw>
                </a:effectLst>
              </a:rPr>
              <a:t>n</a:t>
            </a:r>
            <a:r>
              <a:rPr lang="en-GB" dirty="0"/>
              <a:t> devices</a:t>
            </a:r>
            <a:r>
              <a:rPr lang="en-GB" dirty="0">
                <a:solidFill>
                  <a:schemeClr val="tx2"/>
                </a:solidFill>
              </a:rPr>
              <a:t> </a:t>
            </a:r>
            <a:r>
              <a:rPr lang="en-GB" dirty="0"/>
              <a:t>fully connected mesh has:</a:t>
            </a:r>
          </a:p>
          <a:p>
            <a:pPr lvl="1" eaLnBrk="1" hangingPunct="1">
              <a:buClrTx/>
              <a:buFont typeface="Wingdings" panose="05000000000000000000" pitchFamily="2" charset="2"/>
              <a:buChar char="§"/>
              <a:defRPr/>
            </a:pPr>
            <a:r>
              <a:rPr lang="en-GB" b="1" i="1" dirty="0">
                <a:solidFill>
                  <a:srgbClr val="3333FF"/>
                </a:solidFill>
                <a:effectLst>
                  <a:outerShdw blurRad="38100" dist="38100" dir="2700000" algn="tl">
                    <a:srgbClr val="C0C0C0"/>
                  </a:outerShdw>
                </a:effectLst>
              </a:rPr>
              <a:t>n ( n - 1) / 2</a:t>
            </a:r>
            <a:r>
              <a:rPr lang="en-GB" dirty="0"/>
              <a:t> physical channels (Full-Duplex)</a:t>
            </a:r>
          </a:p>
          <a:p>
            <a:pPr lvl="1" eaLnBrk="1" hangingPunct="1">
              <a:buClrTx/>
              <a:buFont typeface="Wingdings" panose="05000000000000000000" pitchFamily="2" charset="2"/>
              <a:buChar char="§"/>
              <a:defRPr/>
            </a:pPr>
            <a:endParaRPr lang="en-GB" dirty="0"/>
          </a:p>
          <a:p>
            <a:pPr eaLnBrk="1" hangingPunct="1">
              <a:buClrTx/>
              <a:buFont typeface="Wingdings" panose="05000000000000000000" pitchFamily="2" charset="2"/>
              <a:buChar char="§"/>
              <a:defRPr/>
            </a:pPr>
            <a:r>
              <a:rPr lang="en-GB" dirty="0"/>
              <a:t>Every Device on the network must have</a:t>
            </a:r>
          </a:p>
          <a:p>
            <a:pPr lvl="1" eaLnBrk="1" hangingPunct="1">
              <a:buClrTx/>
              <a:buFont typeface="Wingdings" panose="05000000000000000000" pitchFamily="2" charset="2"/>
              <a:buChar char="§"/>
              <a:defRPr/>
            </a:pPr>
            <a:r>
              <a:rPr lang="en-GB" b="1" i="1" dirty="0">
                <a:solidFill>
                  <a:srgbClr val="3333FF"/>
                </a:solidFill>
                <a:effectLst>
                  <a:outerShdw blurRad="38100" dist="38100" dir="2700000" algn="tl">
                    <a:srgbClr val="C0C0C0"/>
                  </a:outerShdw>
                </a:effectLst>
              </a:rPr>
              <a:t>n - 1</a:t>
            </a:r>
            <a:r>
              <a:rPr lang="en-GB" dirty="0"/>
              <a:t> ports</a:t>
            </a:r>
          </a:p>
          <a:p>
            <a:pPr lvl="1" eaLnBrk="1" hangingPunct="1">
              <a:buClrTx/>
              <a:buFont typeface="Wingdings" panose="05000000000000000000" pitchFamily="2" charset="2"/>
              <a:buChar char="§"/>
              <a:defRPr/>
            </a:pPr>
            <a:endParaRPr lang="en-US" dirty="0"/>
          </a:p>
        </p:txBody>
      </p:sp>
      <p:sp>
        <p:nvSpPr>
          <p:cNvPr id="9"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pic>
        <p:nvPicPr>
          <p:cNvPr id="39940" name="Picture 6" descr="mesh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010400" y="3997326"/>
            <a:ext cx="2819400" cy="27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7381509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p:txBody>
          <a:bodyPr/>
          <a:lstStyle/>
          <a:p>
            <a:pPr eaLnBrk="1" hangingPunct="1">
              <a:defRPr/>
            </a:pPr>
            <a:r>
              <a:rPr lang="en-US" dirty="0"/>
              <a:t>Mesh Topology cont’d</a:t>
            </a:r>
          </a:p>
        </p:txBody>
      </p:sp>
      <p:sp>
        <p:nvSpPr>
          <p:cNvPr id="40963" name="Rectangle 3"/>
          <p:cNvSpPr>
            <a:spLocks noGrp="1" noChangeArrowheads="1"/>
          </p:cNvSpPr>
          <p:nvPr>
            <p:ph idx="1"/>
          </p:nvPr>
        </p:nvSpPr>
        <p:spPr/>
        <p:txBody>
          <a:bodyPr>
            <a:normAutofit/>
          </a:bodyPr>
          <a:lstStyle/>
          <a:p>
            <a:pPr eaLnBrk="1" hangingPunct="1">
              <a:buClrTx/>
              <a:buFont typeface="Wingdings" panose="05000000000000000000" pitchFamily="2" charset="2"/>
              <a:buChar char="§"/>
            </a:pPr>
            <a:r>
              <a:rPr lang="en-US" altLang="en-US" dirty="0"/>
              <a:t>Example:</a:t>
            </a:r>
            <a:endParaRPr lang="en-GB" altLang="en-US" dirty="0"/>
          </a:p>
          <a:p>
            <a:pPr lvl="1" eaLnBrk="1" hangingPunct="1">
              <a:buFont typeface="Wingdings" panose="05000000000000000000" pitchFamily="2" charset="2"/>
              <a:buNone/>
            </a:pPr>
            <a:r>
              <a:rPr lang="en-US" altLang="en-US" b="1" dirty="0">
                <a:solidFill>
                  <a:srgbClr val="CC0000"/>
                </a:solidFill>
              </a:rPr>
              <a:t>		8</a:t>
            </a:r>
            <a:r>
              <a:rPr lang="en-US" altLang="en-US" dirty="0"/>
              <a:t> devices in mesh has links: n(n-1) / 2</a:t>
            </a:r>
          </a:p>
          <a:p>
            <a:pPr lvl="1" eaLnBrk="1" hangingPunct="1">
              <a:buFont typeface="Wingdings" panose="05000000000000000000" pitchFamily="2" charset="2"/>
              <a:buNone/>
            </a:pPr>
            <a:endParaRPr lang="en-US" altLang="en-US" dirty="0"/>
          </a:p>
          <a:p>
            <a:pPr lvl="1" eaLnBrk="1" hangingPunct="1">
              <a:buFont typeface="Wingdings" panose="05000000000000000000" pitchFamily="2" charset="2"/>
              <a:buNone/>
            </a:pPr>
            <a:r>
              <a:rPr lang="en-US" altLang="en-US" dirty="0"/>
              <a:t>		number of links = 8 (8-1)/2 = </a:t>
            </a:r>
            <a:r>
              <a:rPr lang="en-US" altLang="en-US" b="1" dirty="0">
                <a:solidFill>
                  <a:srgbClr val="CC0000"/>
                </a:solidFill>
              </a:rPr>
              <a:t>28</a:t>
            </a:r>
          </a:p>
          <a:p>
            <a:pPr lvl="1" eaLnBrk="1" hangingPunct="1">
              <a:buFont typeface="Wingdings" panose="05000000000000000000" pitchFamily="2" charset="2"/>
              <a:buNone/>
            </a:pPr>
            <a:endParaRPr lang="en-US" altLang="en-US" dirty="0">
              <a:solidFill>
                <a:srgbClr val="CC0000"/>
              </a:solidFill>
            </a:endParaRPr>
          </a:p>
          <a:p>
            <a:pPr lvl="1" eaLnBrk="1" hangingPunct="1">
              <a:buFont typeface="Wingdings" panose="05000000000000000000" pitchFamily="2" charset="2"/>
              <a:buNone/>
            </a:pPr>
            <a:r>
              <a:rPr lang="en-US" altLang="en-US" dirty="0"/>
              <a:t>		number of ports per device = n – 1 = 8 –1 = </a:t>
            </a:r>
            <a:r>
              <a:rPr lang="en-US" altLang="en-US" b="1" dirty="0">
                <a:solidFill>
                  <a:srgbClr val="CC0000"/>
                </a:solidFill>
              </a:rPr>
              <a:t>7</a:t>
            </a:r>
          </a:p>
          <a:p>
            <a:pPr lvl="1" eaLnBrk="1" hangingPunct="1">
              <a:buFont typeface="Wingdings" panose="05000000000000000000" pitchFamily="2" charset="2"/>
              <a:buNone/>
            </a:pPr>
            <a:r>
              <a:rPr lang="en-GB" altLang="en-US" dirty="0"/>
              <a:t/>
            </a:r>
            <a:br>
              <a:rPr lang="en-GB" altLang="en-US" dirty="0"/>
            </a:br>
            <a:endParaRPr lang="en-US" altLang="en-US" dirty="0"/>
          </a:p>
        </p:txBody>
      </p:sp>
      <p:sp>
        <p:nvSpPr>
          <p:cNvPr id="9"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pic>
        <p:nvPicPr>
          <p:cNvPr id="4096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82076" y="1676400"/>
            <a:ext cx="1533525" cy="130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6160366"/>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pPr eaLnBrk="1" hangingPunct="1">
              <a:defRPr/>
            </a:pPr>
            <a:r>
              <a:rPr lang="en-US" dirty="0"/>
              <a:t>Mesh Topology cont’d</a:t>
            </a:r>
          </a:p>
        </p:txBody>
      </p:sp>
      <p:sp>
        <p:nvSpPr>
          <p:cNvPr id="41987" name="Rectangle 3"/>
          <p:cNvSpPr>
            <a:spLocks noGrp="1" noChangeArrowheads="1"/>
          </p:cNvSpPr>
          <p:nvPr>
            <p:ph idx="1"/>
          </p:nvPr>
        </p:nvSpPr>
        <p:spPr/>
        <p:txBody>
          <a:bodyPr/>
          <a:lstStyle/>
          <a:p>
            <a:pPr algn="just" eaLnBrk="1" hangingPunct="1">
              <a:buClrTx/>
              <a:buFont typeface="Wingdings" panose="05000000000000000000" pitchFamily="2" charset="2"/>
              <a:buChar char="§"/>
            </a:pPr>
            <a:r>
              <a:rPr lang="en-GB" altLang="en-US" dirty="0"/>
              <a:t>Advantages</a:t>
            </a:r>
          </a:p>
          <a:p>
            <a:pPr lvl="2" algn="just" eaLnBrk="1" hangingPunct="1">
              <a:buClrTx/>
              <a:buFont typeface="Wingdings" panose="05000000000000000000" pitchFamily="2" charset="2"/>
              <a:buChar char="ü"/>
            </a:pPr>
            <a:r>
              <a:rPr lang="en-US" altLang="en-US" dirty="0"/>
              <a:t>Each connection carry its own data load (no traffic problems)</a:t>
            </a:r>
          </a:p>
          <a:p>
            <a:pPr lvl="2" algn="just" eaLnBrk="1" hangingPunct="1">
              <a:buClrTx/>
              <a:buFont typeface="Wingdings" panose="05000000000000000000" pitchFamily="2" charset="2"/>
              <a:buChar char="ü"/>
            </a:pPr>
            <a:r>
              <a:rPr lang="en-US" altLang="en-US" dirty="0"/>
              <a:t>A mesh topology is robust</a:t>
            </a:r>
          </a:p>
          <a:p>
            <a:pPr lvl="2" algn="just" eaLnBrk="1" hangingPunct="1">
              <a:buClrTx/>
              <a:buFont typeface="Wingdings" panose="05000000000000000000" pitchFamily="2" charset="2"/>
              <a:buChar char="ü"/>
            </a:pPr>
            <a:r>
              <a:rPr lang="en-US" altLang="en-US" dirty="0"/>
              <a:t>Privacy or security</a:t>
            </a:r>
          </a:p>
          <a:p>
            <a:pPr lvl="2" algn="just" eaLnBrk="1" hangingPunct="1">
              <a:buClrTx/>
              <a:buFont typeface="Wingdings" panose="05000000000000000000" pitchFamily="2" charset="2"/>
              <a:buChar char="ü"/>
            </a:pPr>
            <a:r>
              <a:rPr lang="en-US" altLang="en-US" dirty="0"/>
              <a:t>Fault identification and fault isolation</a:t>
            </a:r>
          </a:p>
        </p:txBody>
      </p:sp>
      <p:sp>
        <p:nvSpPr>
          <p:cNvPr id="9"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pic>
        <p:nvPicPr>
          <p:cNvPr id="41988"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15401" y="5029200"/>
            <a:ext cx="1533525" cy="130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8098311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pPr eaLnBrk="1" hangingPunct="1">
              <a:defRPr/>
            </a:pPr>
            <a:r>
              <a:rPr lang="en-US" dirty="0"/>
              <a:t>Mesh Topology cont’d</a:t>
            </a:r>
          </a:p>
        </p:txBody>
      </p:sp>
      <p:sp>
        <p:nvSpPr>
          <p:cNvPr id="43011" name="Rectangle 3"/>
          <p:cNvSpPr>
            <a:spLocks noGrp="1" noChangeArrowheads="1"/>
          </p:cNvSpPr>
          <p:nvPr>
            <p:ph idx="1"/>
          </p:nvPr>
        </p:nvSpPr>
        <p:spPr/>
        <p:txBody>
          <a:bodyPr/>
          <a:lstStyle/>
          <a:p>
            <a:pPr algn="just" eaLnBrk="1" hangingPunct="1">
              <a:lnSpc>
                <a:spcPct val="90000"/>
              </a:lnSpc>
              <a:buClrTx/>
              <a:buFont typeface="Wingdings" panose="05000000000000000000" pitchFamily="2" charset="2"/>
              <a:buChar char="§"/>
            </a:pPr>
            <a:r>
              <a:rPr lang="en-GB" altLang="en-US" dirty="0"/>
              <a:t>Disadvantages</a:t>
            </a:r>
          </a:p>
          <a:p>
            <a:pPr lvl="2" algn="just" eaLnBrk="1" hangingPunct="1">
              <a:lnSpc>
                <a:spcPct val="90000"/>
              </a:lnSpc>
              <a:buClrTx/>
              <a:buFont typeface="Wingdings" panose="05000000000000000000" pitchFamily="2" charset="2"/>
              <a:buChar char="ü"/>
            </a:pPr>
            <a:r>
              <a:rPr lang="en-US" altLang="en-US" dirty="0"/>
              <a:t>Big amount of cabling</a:t>
            </a:r>
          </a:p>
          <a:p>
            <a:pPr lvl="2" algn="just" eaLnBrk="1" hangingPunct="1">
              <a:lnSpc>
                <a:spcPct val="90000"/>
              </a:lnSpc>
              <a:buClrTx/>
              <a:buFont typeface="Wingdings" panose="05000000000000000000" pitchFamily="2" charset="2"/>
              <a:buChar char="ü"/>
            </a:pPr>
            <a:r>
              <a:rPr lang="en-US" altLang="en-US" dirty="0"/>
              <a:t>Big number of I/O ports</a:t>
            </a:r>
          </a:p>
          <a:p>
            <a:pPr lvl="2" algn="just" eaLnBrk="1" hangingPunct="1">
              <a:lnSpc>
                <a:spcPct val="90000"/>
              </a:lnSpc>
              <a:buClrTx/>
              <a:buFont typeface="Wingdings" panose="05000000000000000000" pitchFamily="2" charset="2"/>
              <a:buChar char="ü"/>
            </a:pPr>
            <a:r>
              <a:rPr lang="en-US" altLang="en-US" dirty="0"/>
              <a:t>Installation and reconnection are difficult</a:t>
            </a:r>
          </a:p>
          <a:p>
            <a:pPr lvl="2" algn="just" eaLnBrk="1" hangingPunct="1">
              <a:lnSpc>
                <a:spcPct val="90000"/>
              </a:lnSpc>
              <a:buClrTx/>
              <a:buFont typeface="Wingdings" panose="05000000000000000000" pitchFamily="2" charset="2"/>
              <a:buChar char="ü"/>
            </a:pPr>
            <a:r>
              <a:rPr lang="en-US" altLang="en-US" dirty="0"/>
              <a:t>Sheer bulk of the wiring can be greater than the available space</a:t>
            </a:r>
          </a:p>
          <a:p>
            <a:pPr lvl="2" algn="just" eaLnBrk="1" hangingPunct="1">
              <a:lnSpc>
                <a:spcPct val="90000"/>
              </a:lnSpc>
              <a:buClrTx/>
              <a:buFont typeface="Wingdings" panose="05000000000000000000" pitchFamily="2" charset="2"/>
              <a:buChar char="ü"/>
            </a:pPr>
            <a:r>
              <a:rPr lang="en-US" altLang="en-US" dirty="0"/>
              <a:t>Hardware connect to each I/O could be expensive</a:t>
            </a:r>
            <a:endParaRPr lang="ar-SA" altLang="en-US" dirty="0"/>
          </a:p>
          <a:p>
            <a:pPr lvl="2" algn="just" eaLnBrk="1" hangingPunct="1">
              <a:lnSpc>
                <a:spcPct val="90000"/>
              </a:lnSpc>
              <a:buClrTx/>
              <a:buFont typeface="Wingdings" panose="05000000000000000000" pitchFamily="2" charset="2"/>
              <a:buChar char="§"/>
            </a:pPr>
            <a:endParaRPr lang="ar-SA" altLang="en-US" dirty="0"/>
          </a:p>
        </p:txBody>
      </p:sp>
      <p:sp>
        <p:nvSpPr>
          <p:cNvPr id="9"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pic>
        <p:nvPicPr>
          <p:cNvPr id="4301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63001" y="1676400"/>
            <a:ext cx="1533525" cy="130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86341448"/>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p:txBody>
          <a:bodyPr/>
          <a:lstStyle/>
          <a:p>
            <a:pPr eaLnBrk="1" hangingPunct="1">
              <a:defRPr/>
            </a:pPr>
            <a:r>
              <a:rPr lang="en-US" dirty="0"/>
              <a:t>Star Topology</a:t>
            </a:r>
          </a:p>
        </p:txBody>
      </p:sp>
      <p:sp>
        <p:nvSpPr>
          <p:cNvPr id="44035" name="Rectangle 3"/>
          <p:cNvSpPr>
            <a:spLocks noGrp="1" noChangeArrowheads="1"/>
          </p:cNvSpPr>
          <p:nvPr>
            <p:ph idx="1"/>
          </p:nvPr>
        </p:nvSpPr>
        <p:spPr>
          <a:xfrm>
            <a:off x="1981200" y="1600200"/>
            <a:ext cx="8229600" cy="5078896"/>
          </a:xfrm>
        </p:spPr>
        <p:txBody>
          <a:bodyPr/>
          <a:lstStyle/>
          <a:p>
            <a:pPr algn="just" eaLnBrk="1" hangingPunct="1">
              <a:buClrTx/>
              <a:buFont typeface="Wingdings" panose="05000000000000000000" pitchFamily="2" charset="2"/>
              <a:buChar char="§"/>
            </a:pPr>
            <a:r>
              <a:rPr lang="en-US" altLang="en-US" dirty="0"/>
              <a:t>Dedicated point-to-point to a central controller (Hub)</a:t>
            </a:r>
          </a:p>
          <a:p>
            <a:pPr algn="just" eaLnBrk="1" hangingPunct="1">
              <a:buClrTx/>
              <a:buFont typeface="Wingdings" panose="05000000000000000000" pitchFamily="2" charset="2"/>
              <a:buChar char="§"/>
            </a:pPr>
            <a:r>
              <a:rPr lang="en-US" altLang="en-US" dirty="0"/>
              <a:t>No direct traffic between devices</a:t>
            </a:r>
          </a:p>
          <a:p>
            <a:pPr algn="just" eaLnBrk="1" hangingPunct="1">
              <a:buClrTx/>
              <a:buFont typeface="Wingdings" panose="05000000000000000000" pitchFamily="2" charset="2"/>
              <a:buChar char="§"/>
            </a:pPr>
            <a:r>
              <a:rPr lang="en-US" altLang="en-US" dirty="0"/>
              <a:t>The control acts as an exchange</a:t>
            </a:r>
          </a:p>
        </p:txBody>
      </p:sp>
      <p:sp>
        <p:nvSpPr>
          <p:cNvPr id="9"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pic>
        <p:nvPicPr>
          <p:cNvPr id="4403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0341" y="3911601"/>
            <a:ext cx="4281487"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7082525"/>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p:txBody>
          <a:bodyPr/>
          <a:lstStyle/>
          <a:p>
            <a:pPr eaLnBrk="1" hangingPunct="1">
              <a:defRPr/>
            </a:pPr>
            <a:r>
              <a:rPr lang="en-US" dirty="0"/>
              <a:t>Star Topology cont’d</a:t>
            </a:r>
          </a:p>
        </p:txBody>
      </p:sp>
      <p:sp>
        <p:nvSpPr>
          <p:cNvPr id="45059" name="Rectangle 3"/>
          <p:cNvSpPr>
            <a:spLocks noGrp="1" noChangeArrowheads="1"/>
          </p:cNvSpPr>
          <p:nvPr>
            <p:ph idx="1"/>
          </p:nvPr>
        </p:nvSpPr>
        <p:spPr/>
        <p:txBody>
          <a:bodyPr>
            <a:normAutofit lnSpcReduction="10000"/>
          </a:bodyPr>
          <a:lstStyle/>
          <a:p>
            <a:pPr eaLnBrk="1" hangingPunct="1">
              <a:buClrTx/>
              <a:buFont typeface="Wingdings" panose="05000000000000000000" pitchFamily="2" charset="2"/>
              <a:buChar char="§"/>
            </a:pPr>
            <a:r>
              <a:rPr lang="en-US" altLang="en-US" dirty="0"/>
              <a:t>Advantages</a:t>
            </a:r>
          </a:p>
          <a:p>
            <a:pPr lvl="2" eaLnBrk="1" hangingPunct="1">
              <a:buClrTx/>
              <a:buFont typeface="Wingdings" panose="05000000000000000000" pitchFamily="2" charset="2"/>
              <a:buChar char="ü"/>
            </a:pPr>
            <a:r>
              <a:rPr lang="en-US" altLang="en-US" sz="2400" dirty="0"/>
              <a:t>Less expensive than mesh</a:t>
            </a:r>
            <a:br>
              <a:rPr lang="en-US" altLang="en-US" sz="2400" dirty="0"/>
            </a:br>
            <a:r>
              <a:rPr lang="en-US" altLang="en-US" sz="2400" dirty="0"/>
              <a:t>(</a:t>
            </a:r>
            <a:r>
              <a:rPr lang="en-US" altLang="en-US" sz="2400" dirty="0">
                <a:solidFill>
                  <a:srgbClr val="CC0000"/>
                </a:solidFill>
              </a:rPr>
              <a:t>1</a:t>
            </a:r>
            <a:r>
              <a:rPr lang="en-US" altLang="en-US" sz="2400" dirty="0"/>
              <a:t> Link + </a:t>
            </a:r>
            <a:r>
              <a:rPr lang="en-US" altLang="en-US" sz="2400" dirty="0">
                <a:solidFill>
                  <a:srgbClr val="CC0000"/>
                </a:solidFill>
              </a:rPr>
              <a:t>1</a:t>
            </a:r>
            <a:r>
              <a:rPr lang="en-US" altLang="en-US" sz="2400" dirty="0"/>
              <a:t> port per device)</a:t>
            </a:r>
          </a:p>
          <a:p>
            <a:pPr lvl="2" eaLnBrk="1" hangingPunct="1">
              <a:buClrTx/>
              <a:buFont typeface="Wingdings" panose="05000000000000000000" pitchFamily="2" charset="2"/>
              <a:buChar char="ü"/>
            </a:pPr>
            <a:r>
              <a:rPr lang="en-US" altLang="en-US" sz="2400" dirty="0"/>
              <a:t>Easy to install and reconfigure</a:t>
            </a:r>
          </a:p>
          <a:p>
            <a:pPr lvl="2" eaLnBrk="1" hangingPunct="1">
              <a:buClrTx/>
              <a:buFont typeface="Wingdings" panose="05000000000000000000" pitchFamily="2" charset="2"/>
              <a:buChar char="ü"/>
            </a:pPr>
            <a:r>
              <a:rPr lang="en-US" altLang="en-US" sz="2400" dirty="0"/>
              <a:t>Less cabling</a:t>
            </a:r>
          </a:p>
          <a:p>
            <a:pPr lvl="2" eaLnBrk="1" hangingPunct="1">
              <a:buClrTx/>
              <a:buFont typeface="Wingdings" panose="05000000000000000000" pitchFamily="2" charset="2"/>
              <a:buChar char="ü"/>
            </a:pPr>
            <a:r>
              <a:rPr lang="en-US" altLang="en-US" sz="2400" dirty="0"/>
              <a:t>Additions, moves, and deletions require one connection</a:t>
            </a:r>
          </a:p>
          <a:p>
            <a:pPr lvl="2" eaLnBrk="1" hangingPunct="1">
              <a:buClrTx/>
              <a:buFont typeface="Wingdings" panose="05000000000000000000" pitchFamily="2" charset="2"/>
              <a:buChar char="ü"/>
            </a:pPr>
            <a:r>
              <a:rPr lang="en-US" altLang="en-US" sz="2400" dirty="0"/>
              <a:t>Robustness : one fail does not affect others</a:t>
            </a:r>
          </a:p>
          <a:p>
            <a:pPr lvl="2" eaLnBrk="1" hangingPunct="1">
              <a:buClrTx/>
              <a:buFont typeface="Wingdings" panose="05000000000000000000" pitchFamily="2" charset="2"/>
              <a:buChar char="ü"/>
            </a:pPr>
            <a:r>
              <a:rPr lang="en-US" altLang="en-US" sz="2400" dirty="0"/>
              <a:t>Easy fault identification and fault isolation</a:t>
            </a:r>
          </a:p>
        </p:txBody>
      </p:sp>
      <p:sp>
        <p:nvSpPr>
          <p:cNvPr id="9"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pic>
        <p:nvPicPr>
          <p:cNvPr id="4506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15401" y="2057401"/>
            <a:ext cx="1190625"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7546181"/>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p:txBody>
          <a:bodyPr/>
          <a:lstStyle/>
          <a:p>
            <a:pPr eaLnBrk="1" hangingPunct="1">
              <a:defRPr/>
            </a:pPr>
            <a:r>
              <a:rPr lang="en-US" dirty="0"/>
              <a:t>Star Topology cont’d</a:t>
            </a:r>
          </a:p>
        </p:txBody>
      </p:sp>
      <p:sp>
        <p:nvSpPr>
          <p:cNvPr id="46083" name="Rectangle 3"/>
          <p:cNvSpPr>
            <a:spLocks noGrp="1" noChangeArrowheads="1"/>
          </p:cNvSpPr>
          <p:nvPr>
            <p:ph idx="1"/>
          </p:nvPr>
        </p:nvSpPr>
        <p:spPr/>
        <p:txBody>
          <a:bodyPr/>
          <a:lstStyle/>
          <a:p>
            <a:pPr eaLnBrk="1" hangingPunct="1">
              <a:buClrTx/>
              <a:buFont typeface="Wingdings" panose="05000000000000000000" pitchFamily="2" charset="2"/>
              <a:buChar char="§"/>
            </a:pPr>
            <a:r>
              <a:rPr lang="en-US" altLang="en-US" dirty="0"/>
              <a:t>Disadvantages</a:t>
            </a:r>
          </a:p>
          <a:p>
            <a:pPr lvl="2" eaLnBrk="1" hangingPunct="1">
              <a:buClrTx/>
              <a:buFont typeface="Wingdings" panose="05000000000000000000" pitchFamily="2" charset="2"/>
              <a:buChar char="ü"/>
            </a:pPr>
            <a:r>
              <a:rPr lang="en-US" altLang="en-US" dirty="0"/>
              <a:t>Dependency of the whole topology on one single point (hub)</a:t>
            </a:r>
          </a:p>
          <a:p>
            <a:pPr lvl="2" eaLnBrk="1" hangingPunct="1">
              <a:buClrTx/>
              <a:buFont typeface="Wingdings" panose="05000000000000000000" pitchFamily="2" charset="2"/>
              <a:buChar char="ü"/>
            </a:pPr>
            <a:r>
              <a:rPr lang="en-US" altLang="en-US" dirty="0"/>
              <a:t>More cabling than other topologies ( ring or bus)</a:t>
            </a:r>
          </a:p>
          <a:p>
            <a:pPr lvl="2" eaLnBrk="1" hangingPunct="1">
              <a:buClrTx/>
              <a:buFont typeface="Wingdings" panose="05000000000000000000" pitchFamily="2" charset="2"/>
              <a:buChar char="§"/>
            </a:pPr>
            <a:endParaRPr lang="en-US" altLang="en-US" dirty="0"/>
          </a:p>
          <a:p>
            <a:pPr eaLnBrk="1" hangingPunct="1">
              <a:buClrTx/>
              <a:buFont typeface="Wingdings" panose="05000000000000000000" pitchFamily="2" charset="2"/>
              <a:buChar char="§"/>
            </a:pPr>
            <a:endParaRPr lang="en-US" altLang="en-US" dirty="0"/>
          </a:p>
        </p:txBody>
      </p:sp>
      <p:sp>
        <p:nvSpPr>
          <p:cNvPr id="9"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pic>
        <p:nvPicPr>
          <p:cNvPr id="4608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4244" y="3865563"/>
            <a:ext cx="1190625"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20642586"/>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p:txBody>
          <a:bodyPr/>
          <a:lstStyle/>
          <a:p>
            <a:pPr eaLnBrk="1" hangingPunct="1">
              <a:defRPr/>
            </a:pPr>
            <a:r>
              <a:rPr lang="en-US" dirty="0"/>
              <a:t>Bus Topology</a:t>
            </a:r>
          </a:p>
        </p:txBody>
      </p:sp>
      <p:sp>
        <p:nvSpPr>
          <p:cNvPr id="47107" name="Rectangle 3"/>
          <p:cNvSpPr>
            <a:spLocks noGrp="1" noChangeArrowheads="1"/>
          </p:cNvSpPr>
          <p:nvPr>
            <p:ph idx="1"/>
          </p:nvPr>
        </p:nvSpPr>
        <p:spPr/>
        <p:txBody>
          <a:bodyPr/>
          <a:lstStyle/>
          <a:p>
            <a:pPr algn="just" eaLnBrk="1" hangingPunct="1">
              <a:buClrTx/>
              <a:buFont typeface="Wingdings" panose="05000000000000000000" pitchFamily="2" charset="2"/>
              <a:buChar char="§"/>
            </a:pPr>
            <a:r>
              <a:rPr lang="en-US" altLang="en-US" dirty="0"/>
              <a:t>It is multipoint </a:t>
            </a:r>
          </a:p>
          <a:p>
            <a:pPr algn="just" eaLnBrk="1" hangingPunct="1">
              <a:buClrTx/>
              <a:buFont typeface="Wingdings" panose="05000000000000000000" pitchFamily="2" charset="2"/>
              <a:buChar char="§"/>
            </a:pPr>
            <a:r>
              <a:rPr lang="en-US" altLang="en-US" dirty="0"/>
              <a:t>One long cable acts as a backbone</a:t>
            </a:r>
          </a:p>
          <a:p>
            <a:pPr algn="just" eaLnBrk="1" hangingPunct="1">
              <a:buClrTx/>
              <a:buFont typeface="Wingdings" panose="05000000000000000000" pitchFamily="2" charset="2"/>
              <a:buChar char="§"/>
            </a:pPr>
            <a:r>
              <a:rPr lang="en-US" altLang="en-US" dirty="0"/>
              <a:t>Used in the design of early LANS, and Ethernet LANs</a:t>
            </a:r>
          </a:p>
          <a:p>
            <a:pPr algn="just" eaLnBrk="1" hangingPunct="1">
              <a:buClrTx/>
              <a:buFont typeface="Wingdings" panose="05000000000000000000" pitchFamily="2" charset="2"/>
              <a:buChar char="§"/>
            </a:pPr>
            <a:endParaRPr lang="en-US" altLang="en-US" dirty="0"/>
          </a:p>
        </p:txBody>
      </p:sp>
      <p:sp>
        <p:nvSpPr>
          <p:cNvPr id="9"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pic>
        <p:nvPicPr>
          <p:cNvPr id="47108"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3826" y="4445000"/>
            <a:ext cx="4752975" cy="157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79841733"/>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lstStyle/>
          <a:p>
            <a:pPr eaLnBrk="1" hangingPunct="1">
              <a:defRPr/>
            </a:pPr>
            <a:r>
              <a:rPr lang="en-US" dirty="0"/>
              <a:t>Bus Topology cont’d</a:t>
            </a:r>
          </a:p>
        </p:txBody>
      </p:sp>
      <p:sp>
        <p:nvSpPr>
          <p:cNvPr id="48131" name="Rectangle 3"/>
          <p:cNvSpPr>
            <a:spLocks noGrp="1" noChangeArrowheads="1"/>
          </p:cNvSpPr>
          <p:nvPr>
            <p:ph idx="1"/>
          </p:nvPr>
        </p:nvSpPr>
        <p:spPr>
          <a:xfrm>
            <a:off x="1981200" y="1600201"/>
            <a:ext cx="8229600" cy="4866861"/>
          </a:xfrm>
        </p:spPr>
        <p:txBody>
          <a:bodyPr/>
          <a:lstStyle/>
          <a:p>
            <a:pPr algn="just" eaLnBrk="1" hangingPunct="1">
              <a:buClrTx/>
              <a:buFont typeface="Wingdings" panose="05000000000000000000" pitchFamily="2" charset="2"/>
              <a:buChar char="§"/>
            </a:pPr>
            <a:r>
              <a:rPr lang="en-US" altLang="en-US" sz="3000" dirty="0"/>
              <a:t>Nodes connect to cable by drop lines and taps</a:t>
            </a:r>
          </a:p>
          <a:p>
            <a:pPr algn="just" eaLnBrk="1" hangingPunct="1">
              <a:buClrTx/>
              <a:buFont typeface="Wingdings" panose="05000000000000000000" pitchFamily="2" charset="2"/>
              <a:buChar char="§"/>
            </a:pPr>
            <a:r>
              <a:rPr lang="en-US" altLang="en-US" sz="3000" dirty="0"/>
              <a:t>Signal travels along the backbone and some of its energy is transformed to heat</a:t>
            </a:r>
          </a:p>
          <a:p>
            <a:pPr algn="just" eaLnBrk="1" hangingPunct="1">
              <a:buClrTx/>
              <a:buFont typeface="Wingdings" panose="05000000000000000000" pitchFamily="2" charset="2"/>
              <a:buChar char="§"/>
            </a:pPr>
            <a:r>
              <a:rPr lang="en-US" altLang="en-US" sz="3000" dirty="0"/>
              <a:t>Limit of number of taps and the distance between taps</a:t>
            </a:r>
          </a:p>
        </p:txBody>
      </p:sp>
      <p:sp>
        <p:nvSpPr>
          <p:cNvPr id="9"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pic>
        <p:nvPicPr>
          <p:cNvPr id="4813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5375" y="4682368"/>
            <a:ext cx="7888288" cy="166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8927753"/>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p:txBody>
          <a:bodyPr/>
          <a:lstStyle/>
          <a:p>
            <a:pPr eaLnBrk="1" hangingPunct="1">
              <a:defRPr/>
            </a:pPr>
            <a:r>
              <a:rPr lang="en-US" dirty="0"/>
              <a:t>Bus Topology cont’d</a:t>
            </a:r>
          </a:p>
        </p:txBody>
      </p:sp>
      <p:sp>
        <p:nvSpPr>
          <p:cNvPr id="49155" name="Rectangle 3"/>
          <p:cNvSpPr>
            <a:spLocks noGrp="1" noChangeArrowheads="1"/>
          </p:cNvSpPr>
          <p:nvPr>
            <p:ph idx="1"/>
          </p:nvPr>
        </p:nvSpPr>
        <p:spPr/>
        <p:txBody>
          <a:bodyPr>
            <a:normAutofit/>
          </a:bodyPr>
          <a:lstStyle/>
          <a:p>
            <a:pPr algn="just" eaLnBrk="1" hangingPunct="1">
              <a:lnSpc>
                <a:spcPct val="90000"/>
              </a:lnSpc>
              <a:buClrTx/>
              <a:buFont typeface="Wingdings" panose="05000000000000000000" pitchFamily="2" charset="2"/>
              <a:buChar char="§"/>
            </a:pPr>
            <a:r>
              <a:rPr lang="en-US" altLang="en-US" dirty="0"/>
              <a:t>Advantages</a:t>
            </a:r>
          </a:p>
          <a:p>
            <a:pPr lvl="2" algn="just" eaLnBrk="1" hangingPunct="1">
              <a:lnSpc>
                <a:spcPct val="90000"/>
              </a:lnSpc>
              <a:buClrTx/>
              <a:buFont typeface="Wingdings" panose="05000000000000000000" pitchFamily="2" charset="2"/>
              <a:buChar char="ü"/>
            </a:pPr>
            <a:r>
              <a:rPr lang="en-US" altLang="en-US" dirty="0"/>
              <a:t>Ease of installation</a:t>
            </a:r>
          </a:p>
          <a:p>
            <a:pPr lvl="2" algn="just" eaLnBrk="1" hangingPunct="1">
              <a:lnSpc>
                <a:spcPct val="90000"/>
              </a:lnSpc>
              <a:buClrTx/>
              <a:buFont typeface="Wingdings" panose="05000000000000000000" pitchFamily="2" charset="2"/>
              <a:buChar char="ü"/>
            </a:pPr>
            <a:r>
              <a:rPr lang="en-US" altLang="en-US" dirty="0"/>
              <a:t>Less cables than mesh, star topologies</a:t>
            </a:r>
          </a:p>
          <a:p>
            <a:pPr algn="just" eaLnBrk="1" hangingPunct="1">
              <a:lnSpc>
                <a:spcPct val="90000"/>
              </a:lnSpc>
              <a:buClrTx/>
              <a:buFont typeface="Wingdings" panose="05000000000000000000" pitchFamily="2" charset="2"/>
              <a:buChar char="§"/>
            </a:pPr>
            <a:r>
              <a:rPr lang="en-US" altLang="en-US" dirty="0"/>
              <a:t>Disadvantages</a:t>
            </a:r>
          </a:p>
          <a:p>
            <a:pPr lvl="2" algn="just" eaLnBrk="1" hangingPunct="1">
              <a:lnSpc>
                <a:spcPct val="90000"/>
              </a:lnSpc>
              <a:buClrTx/>
              <a:buFont typeface="Wingdings" panose="05000000000000000000" pitchFamily="2" charset="2"/>
              <a:buChar char="ü"/>
            </a:pPr>
            <a:r>
              <a:rPr lang="en-US" altLang="en-US" dirty="0"/>
              <a:t>Difficult reconnection and fault isolation ( limit of taps)</a:t>
            </a:r>
          </a:p>
          <a:p>
            <a:pPr lvl="2" algn="just" eaLnBrk="1" hangingPunct="1">
              <a:lnSpc>
                <a:spcPct val="90000"/>
              </a:lnSpc>
              <a:buClrTx/>
              <a:buFont typeface="Wingdings" panose="05000000000000000000" pitchFamily="2" charset="2"/>
              <a:buChar char="ü"/>
            </a:pPr>
            <a:r>
              <a:rPr lang="en-US" altLang="en-US" dirty="0"/>
              <a:t>Adding new device requires modification of backbone</a:t>
            </a:r>
          </a:p>
          <a:p>
            <a:pPr lvl="2" algn="just" eaLnBrk="1" hangingPunct="1">
              <a:lnSpc>
                <a:spcPct val="90000"/>
              </a:lnSpc>
              <a:buClrTx/>
              <a:buFont typeface="Wingdings" panose="05000000000000000000" pitchFamily="2" charset="2"/>
              <a:buChar char="ü"/>
            </a:pPr>
            <a:r>
              <a:rPr lang="en-US" altLang="en-US" dirty="0"/>
              <a:t>Fault or break stops all transmission</a:t>
            </a:r>
          </a:p>
          <a:p>
            <a:pPr lvl="2" algn="just" eaLnBrk="1" hangingPunct="1">
              <a:lnSpc>
                <a:spcPct val="90000"/>
              </a:lnSpc>
              <a:buClrTx/>
              <a:buFont typeface="Wingdings" panose="05000000000000000000" pitchFamily="2" charset="2"/>
              <a:buChar char="ü"/>
            </a:pPr>
            <a:r>
              <a:rPr lang="en-US" altLang="en-US" dirty="0"/>
              <a:t>The damaged area reflects signals back in the direction of the origin, creating noise in both directions</a:t>
            </a:r>
          </a:p>
        </p:txBody>
      </p:sp>
      <p:sp>
        <p:nvSpPr>
          <p:cNvPr id="9"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pic>
        <p:nvPicPr>
          <p:cNvPr id="4915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5312" y="1811339"/>
            <a:ext cx="1752600" cy="94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57266297"/>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p:txBody>
          <a:bodyPr/>
          <a:lstStyle/>
          <a:p>
            <a:pPr eaLnBrk="1" hangingPunct="1">
              <a:defRPr/>
            </a:pPr>
            <a:r>
              <a:rPr lang="en-US" dirty="0"/>
              <a:t>Ring Topology</a:t>
            </a:r>
          </a:p>
        </p:txBody>
      </p:sp>
      <p:sp>
        <p:nvSpPr>
          <p:cNvPr id="50179" name="Rectangle 3"/>
          <p:cNvSpPr>
            <a:spLocks noGrp="1" noChangeArrowheads="1"/>
          </p:cNvSpPr>
          <p:nvPr>
            <p:ph idx="1"/>
          </p:nvPr>
        </p:nvSpPr>
        <p:spPr>
          <a:xfrm>
            <a:off x="1981200" y="1461052"/>
            <a:ext cx="8229600" cy="5059018"/>
          </a:xfrm>
        </p:spPr>
        <p:txBody>
          <a:bodyPr/>
          <a:lstStyle/>
          <a:p>
            <a:pPr algn="just" eaLnBrk="1" hangingPunct="1">
              <a:buClrTx/>
              <a:buFont typeface="Wingdings" panose="05000000000000000000" pitchFamily="2" charset="2"/>
              <a:buChar char="§"/>
            </a:pPr>
            <a:r>
              <a:rPr lang="en-US" altLang="en-US" sz="2400" dirty="0"/>
              <a:t>Each device has dedicated point-to-point connection with only the two devices on either side of it</a:t>
            </a:r>
          </a:p>
          <a:p>
            <a:pPr algn="just" eaLnBrk="1" hangingPunct="1">
              <a:buClrTx/>
              <a:buFont typeface="Wingdings" panose="05000000000000000000" pitchFamily="2" charset="2"/>
              <a:buChar char="§"/>
            </a:pPr>
            <a:r>
              <a:rPr lang="en-US" altLang="en-US" sz="2400" dirty="0"/>
              <a:t>A signal is passed along the ring in one direction from device to device until it reaches its destination</a:t>
            </a:r>
          </a:p>
          <a:p>
            <a:pPr lvl="1" algn="just" eaLnBrk="1" hangingPunct="1">
              <a:buClrTx/>
              <a:buFont typeface="Wingdings" panose="05000000000000000000" pitchFamily="2" charset="2"/>
              <a:buChar char="ü"/>
            </a:pPr>
            <a:r>
              <a:rPr lang="en-US" altLang="en-US" sz="2300" dirty="0"/>
              <a:t>Each devices incorporates a Repeater</a:t>
            </a:r>
          </a:p>
        </p:txBody>
      </p:sp>
      <p:sp>
        <p:nvSpPr>
          <p:cNvPr id="9"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pic>
        <p:nvPicPr>
          <p:cNvPr id="50180" name="Picture 1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2043" y="3865765"/>
            <a:ext cx="6602412" cy="237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77763709"/>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lstStyle/>
          <a:p>
            <a:pPr eaLnBrk="1" hangingPunct="1">
              <a:defRPr/>
            </a:pPr>
            <a:r>
              <a:rPr lang="en-US" dirty="0"/>
              <a:t>Ring Topology cont’d</a:t>
            </a:r>
          </a:p>
        </p:txBody>
      </p:sp>
      <p:sp>
        <p:nvSpPr>
          <p:cNvPr id="51203" name="Rectangle 3"/>
          <p:cNvSpPr>
            <a:spLocks noGrp="1" noChangeArrowheads="1"/>
          </p:cNvSpPr>
          <p:nvPr>
            <p:ph idx="1"/>
          </p:nvPr>
        </p:nvSpPr>
        <p:spPr/>
        <p:txBody>
          <a:bodyPr>
            <a:normAutofit lnSpcReduction="10000"/>
          </a:bodyPr>
          <a:lstStyle/>
          <a:p>
            <a:pPr eaLnBrk="1" hangingPunct="1">
              <a:buClrTx/>
              <a:buFont typeface="Wingdings" panose="05000000000000000000" pitchFamily="2" charset="2"/>
              <a:buChar char="§"/>
            </a:pPr>
            <a:r>
              <a:rPr lang="en-US" altLang="en-US" dirty="0"/>
              <a:t>Advantages</a:t>
            </a:r>
          </a:p>
          <a:p>
            <a:pPr lvl="2" eaLnBrk="1" hangingPunct="1">
              <a:buClrTx/>
              <a:buFont typeface="Wingdings" panose="05000000000000000000" pitchFamily="2" charset="2"/>
              <a:buChar char="ü"/>
            </a:pPr>
            <a:r>
              <a:rPr lang="en-US" altLang="en-US" sz="2100" dirty="0"/>
              <a:t>Easy of install and reconfigure</a:t>
            </a:r>
          </a:p>
          <a:p>
            <a:pPr lvl="2" eaLnBrk="1" hangingPunct="1">
              <a:buClrTx/>
              <a:buFont typeface="Wingdings" panose="05000000000000000000" pitchFamily="2" charset="2"/>
              <a:buChar char="ü"/>
            </a:pPr>
            <a:r>
              <a:rPr lang="en-US" altLang="en-US" sz="2100" dirty="0"/>
              <a:t>Connect to immediate neighbors</a:t>
            </a:r>
          </a:p>
          <a:p>
            <a:pPr lvl="2" eaLnBrk="1" hangingPunct="1">
              <a:buClrTx/>
              <a:buFont typeface="Wingdings" panose="05000000000000000000" pitchFamily="2" charset="2"/>
              <a:buChar char="ü"/>
            </a:pPr>
            <a:r>
              <a:rPr lang="en-US" altLang="en-US" sz="2100" dirty="0"/>
              <a:t>Move two connections for any moving (Add/Delete)</a:t>
            </a:r>
          </a:p>
          <a:p>
            <a:pPr lvl="2" eaLnBrk="1" hangingPunct="1">
              <a:buClrTx/>
              <a:buFont typeface="Wingdings" panose="05000000000000000000" pitchFamily="2" charset="2"/>
              <a:buChar char="ü"/>
            </a:pPr>
            <a:r>
              <a:rPr lang="en-US" altLang="en-US" sz="2100" dirty="0"/>
              <a:t>Easy of fault isolation</a:t>
            </a:r>
          </a:p>
          <a:p>
            <a:pPr eaLnBrk="1" hangingPunct="1">
              <a:buClrTx/>
              <a:buFont typeface="Wingdings" panose="05000000000000000000" pitchFamily="2" charset="2"/>
              <a:buChar char="§"/>
            </a:pPr>
            <a:r>
              <a:rPr lang="en-US" altLang="en-US" dirty="0"/>
              <a:t>Disadvantage</a:t>
            </a:r>
          </a:p>
          <a:p>
            <a:pPr lvl="2" eaLnBrk="1" hangingPunct="1">
              <a:buClrTx/>
              <a:buFont typeface="Wingdings" panose="05000000000000000000" pitchFamily="2" charset="2"/>
              <a:buChar char="ü"/>
            </a:pPr>
            <a:r>
              <a:rPr lang="en-US" altLang="en-US" sz="2100" dirty="0"/>
              <a:t>Unidirectional</a:t>
            </a:r>
          </a:p>
          <a:p>
            <a:pPr lvl="2" eaLnBrk="1" hangingPunct="1">
              <a:buClrTx/>
              <a:buFont typeface="Wingdings" panose="05000000000000000000" pitchFamily="2" charset="2"/>
              <a:buChar char="ü"/>
            </a:pPr>
            <a:r>
              <a:rPr lang="en-US" altLang="en-US" sz="2100" dirty="0"/>
              <a:t>One broken device can disable the entire network. This weakness can be solved by using a dual ring or a switch capable of closing off the break</a:t>
            </a:r>
          </a:p>
        </p:txBody>
      </p:sp>
      <p:sp>
        <p:nvSpPr>
          <p:cNvPr id="9"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pic>
        <p:nvPicPr>
          <p:cNvPr id="5120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15376" y="1494182"/>
            <a:ext cx="1343025" cy="126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37548130"/>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a:xfrm>
            <a:off x="1981200" y="234882"/>
            <a:ext cx="8229600" cy="1143000"/>
          </a:xfrm>
        </p:spPr>
        <p:txBody>
          <a:bodyPr/>
          <a:lstStyle/>
          <a:p>
            <a:pPr eaLnBrk="1" hangingPunct="1">
              <a:defRPr/>
            </a:pPr>
            <a:r>
              <a:rPr lang="en-US" dirty="0"/>
              <a:t>Private Branch Exchange (PBX)</a:t>
            </a:r>
          </a:p>
        </p:txBody>
      </p:sp>
      <p:sp>
        <p:nvSpPr>
          <p:cNvPr id="51203" name="Rectangle 3"/>
          <p:cNvSpPr>
            <a:spLocks noGrp="1" noChangeArrowheads="1"/>
          </p:cNvSpPr>
          <p:nvPr>
            <p:ph idx="1"/>
          </p:nvPr>
        </p:nvSpPr>
        <p:spPr/>
        <p:txBody>
          <a:bodyPr/>
          <a:lstStyle/>
          <a:p>
            <a:pPr algn="just" eaLnBrk="1" hangingPunct="1">
              <a:buClrTx/>
              <a:buFont typeface="Wingdings" panose="05000000000000000000" pitchFamily="2" charset="2"/>
              <a:buChar char="§"/>
            </a:pPr>
            <a:r>
              <a:rPr lang="en-US" altLang="en-US" dirty="0"/>
              <a:t>Common internal phone switching system for medium to large-sized businesses.</a:t>
            </a:r>
          </a:p>
          <a:p>
            <a:pPr algn="just" eaLnBrk="1" hangingPunct="1">
              <a:buClrTx/>
              <a:buFont typeface="Wingdings" panose="05000000000000000000" pitchFamily="2" charset="2"/>
              <a:buChar char="§"/>
            </a:pPr>
            <a:r>
              <a:rPr lang="en-US" altLang="en-US" dirty="0"/>
              <a:t>Provides advanced intelligent features to telephone users.</a:t>
            </a:r>
          </a:p>
          <a:p>
            <a:pPr algn="just" eaLnBrk="1" hangingPunct="1">
              <a:buClrTx/>
              <a:buFont typeface="Wingdings" panose="05000000000000000000" pitchFamily="2" charset="2"/>
              <a:buChar char="§"/>
            </a:pPr>
            <a:r>
              <a:rPr lang="en-US" altLang="en-US" dirty="0"/>
              <a:t>PBX systems collect dialed digits and intelligently decide how to route calls for lowest cost possible.</a:t>
            </a:r>
          </a:p>
        </p:txBody>
      </p:sp>
      <p:sp>
        <p:nvSpPr>
          <p:cNvPr id="9"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1585394117"/>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a:xfrm>
            <a:off x="1981200" y="274638"/>
            <a:ext cx="8229600" cy="653014"/>
          </a:xfrm>
        </p:spPr>
        <p:txBody>
          <a:bodyPr>
            <a:normAutofit/>
          </a:bodyPr>
          <a:lstStyle/>
          <a:p>
            <a:pPr eaLnBrk="1" hangingPunct="1">
              <a:defRPr/>
            </a:pPr>
            <a:r>
              <a:rPr lang="en-US" dirty="0"/>
              <a:t>Advanced Features of PBX</a:t>
            </a:r>
          </a:p>
        </p:txBody>
      </p:sp>
      <p:sp>
        <p:nvSpPr>
          <p:cNvPr id="51203" name="Rectangle 3"/>
          <p:cNvSpPr>
            <a:spLocks noGrp="1" noChangeArrowheads="1"/>
          </p:cNvSpPr>
          <p:nvPr>
            <p:ph idx="1"/>
          </p:nvPr>
        </p:nvSpPr>
        <p:spPr>
          <a:xfrm>
            <a:off x="1683026" y="1017105"/>
            <a:ext cx="8852452" cy="5840895"/>
          </a:xfrm>
        </p:spPr>
        <p:txBody>
          <a:bodyPr>
            <a:normAutofit fontScale="92500"/>
          </a:bodyPr>
          <a:lstStyle/>
          <a:p>
            <a:pPr algn="just" eaLnBrk="1" hangingPunct="1">
              <a:buClrTx/>
              <a:buFont typeface="Wingdings" panose="05000000000000000000" pitchFamily="2" charset="2"/>
              <a:buChar char="§"/>
            </a:pPr>
            <a:r>
              <a:rPr lang="en-US" altLang="en-US" sz="2300" dirty="0"/>
              <a:t>Voice mail:</a:t>
            </a:r>
          </a:p>
          <a:p>
            <a:pPr lvl="1" algn="just" eaLnBrk="1" hangingPunct="1">
              <a:buClrTx/>
              <a:buFont typeface="Wingdings" panose="05000000000000000000" pitchFamily="2" charset="2"/>
              <a:buChar char="ü"/>
            </a:pPr>
            <a:r>
              <a:rPr lang="en-US" altLang="en-US" sz="1800" dirty="0"/>
              <a:t>Routes incoming calls to the best station set (automatic call distribution). It also provides recorded messages and responds to touch-tone requests (automated attendant).</a:t>
            </a:r>
          </a:p>
          <a:p>
            <a:pPr algn="just" eaLnBrk="1" hangingPunct="1">
              <a:buClrTx/>
              <a:buFont typeface="Wingdings" panose="05000000000000000000" pitchFamily="2" charset="2"/>
              <a:buChar char="§"/>
            </a:pPr>
            <a:r>
              <a:rPr lang="en-US" altLang="en-US" sz="2300" dirty="0"/>
              <a:t>Automated Attendant:</a:t>
            </a:r>
          </a:p>
          <a:p>
            <a:pPr lvl="1" algn="just" eaLnBrk="1" hangingPunct="1">
              <a:buClrTx/>
              <a:buFont typeface="Wingdings" panose="05000000000000000000" pitchFamily="2" charset="2"/>
              <a:buChar char="ü"/>
            </a:pPr>
            <a:r>
              <a:rPr lang="en-US" altLang="en-US" sz="1800" dirty="0"/>
              <a:t>Plays a recorded greeting and offers a set of options. In addition, it lets the caller enter an extension directly (touch tone or voice) and bypass an operator.</a:t>
            </a:r>
          </a:p>
          <a:p>
            <a:pPr lvl="1" algn="just" eaLnBrk="1" hangingPunct="1">
              <a:buClrTx/>
              <a:buFont typeface="Wingdings" panose="05000000000000000000" pitchFamily="2" charset="2"/>
              <a:buChar char="ü"/>
            </a:pPr>
            <a:r>
              <a:rPr lang="en-US" altLang="en-US" sz="1800" dirty="0"/>
              <a:t>Also forwards the caller to a human operator if the caller does not have a touch tone phone.</a:t>
            </a:r>
          </a:p>
          <a:p>
            <a:pPr algn="just" eaLnBrk="1" hangingPunct="1">
              <a:buClrTx/>
              <a:buFont typeface="Wingdings" panose="05000000000000000000" pitchFamily="2" charset="2"/>
              <a:buChar char="§"/>
            </a:pPr>
            <a:r>
              <a:rPr lang="en-US" altLang="en-US" sz="2300" dirty="0"/>
              <a:t>Automatic Call Distributor:</a:t>
            </a:r>
          </a:p>
          <a:p>
            <a:pPr lvl="1" algn="just" eaLnBrk="1" hangingPunct="1">
              <a:buClrTx/>
              <a:buFont typeface="Wingdings" panose="05000000000000000000" pitchFamily="2" charset="2"/>
              <a:buChar char="ü"/>
            </a:pPr>
            <a:r>
              <a:rPr lang="en-US" altLang="en-US" sz="1800" dirty="0"/>
              <a:t>Used in systems which receive large volumes of incoming calls.</a:t>
            </a:r>
          </a:p>
          <a:p>
            <a:pPr lvl="1" algn="just" eaLnBrk="1" hangingPunct="1">
              <a:buClrTx/>
              <a:buFont typeface="Wingdings" panose="05000000000000000000" pitchFamily="2" charset="2"/>
              <a:buChar char="ü"/>
            </a:pPr>
            <a:r>
              <a:rPr lang="en-US" altLang="en-US" sz="1800" dirty="0"/>
              <a:t>Works to prioritise calls in order of their calling sequence and accords you the chance to be attended to at your own time, based on the skills of the agent.</a:t>
            </a:r>
          </a:p>
          <a:p>
            <a:pPr algn="just" eaLnBrk="1" hangingPunct="1">
              <a:buClrTx/>
              <a:buFont typeface="Wingdings" panose="05000000000000000000" pitchFamily="2" charset="2"/>
              <a:buChar char="§"/>
            </a:pPr>
            <a:r>
              <a:rPr lang="en-US" altLang="en-US" sz="2300" dirty="0"/>
              <a:t>Interactive Voice Response:</a:t>
            </a:r>
          </a:p>
          <a:p>
            <a:pPr lvl="1" algn="just" eaLnBrk="1" hangingPunct="1">
              <a:buClrTx/>
              <a:buFont typeface="Wingdings" panose="05000000000000000000" pitchFamily="2" charset="2"/>
              <a:buChar char="ü"/>
            </a:pPr>
            <a:r>
              <a:rPr lang="en-US" altLang="en-US" sz="1800" dirty="0"/>
              <a:t>Allows the caller to access or modify database information. For example, a customer can call their bank to inquire about an account balance.</a:t>
            </a:r>
          </a:p>
        </p:txBody>
      </p:sp>
      <p:sp>
        <p:nvSpPr>
          <p:cNvPr id="9"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3155801473"/>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TotalTime>
  <Words>4201</Words>
  <Application>Microsoft Office PowerPoint</Application>
  <PresentationFormat>Widescreen</PresentationFormat>
  <Paragraphs>605</Paragraphs>
  <Slides>85</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85</vt:i4>
      </vt:variant>
    </vt:vector>
  </HeadingPairs>
  <TitlesOfParts>
    <vt:vector size="96" baseType="lpstr">
      <vt:lpstr>Arial</vt:lpstr>
      <vt:lpstr>Calibri</vt:lpstr>
      <vt:lpstr>Courier New</vt:lpstr>
      <vt:lpstr>Lato</vt:lpstr>
      <vt:lpstr>Tahoma</vt:lpstr>
      <vt:lpstr>Times New Roman</vt:lpstr>
      <vt:lpstr>Trebuchet MS</vt:lpstr>
      <vt:lpstr>Wingdings</vt:lpstr>
      <vt:lpstr>Wingdings 3</vt:lpstr>
      <vt:lpstr>Facet</vt:lpstr>
      <vt:lpstr>Bitmap Image</vt:lpstr>
      <vt:lpstr>TOPIC 1:  Uses of Computer Networks</vt:lpstr>
      <vt:lpstr>Learning Outcomes</vt:lpstr>
      <vt:lpstr>Computer Networks Definition</vt:lpstr>
      <vt:lpstr>Uses: Business Applications</vt:lpstr>
      <vt:lpstr>Uses: Home Applications</vt:lpstr>
      <vt:lpstr>Uses: Mobile Applications</vt:lpstr>
      <vt:lpstr>Uses: Mobile Applications</vt:lpstr>
      <vt:lpstr>Uses: Mobile Applications</vt:lpstr>
      <vt:lpstr>Uses: Mobile Applications</vt:lpstr>
      <vt:lpstr>Uses: Social or Personal Life</vt:lpstr>
      <vt:lpstr>TOPIC 2:  Telecommunication Systems</vt:lpstr>
      <vt:lpstr>Learning Outcomes</vt:lpstr>
      <vt:lpstr>Communication</vt:lpstr>
      <vt:lpstr>Telecommunication</vt:lpstr>
      <vt:lpstr>Components and Functions of Telecommunication Systems</vt:lpstr>
      <vt:lpstr>Data Transmission Modes</vt:lpstr>
      <vt:lpstr>Data Transmission Modes Cont’d</vt:lpstr>
      <vt:lpstr>Data Transmission Modes Cont’d</vt:lpstr>
      <vt:lpstr>Communication Networks</vt:lpstr>
      <vt:lpstr>Analogue Vs. Digital Signals</vt:lpstr>
      <vt:lpstr>Analogue Vs. Digital Signals</vt:lpstr>
      <vt:lpstr>Computer Network Components </vt:lpstr>
      <vt:lpstr>Computer Network Components Hardware</vt:lpstr>
      <vt:lpstr>Computer Network Components</vt:lpstr>
      <vt:lpstr>Network Hardware Components</vt:lpstr>
      <vt:lpstr>Network Hardware Components</vt:lpstr>
      <vt:lpstr>Network Hardware Components </vt:lpstr>
      <vt:lpstr>Network Hardware Components </vt:lpstr>
      <vt:lpstr>Network Hardware Components </vt:lpstr>
      <vt:lpstr>  Network Connecting Devices  </vt:lpstr>
      <vt:lpstr>Network Connecting Devices</vt:lpstr>
      <vt:lpstr>Network Connecting Devices</vt:lpstr>
      <vt:lpstr>Network Connecting Devices</vt:lpstr>
      <vt:lpstr>Network Connecting Devices Types of Switches </vt:lpstr>
      <vt:lpstr>Network Connecting Devices Types of Switches </vt:lpstr>
      <vt:lpstr>Network Connecting Devices Types of Switches </vt:lpstr>
      <vt:lpstr>Network Connecting Devices Types of Switches </vt:lpstr>
      <vt:lpstr>Network Connecting Devices Repeaters </vt:lpstr>
      <vt:lpstr>Network Connecting Devices Repeaters Why are Repeaters needed? </vt:lpstr>
      <vt:lpstr>Network Connecting Devices Repeaters Types of Repeaters  </vt:lpstr>
      <vt:lpstr>Network Connecting Devices Repeaters Types of Repeaters  </vt:lpstr>
      <vt:lpstr>Network Connecting Devices Repeaters </vt:lpstr>
      <vt:lpstr>Network Connecting Devices     Gateways  </vt:lpstr>
      <vt:lpstr>Network Connecting Devices     Gateways  </vt:lpstr>
      <vt:lpstr>Network Connecting Devices    Gateways Features   </vt:lpstr>
      <vt:lpstr>Network Connecting Devices    Gateways Types   </vt:lpstr>
      <vt:lpstr>Network Connecting Devices    Gateways Types   </vt:lpstr>
      <vt:lpstr>Network Connecting Devices    Gateways Types   </vt:lpstr>
      <vt:lpstr>Network Connecting Devices    Bridges  </vt:lpstr>
      <vt:lpstr>Network Connecting Devices    Gateways Types   </vt:lpstr>
      <vt:lpstr>Network Connecting Devices    Bridge Types   </vt:lpstr>
      <vt:lpstr>Network Connecting Devices    Bridge Types   </vt:lpstr>
      <vt:lpstr>Network Connecting Devices    Bridge Uses   </vt:lpstr>
      <vt:lpstr>Network Connecting Devices Socket </vt:lpstr>
      <vt:lpstr>Network Connecting Devices Socket Types </vt:lpstr>
      <vt:lpstr>Network Interface Card (NIC) </vt:lpstr>
      <vt:lpstr>Network Interface Card (NIC) Purpose </vt:lpstr>
      <vt:lpstr>Network Interface Card (NIC) Types </vt:lpstr>
      <vt:lpstr>Network Interface Card (NIC) Types </vt:lpstr>
      <vt:lpstr>Network Interface Card (NIC) Types </vt:lpstr>
      <vt:lpstr>Network Interface Card (NIC) Advantages </vt:lpstr>
      <vt:lpstr>Network Interface Card (NIC) Disadvantages </vt:lpstr>
      <vt:lpstr>Network Interface Card (NIC) </vt:lpstr>
      <vt:lpstr>Network Hardware: Hubs</vt:lpstr>
      <vt:lpstr>Networks Hardware: Switches</vt:lpstr>
      <vt:lpstr>Networks Hardware: Routers</vt:lpstr>
      <vt:lpstr>Networks Hardware: Repeaters</vt:lpstr>
      <vt:lpstr>Networks Hardware: Modems</vt:lpstr>
      <vt:lpstr>Networks Hardware: Gateways</vt:lpstr>
      <vt:lpstr>Networks Topologies</vt:lpstr>
      <vt:lpstr>Mesh Topology</vt:lpstr>
      <vt:lpstr>Mesh Topology cont’d</vt:lpstr>
      <vt:lpstr>Mesh Topology cont’d</vt:lpstr>
      <vt:lpstr>Mesh Topology cont’d</vt:lpstr>
      <vt:lpstr>Mesh Topology cont’d</vt:lpstr>
      <vt:lpstr>Star Topology</vt:lpstr>
      <vt:lpstr>Star Topology cont’d</vt:lpstr>
      <vt:lpstr>Star Topology cont’d</vt:lpstr>
      <vt:lpstr>Bus Topology</vt:lpstr>
      <vt:lpstr>Bus Topology cont’d</vt:lpstr>
      <vt:lpstr>Bus Topology cont’d</vt:lpstr>
      <vt:lpstr>Ring Topology</vt:lpstr>
      <vt:lpstr>Ring Topology cont’d</vt:lpstr>
      <vt:lpstr>Private Branch Exchange (PBX)</vt:lpstr>
      <vt:lpstr>Advanced Features of PBX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1:  Uses of Computer Networks</dc:title>
  <dc:creator>user</dc:creator>
  <cp:lastModifiedBy>user</cp:lastModifiedBy>
  <cp:revision>2</cp:revision>
  <dcterms:created xsi:type="dcterms:W3CDTF">2026-05-29T11:56:28Z</dcterms:created>
  <dcterms:modified xsi:type="dcterms:W3CDTF">2026-05-29T13:20:54Z</dcterms:modified>
</cp:coreProperties>
</file>