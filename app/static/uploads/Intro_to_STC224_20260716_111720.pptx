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7"/>
  </p:notesMasterIdLst>
  <p:sldIdLst>
    <p:sldId id="256" r:id="rId2"/>
    <p:sldId id="274" r:id="rId3"/>
    <p:sldId id="257" r:id="rId4"/>
    <p:sldId id="258" r:id="rId5"/>
    <p:sldId id="259" r:id="rId6"/>
    <p:sldId id="260" r:id="rId7"/>
    <p:sldId id="261" r:id="rId8"/>
    <p:sldId id="262" r:id="rId9"/>
    <p:sldId id="263" r:id="rId10"/>
    <p:sldId id="264" r:id="rId11"/>
    <p:sldId id="265" r:id="rId12"/>
    <p:sldId id="275" r:id="rId13"/>
    <p:sldId id="276" r:id="rId14"/>
    <p:sldId id="277" r:id="rId15"/>
    <p:sldId id="278" r:id="rId16"/>
    <p:sldId id="266" r:id="rId17"/>
    <p:sldId id="267" r:id="rId18"/>
    <p:sldId id="268" r:id="rId19"/>
    <p:sldId id="269" r:id="rId20"/>
    <p:sldId id="270" r:id="rId21"/>
    <p:sldId id="271" r:id="rId22"/>
    <p:sldId id="272" r:id="rId23"/>
    <p:sldId id="273" r:id="rId24"/>
    <p:sldId id="280" r:id="rId25"/>
    <p:sldId id="279" r:id="rId2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773" autoAdjust="0"/>
    <p:restoredTop sz="87011" autoAdjust="0"/>
  </p:normalViewPr>
  <p:slideViewPr>
    <p:cSldViewPr>
      <p:cViewPr varScale="1">
        <p:scale>
          <a:sx n="64" d="100"/>
          <a:sy n="64" d="100"/>
        </p:scale>
        <p:origin x="-1392" y="-90"/>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91E3D3C-348D-40F8-9E62-E2B7417FC735}" type="datetimeFigureOut">
              <a:rPr lang="en-GB" smtClean="0"/>
              <a:t>08/11/2021</a:t>
            </a:fld>
            <a:endParaRPr lang="en-GB"/>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C80A891-C197-4F6F-97EA-859058D80264}" type="slidenum">
              <a:rPr lang="en-GB" smtClean="0"/>
              <a:t>‹#›</a:t>
            </a:fld>
            <a:endParaRPr lang="en-GB"/>
          </a:p>
        </p:txBody>
      </p:sp>
    </p:spTree>
    <p:extLst>
      <p:ext uri="{BB962C8B-B14F-4D97-AF65-F5344CB8AC3E}">
        <p14:creationId xmlns:p14="http://schemas.microsoft.com/office/powerpoint/2010/main" val="14812747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1C80A891-C197-4F6F-97EA-859058D80264}" type="slidenum">
              <a:rPr lang="en-GB" smtClean="0"/>
              <a:t>1</a:t>
            </a:fld>
            <a:endParaRPr lang="en-GB"/>
          </a:p>
        </p:txBody>
      </p:sp>
    </p:spTree>
    <p:extLst>
      <p:ext uri="{BB962C8B-B14F-4D97-AF65-F5344CB8AC3E}">
        <p14:creationId xmlns:p14="http://schemas.microsoft.com/office/powerpoint/2010/main" val="30283343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1C80A891-C197-4F6F-97EA-859058D80264}" type="slidenum">
              <a:rPr lang="en-GB" smtClean="0"/>
              <a:t>4</a:t>
            </a:fld>
            <a:endParaRPr lang="en-GB"/>
          </a:p>
        </p:txBody>
      </p:sp>
    </p:spTree>
    <p:extLst>
      <p:ext uri="{BB962C8B-B14F-4D97-AF65-F5344CB8AC3E}">
        <p14:creationId xmlns:p14="http://schemas.microsoft.com/office/powerpoint/2010/main" val="267495268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1" kern="1200" dirty="0" smtClean="0">
                <a:solidFill>
                  <a:schemeClr val="tx1"/>
                </a:solidFill>
                <a:effectLst/>
                <a:latin typeface="+mn-lt"/>
                <a:ea typeface="+mn-ea"/>
                <a:cs typeface="+mn-cs"/>
              </a:rPr>
              <a:t>A frequency chart.</a:t>
            </a:r>
            <a:endParaRPr lang="en-GB" dirty="0"/>
          </a:p>
        </p:txBody>
      </p:sp>
      <p:sp>
        <p:nvSpPr>
          <p:cNvPr id="4" name="Slide Number Placeholder 3"/>
          <p:cNvSpPr>
            <a:spLocks noGrp="1"/>
          </p:cNvSpPr>
          <p:nvPr>
            <p:ph type="sldNum" sz="quarter" idx="10"/>
          </p:nvPr>
        </p:nvSpPr>
        <p:spPr/>
        <p:txBody>
          <a:bodyPr/>
          <a:lstStyle/>
          <a:p>
            <a:fld id="{1C80A891-C197-4F6F-97EA-859058D80264}" type="slidenum">
              <a:rPr lang="en-GB" smtClean="0"/>
              <a:t>5</a:t>
            </a:fld>
            <a:endParaRPr lang="en-GB"/>
          </a:p>
        </p:txBody>
      </p:sp>
    </p:spTree>
    <p:extLst>
      <p:ext uri="{BB962C8B-B14F-4D97-AF65-F5344CB8AC3E}">
        <p14:creationId xmlns:p14="http://schemas.microsoft.com/office/powerpoint/2010/main" val="209818119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kern="1200" dirty="0" smtClean="0">
                <a:solidFill>
                  <a:schemeClr val="tx1"/>
                </a:solidFill>
                <a:effectLst/>
                <a:latin typeface="+mn-lt"/>
                <a:ea typeface="+mn-ea"/>
                <a:cs typeface="+mn-cs"/>
              </a:rPr>
              <a:t>Descriptive statistics, in short, help describe and understand the features of a specific data set by giving short summaries about the sample and measures of the data.</a:t>
            </a:r>
            <a:endParaRPr lang="en-GB" dirty="0"/>
          </a:p>
        </p:txBody>
      </p:sp>
      <p:sp>
        <p:nvSpPr>
          <p:cNvPr id="4" name="Slide Number Placeholder 3"/>
          <p:cNvSpPr>
            <a:spLocks noGrp="1"/>
          </p:cNvSpPr>
          <p:nvPr>
            <p:ph type="sldNum" sz="quarter" idx="10"/>
          </p:nvPr>
        </p:nvSpPr>
        <p:spPr/>
        <p:txBody>
          <a:bodyPr/>
          <a:lstStyle/>
          <a:p>
            <a:fld id="{1C80A891-C197-4F6F-97EA-859058D80264}" type="slidenum">
              <a:rPr lang="en-GB" smtClean="0"/>
              <a:t>7</a:t>
            </a:fld>
            <a:endParaRPr lang="en-GB"/>
          </a:p>
        </p:txBody>
      </p:sp>
    </p:spTree>
    <p:extLst>
      <p:ext uri="{BB962C8B-B14F-4D97-AF65-F5344CB8AC3E}">
        <p14:creationId xmlns:p14="http://schemas.microsoft.com/office/powerpoint/2010/main" val="9522167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base"/>
            <a:r>
              <a:rPr lang="en-GB" sz="1200" b="0" i="0" u="none" strike="noStrike" kern="1200" dirty="0" smtClean="0">
                <a:solidFill>
                  <a:schemeClr val="tx1"/>
                </a:solidFill>
                <a:effectLst/>
                <a:latin typeface="+mn-lt"/>
                <a:ea typeface="+mn-ea"/>
                <a:cs typeface="+mn-cs"/>
              </a:rPr>
              <a:t>Frequency Distribution Tables.</a:t>
            </a:r>
            <a:endParaRPr lang="en-GB" sz="1200" b="0" i="0" kern="1200" dirty="0" smtClean="0">
              <a:solidFill>
                <a:schemeClr val="tx1"/>
              </a:solidFill>
              <a:effectLst/>
              <a:latin typeface="+mn-lt"/>
              <a:ea typeface="+mn-ea"/>
              <a:cs typeface="+mn-cs"/>
            </a:endParaRPr>
          </a:p>
          <a:p>
            <a:pPr fontAlgn="base"/>
            <a:r>
              <a:rPr lang="en-GB" sz="1200" b="0" i="0" u="none" strike="noStrike" kern="1200" dirty="0" smtClean="0">
                <a:solidFill>
                  <a:schemeClr val="tx1"/>
                </a:solidFill>
                <a:effectLst/>
                <a:latin typeface="+mn-lt"/>
                <a:ea typeface="+mn-ea"/>
                <a:cs typeface="+mn-cs"/>
              </a:rPr>
              <a:t>Bar Charts.</a:t>
            </a:r>
            <a:endParaRPr lang="en-GB" sz="1200" b="0" i="0" kern="1200" dirty="0" smtClean="0">
              <a:solidFill>
                <a:schemeClr val="tx1"/>
              </a:solidFill>
              <a:effectLst/>
              <a:latin typeface="+mn-lt"/>
              <a:ea typeface="+mn-ea"/>
              <a:cs typeface="+mn-cs"/>
            </a:endParaRPr>
          </a:p>
          <a:p>
            <a:pPr fontAlgn="base"/>
            <a:r>
              <a:rPr lang="en-GB" sz="1200" b="0" i="0" u="none" strike="noStrike" kern="1200" dirty="0" smtClean="0">
                <a:solidFill>
                  <a:schemeClr val="tx1"/>
                </a:solidFill>
                <a:effectLst/>
                <a:latin typeface="+mn-lt"/>
                <a:ea typeface="+mn-ea"/>
                <a:cs typeface="+mn-cs"/>
              </a:rPr>
              <a:t>Histograms.</a:t>
            </a:r>
            <a:endParaRPr lang="en-GB" sz="1200" b="0" i="0" kern="1200" dirty="0" smtClean="0">
              <a:solidFill>
                <a:schemeClr val="tx1"/>
              </a:solidFill>
              <a:effectLst/>
              <a:latin typeface="+mn-lt"/>
              <a:ea typeface="+mn-ea"/>
              <a:cs typeface="+mn-cs"/>
            </a:endParaRPr>
          </a:p>
          <a:p>
            <a:pPr fontAlgn="base"/>
            <a:r>
              <a:rPr lang="en-GB" sz="1200" b="0" i="0" u="none" strike="noStrike" kern="1200" dirty="0" smtClean="0">
                <a:solidFill>
                  <a:schemeClr val="tx1"/>
                </a:solidFill>
                <a:effectLst/>
                <a:latin typeface="+mn-lt"/>
                <a:ea typeface="+mn-ea"/>
                <a:cs typeface="+mn-cs"/>
              </a:rPr>
              <a:t>Frequency Polygons.</a:t>
            </a:r>
            <a:endParaRPr lang="en-GB" sz="1200" b="0" i="0" kern="1200" dirty="0" smtClean="0">
              <a:solidFill>
                <a:schemeClr val="tx1"/>
              </a:solidFill>
              <a:effectLst/>
              <a:latin typeface="+mn-lt"/>
              <a:ea typeface="+mn-ea"/>
              <a:cs typeface="+mn-cs"/>
            </a:endParaRPr>
          </a:p>
          <a:p>
            <a:pPr fontAlgn="base"/>
            <a:r>
              <a:rPr lang="en-GB" sz="1200" b="0" i="0" u="none" strike="noStrike" kern="1200" dirty="0" smtClean="0">
                <a:solidFill>
                  <a:schemeClr val="tx1"/>
                </a:solidFill>
                <a:effectLst/>
                <a:latin typeface="+mn-lt"/>
                <a:ea typeface="+mn-ea"/>
                <a:cs typeface="+mn-cs"/>
              </a:rPr>
              <a:t>Pie Charts.</a:t>
            </a:r>
            <a:endParaRPr lang="en-GB" sz="1200" b="0" i="0" kern="1200" dirty="0" smtClean="0">
              <a:solidFill>
                <a:schemeClr val="tx1"/>
              </a:solidFill>
              <a:effectLst/>
              <a:latin typeface="+mn-lt"/>
              <a:ea typeface="+mn-ea"/>
              <a:cs typeface="+mn-cs"/>
            </a:endParaRPr>
          </a:p>
          <a:p>
            <a:endParaRPr lang="en-GB" dirty="0"/>
          </a:p>
        </p:txBody>
      </p:sp>
      <p:sp>
        <p:nvSpPr>
          <p:cNvPr id="4" name="Slide Number Placeholder 3"/>
          <p:cNvSpPr>
            <a:spLocks noGrp="1"/>
          </p:cNvSpPr>
          <p:nvPr>
            <p:ph type="sldNum" sz="quarter" idx="10"/>
          </p:nvPr>
        </p:nvSpPr>
        <p:spPr/>
        <p:txBody>
          <a:bodyPr/>
          <a:lstStyle/>
          <a:p>
            <a:fld id="{1C80A891-C197-4F6F-97EA-859058D80264}" type="slidenum">
              <a:rPr lang="en-GB" smtClean="0"/>
              <a:t>8</a:t>
            </a:fld>
            <a:endParaRPr lang="en-GB"/>
          </a:p>
        </p:txBody>
      </p:sp>
    </p:spTree>
    <p:extLst>
      <p:ext uri="{BB962C8B-B14F-4D97-AF65-F5344CB8AC3E}">
        <p14:creationId xmlns:p14="http://schemas.microsoft.com/office/powerpoint/2010/main" val="38942493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kern="1200" dirty="0" smtClean="0">
                <a:solidFill>
                  <a:schemeClr val="tx1"/>
                </a:solidFill>
                <a:effectLst/>
                <a:latin typeface="+mn-lt"/>
                <a:ea typeface="+mn-ea"/>
                <a:cs typeface="+mn-cs"/>
              </a:rPr>
              <a:t>Keep in mind that in each group, only the first value, or the lower limit, of the interval is included up until the value before the upper limit, or the last value, of the group. Meaning, while 0 is </a:t>
            </a:r>
            <a:r>
              <a:rPr lang="en-GB" sz="1200" b="1" i="0" kern="1200" dirty="0" smtClean="0">
                <a:solidFill>
                  <a:schemeClr val="tx1"/>
                </a:solidFill>
                <a:effectLst/>
                <a:latin typeface="+mn-lt"/>
                <a:ea typeface="+mn-ea"/>
                <a:cs typeface="+mn-cs"/>
              </a:rPr>
              <a:t>included in</a:t>
            </a:r>
            <a:r>
              <a:rPr lang="en-GB" sz="1200" b="0" i="0" kern="1200" dirty="0" smtClean="0">
                <a:solidFill>
                  <a:schemeClr val="tx1"/>
                </a:solidFill>
                <a:effectLst/>
                <a:latin typeface="+mn-lt"/>
                <a:ea typeface="+mn-ea"/>
                <a:cs typeface="+mn-cs"/>
              </a:rPr>
              <a:t> the interval 0 through 10, 10 is not included. Instead, 9 is included, meaning there are 10 values in each group because we start counting at 0.</a:t>
            </a:r>
            <a:endParaRPr lang="en-GB" dirty="0"/>
          </a:p>
        </p:txBody>
      </p:sp>
      <p:sp>
        <p:nvSpPr>
          <p:cNvPr id="4" name="Slide Number Placeholder 3"/>
          <p:cNvSpPr>
            <a:spLocks noGrp="1"/>
          </p:cNvSpPr>
          <p:nvPr>
            <p:ph type="sldNum" sz="quarter" idx="10"/>
          </p:nvPr>
        </p:nvSpPr>
        <p:spPr/>
        <p:txBody>
          <a:bodyPr/>
          <a:lstStyle/>
          <a:p>
            <a:fld id="{1C80A891-C197-4F6F-97EA-859058D80264}" type="slidenum">
              <a:rPr lang="en-GB" smtClean="0"/>
              <a:t>14</a:t>
            </a:fld>
            <a:endParaRPr lang="en-GB"/>
          </a:p>
        </p:txBody>
      </p:sp>
    </p:spTree>
    <p:extLst>
      <p:ext uri="{BB962C8B-B14F-4D97-AF65-F5344CB8AC3E}">
        <p14:creationId xmlns:p14="http://schemas.microsoft.com/office/powerpoint/2010/main" val="42403499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1C80A891-C197-4F6F-97EA-859058D80264}" type="slidenum">
              <a:rPr lang="en-GB" smtClean="0"/>
              <a:t>15</a:t>
            </a:fld>
            <a:endParaRPr lang="en-GB"/>
          </a:p>
        </p:txBody>
      </p:sp>
    </p:spTree>
    <p:extLst>
      <p:ext uri="{BB962C8B-B14F-4D97-AF65-F5344CB8AC3E}">
        <p14:creationId xmlns:p14="http://schemas.microsoft.com/office/powerpoint/2010/main" val="365392527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048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171450" indent="-171450" eaLnBrk="1" hangingPunct="1">
              <a:spcBef>
                <a:spcPct val="0"/>
              </a:spcBef>
              <a:buFontTx/>
              <a:buChar char="•"/>
            </a:pPr>
            <a:r>
              <a:rPr lang="en-GB" altLang="en-US" dirty="0" smtClean="0"/>
              <a:t>If a data set has more than two values that occur with the same greatest frequency, each value is used as the mode, and the data set is said to be multimodal</a:t>
            </a:r>
          </a:p>
          <a:p>
            <a:pPr marL="171450" indent="-171450" eaLnBrk="1" hangingPunct="1">
              <a:spcBef>
                <a:spcPct val="0"/>
              </a:spcBef>
              <a:buFontTx/>
              <a:buChar char="•"/>
            </a:pPr>
            <a:r>
              <a:rPr lang="en-GB" altLang="en-US" dirty="0" smtClean="0"/>
              <a:t>When no data value occurs more than once, the data set is said to have </a:t>
            </a:r>
            <a:r>
              <a:rPr lang="en-GB" altLang="en-US" i="1" dirty="0" smtClean="0"/>
              <a:t>no mode</a:t>
            </a:r>
          </a:p>
          <a:p>
            <a:pPr marL="171450" indent="-171450" eaLnBrk="1" hangingPunct="1">
              <a:spcBef>
                <a:spcPct val="0"/>
              </a:spcBef>
              <a:buFontTx/>
              <a:buChar char="•"/>
            </a:pPr>
            <a:r>
              <a:rPr lang="en-GB" altLang="en-US" dirty="0" smtClean="0"/>
              <a:t>For grouped data, a class with the largest frequency is referred to as the modal class. Often the midpoint of the modal class is used as the mode rather than the class boundaries</a:t>
            </a:r>
            <a:endParaRPr lang="en-US" altLang="en-US" dirty="0" smtClean="0"/>
          </a:p>
        </p:txBody>
      </p:sp>
      <p:sp>
        <p:nvSpPr>
          <p:cNvPr id="2048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fld id="{68C202B1-8987-4A9A-92AE-3E553E0D3409}" type="slidenum">
              <a:rPr lang="en-US" altLang="en-US"/>
              <a:pPr/>
              <a:t>16</a:t>
            </a:fld>
            <a:endParaRPr lang="en-US"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53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171450" indent="-171450" eaLnBrk="1" hangingPunct="1">
              <a:spcBef>
                <a:spcPct val="0"/>
              </a:spcBef>
              <a:buFontTx/>
              <a:buChar char="•"/>
            </a:pPr>
            <a:endParaRPr lang="en-US" altLang="en-US" smtClean="0"/>
          </a:p>
        </p:txBody>
      </p:sp>
      <p:sp>
        <p:nvSpPr>
          <p:cNvPr id="2253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fld id="{81DB30DA-B066-4103-9603-19BC54BCB5BE}" type="slidenum">
              <a:rPr lang="en-US" altLang="en-US"/>
              <a:pPr/>
              <a:t>17</a:t>
            </a:fld>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GB"/>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GB"/>
          </a:p>
        </p:txBody>
      </p:sp>
      <p:sp>
        <p:nvSpPr>
          <p:cNvPr id="4" name="Date Placeholder 3"/>
          <p:cNvSpPr>
            <a:spLocks noGrp="1"/>
          </p:cNvSpPr>
          <p:nvPr>
            <p:ph type="dt" sz="half" idx="10"/>
          </p:nvPr>
        </p:nvSpPr>
        <p:spPr/>
        <p:txBody>
          <a:bodyPr/>
          <a:lstStyle/>
          <a:p>
            <a:fld id="{2BCCBC91-E735-4776-A2D4-4DDCF031CE2F}" type="datetimeFigureOut">
              <a:rPr lang="en-GB" smtClean="0"/>
              <a:t>08/11/2021</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28F1377-34E2-4D54-8AC9-F4217C20E0B9}" type="slidenum">
              <a:rPr lang="en-GB" smtClean="0"/>
              <a:t>‹#›</a:t>
            </a:fld>
            <a:endParaRPr lang="en-GB"/>
          </a:p>
        </p:txBody>
      </p:sp>
    </p:spTree>
    <p:extLst>
      <p:ext uri="{BB962C8B-B14F-4D97-AF65-F5344CB8AC3E}">
        <p14:creationId xmlns:p14="http://schemas.microsoft.com/office/powerpoint/2010/main" val="30201381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2BCCBC91-E735-4776-A2D4-4DDCF031CE2F}" type="datetimeFigureOut">
              <a:rPr lang="en-GB" smtClean="0"/>
              <a:t>08/11/2021</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28F1377-34E2-4D54-8AC9-F4217C20E0B9}" type="slidenum">
              <a:rPr lang="en-GB" smtClean="0"/>
              <a:t>‹#›</a:t>
            </a:fld>
            <a:endParaRPr lang="en-GB"/>
          </a:p>
        </p:txBody>
      </p:sp>
    </p:spTree>
    <p:extLst>
      <p:ext uri="{BB962C8B-B14F-4D97-AF65-F5344CB8AC3E}">
        <p14:creationId xmlns:p14="http://schemas.microsoft.com/office/powerpoint/2010/main" val="21815059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2BCCBC91-E735-4776-A2D4-4DDCF031CE2F}" type="datetimeFigureOut">
              <a:rPr lang="en-GB" smtClean="0"/>
              <a:t>08/11/2021</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28F1377-34E2-4D54-8AC9-F4217C20E0B9}" type="slidenum">
              <a:rPr lang="en-GB" smtClean="0"/>
              <a:t>‹#›</a:t>
            </a:fld>
            <a:endParaRPr lang="en-GB"/>
          </a:p>
        </p:txBody>
      </p:sp>
    </p:spTree>
    <p:extLst>
      <p:ext uri="{BB962C8B-B14F-4D97-AF65-F5344CB8AC3E}">
        <p14:creationId xmlns:p14="http://schemas.microsoft.com/office/powerpoint/2010/main" val="42062309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Date Placeholder 4"/>
          <p:cNvSpPr>
            <a:spLocks noGrp="1"/>
          </p:cNvSpPr>
          <p:nvPr>
            <p:ph type="dt" sz="half" idx="10"/>
          </p:nvPr>
        </p:nvSpPr>
        <p:spPr/>
        <p:txBody>
          <a:bodyPr/>
          <a:lstStyle/>
          <a:p>
            <a:fld id="{2BCCBC91-E735-4776-A2D4-4DDCF031CE2F}" type="datetimeFigureOut">
              <a:rPr lang="en-GB" smtClean="0"/>
              <a:t>08/11/2021</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128F1377-34E2-4D54-8AC9-F4217C20E0B9}" type="slidenum">
              <a:rPr lang="en-GB" smtClean="0"/>
              <a:t>‹#›</a:t>
            </a:fld>
            <a:endParaRPr lang="en-GB"/>
          </a:p>
        </p:txBody>
      </p:sp>
    </p:spTree>
    <p:extLst>
      <p:ext uri="{BB962C8B-B14F-4D97-AF65-F5344CB8AC3E}">
        <p14:creationId xmlns:p14="http://schemas.microsoft.com/office/powerpoint/2010/main" val="23369414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7" name="Date Placeholder 6"/>
          <p:cNvSpPr>
            <a:spLocks noGrp="1"/>
          </p:cNvSpPr>
          <p:nvPr>
            <p:ph type="dt" sz="half" idx="10"/>
          </p:nvPr>
        </p:nvSpPr>
        <p:spPr/>
        <p:txBody>
          <a:bodyPr/>
          <a:lstStyle/>
          <a:p>
            <a:fld id="{2BCCBC91-E735-4776-A2D4-4DDCF031CE2F}" type="datetimeFigureOut">
              <a:rPr lang="en-GB" smtClean="0"/>
              <a:t>08/11/2021</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128F1377-34E2-4D54-8AC9-F4217C20E0B9}" type="slidenum">
              <a:rPr lang="en-GB" smtClean="0"/>
              <a:t>‹#›</a:t>
            </a:fld>
            <a:endParaRPr lang="en-GB"/>
          </a:p>
        </p:txBody>
      </p:sp>
    </p:spTree>
    <p:extLst>
      <p:ext uri="{BB962C8B-B14F-4D97-AF65-F5344CB8AC3E}">
        <p14:creationId xmlns:p14="http://schemas.microsoft.com/office/powerpoint/2010/main" val="24749337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Date Placeholder 2"/>
          <p:cNvSpPr>
            <a:spLocks noGrp="1"/>
          </p:cNvSpPr>
          <p:nvPr>
            <p:ph type="dt" sz="half" idx="10"/>
          </p:nvPr>
        </p:nvSpPr>
        <p:spPr/>
        <p:txBody>
          <a:bodyPr/>
          <a:lstStyle/>
          <a:p>
            <a:fld id="{2BCCBC91-E735-4776-A2D4-4DDCF031CE2F}" type="datetimeFigureOut">
              <a:rPr lang="en-GB" smtClean="0"/>
              <a:t>08/11/2021</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128F1377-34E2-4D54-8AC9-F4217C20E0B9}" type="slidenum">
              <a:rPr lang="en-GB" smtClean="0"/>
              <a:t>‹#›</a:t>
            </a:fld>
            <a:endParaRPr lang="en-GB"/>
          </a:p>
        </p:txBody>
      </p:sp>
    </p:spTree>
    <p:extLst>
      <p:ext uri="{BB962C8B-B14F-4D97-AF65-F5344CB8AC3E}">
        <p14:creationId xmlns:p14="http://schemas.microsoft.com/office/powerpoint/2010/main" val="38853003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BCCBC91-E735-4776-A2D4-4DDCF031CE2F}" type="datetimeFigureOut">
              <a:rPr lang="en-GB" smtClean="0"/>
              <a:t>08/11/2021</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128F1377-34E2-4D54-8AC9-F4217C20E0B9}" type="slidenum">
              <a:rPr lang="en-GB" smtClean="0"/>
              <a:t>‹#›</a:t>
            </a:fld>
            <a:endParaRPr lang="en-GB"/>
          </a:p>
        </p:txBody>
      </p:sp>
    </p:spTree>
    <p:extLst>
      <p:ext uri="{BB962C8B-B14F-4D97-AF65-F5344CB8AC3E}">
        <p14:creationId xmlns:p14="http://schemas.microsoft.com/office/powerpoint/2010/main" val="27168297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2BCCBC91-E735-4776-A2D4-4DDCF031CE2F}" type="datetimeFigureOut">
              <a:rPr lang="en-GB" smtClean="0"/>
              <a:t>08/11/2021</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128F1377-34E2-4D54-8AC9-F4217C20E0B9}" type="slidenum">
              <a:rPr lang="en-GB" smtClean="0"/>
              <a:t>‹#›</a:t>
            </a:fld>
            <a:endParaRPr lang="en-GB"/>
          </a:p>
        </p:txBody>
      </p:sp>
    </p:spTree>
    <p:extLst>
      <p:ext uri="{BB962C8B-B14F-4D97-AF65-F5344CB8AC3E}">
        <p14:creationId xmlns:p14="http://schemas.microsoft.com/office/powerpoint/2010/main" val="36688689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2BCCBC91-E735-4776-A2D4-4DDCF031CE2F}" type="datetimeFigureOut">
              <a:rPr lang="en-GB" smtClean="0"/>
              <a:t>08/11/2021</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128F1377-34E2-4D54-8AC9-F4217C20E0B9}" type="slidenum">
              <a:rPr lang="en-GB" smtClean="0"/>
              <a:t>‹#›</a:t>
            </a:fld>
            <a:endParaRPr lang="en-GB"/>
          </a:p>
        </p:txBody>
      </p:sp>
    </p:spTree>
    <p:extLst>
      <p:ext uri="{BB962C8B-B14F-4D97-AF65-F5344CB8AC3E}">
        <p14:creationId xmlns:p14="http://schemas.microsoft.com/office/powerpoint/2010/main" val="23484383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2BCCBC91-E735-4776-A2D4-4DDCF031CE2F}" type="datetimeFigureOut">
              <a:rPr lang="en-GB" smtClean="0"/>
              <a:t>08/11/2021</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28F1377-34E2-4D54-8AC9-F4217C20E0B9}" type="slidenum">
              <a:rPr lang="en-GB" smtClean="0"/>
              <a:t>‹#›</a:t>
            </a:fld>
            <a:endParaRPr lang="en-GB"/>
          </a:p>
        </p:txBody>
      </p:sp>
    </p:spTree>
    <p:extLst>
      <p:ext uri="{BB962C8B-B14F-4D97-AF65-F5344CB8AC3E}">
        <p14:creationId xmlns:p14="http://schemas.microsoft.com/office/powerpoint/2010/main" val="37901057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GB"/>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2BCCBC91-E735-4776-A2D4-4DDCF031CE2F}" type="datetimeFigureOut">
              <a:rPr lang="en-GB" smtClean="0"/>
              <a:t>08/11/2021</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28F1377-34E2-4D54-8AC9-F4217C20E0B9}" type="slidenum">
              <a:rPr lang="en-GB" smtClean="0"/>
              <a:t>‹#›</a:t>
            </a:fld>
            <a:endParaRPr lang="en-GB"/>
          </a:p>
        </p:txBody>
      </p:sp>
    </p:spTree>
    <p:extLst>
      <p:ext uri="{BB962C8B-B14F-4D97-AF65-F5344CB8AC3E}">
        <p14:creationId xmlns:p14="http://schemas.microsoft.com/office/powerpoint/2010/main" val="35691459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GB"/>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BCCBC91-E735-4776-A2D4-4DDCF031CE2F}" type="datetimeFigureOut">
              <a:rPr lang="en-GB" smtClean="0"/>
              <a:t>08/11/2021</a:t>
            </a:fld>
            <a:endParaRPr lang="en-GB"/>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28F1377-34E2-4D54-8AC9-F4217C20E0B9}" type="slidenum">
              <a:rPr lang="en-GB" smtClean="0"/>
              <a:t>‹#›</a:t>
            </a:fld>
            <a:endParaRPr lang="en-GB"/>
          </a:p>
        </p:txBody>
      </p:sp>
    </p:spTree>
    <p:extLst>
      <p:ext uri="{BB962C8B-B14F-4D97-AF65-F5344CB8AC3E}">
        <p14:creationId xmlns:p14="http://schemas.microsoft.com/office/powerpoint/2010/main" val="390717416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GB" dirty="0"/>
              <a:t>B</a:t>
            </a:r>
            <a:r>
              <a:rPr lang="en-GB" dirty="0" smtClean="0"/>
              <a:t>asics of statistics</a:t>
            </a:r>
            <a:endParaRPr lang="en-GB" dirty="0"/>
          </a:p>
        </p:txBody>
      </p:sp>
      <p:sp>
        <p:nvSpPr>
          <p:cNvPr id="3" name="Subtitle 2"/>
          <p:cNvSpPr>
            <a:spLocks noGrp="1"/>
          </p:cNvSpPr>
          <p:nvPr>
            <p:ph type="subTitle" idx="1"/>
          </p:nvPr>
        </p:nvSpPr>
        <p:spPr>
          <a:xfrm>
            <a:off x="1353851" y="3717032"/>
            <a:ext cx="6400800" cy="1752600"/>
          </a:xfrm>
        </p:spPr>
        <p:txBody>
          <a:bodyPr/>
          <a:lstStyle/>
          <a:p>
            <a:r>
              <a:rPr lang="en-GB" dirty="0" smtClean="0"/>
              <a:t>STC224</a:t>
            </a:r>
            <a:endParaRPr lang="en-GB" dirty="0"/>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6022" y="4293096"/>
            <a:ext cx="8676458" cy="2495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66517753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22114"/>
          </a:xfrm>
        </p:spPr>
        <p:txBody>
          <a:bodyPr/>
          <a:lstStyle/>
          <a:p>
            <a:r>
              <a:rPr lang="en-GB" dirty="0" smtClean="0"/>
              <a:t>Introduction </a:t>
            </a:r>
            <a:endParaRPr lang="en-GB" dirty="0"/>
          </a:p>
        </p:txBody>
      </p:sp>
      <p:sp>
        <p:nvSpPr>
          <p:cNvPr id="3" name="Content Placeholder 2"/>
          <p:cNvSpPr>
            <a:spLocks noGrp="1"/>
          </p:cNvSpPr>
          <p:nvPr>
            <p:ph idx="1"/>
          </p:nvPr>
        </p:nvSpPr>
        <p:spPr>
          <a:xfrm>
            <a:off x="457200" y="1268760"/>
            <a:ext cx="8229600" cy="5256584"/>
          </a:xfrm>
        </p:spPr>
        <p:txBody>
          <a:bodyPr>
            <a:normAutofit fontScale="77500" lnSpcReduction="20000"/>
          </a:bodyPr>
          <a:lstStyle/>
          <a:p>
            <a:r>
              <a:rPr lang="en-GB" dirty="0"/>
              <a:t>Statistics is the science concerned with developing and studying methods for collecting, </a:t>
            </a:r>
            <a:r>
              <a:rPr lang="en-GB" dirty="0" err="1"/>
              <a:t>analyzing</a:t>
            </a:r>
            <a:r>
              <a:rPr lang="en-GB" dirty="0"/>
              <a:t>, interpreting and presenting empirical data.</a:t>
            </a:r>
          </a:p>
          <a:p>
            <a:r>
              <a:rPr lang="en-GB" dirty="0"/>
              <a:t>Two fundamental ideas in the field of statistics are uncertainty and variation. </a:t>
            </a:r>
          </a:p>
          <a:p>
            <a:r>
              <a:rPr lang="en-GB" dirty="0"/>
              <a:t>There are many situations that we encounter in science (or more generally in life) in which the outcome is uncertain. </a:t>
            </a:r>
          </a:p>
          <a:p>
            <a:r>
              <a:rPr lang="en-GB" dirty="0"/>
              <a:t>In some cases the uncertainty is because the outcome in question is not determined yet (e.g., we may not know whether it will rain tomorrow) while in other cases the uncertainty is because although the outcome has been determined already we are not aware of it (e.g., we may not know whether we passed a particular exam).</a:t>
            </a:r>
          </a:p>
          <a:p>
            <a:endParaRPr lang="en-GB" dirty="0"/>
          </a:p>
        </p:txBody>
      </p:sp>
    </p:spTree>
    <p:extLst>
      <p:ext uri="{BB962C8B-B14F-4D97-AF65-F5344CB8AC3E}">
        <p14:creationId xmlns:p14="http://schemas.microsoft.com/office/powerpoint/2010/main" val="272096446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GB" dirty="0"/>
              <a:t>What is </a:t>
            </a:r>
            <a:r>
              <a:rPr lang="en-GB" dirty="0" err="1"/>
              <a:t>Univariate</a:t>
            </a:r>
            <a:r>
              <a:rPr lang="en-GB" dirty="0"/>
              <a:t> Analysis?</a:t>
            </a:r>
          </a:p>
        </p:txBody>
      </p:sp>
      <p:sp>
        <p:nvSpPr>
          <p:cNvPr id="3" name="Content Placeholder 2"/>
          <p:cNvSpPr>
            <a:spLocks noGrp="1"/>
          </p:cNvSpPr>
          <p:nvPr>
            <p:ph idx="1"/>
          </p:nvPr>
        </p:nvSpPr>
        <p:spPr/>
        <p:txBody>
          <a:bodyPr>
            <a:normAutofit/>
          </a:bodyPr>
          <a:lstStyle/>
          <a:p>
            <a:pPr lvl="1" fontAlgn="base"/>
            <a:r>
              <a:rPr lang="en-GB" b="1" dirty="0" err="1" smtClean="0"/>
              <a:t>Univariate</a:t>
            </a:r>
            <a:r>
              <a:rPr lang="en-GB" b="1" dirty="0" smtClean="0"/>
              <a:t> </a:t>
            </a:r>
            <a:r>
              <a:rPr lang="en-GB" b="1" dirty="0"/>
              <a:t>analysis</a:t>
            </a:r>
            <a:r>
              <a:rPr lang="en-GB" dirty="0"/>
              <a:t> is the simplest form of </a:t>
            </a:r>
            <a:r>
              <a:rPr lang="en-GB" dirty="0" err="1"/>
              <a:t>analyzing</a:t>
            </a:r>
            <a:r>
              <a:rPr lang="en-GB" dirty="0"/>
              <a:t> data. </a:t>
            </a:r>
            <a:endParaRPr lang="en-GB" dirty="0" smtClean="0"/>
          </a:p>
          <a:p>
            <a:pPr lvl="1" fontAlgn="base"/>
            <a:r>
              <a:rPr lang="en-GB" dirty="0" smtClean="0"/>
              <a:t>“</a:t>
            </a:r>
            <a:r>
              <a:rPr lang="en-GB" dirty="0" err="1"/>
              <a:t>Uni</a:t>
            </a:r>
            <a:r>
              <a:rPr lang="en-GB" dirty="0"/>
              <a:t>” means “one”, so in other words your data has only one variable. </a:t>
            </a:r>
            <a:endParaRPr lang="en-GB" dirty="0" smtClean="0"/>
          </a:p>
          <a:p>
            <a:pPr lvl="1" fontAlgn="base"/>
            <a:r>
              <a:rPr lang="en-GB" dirty="0" smtClean="0"/>
              <a:t>It </a:t>
            </a:r>
            <a:r>
              <a:rPr lang="en-GB" dirty="0"/>
              <a:t>doesn’t deal with causes or relationships (unlike regression ) and it’s major purpose is to describe</a:t>
            </a:r>
            <a:r>
              <a:rPr lang="en-GB" dirty="0" smtClean="0"/>
              <a:t>;</a:t>
            </a:r>
          </a:p>
          <a:p>
            <a:pPr lvl="1" fontAlgn="base"/>
            <a:r>
              <a:rPr lang="en-GB" dirty="0" smtClean="0"/>
              <a:t>It </a:t>
            </a:r>
            <a:r>
              <a:rPr lang="en-GB" dirty="0"/>
              <a:t>takes data, summarizes that data and finds patterns in the data.</a:t>
            </a:r>
          </a:p>
          <a:p>
            <a:endParaRPr lang="en-GB" dirty="0"/>
          </a:p>
        </p:txBody>
      </p:sp>
    </p:spTree>
    <p:extLst>
      <p:ext uri="{BB962C8B-B14F-4D97-AF65-F5344CB8AC3E}">
        <p14:creationId xmlns:p14="http://schemas.microsoft.com/office/powerpoint/2010/main" val="365906909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smtClean="0"/>
              <a:t>What is a variable in </a:t>
            </a:r>
            <a:r>
              <a:rPr lang="en-GB" dirty="0" err="1" smtClean="0"/>
              <a:t>Univariate</a:t>
            </a:r>
            <a:r>
              <a:rPr lang="en-GB" dirty="0" smtClean="0"/>
              <a:t> Analysis?</a:t>
            </a:r>
            <a:endParaRPr lang="en-GB" dirty="0"/>
          </a:p>
        </p:txBody>
      </p:sp>
      <p:sp>
        <p:nvSpPr>
          <p:cNvPr id="3" name="Content Placeholder 2"/>
          <p:cNvSpPr>
            <a:spLocks noGrp="1"/>
          </p:cNvSpPr>
          <p:nvPr>
            <p:ph idx="1"/>
          </p:nvPr>
        </p:nvSpPr>
        <p:spPr/>
        <p:txBody>
          <a:bodyPr>
            <a:normAutofit fontScale="92500"/>
          </a:bodyPr>
          <a:lstStyle/>
          <a:p>
            <a:pPr fontAlgn="base"/>
            <a:r>
              <a:rPr lang="en-GB" dirty="0" smtClean="0"/>
              <a:t>A</a:t>
            </a:r>
            <a:r>
              <a:rPr lang="en-GB" dirty="0"/>
              <a:t> variable in </a:t>
            </a:r>
            <a:r>
              <a:rPr lang="en-GB" dirty="0" err="1"/>
              <a:t>univariate</a:t>
            </a:r>
            <a:r>
              <a:rPr lang="en-GB" dirty="0"/>
              <a:t> analysis is just a condition or subset that your data falls into. </a:t>
            </a:r>
            <a:endParaRPr lang="en-GB" dirty="0" smtClean="0"/>
          </a:p>
          <a:p>
            <a:pPr fontAlgn="base"/>
            <a:r>
              <a:rPr lang="en-GB" dirty="0" smtClean="0"/>
              <a:t>You </a:t>
            </a:r>
            <a:r>
              <a:rPr lang="en-GB" dirty="0"/>
              <a:t>can think of it as a “category.” </a:t>
            </a:r>
            <a:endParaRPr lang="en-GB" dirty="0" smtClean="0"/>
          </a:p>
          <a:p>
            <a:pPr fontAlgn="base"/>
            <a:r>
              <a:rPr lang="en-GB" dirty="0" smtClean="0"/>
              <a:t>For </a:t>
            </a:r>
            <a:r>
              <a:rPr lang="en-GB" dirty="0"/>
              <a:t>example, the analysis might look at a variable of “age” or it might look at “height” or “weight”. </a:t>
            </a:r>
            <a:endParaRPr lang="en-GB" dirty="0" smtClean="0"/>
          </a:p>
          <a:p>
            <a:pPr fontAlgn="base"/>
            <a:r>
              <a:rPr lang="en-GB" dirty="0" smtClean="0"/>
              <a:t>However</a:t>
            </a:r>
            <a:r>
              <a:rPr lang="en-GB" dirty="0"/>
              <a:t>, it doesn’t look at more than one variable at a time otherwise it becomes </a:t>
            </a:r>
            <a:r>
              <a:rPr lang="en-GB" b="1" dirty="0"/>
              <a:t>bivariate analysis</a:t>
            </a:r>
            <a:r>
              <a:rPr lang="en-GB" dirty="0"/>
              <a:t> (or in the case of 3 or more variables it would be called </a:t>
            </a:r>
            <a:r>
              <a:rPr lang="en-GB" b="1" dirty="0"/>
              <a:t>multivariate analysis</a:t>
            </a:r>
            <a:r>
              <a:rPr lang="en-GB" dirty="0"/>
              <a:t>).</a:t>
            </a:r>
          </a:p>
          <a:p>
            <a:endParaRPr lang="en-GB" dirty="0"/>
          </a:p>
        </p:txBody>
      </p:sp>
    </p:spTree>
    <p:extLst>
      <p:ext uri="{BB962C8B-B14F-4D97-AF65-F5344CB8AC3E}">
        <p14:creationId xmlns:p14="http://schemas.microsoft.com/office/powerpoint/2010/main" val="324213927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 </a:t>
            </a:r>
            <a:r>
              <a:rPr lang="en-GB" dirty="0" err="1" smtClean="0"/>
              <a:t>Univariate</a:t>
            </a:r>
            <a:r>
              <a:rPr lang="en-GB" dirty="0" smtClean="0"/>
              <a:t> Analysis cont’d</a:t>
            </a:r>
            <a:endParaRPr lang="en-GB" dirty="0"/>
          </a:p>
        </p:txBody>
      </p:sp>
      <p:sp>
        <p:nvSpPr>
          <p:cNvPr id="3" name="Content Placeholder 2"/>
          <p:cNvSpPr>
            <a:spLocks noGrp="1"/>
          </p:cNvSpPr>
          <p:nvPr>
            <p:ph idx="1"/>
          </p:nvPr>
        </p:nvSpPr>
        <p:spPr/>
        <p:txBody>
          <a:bodyPr/>
          <a:lstStyle/>
          <a:p>
            <a:pPr fontAlgn="base"/>
            <a:r>
              <a:rPr lang="en-GB" dirty="0"/>
              <a:t>The following frequency distribution table shows one variable (left column) and the count in the right column.</a:t>
            </a:r>
          </a:p>
          <a:p>
            <a:r>
              <a:rPr lang="en-GB" dirty="0"/>
              <a:t/>
            </a:r>
            <a:br>
              <a:rPr lang="en-GB" dirty="0"/>
            </a:br>
            <a:endParaRPr lang="en-GB" dirty="0"/>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91680" y="3140968"/>
            <a:ext cx="5040560" cy="3600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90000439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 </a:t>
            </a:r>
            <a:r>
              <a:rPr lang="en-GB" dirty="0" err="1" smtClean="0"/>
              <a:t>Univariate</a:t>
            </a:r>
            <a:r>
              <a:rPr lang="en-GB" dirty="0" smtClean="0"/>
              <a:t> Analysis cont’d</a:t>
            </a:r>
            <a:endParaRPr lang="en-GB" dirty="0"/>
          </a:p>
        </p:txBody>
      </p:sp>
      <p:sp>
        <p:nvSpPr>
          <p:cNvPr id="3" name="Content Placeholder 2"/>
          <p:cNvSpPr>
            <a:spLocks noGrp="1"/>
          </p:cNvSpPr>
          <p:nvPr>
            <p:ph idx="1"/>
          </p:nvPr>
        </p:nvSpPr>
        <p:spPr/>
        <p:txBody>
          <a:bodyPr/>
          <a:lstStyle/>
          <a:p>
            <a:r>
              <a:rPr lang="en-GB" dirty="0"/>
              <a:t>You could have more than one variable in the above chart. </a:t>
            </a:r>
            <a:endParaRPr lang="en-GB" dirty="0" smtClean="0"/>
          </a:p>
          <a:p>
            <a:r>
              <a:rPr lang="en-GB" dirty="0" smtClean="0"/>
              <a:t>For </a:t>
            </a:r>
            <a:r>
              <a:rPr lang="en-GB" dirty="0"/>
              <a:t>example, you could add the variable “Location</a:t>
            </a:r>
            <a:r>
              <a:rPr lang="en-GB" dirty="0" smtClean="0"/>
              <a:t>” or </a:t>
            </a:r>
            <a:r>
              <a:rPr lang="en-GB" dirty="0"/>
              <a:t>“Age” or something else, and make a separate column for location or age. </a:t>
            </a:r>
            <a:endParaRPr lang="en-GB" dirty="0" smtClean="0"/>
          </a:p>
          <a:p>
            <a:r>
              <a:rPr lang="en-GB" dirty="0" smtClean="0"/>
              <a:t>In </a:t>
            </a:r>
            <a:r>
              <a:rPr lang="en-GB" dirty="0"/>
              <a:t>that case you would have </a:t>
            </a:r>
            <a:r>
              <a:rPr lang="en-GB" b="1" dirty="0"/>
              <a:t>bivariate data </a:t>
            </a:r>
            <a:r>
              <a:rPr lang="en-GB" dirty="0"/>
              <a:t>because you would then have two variables.</a:t>
            </a:r>
          </a:p>
        </p:txBody>
      </p:sp>
    </p:spTree>
    <p:extLst>
      <p:ext uri="{BB962C8B-B14F-4D97-AF65-F5344CB8AC3E}">
        <p14:creationId xmlns:p14="http://schemas.microsoft.com/office/powerpoint/2010/main" val="101958717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16632"/>
            <a:ext cx="8229600" cy="922114"/>
          </a:xfrm>
        </p:spPr>
        <p:txBody>
          <a:bodyPr>
            <a:normAutofit/>
          </a:bodyPr>
          <a:lstStyle/>
          <a:p>
            <a:pPr fontAlgn="base"/>
            <a:r>
              <a:rPr lang="en-GB" dirty="0" err="1" smtClean="0"/>
              <a:t>Univariate</a:t>
            </a:r>
            <a:r>
              <a:rPr lang="en-GB" dirty="0" smtClean="0"/>
              <a:t> Descriptive Statistics</a:t>
            </a:r>
            <a:endParaRPr lang="en-GB" dirty="0"/>
          </a:p>
        </p:txBody>
      </p:sp>
      <p:sp>
        <p:nvSpPr>
          <p:cNvPr id="3" name="Content Placeholder 2"/>
          <p:cNvSpPr>
            <a:spLocks noGrp="1"/>
          </p:cNvSpPr>
          <p:nvPr>
            <p:ph idx="1"/>
          </p:nvPr>
        </p:nvSpPr>
        <p:spPr>
          <a:xfrm>
            <a:off x="457200" y="1052736"/>
            <a:ext cx="8229600" cy="5472608"/>
          </a:xfrm>
        </p:spPr>
        <p:txBody>
          <a:bodyPr>
            <a:normAutofit lnSpcReduction="10000"/>
          </a:bodyPr>
          <a:lstStyle/>
          <a:p>
            <a:pPr fontAlgn="base"/>
            <a:r>
              <a:rPr lang="en-GB" dirty="0" smtClean="0"/>
              <a:t>Some </a:t>
            </a:r>
            <a:r>
              <a:rPr lang="en-GB" dirty="0"/>
              <a:t>ways you can describe patterns found in </a:t>
            </a:r>
            <a:r>
              <a:rPr lang="en-GB" dirty="0" err="1"/>
              <a:t>univariate</a:t>
            </a:r>
            <a:r>
              <a:rPr lang="en-GB" dirty="0"/>
              <a:t> data include central tendency (mean, mode and </a:t>
            </a:r>
            <a:r>
              <a:rPr lang="en-GB" dirty="0" smtClean="0"/>
              <a:t>median) and</a:t>
            </a:r>
            <a:r>
              <a:rPr lang="en-GB" dirty="0"/>
              <a:t> dispersion: range , variance, maximum, minimum, </a:t>
            </a:r>
            <a:r>
              <a:rPr lang="en-GB" dirty="0" smtClean="0"/>
              <a:t>quartiles (including </a:t>
            </a:r>
            <a:r>
              <a:rPr lang="en-GB" dirty="0"/>
              <a:t>the interquartile range), and standard deviation</a:t>
            </a:r>
            <a:r>
              <a:rPr lang="en-GB" dirty="0" smtClean="0"/>
              <a:t>.</a:t>
            </a:r>
          </a:p>
          <a:p>
            <a:pPr>
              <a:buFont typeface="Wingdings" pitchFamily="2" charset="2"/>
              <a:buChar char="q"/>
            </a:pPr>
            <a:r>
              <a:rPr lang="en-GB" altLang="en-US" sz="2400" dirty="0" smtClean="0">
                <a:solidFill>
                  <a:schemeClr val="tx2"/>
                </a:solidFill>
              </a:rPr>
              <a:t>In short, basic descriptive statistics include:</a:t>
            </a:r>
          </a:p>
          <a:p>
            <a:pPr lvl="1">
              <a:buFont typeface="Wingdings" pitchFamily="2" charset="2"/>
              <a:buChar char="ü"/>
            </a:pPr>
            <a:r>
              <a:rPr lang="en-GB" altLang="en-US" sz="2400" dirty="0" smtClean="0"/>
              <a:t>Measures of central tendency: mean, median, mode, midrange. </a:t>
            </a:r>
          </a:p>
          <a:p>
            <a:pPr lvl="1">
              <a:buFont typeface="Wingdings" pitchFamily="2" charset="2"/>
              <a:buChar char="ü"/>
            </a:pPr>
            <a:r>
              <a:rPr lang="en-GB" altLang="en-US" sz="2400" dirty="0" smtClean="0"/>
              <a:t>Measures of dispersion: range, standard deviation, variance.</a:t>
            </a:r>
          </a:p>
          <a:p>
            <a:pPr fontAlgn="base"/>
            <a:endParaRPr lang="en-GB" dirty="0"/>
          </a:p>
        </p:txBody>
      </p:sp>
    </p:spTree>
    <p:extLst>
      <p:ext uri="{BB962C8B-B14F-4D97-AF65-F5344CB8AC3E}">
        <p14:creationId xmlns:p14="http://schemas.microsoft.com/office/powerpoint/2010/main" val="78530110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err="1" smtClean="0"/>
              <a:t>Univariate</a:t>
            </a:r>
            <a:r>
              <a:rPr lang="en-GB" dirty="0" smtClean="0"/>
              <a:t> Descriptive Statistics cont’d</a:t>
            </a:r>
            <a:endParaRPr lang="en-GB" dirty="0"/>
          </a:p>
        </p:txBody>
      </p:sp>
      <p:sp>
        <p:nvSpPr>
          <p:cNvPr id="3" name="Content Placeholder 2"/>
          <p:cNvSpPr>
            <a:spLocks noGrp="1"/>
          </p:cNvSpPr>
          <p:nvPr>
            <p:ph idx="1"/>
          </p:nvPr>
        </p:nvSpPr>
        <p:spPr/>
        <p:txBody>
          <a:bodyPr/>
          <a:lstStyle/>
          <a:p>
            <a:r>
              <a:rPr lang="en-GB" dirty="0" smtClean="0"/>
              <a:t>There are several other options </a:t>
            </a:r>
            <a:r>
              <a:rPr lang="en-GB" dirty="0"/>
              <a:t>for describing data with </a:t>
            </a:r>
            <a:r>
              <a:rPr lang="en-GB" dirty="0" err="1"/>
              <a:t>univariate</a:t>
            </a:r>
            <a:r>
              <a:rPr lang="en-GB" dirty="0"/>
              <a:t> </a:t>
            </a:r>
            <a:r>
              <a:rPr lang="en-GB" dirty="0" smtClean="0"/>
              <a:t>data </a:t>
            </a:r>
            <a:r>
              <a:rPr lang="en-GB" dirty="0"/>
              <a:t>(using Descriptive </a:t>
            </a:r>
            <a:r>
              <a:rPr lang="en-GB" dirty="0" smtClean="0"/>
              <a:t>Statistics):</a:t>
            </a:r>
          </a:p>
          <a:p>
            <a:pPr lvl="1"/>
            <a:r>
              <a:rPr lang="en-GB" altLang="en-US" sz="3200" dirty="0" smtClean="0"/>
              <a:t>Frequencies and Distribution</a:t>
            </a:r>
          </a:p>
          <a:p>
            <a:pPr lvl="1"/>
            <a:r>
              <a:rPr lang="en-GB" altLang="en-US" sz="3200" dirty="0" smtClean="0"/>
              <a:t>Other basic </a:t>
            </a:r>
            <a:r>
              <a:rPr lang="en-GB" altLang="en-US" sz="3200" dirty="0" err="1" smtClean="0"/>
              <a:t>Univariate</a:t>
            </a:r>
            <a:r>
              <a:rPr lang="en-GB" altLang="en-US" sz="3200" dirty="0" smtClean="0"/>
              <a:t> procedures</a:t>
            </a:r>
          </a:p>
          <a:p>
            <a:pPr lvl="2">
              <a:buFont typeface="Wingdings" pitchFamily="2" charset="2"/>
              <a:buChar char="ü"/>
            </a:pPr>
            <a:r>
              <a:rPr lang="en-GB" altLang="en-US" sz="3200" dirty="0" smtClean="0"/>
              <a:t>Explore, Crosstab</a:t>
            </a:r>
          </a:p>
        </p:txBody>
      </p:sp>
    </p:spTree>
    <p:extLst>
      <p:ext uri="{BB962C8B-B14F-4D97-AF65-F5344CB8AC3E}">
        <p14:creationId xmlns:p14="http://schemas.microsoft.com/office/powerpoint/2010/main" val="370273687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188640"/>
            <a:ext cx="8229600" cy="706090"/>
          </a:xfrm>
        </p:spPr>
        <p:txBody>
          <a:bodyPr>
            <a:normAutofit fontScale="90000"/>
          </a:bodyPr>
          <a:lstStyle/>
          <a:p>
            <a:pPr>
              <a:defRPr/>
            </a:pPr>
            <a:r>
              <a:rPr lang="en-US" dirty="0"/>
              <a:t>Central Tendency…</a:t>
            </a:r>
          </a:p>
        </p:txBody>
      </p:sp>
      <p:sp>
        <p:nvSpPr>
          <p:cNvPr id="16387" name="Content Placeholder 2"/>
          <p:cNvSpPr>
            <a:spLocks noGrp="1"/>
          </p:cNvSpPr>
          <p:nvPr>
            <p:ph sz="quarter" idx="1"/>
          </p:nvPr>
        </p:nvSpPr>
        <p:spPr>
          <a:xfrm>
            <a:off x="301625" y="908720"/>
            <a:ext cx="8504238" cy="5760639"/>
          </a:xfrm>
        </p:spPr>
        <p:txBody>
          <a:bodyPr>
            <a:normAutofit/>
          </a:bodyPr>
          <a:lstStyle/>
          <a:p>
            <a:r>
              <a:rPr lang="en-US" altLang="en-US" sz="2000" b="1" dirty="0" smtClean="0">
                <a:solidFill>
                  <a:schemeClr val="tx2"/>
                </a:solidFill>
              </a:rPr>
              <a:t>Basic Descriptive Statistics </a:t>
            </a:r>
          </a:p>
          <a:p>
            <a:pPr lvl="1"/>
            <a:r>
              <a:rPr lang="en-US" altLang="en-US" sz="1500" b="1" dirty="0" smtClean="0"/>
              <a:t>Measures of Central Tendency</a:t>
            </a:r>
          </a:p>
          <a:p>
            <a:pPr lvl="2"/>
            <a:r>
              <a:rPr lang="en-GB" altLang="en-US" sz="1800" dirty="0" smtClean="0">
                <a:solidFill>
                  <a:schemeClr val="tx2"/>
                </a:solidFill>
              </a:rPr>
              <a:t>Measures of central tendency are used to describe the centre (or central location) of a set of scores</a:t>
            </a:r>
          </a:p>
          <a:p>
            <a:pPr lvl="2"/>
            <a:r>
              <a:rPr lang="en-GB" altLang="en-US" sz="1800" dirty="0" smtClean="0">
                <a:solidFill>
                  <a:schemeClr val="tx2"/>
                </a:solidFill>
              </a:rPr>
              <a:t>Statisticians use samples taken from populations; however, when populations are small, it is not necessary to use samples since the entire population can be used to gain information</a:t>
            </a:r>
          </a:p>
          <a:p>
            <a:pPr lvl="2"/>
            <a:endParaRPr lang="en-GB" altLang="en-US" sz="1800" dirty="0" smtClean="0">
              <a:solidFill>
                <a:schemeClr val="tx2"/>
              </a:solidFill>
            </a:endParaRPr>
          </a:p>
          <a:p>
            <a:pPr lvl="2"/>
            <a:endParaRPr lang="en-GB" altLang="en-US" sz="1800" dirty="0" smtClean="0">
              <a:solidFill>
                <a:schemeClr val="tx2"/>
              </a:solidFill>
            </a:endParaRPr>
          </a:p>
          <a:p>
            <a:pPr lvl="2"/>
            <a:endParaRPr lang="en-GB" altLang="en-US" sz="1800" dirty="0" smtClean="0">
              <a:solidFill>
                <a:schemeClr val="tx2"/>
              </a:solidFill>
            </a:endParaRPr>
          </a:p>
          <a:p>
            <a:pPr lvl="2"/>
            <a:endParaRPr lang="en-GB" altLang="en-US" sz="1800" dirty="0" smtClean="0">
              <a:solidFill>
                <a:schemeClr val="tx2"/>
              </a:solidFill>
            </a:endParaRPr>
          </a:p>
          <a:p>
            <a:pPr lvl="2"/>
            <a:endParaRPr lang="en-GB" altLang="en-US" sz="1800" dirty="0" smtClean="0">
              <a:solidFill>
                <a:schemeClr val="tx2"/>
              </a:solidFill>
            </a:endParaRPr>
          </a:p>
          <a:p>
            <a:pPr lvl="2"/>
            <a:r>
              <a:rPr lang="en-GB" altLang="en-US" sz="1800" dirty="0" smtClean="0">
                <a:solidFill>
                  <a:schemeClr val="tx2"/>
                </a:solidFill>
              </a:rPr>
              <a:t>Measures found by using all the data values in the population are called </a:t>
            </a:r>
            <a:r>
              <a:rPr lang="en-GB" altLang="en-US" sz="1800" b="1" dirty="0" smtClean="0">
                <a:solidFill>
                  <a:schemeClr val="tx2"/>
                </a:solidFill>
              </a:rPr>
              <a:t>parameters</a:t>
            </a:r>
            <a:r>
              <a:rPr lang="en-GB" altLang="en-US" sz="1800" dirty="0" smtClean="0">
                <a:solidFill>
                  <a:schemeClr val="tx2"/>
                </a:solidFill>
              </a:rPr>
              <a:t>.</a:t>
            </a:r>
          </a:p>
          <a:p>
            <a:pPr lvl="2"/>
            <a:endParaRPr lang="en-GB" altLang="en-US" sz="1800" dirty="0" smtClean="0">
              <a:solidFill>
                <a:schemeClr val="tx2"/>
              </a:solidFill>
            </a:endParaRPr>
          </a:p>
          <a:p>
            <a:pPr lvl="2"/>
            <a:r>
              <a:rPr lang="en-GB" altLang="en-US" sz="1800" dirty="0" smtClean="0">
                <a:solidFill>
                  <a:schemeClr val="tx2"/>
                </a:solidFill>
              </a:rPr>
              <a:t>Measures obtained by using the data values from samples are called </a:t>
            </a:r>
            <a:r>
              <a:rPr lang="en-GB" altLang="en-US" sz="1800" b="1" dirty="0" smtClean="0">
                <a:solidFill>
                  <a:schemeClr val="tx2"/>
                </a:solidFill>
              </a:rPr>
              <a:t>statistics</a:t>
            </a:r>
          </a:p>
          <a:p>
            <a:pPr lvl="2"/>
            <a:endParaRPr lang="en-GB" altLang="en-US" sz="1300" b="1" dirty="0" smtClean="0">
              <a:solidFill>
                <a:schemeClr val="tx2"/>
              </a:solidFill>
            </a:endParaRPr>
          </a:p>
          <a:p>
            <a:pPr lvl="2"/>
            <a:endParaRPr lang="en-GB" altLang="en-US" sz="1300" dirty="0" smtClean="0">
              <a:solidFill>
                <a:schemeClr val="tx2"/>
              </a:solidFill>
            </a:endParaRPr>
          </a:p>
          <a:p>
            <a:pPr lvl="2"/>
            <a:endParaRPr lang="en-US" altLang="en-US" sz="1300" dirty="0" smtClean="0">
              <a:solidFill>
                <a:schemeClr val="tx2"/>
              </a:solidFill>
            </a:endParaRPr>
          </a:p>
          <a:p>
            <a:endParaRPr lang="en-US" altLang="en-US" dirty="0" smtClean="0"/>
          </a:p>
        </p:txBody>
      </p:sp>
      <p:sp>
        <p:nvSpPr>
          <p:cNvPr id="3" name="TextBox 2"/>
          <p:cNvSpPr txBox="1"/>
          <p:nvPr/>
        </p:nvSpPr>
        <p:spPr>
          <a:xfrm>
            <a:off x="1187624" y="3068960"/>
            <a:ext cx="7620000" cy="1570038"/>
          </a:xfrm>
          <a:prstGeom prst="rect">
            <a:avLst/>
          </a:prstGeom>
          <a:solidFill>
            <a:srgbClr val="FFFF00"/>
          </a:solidFill>
        </p:spPr>
        <p:txBody>
          <a:bodyPr>
            <a:spAutoFit/>
          </a:bodyPr>
          <a:lstStyle/>
          <a:p>
            <a:pPr algn="just">
              <a:defRPr/>
            </a:pPr>
            <a:r>
              <a:rPr lang="en-GB" altLang="en-US" sz="1600" dirty="0">
                <a:solidFill>
                  <a:schemeClr val="tx2"/>
                </a:solidFill>
                <a:latin typeface="+mn-lt"/>
              </a:rPr>
              <a:t>Suppose an insurance manager wanted to know the average weekly sales of all the company’s representatives. If the company employed a large number of salespeople, say, nationwide, he would have to use a sample and make an inference to the entire sales force. If the company had only a few salespeople, say, only 87 agents, he would be able to use all representatives’ sales for a randomly chosen week and thus use the entire population</a:t>
            </a:r>
          </a:p>
        </p:txBody>
      </p:sp>
    </p:spTree>
    <p:extLst>
      <p:ext uri="{BB962C8B-B14F-4D97-AF65-F5344CB8AC3E}">
        <p14:creationId xmlns:p14="http://schemas.microsoft.com/office/powerpoint/2010/main" val="326293318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dirty="0"/>
              <a:t>Central Tendency…</a:t>
            </a:r>
          </a:p>
        </p:txBody>
      </p:sp>
      <p:sp>
        <p:nvSpPr>
          <p:cNvPr id="17411" name="Content Placeholder 2"/>
          <p:cNvSpPr>
            <a:spLocks noGrp="1"/>
          </p:cNvSpPr>
          <p:nvPr>
            <p:ph sz="quarter" idx="1"/>
          </p:nvPr>
        </p:nvSpPr>
        <p:spPr>
          <a:xfrm>
            <a:off x="301625" y="1527175"/>
            <a:ext cx="8504238" cy="4572000"/>
          </a:xfrm>
        </p:spPr>
        <p:txBody>
          <a:bodyPr/>
          <a:lstStyle/>
          <a:p>
            <a:r>
              <a:rPr lang="en-US" altLang="en-US" sz="2000" b="1" dirty="0" smtClean="0">
                <a:solidFill>
                  <a:schemeClr val="tx2"/>
                </a:solidFill>
              </a:rPr>
              <a:t>Basic Descriptive Statistics… </a:t>
            </a:r>
          </a:p>
          <a:p>
            <a:pPr lvl="1"/>
            <a:r>
              <a:rPr lang="en-US" altLang="en-US" sz="1500" b="1" dirty="0" smtClean="0"/>
              <a:t>The Mean</a:t>
            </a:r>
          </a:p>
          <a:p>
            <a:pPr lvl="2"/>
            <a:r>
              <a:rPr lang="en-GB" altLang="en-US" sz="1800" dirty="0" smtClean="0">
                <a:solidFill>
                  <a:schemeClr val="tx2"/>
                </a:solidFill>
              </a:rPr>
              <a:t>The mean, also known as the </a:t>
            </a:r>
            <a:r>
              <a:rPr lang="en-GB" altLang="en-US" sz="1800" b="1" dirty="0" smtClean="0">
                <a:solidFill>
                  <a:schemeClr val="tx2"/>
                </a:solidFill>
              </a:rPr>
              <a:t>arithmetic average</a:t>
            </a:r>
          </a:p>
          <a:p>
            <a:pPr lvl="2"/>
            <a:r>
              <a:rPr lang="en-GB" altLang="en-US" sz="1800" dirty="0" smtClean="0">
                <a:solidFill>
                  <a:schemeClr val="tx2"/>
                </a:solidFill>
              </a:rPr>
              <a:t>Found by adding the values of the data and dividing by the total number of values</a:t>
            </a:r>
          </a:p>
          <a:p>
            <a:pPr lvl="2"/>
            <a:endParaRPr lang="en-GB" altLang="en-US" sz="1800" dirty="0" smtClean="0">
              <a:solidFill>
                <a:schemeClr val="tx2"/>
              </a:solidFill>
            </a:endParaRPr>
          </a:p>
          <a:p>
            <a:pPr lvl="2"/>
            <a:endParaRPr lang="en-GB" altLang="en-US" sz="1800" dirty="0" smtClean="0">
              <a:solidFill>
                <a:schemeClr val="tx2"/>
              </a:solidFill>
            </a:endParaRPr>
          </a:p>
          <a:p>
            <a:pPr lvl="2"/>
            <a:endParaRPr lang="en-GB" altLang="en-US" sz="1800" dirty="0" smtClean="0">
              <a:solidFill>
                <a:schemeClr val="tx2"/>
              </a:solidFill>
            </a:endParaRPr>
          </a:p>
          <a:p>
            <a:pPr lvl="2"/>
            <a:endParaRPr lang="en-GB" altLang="en-US" sz="1800" dirty="0" smtClean="0">
              <a:solidFill>
                <a:schemeClr val="tx2"/>
              </a:solidFill>
            </a:endParaRPr>
          </a:p>
          <a:p>
            <a:pPr lvl="2"/>
            <a:endParaRPr lang="en-GB" altLang="en-US" sz="1800" dirty="0" smtClean="0">
              <a:solidFill>
                <a:schemeClr val="tx2"/>
              </a:solidFill>
            </a:endParaRPr>
          </a:p>
          <a:p>
            <a:pPr lvl="2"/>
            <a:endParaRPr lang="en-GB" altLang="en-US" sz="1800" dirty="0" smtClean="0">
              <a:solidFill>
                <a:schemeClr val="tx2"/>
              </a:solidFill>
            </a:endParaRPr>
          </a:p>
          <a:p>
            <a:pPr lvl="2"/>
            <a:endParaRPr lang="en-GB" altLang="en-US" sz="1800" dirty="0" smtClean="0">
              <a:solidFill>
                <a:schemeClr val="tx2"/>
              </a:solidFill>
            </a:endParaRPr>
          </a:p>
          <a:p>
            <a:pPr lvl="2"/>
            <a:r>
              <a:rPr lang="en-GB" altLang="en-US" sz="1800" dirty="0" smtClean="0">
                <a:solidFill>
                  <a:schemeClr val="tx2"/>
                </a:solidFill>
              </a:rPr>
              <a:t>In statistics, Greek letters are used to denote parameters, and Roman letters are used to denote statistics</a:t>
            </a:r>
          </a:p>
          <a:p>
            <a:pPr lvl="2"/>
            <a:endParaRPr lang="en-GB" altLang="en-US" sz="1800" dirty="0" smtClean="0">
              <a:solidFill>
                <a:schemeClr val="tx2"/>
              </a:solidFill>
            </a:endParaRPr>
          </a:p>
          <a:p>
            <a:pPr lvl="2"/>
            <a:endParaRPr lang="en-GB" altLang="en-US" sz="1800" dirty="0" smtClean="0">
              <a:solidFill>
                <a:schemeClr val="tx2"/>
              </a:solidFill>
            </a:endParaRPr>
          </a:p>
          <a:p>
            <a:pPr lvl="2"/>
            <a:endParaRPr lang="en-GB" altLang="en-US" sz="1800" dirty="0" smtClean="0">
              <a:solidFill>
                <a:schemeClr val="tx2"/>
              </a:solidFill>
            </a:endParaRPr>
          </a:p>
          <a:p>
            <a:pPr lvl="2"/>
            <a:endParaRPr lang="en-GB" altLang="en-US" sz="1800" dirty="0" smtClean="0">
              <a:solidFill>
                <a:schemeClr val="tx2"/>
              </a:solidFill>
            </a:endParaRPr>
          </a:p>
          <a:p>
            <a:pPr lvl="2"/>
            <a:endParaRPr lang="en-GB" altLang="en-US" sz="1800" dirty="0" smtClean="0">
              <a:solidFill>
                <a:schemeClr val="tx2"/>
              </a:solidFill>
            </a:endParaRPr>
          </a:p>
          <a:p>
            <a:pPr lvl="2"/>
            <a:endParaRPr lang="en-GB" altLang="en-US" sz="1300" b="1" dirty="0" smtClean="0">
              <a:solidFill>
                <a:schemeClr val="tx2"/>
              </a:solidFill>
            </a:endParaRPr>
          </a:p>
          <a:p>
            <a:pPr lvl="2"/>
            <a:endParaRPr lang="en-GB" altLang="en-US" sz="1300" dirty="0" smtClean="0">
              <a:solidFill>
                <a:schemeClr val="tx2"/>
              </a:solidFill>
            </a:endParaRPr>
          </a:p>
          <a:p>
            <a:pPr lvl="2"/>
            <a:endParaRPr lang="en-US" altLang="en-US" sz="1300" dirty="0" smtClean="0">
              <a:solidFill>
                <a:schemeClr val="tx2"/>
              </a:solidFill>
            </a:endParaRPr>
          </a:p>
          <a:p>
            <a:endParaRPr lang="en-US" altLang="en-US" dirty="0" smtClean="0"/>
          </a:p>
        </p:txBody>
      </p:sp>
      <p:pic>
        <p:nvPicPr>
          <p:cNvPr id="6" name="Picture 4"/>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066800" y="3124200"/>
            <a:ext cx="6618288" cy="2324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5642569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dirty="0"/>
              <a:t>Central Tendency…</a:t>
            </a:r>
          </a:p>
        </p:txBody>
      </p:sp>
      <p:sp>
        <p:nvSpPr>
          <p:cNvPr id="18435" name="Content Placeholder 2"/>
          <p:cNvSpPr>
            <a:spLocks noGrp="1"/>
          </p:cNvSpPr>
          <p:nvPr>
            <p:ph sz="quarter" idx="1"/>
          </p:nvPr>
        </p:nvSpPr>
        <p:spPr>
          <a:xfrm>
            <a:off x="301625" y="1527175"/>
            <a:ext cx="8504238" cy="4572000"/>
          </a:xfrm>
        </p:spPr>
        <p:txBody>
          <a:bodyPr/>
          <a:lstStyle/>
          <a:p>
            <a:r>
              <a:rPr lang="en-US" altLang="en-US" sz="2000" b="1" smtClean="0">
                <a:solidFill>
                  <a:schemeClr val="tx2"/>
                </a:solidFill>
              </a:rPr>
              <a:t>Mean for Grouped Data</a:t>
            </a:r>
          </a:p>
          <a:p>
            <a:pPr lvl="1"/>
            <a:r>
              <a:rPr lang="en-GB" altLang="en-US" sz="1800" smtClean="0"/>
              <a:t>The procedure for finding the mean for grouped data assumes that the mean of all the raw data values in each class is equal to the midpoint of the class</a:t>
            </a:r>
          </a:p>
          <a:p>
            <a:pPr lvl="1"/>
            <a:r>
              <a:rPr lang="en-GB" altLang="en-US" sz="1800" smtClean="0"/>
              <a:t>Using this procedure will give an acceptable approximation of the mean</a:t>
            </a:r>
          </a:p>
          <a:p>
            <a:pPr lvl="1"/>
            <a:endParaRPr lang="en-US" altLang="en-US" sz="1800" smtClean="0"/>
          </a:p>
        </p:txBody>
      </p:sp>
      <p:pic>
        <p:nvPicPr>
          <p:cNvPr id="18436" name="Picture 3"/>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236692" y="2904856"/>
            <a:ext cx="5783580" cy="3836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79237460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2074"/>
          </a:xfrm>
        </p:spPr>
        <p:txBody>
          <a:bodyPr>
            <a:normAutofit fontScale="90000"/>
          </a:bodyPr>
          <a:lstStyle/>
          <a:p>
            <a:r>
              <a:rPr lang="en-GB" dirty="0"/>
              <a:t>Grouped </a:t>
            </a:r>
            <a:r>
              <a:rPr lang="en-GB" dirty="0" smtClean="0"/>
              <a:t>Data </a:t>
            </a:r>
            <a:r>
              <a:rPr lang="en-GB" dirty="0"/>
              <a:t>with data sets that list individual observations</a:t>
            </a:r>
          </a:p>
        </p:txBody>
      </p:sp>
      <p:sp>
        <p:nvSpPr>
          <p:cNvPr id="3" name="Content Placeholder 2"/>
          <p:cNvSpPr>
            <a:spLocks noGrp="1"/>
          </p:cNvSpPr>
          <p:nvPr>
            <p:ph idx="1"/>
          </p:nvPr>
        </p:nvSpPr>
        <p:spPr/>
        <p:txBody>
          <a:bodyPr>
            <a:normAutofit fontScale="85000" lnSpcReduction="10000"/>
          </a:bodyPr>
          <a:lstStyle/>
          <a:p>
            <a:endParaRPr lang="en-GB" dirty="0" smtClean="0"/>
          </a:p>
          <a:p>
            <a:endParaRPr lang="en-GB" dirty="0"/>
          </a:p>
          <a:p>
            <a:endParaRPr lang="en-GB" dirty="0" smtClean="0"/>
          </a:p>
          <a:p>
            <a:endParaRPr lang="en-GB" dirty="0"/>
          </a:p>
          <a:p>
            <a:endParaRPr lang="en-GB" dirty="0" smtClean="0"/>
          </a:p>
          <a:p>
            <a:endParaRPr lang="en-GB" dirty="0"/>
          </a:p>
          <a:p>
            <a:endParaRPr lang="en-GB" dirty="0" smtClean="0"/>
          </a:p>
          <a:p>
            <a:r>
              <a:rPr lang="en-GB" dirty="0" smtClean="0"/>
              <a:t>Written </a:t>
            </a:r>
            <a:r>
              <a:rPr lang="en-GB" dirty="0"/>
              <a:t>out, </a:t>
            </a:r>
            <a:r>
              <a:rPr lang="en-GB" b="1" dirty="0"/>
              <a:t>this data</a:t>
            </a:r>
            <a:r>
              <a:rPr lang="en-GB" dirty="0"/>
              <a:t> would look like the </a:t>
            </a:r>
            <a:r>
              <a:rPr lang="en-GB" dirty="0" smtClean="0"/>
              <a:t>following:</a:t>
            </a:r>
            <a:endParaRPr lang="en-GB" dirty="0"/>
          </a:p>
          <a:p>
            <a:pPr marL="0" indent="0">
              <a:buNone/>
            </a:pPr>
            <a:r>
              <a:rPr lang="en-GB" dirty="0" smtClean="0"/>
              <a:t>	60</a:t>
            </a:r>
            <a:r>
              <a:rPr lang="en-GB" dirty="0"/>
              <a:t>, 61, 61, 61, 62, 62, 63, 63, 63, 63, 63, 64, 64, 64, </a:t>
            </a:r>
            <a:r>
              <a:rPr lang="en-GB" dirty="0" smtClean="0"/>
              <a:t>	64</a:t>
            </a:r>
            <a:r>
              <a:rPr lang="en-GB" dirty="0"/>
              <a:t>, 64, 64, 64, 65, 65, 66</a:t>
            </a:r>
          </a:p>
          <a:p>
            <a:endParaRPr lang="en-GB" dirty="0"/>
          </a:p>
        </p:txBody>
      </p:sp>
      <p:pic>
        <p:nvPicPr>
          <p:cNvPr id="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1560" y="1124745"/>
            <a:ext cx="8136904" cy="3600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251814496"/>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a:t>Grouped Data with data sets that list individual </a:t>
            </a:r>
            <a:r>
              <a:rPr lang="en-GB" dirty="0" smtClean="0"/>
              <a:t>observations cont’d</a:t>
            </a:r>
            <a:endParaRPr lang="en-GB" dirty="0"/>
          </a:p>
        </p:txBody>
      </p:sp>
      <p:sp>
        <p:nvSpPr>
          <p:cNvPr id="3" name="Content Placeholder 2"/>
          <p:cNvSpPr>
            <a:spLocks noGrp="1"/>
          </p:cNvSpPr>
          <p:nvPr>
            <p:ph idx="1"/>
          </p:nvPr>
        </p:nvSpPr>
        <p:spPr/>
        <p:txBody>
          <a:bodyPr/>
          <a:lstStyle/>
          <a:p>
            <a:endParaRPr lang="en-GB"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008" y="1628800"/>
            <a:ext cx="9036496" cy="4176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9315000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Grouped Data</a:t>
            </a:r>
          </a:p>
        </p:txBody>
      </p:sp>
      <p:sp>
        <p:nvSpPr>
          <p:cNvPr id="3" name="Content Placeholder 2"/>
          <p:cNvSpPr>
            <a:spLocks noGrp="1"/>
          </p:cNvSpPr>
          <p:nvPr>
            <p:ph idx="1"/>
          </p:nvPr>
        </p:nvSpPr>
        <p:spPr/>
        <p:txBody>
          <a:bodyPr/>
          <a:lstStyle/>
          <a:p>
            <a:endParaRPr lang="en-GB" dirty="0"/>
          </a:p>
        </p:txBody>
      </p:sp>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504" y="1457324"/>
            <a:ext cx="8856984" cy="4851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329404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3200" dirty="0"/>
              <a:t>Using the example from above, we get the group mean performing the following steps.</a:t>
            </a:r>
          </a:p>
        </p:txBody>
      </p:sp>
      <p:sp>
        <p:nvSpPr>
          <p:cNvPr id="3" name="Content Placeholder 2"/>
          <p:cNvSpPr>
            <a:spLocks noGrp="1"/>
          </p:cNvSpPr>
          <p:nvPr>
            <p:ph idx="1"/>
          </p:nvPr>
        </p:nvSpPr>
        <p:spPr>
          <a:xfrm>
            <a:off x="385192" y="1412776"/>
            <a:ext cx="8507288" cy="5256584"/>
          </a:xfrm>
        </p:spPr>
        <p:txBody>
          <a:bodyPr/>
          <a:lstStyle/>
          <a:p>
            <a:endParaRPr lang="en-GB" dirty="0"/>
          </a:p>
        </p:txBody>
      </p:sp>
      <p:pic>
        <p:nvPicPr>
          <p:cNvPr id="409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108" y="1296690"/>
            <a:ext cx="8947785" cy="5553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50935626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dirty="0"/>
              <a:t>Central Tendency…</a:t>
            </a:r>
          </a:p>
        </p:txBody>
      </p:sp>
      <p:sp>
        <p:nvSpPr>
          <p:cNvPr id="19459" name="Content Placeholder 2"/>
          <p:cNvSpPr>
            <a:spLocks noGrp="1"/>
          </p:cNvSpPr>
          <p:nvPr>
            <p:ph sz="quarter" idx="1"/>
          </p:nvPr>
        </p:nvSpPr>
        <p:spPr>
          <a:xfrm>
            <a:off x="301625" y="1527175"/>
            <a:ext cx="8504238" cy="4873625"/>
          </a:xfrm>
        </p:spPr>
        <p:txBody>
          <a:bodyPr/>
          <a:lstStyle/>
          <a:p>
            <a:r>
              <a:rPr lang="en-US" altLang="en-US" sz="2000" b="1" smtClean="0">
                <a:solidFill>
                  <a:schemeClr val="tx2"/>
                </a:solidFill>
              </a:rPr>
              <a:t>The Median</a:t>
            </a:r>
          </a:p>
          <a:p>
            <a:pPr lvl="1"/>
            <a:r>
              <a:rPr lang="en-GB" altLang="en-US" sz="1800" smtClean="0"/>
              <a:t>A measure of central tendency means that one-half of the sample items are more than and one-half are less than measure such as the mean.</a:t>
            </a:r>
          </a:p>
          <a:p>
            <a:pPr lvl="1"/>
            <a:r>
              <a:rPr lang="en-GB" altLang="en-US" sz="1800" smtClean="0"/>
              <a:t>The median is the halfway point in a data set</a:t>
            </a:r>
          </a:p>
          <a:p>
            <a:pPr lvl="1"/>
            <a:r>
              <a:rPr lang="en-GB" altLang="en-US" sz="1800" smtClean="0"/>
              <a:t>Before you can find this point, the data must be arranged in order</a:t>
            </a:r>
          </a:p>
          <a:p>
            <a:pPr lvl="1"/>
            <a:r>
              <a:rPr lang="en-GB" altLang="en-US" sz="1800" smtClean="0"/>
              <a:t>The median either will be a specific value in the data set or will fall between two values</a:t>
            </a:r>
          </a:p>
          <a:p>
            <a:pPr lvl="1"/>
            <a:r>
              <a:rPr lang="en-GB" altLang="en-US" sz="1800" smtClean="0"/>
              <a:t>When the middle point falls halfway between two numbers, find the median by adding the two values and dividing by 2</a:t>
            </a:r>
          </a:p>
          <a:p>
            <a:r>
              <a:rPr lang="en-US" altLang="en-US" sz="2000" b="1" smtClean="0">
                <a:solidFill>
                  <a:schemeClr val="tx2"/>
                </a:solidFill>
              </a:rPr>
              <a:t>The Mode</a:t>
            </a:r>
          </a:p>
          <a:p>
            <a:pPr lvl="1"/>
            <a:r>
              <a:rPr lang="en-GB" altLang="en-US" sz="1800" smtClean="0"/>
              <a:t>The mode is the value that occurs most often in the data set</a:t>
            </a:r>
          </a:p>
          <a:p>
            <a:pPr lvl="1"/>
            <a:r>
              <a:rPr lang="en-GB" altLang="en-US" sz="1800" smtClean="0"/>
              <a:t>A data set that has only one value that occurs with the greatest frequency is said to be unimodal</a:t>
            </a:r>
          </a:p>
          <a:p>
            <a:pPr lvl="1"/>
            <a:r>
              <a:rPr lang="en-GB" altLang="en-US" sz="1800" smtClean="0"/>
              <a:t>A data set with two values that occur with the same greatest frequency, both values are considered to be the mode and the data set is said to be </a:t>
            </a:r>
            <a:r>
              <a:rPr lang="en-GB" altLang="en-US" sz="1800" b="1" smtClean="0"/>
              <a:t>bimodal</a:t>
            </a:r>
            <a:endParaRPr lang="en-US" altLang="en-US" sz="1800" b="1" smtClean="0"/>
          </a:p>
        </p:txBody>
      </p:sp>
    </p:spTree>
    <p:extLst>
      <p:ext uri="{BB962C8B-B14F-4D97-AF65-F5344CB8AC3E}">
        <p14:creationId xmlns:p14="http://schemas.microsoft.com/office/powerpoint/2010/main" val="341678948"/>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dirty="0" smtClean="0"/>
              <a:t>Central Tendency…</a:t>
            </a:r>
            <a:endParaRPr lang="en-US" dirty="0"/>
          </a:p>
        </p:txBody>
      </p:sp>
      <p:sp>
        <p:nvSpPr>
          <p:cNvPr id="21507" name="Content Placeholder 2"/>
          <p:cNvSpPr>
            <a:spLocks noGrp="1"/>
          </p:cNvSpPr>
          <p:nvPr>
            <p:ph sz="quarter" idx="1"/>
          </p:nvPr>
        </p:nvSpPr>
        <p:spPr>
          <a:xfrm>
            <a:off x="301625" y="1527175"/>
            <a:ext cx="8504238" cy="4572000"/>
          </a:xfrm>
        </p:spPr>
        <p:txBody>
          <a:bodyPr/>
          <a:lstStyle/>
          <a:p>
            <a:r>
              <a:rPr lang="en-US" altLang="en-US" sz="2000" b="1" smtClean="0">
                <a:solidFill>
                  <a:schemeClr val="tx2"/>
                </a:solidFill>
              </a:rPr>
              <a:t>The Midrange</a:t>
            </a:r>
          </a:p>
          <a:p>
            <a:pPr lvl="1"/>
            <a:r>
              <a:rPr lang="en-GB" altLang="en-US" sz="1800" smtClean="0"/>
              <a:t>The midrange is a rough estimate of the middle (Median)</a:t>
            </a:r>
          </a:p>
          <a:p>
            <a:pPr lvl="1"/>
            <a:r>
              <a:rPr lang="en-GB" altLang="en-US" sz="1800" smtClean="0"/>
              <a:t>It is found by adding the lowest and highest values in the data set and dividing by 2</a:t>
            </a:r>
          </a:p>
          <a:p>
            <a:pPr lvl="1"/>
            <a:r>
              <a:rPr lang="en-GB" altLang="en-US" sz="1800" smtClean="0"/>
              <a:t>It is a very rough estimate of the average and can be affected by one extremely high or low value</a:t>
            </a:r>
          </a:p>
          <a:p>
            <a:pPr lvl="1"/>
            <a:endParaRPr lang="en-GB" altLang="en-US" sz="1800" smtClean="0"/>
          </a:p>
          <a:p>
            <a:r>
              <a:rPr lang="en-GB" altLang="en-US" sz="2000" b="1" smtClean="0">
                <a:solidFill>
                  <a:schemeClr val="tx2"/>
                </a:solidFill>
              </a:rPr>
              <a:t>Summary of Measures of Central Tendency</a:t>
            </a:r>
          </a:p>
          <a:p>
            <a:pPr lvl="1"/>
            <a:endParaRPr lang="en-GB" altLang="en-US" sz="1800" smtClean="0"/>
          </a:p>
        </p:txBody>
      </p:sp>
      <p:pic>
        <p:nvPicPr>
          <p:cNvPr id="21508" name="Picture 3"/>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914400" y="4203700"/>
            <a:ext cx="6856413" cy="1895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104184280"/>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dirty="0"/>
              <a:t>Measures of Variation</a:t>
            </a:r>
          </a:p>
        </p:txBody>
      </p:sp>
      <p:sp>
        <p:nvSpPr>
          <p:cNvPr id="23555" name="Content Placeholder 2"/>
          <p:cNvSpPr>
            <a:spLocks noGrp="1"/>
          </p:cNvSpPr>
          <p:nvPr>
            <p:ph sz="quarter" idx="1"/>
          </p:nvPr>
        </p:nvSpPr>
        <p:spPr>
          <a:xfrm>
            <a:off x="301625" y="1527175"/>
            <a:ext cx="8504238" cy="4572000"/>
          </a:xfrm>
        </p:spPr>
        <p:txBody>
          <a:bodyPr/>
          <a:lstStyle/>
          <a:p>
            <a:r>
              <a:rPr lang="en-GB" altLang="en-US" sz="2000" smtClean="0">
                <a:solidFill>
                  <a:schemeClr val="tx2"/>
                </a:solidFill>
              </a:rPr>
              <a:t>Measures of variability are used to describe the amount of spread or variability in a set of scores</a:t>
            </a:r>
          </a:p>
        </p:txBody>
      </p:sp>
      <p:pic>
        <p:nvPicPr>
          <p:cNvPr id="23556" name="Picture 3"/>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590800" y="3581400"/>
            <a:ext cx="2667000" cy="2355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557" name="TextBox 4"/>
          <p:cNvSpPr txBox="1">
            <a:spLocks noChangeArrowheads="1"/>
          </p:cNvSpPr>
          <p:nvPr/>
        </p:nvSpPr>
        <p:spPr bwMode="auto">
          <a:xfrm>
            <a:off x="571500" y="2209800"/>
            <a:ext cx="8234363" cy="1200150"/>
          </a:xfrm>
          <a:prstGeom prst="rect">
            <a:avLst/>
          </a:prstGeom>
          <a:solidFill>
            <a:srgbClr val="92D05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r>
              <a:rPr lang="en-GB" altLang="en-US">
                <a:solidFill>
                  <a:schemeClr val="tx2"/>
                </a:solidFill>
              </a:rPr>
              <a:t>A testing lab wishes to test two experimental brands of outdoor paint to see how long each will last before fading. The testing lab makes 6 gallons of each paint to test. Since different chemical agents are added to each group and only six cans are involved, these two groups constitute two small populations. </a:t>
            </a:r>
            <a:endParaRPr lang="en-US" altLang="en-US"/>
          </a:p>
        </p:txBody>
      </p:sp>
    </p:spTree>
    <p:extLst>
      <p:ext uri="{BB962C8B-B14F-4D97-AF65-F5344CB8AC3E}">
        <p14:creationId xmlns:p14="http://schemas.microsoft.com/office/powerpoint/2010/main" val="2078698178"/>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dirty="0"/>
              <a:t>Measures of Variation cont’d</a:t>
            </a:r>
          </a:p>
        </p:txBody>
      </p:sp>
      <p:sp>
        <p:nvSpPr>
          <p:cNvPr id="24579" name="Content Placeholder 2"/>
          <p:cNvSpPr>
            <a:spLocks noGrp="1"/>
          </p:cNvSpPr>
          <p:nvPr>
            <p:ph sz="quarter" idx="1"/>
          </p:nvPr>
        </p:nvSpPr>
        <p:spPr>
          <a:xfrm>
            <a:off x="301625" y="1527175"/>
            <a:ext cx="8504238" cy="4572000"/>
          </a:xfrm>
        </p:spPr>
        <p:txBody>
          <a:bodyPr/>
          <a:lstStyle/>
          <a:p>
            <a:r>
              <a:rPr lang="en-GB" altLang="en-US" sz="2000" b="1" smtClean="0">
                <a:solidFill>
                  <a:schemeClr val="tx2"/>
                </a:solidFill>
              </a:rPr>
              <a:t>The Range</a:t>
            </a:r>
          </a:p>
          <a:p>
            <a:pPr lvl="1"/>
            <a:r>
              <a:rPr lang="en-GB" altLang="en-US" sz="2000" smtClean="0"/>
              <a:t>The range is the simplest of the three measures</a:t>
            </a:r>
          </a:p>
          <a:p>
            <a:pPr lvl="1"/>
            <a:r>
              <a:rPr lang="en-GB" altLang="en-US" sz="2000" smtClean="0"/>
              <a:t>The range is the highest value minus the lowest value</a:t>
            </a:r>
          </a:p>
          <a:p>
            <a:r>
              <a:rPr lang="en-US" altLang="en-US" sz="2000" b="1" smtClean="0">
                <a:solidFill>
                  <a:schemeClr val="tx2"/>
                </a:solidFill>
              </a:rPr>
              <a:t>Variance and Standard Deviation</a:t>
            </a:r>
          </a:p>
          <a:p>
            <a:pPr lvl="1"/>
            <a:r>
              <a:rPr lang="en-GB" altLang="en-US" sz="1800" smtClean="0"/>
              <a:t>Variance is actually the average of the square of the distance that each value is from the mean</a:t>
            </a:r>
          </a:p>
          <a:p>
            <a:pPr lvl="1"/>
            <a:r>
              <a:rPr lang="en-GB" altLang="en-US" sz="1800" smtClean="0"/>
              <a:t>If the values are near the mean, the variance will be small</a:t>
            </a:r>
          </a:p>
          <a:p>
            <a:pPr lvl="1"/>
            <a:r>
              <a:rPr lang="en-GB" altLang="en-US" sz="1800" smtClean="0"/>
              <a:t>The squared distances are used to calculate variance instead of the actual distances. One reason is that the sum of the distances will always be zero</a:t>
            </a:r>
          </a:p>
          <a:p>
            <a:pPr lvl="1"/>
            <a:r>
              <a:rPr lang="en-GB" altLang="en-US" sz="1800" smtClean="0"/>
              <a:t>When each value is squared, the negative signs are eliminated.</a:t>
            </a:r>
          </a:p>
          <a:p>
            <a:pPr lvl="1"/>
            <a:endParaRPr lang="en-US" altLang="en-US" sz="1800" smtClean="0"/>
          </a:p>
        </p:txBody>
      </p:sp>
    </p:spTree>
    <p:extLst>
      <p:ext uri="{BB962C8B-B14F-4D97-AF65-F5344CB8AC3E}">
        <p14:creationId xmlns:p14="http://schemas.microsoft.com/office/powerpoint/2010/main" val="1977461349"/>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dirty="0"/>
              <a:t>Measures of Variation cont’d</a:t>
            </a:r>
          </a:p>
        </p:txBody>
      </p:sp>
      <p:pic>
        <p:nvPicPr>
          <p:cNvPr id="25603" name="Content Placeholder 3"/>
          <p:cNvPicPr>
            <a:picLocks noGrp="1" noChangeAspect="1"/>
          </p:cNvPicPr>
          <p:nvPr>
            <p:ph sz="quarter" idx="1"/>
          </p:nvPr>
        </p:nvPicPr>
        <p:blipFill>
          <a:blip r:embed="rId2">
            <a:extLst>
              <a:ext uri="{28A0092B-C50C-407E-A947-70E740481C1C}">
                <a14:useLocalDpi xmlns:a14="http://schemas.microsoft.com/office/drawing/2010/main" val="0"/>
              </a:ext>
            </a:extLst>
          </a:blip>
          <a:srcRect/>
          <a:stretch>
            <a:fillRect/>
          </a:stretch>
        </p:blipFill>
        <p:spPr>
          <a:xfrm>
            <a:off x="566738" y="1676400"/>
            <a:ext cx="8269287" cy="4267200"/>
          </a:xfrm>
        </p:spPr>
      </p:pic>
    </p:spTree>
    <p:extLst>
      <p:ext uri="{BB962C8B-B14F-4D97-AF65-F5344CB8AC3E}">
        <p14:creationId xmlns:p14="http://schemas.microsoft.com/office/powerpoint/2010/main" val="3196063060"/>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dirty="0"/>
              <a:t>Measures of Variation cont’d</a:t>
            </a:r>
          </a:p>
        </p:txBody>
      </p:sp>
      <p:sp>
        <p:nvSpPr>
          <p:cNvPr id="26627" name="Content Placeholder 2"/>
          <p:cNvSpPr>
            <a:spLocks noGrp="1"/>
          </p:cNvSpPr>
          <p:nvPr>
            <p:ph sz="quarter" idx="1"/>
          </p:nvPr>
        </p:nvSpPr>
        <p:spPr>
          <a:xfrm>
            <a:off x="301625" y="1527175"/>
            <a:ext cx="8504238" cy="4572000"/>
          </a:xfrm>
        </p:spPr>
        <p:txBody>
          <a:bodyPr/>
          <a:lstStyle/>
          <a:p>
            <a:r>
              <a:rPr lang="en-US" altLang="en-US" sz="2000" b="1" smtClean="0">
                <a:solidFill>
                  <a:schemeClr val="tx2"/>
                </a:solidFill>
              </a:rPr>
              <a:t>Sample Variance and Standard Deviation</a:t>
            </a:r>
          </a:p>
          <a:p>
            <a:endParaRPr lang="en-US" altLang="en-US" sz="2000" b="1" smtClean="0">
              <a:solidFill>
                <a:schemeClr val="tx2"/>
              </a:solidFill>
            </a:endParaRPr>
          </a:p>
        </p:txBody>
      </p:sp>
      <p:pic>
        <p:nvPicPr>
          <p:cNvPr id="26628" name="Picture 3"/>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85800" y="1981200"/>
            <a:ext cx="7251700" cy="2514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259597269"/>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dirty="0"/>
              <a:t>Measures of Variation cont’d</a:t>
            </a:r>
          </a:p>
        </p:txBody>
      </p:sp>
      <p:pic>
        <p:nvPicPr>
          <p:cNvPr id="27651" name="Content Placeholder 3"/>
          <p:cNvPicPr>
            <a:picLocks noGrp="1" noChangeAspect="1"/>
          </p:cNvPicPr>
          <p:nvPr>
            <p:ph sz="quarter" idx="1"/>
          </p:nvPr>
        </p:nvPicPr>
        <p:blipFill>
          <a:blip r:embed="rId2">
            <a:extLst>
              <a:ext uri="{28A0092B-C50C-407E-A947-70E740481C1C}">
                <a14:useLocalDpi xmlns:a14="http://schemas.microsoft.com/office/drawing/2010/main" val="0"/>
              </a:ext>
            </a:extLst>
          </a:blip>
          <a:srcRect/>
          <a:stretch>
            <a:fillRect/>
          </a:stretch>
        </p:blipFill>
        <p:spPr>
          <a:xfrm>
            <a:off x="609600" y="1752600"/>
            <a:ext cx="8134350" cy="4191000"/>
          </a:xfrm>
        </p:spPr>
      </p:pic>
    </p:spTree>
    <p:extLst>
      <p:ext uri="{BB962C8B-B14F-4D97-AF65-F5344CB8AC3E}">
        <p14:creationId xmlns:p14="http://schemas.microsoft.com/office/powerpoint/2010/main" val="2054020298"/>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dirty="0"/>
              <a:t>Measures of </a:t>
            </a:r>
            <a:r>
              <a:rPr lang="en-US" dirty="0" smtClean="0"/>
              <a:t>Variation cont’d</a:t>
            </a:r>
            <a:endParaRPr lang="en-US" dirty="0"/>
          </a:p>
        </p:txBody>
      </p:sp>
      <p:sp>
        <p:nvSpPr>
          <p:cNvPr id="28675" name="Content Placeholder 2"/>
          <p:cNvSpPr>
            <a:spLocks noGrp="1"/>
          </p:cNvSpPr>
          <p:nvPr>
            <p:ph sz="quarter" idx="1"/>
          </p:nvPr>
        </p:nvSpPr>
        <p:spPr>
          <a:xfrm>
            <a:off x="301625" y="1527175"/>
            <a:ext cx="8504238" cy="4572000"/>
          </a:xfrm>
        </p:spPr>
        <p:txBody>
          <a:bodyPr/>
          <a:lstStyle/>
          <a:p>
            <a:r>
              <a:rPr lang="en-GB" altLang="en-US" sz="2000" b="1" smtClean="0">
                <a:solidFill>
                  <a:schemeClr val="tx2"/>
                </a:solidFill>
              </a:rPr>
              <a:t>Range</a:t>
            </a:r>
          </a:p>
          <a:p>
            <a:pPr lvl="1"/>
            <a:r>
              <a:rPr lang="en-GB" altLang="en-US" sz="1800" smtClean="0"/>
              <a:t>The range can be used to approximate the standard deviation</a:t>
            </a:r>
          </a:p>
          <a:p>
            <a:pPr lvl="1"/>
            <a:r>
              <a:rPr lang="en-GB" altLang="en-US" sz="1800" smtClean="0"/>
              <a:t>The approximation is called the range rule of thumb.</a:t>
            </a:r>
          </a:p>
          <a:p>
            <a:pPr lvl="1"/>
            <a:endParaRPr lang="en-GB" altLang="en-US" sz="1800" smtClean="0"/>
          </a:p>
          <a:p>
            <a:pPr lvl="1"/>
            <a:endParaRPr lang="en-GB" altLang="en-US" sz="1800" smtClean="0"/>
          </a:p>
          <a:p>
            <a:pPr lvl="1"/>
            <a:endParaRPr lang="en-GB" altLang="en-US" sz="1800" smtClean="0"/>
          </a:p>
          <a:p>
            <a:pPr lvl="1"/>
            <a:endParaRPr lang="en-GB" altLang="en-US" sz="1800" smtClean="0"/>
          </a:p>
          <a:p>
            <a:pPr lvl="1"/>
            <a:endParaRPr lang="en-GB" altLang="en-US" sz="1800" smtClean="0"/>
          </a:p>
          <a:p>
            <a:pPr lvl="1"/>
            <a:endParaRPr lang="en-GB" altLang="en-US" sz="1800" smtClean="0"/>
          </a:p>
          <a:p>
            <a:pPr lvl="1"/>
            <a:r>
              <a:rPr lang="en-GB" altLang="en-US" sz="1800" smtClean="0"/>
              <a:t>If the range is divided by 4, an approximate value for the standard deviation is obtained</a:t>
            </a:r>
          </a:p>
          <a:p>
            <a:pPr lvl="1"/>
            <a:endParaRPr lang="en-US" altLang="en-US" sz="1800" smtClean="0"/>
          </a:p>
        </p:txBody>
      </p:sp>
      <p:pic>
        <p:nvPicPr>
          <p:cNvPr id="28676" name="Picture 3"/>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914400" y="2667000"/>
            <a:ext cx="7677150" cy="167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977485316"/>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smtClean="0"/>
              <a:t>Activity </a:t>
            </a:r>
            <a:endParaRPr lang="en-GB" b="1" dirty="0"/>
          </a:p>
        </p:txBody>
      </p:sp>
      <p:sp>
        <p:nvSpPr>
          <p:cNvPr id="3" name="Content Placeholder 2"/>
          <p:cNvSpPr>
            <a:spLocks noGrp="1"/>
          </p:cNvSpPr>
          <p:nvPr>
            <p:ph idx="1"/>
          </p:nvPr>
        </p:nvSpPr>
        <p:spPr/>
        <p:txBody>
          <a:bodyPr/>
          <a:lstStyle/>
          <a:p>
            <a:r>
              <a:rPr lang="en-GB" dirty="0"/>
              <a:t>Find the variance and standard deviation of the following scores on an exam:</a:t>
            </a:r>
          </a:p>
          <a:p>
            <a:pPr marL="0" indent="0">
              <a:buNone/>
            </a:pPr>
            <a:r>
              <a:rPr lang="en-GB" dirty="0" smtClean="0"/>
              <a:t>	92</a:t>
            </a:r>
            <a:r>
              <a:rPr lang="en-GB" dirty="0"/>
              <a:t>, 95, 85, 80, 75, </a:t>
            </a:r>
            <a:r>
              <a:rPr lang="en-GB" dirty="0" smtClean="0"/>
              <a:t>50</a:t>
            </a:r>
          </a:p>
          <a:p>
            <a:r>
              <a:rPr lang="en-GB" dirty="0" smtClean="0"/>
              <a:t>Find the median, mode, range, midrange of the scores above  </a:t>
            </a:r>
            <a:endParaRPr lang="en-GB" dirty="0"/>
          </a:p>
        </p:txBody>
      </p:sp>
    </p:spTree>
    <p:extLst>
      <p:ext uri="{BB962C8B-B14F-4D97-AF65-F5344CB8AC3E}">
        <p14:creationId xmlns:p14="http://schemas.microsoft.com/office/powerpoint/2010/main" val="423432189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Questions</a:t>
            </a:r>
            <a:endParaRPr lang="en-US" dirty="0"/>
          </a:p>
        </p:txBody>
      </p:sp>
      <p:pic>
        <p:nvPicPr>
          <p:cNvPr id="102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819400" y="2438400"/>
            <a:ext cx="3428999" cy="338693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102129092"/>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538</TotalTime>
  <Words>1207</Words>
  <Application>Microsoft Office PowerPoint</Application>
  <PresentationFormat>On-screen Show (4:3)</PresentationFormat>
  <Paragraphs>157</Paragraphs>
  <Slides>25</Slides>
  <Notes>9</Notes>
  <HiddenSlides>0</HiddenSlides>
  <MMClips>0</MMClips>
  <ScaleCrop>false</ScaleCrop>
  <HeadingPairs>
    <vt:vector size="4" baseType="variant">
      <vt:variant>
        <vt:lpstr>Theme</vt:lpstr>
      </vt:variant>
      <vt:variant>
        <vt:i4>1</vt:i4>
      </vt:variant>
      <vt:variant>
        <vt:lpstr>Slide Titles</vt:lpstr>
      </vt:variant>
      <vt:variant>
        <vt:i4>25</vt:i4>
      </vt:variant>
    </vt:vector>
  </HeadingPairs>
  <TitlesOfParts>
    <vt:vector size="26" baseType="lpstr">
      <vt:lpstr>Office Theme</vt:lpstr>
      <vt:lpstr>Basics of statistics</vt:lpstr>
      <vt:lpstr>Introduction </vt:lpstr>
      <vt:lpstr>What is Univariate Analysis?</vt:lpstr>
      <vt:lpstr>What is a variable in Univariate Analysis?</vt:lpstr>
      <vt:lpstr> Univariate Analysis cont’d</vt:lpstr>
      <vt:lpstr> Univariate Analysis cont’d</vt:lpstr>
      <vt:lpstr>Univariate Descriptive Statistics</vt:lpstr>
      <vt:lpstr>Univariate Descriptive Statistics cont’d</vt:lpstr>
      <vt:lpstr>Central Tendency…</vt:lpstr>
      <vt:lpstr>Central Tendency…</vt:lpstr>
      <vt:lpstr>Central Tendency…</vt:lpstr>
      <vt:lpstr>Grouped Data with data sets that list individual observations</vt:lpstr>
      <vt:lpstr>Grouped Data with data sets that list individual observations cont’d</vt:lpstr>
      <vt:lpstr>Grouped Data</vt:lpstr>
      <vt:lpstr>Using the example from above, we get the group mean performing the following steps.</vt:lpstr>
      <vt:lpstr>Central Tendency…</vt:lpstr>
      <vt:lpstr>Central Tendency…</vt:lpstr>
      <vt:lpstr>Measures of Variation</vt:lpstr>
      <vt:lpstr>Measures of Variation cont’d</vt:lpstr>
      <vt:lpstr>Measures of Variation cont’d</vt:lpstr>
      <vt:lpstr>Measures of Variation cont’d</vt:lpstr>
      <vt:lpstr>Measures of Variation cont’d</vt:lpstr>
      <vt:lpstr>Measures of Variation cont’d</vt:lpstr>
      <vt:lpstr>Activity </vt:lpstr>
      <vt:lpstr>Questions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Basics of statistics</dc:title>
  <dc:creator>KHO</dc:creator>
  <cp:lastModifiedBy>KHO</cp:lastModifiedBy>
  <cp:revision>26</cp:revision>
  <dcterms:created xsi:type="dcterms:W3CDTF">2021-10-04T13:17:50Z</dcterms:created>
  <dcterms:modified xsi:type="dcterms:W3CDTF">2021-11-08T08:05:07Z</dcterms:modified>
</cp:coreProperties>
</file>