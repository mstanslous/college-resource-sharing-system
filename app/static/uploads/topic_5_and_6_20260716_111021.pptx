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684EF3C-F69A-4F6F-8731-086C9ED5C9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DF3A4-90C3-412A-B4A5-E39B1C7EB621}" type="slidenum">
              <a:rPr lang="en-US" smtClean="0"/>
              <a:t>‹#›</a:t>
            </a:fld>
            <a:endParaRPr lang="en-US"/>
          </a:p>
        </p:txBody>
      </p:sp>
    </p:spTree>
    <p:extLst>
      <p:ext uri="{BB962C8B-B14F-4D97-AF65-F5344CB8AC3E}">
        <p14:creationId xmlns:p14="http://schemas.microsoft.com/office/powerpoint/2010/main" val="4122656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684EF3C-F69A-4F6F-8731-086C9ED5C9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DF3A4-90C3-412A-B4A5-E39B1C7EB621}" type="slidenum">
              <a:rPr lang="en-US" smtClean="0"/>
              <a:t>‹#›</a:t>
            </a:fld>
            <a:endParaRPr lang="en-US"/>
          </a:p>
        </p:txBody>
      </p:sp>
    </p:spTree>
    <p:extLst>
      <p:ext uri="{BB962C8B-B14F-4D97-AF65-F5344CB8AC3E}">
        <p14:creationId xmlns:p14="http://schemas.microsoft.com/office/powerpoint/2010/main" val="2684914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684EF3C-F69A-4F6F-8731-086C9ED5C9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DF3A4-90C3-412A-B4A5-E39B1C7EB621}" type="slidenum">
              <a:rPr lang="en-US" smtClean="0"/>
              <a:t>‹#›</a:t>
            </a:fld>
            <a:endParaRPr lang="en-US"/>
          </a:p>
        </p:txBody>
      </p:sp>
    </p:spTree>
    <p:extLst>
      <p:ext uri="{BB962C8B-B14F-4D97-AF65-F5344CB8AC3E}">
        <p14:creationId xmlns:p14="http://schemas.microsoft.com/office/powerpoint/2010/main" val="1334878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684EF3C-F69A-4F6F-8731-086C9ED5C9C4}"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7DF3A4-90C3-412A-B4A5-E39B1C7EB621}" type="slidenum">
              <a:rPr lang="en-US" smtClean="0"/>
              <a:t>‹#›</a:t>
            </a:fld>
            <a:endParaRPr lang="en-US"/>
          </a:p>
        </p:txBody>
      </p:sp>
    </p:spTree>
    <p:extLst>
      <p:ext uri="{BB962C8B-B14F-4D97-AF65-F5344CB8AC3E}">
        <p14:creationId xmlns:p14="http://schemas.microsoft.com/office/powerpoint/2010/main" val="1697459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684EF3C-F69A-4F6F-8731-086C9ED5C9C4}" type="datetimeFigureOut">
              <a:rPr lang="en-US" smtClean="0"/>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7DF3A4-90C3-412A-B4A5-E39B1C7EB621}" type="slidenum">
              <a:rPr lang="en-US" smtClean="0"/>
              <a:t>‹#›</a:t>
            </a:fld>
            <a:endParaRPr lang="en-US"/>
          </a:p>
        </p:txBody>
      </p:sp>
    </p:spTree>
    <p:extLst>
      <p:ext uri="{BB962C8B-B14F-4D97-AF65-F5344CB8AC3E}">
        <p14:creationId xmlns:p14="http://schemas.microsoft.com/office/powerpoint/2010/main" val="4258642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684EF3C-F69A-4F6F-8731-086C9ED5C9C4}" type="datetimeFigureOut">
              <a:rPr lang="en-US" smtClean="0"/>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7DF3A4-90C3-412A-B4A5-E39B1C7EB621}" type="slidenum">
              <a:rPr lang="en-US" smtClean="0"/>
              <a:t>‹#›</a:t>
            </a:fld>
            <a:endParaRPr lang="en-US"/>
          </a:p>
        </p:txBody>
      </p:sp>
    </p:spTree>
    <p:extLst>
      <p:ext uri="{BB962C8B-B14F-4D97-AF65-F5344CB8AC3E}">
        <p14:creationId xmlns:p14="http://schemas.microsoft.com/office/powerpoint/2010/main" val="260342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84EF3C-F69A-4F6F-8731-086C9ED5C9C4}" type="datetimeFigureOut">
              <a:rPr lang="en-US" smtClean="0"/>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7DF3A4-90C3-412A-B4A5-E39B1C7EB621}" type="slidenum">
              <a:rPr lang="en-US" smtClean="0"/>
              <a:t>‹#›</a:t>
            </a:fld>
            <a:endParaRPr lang="en-US"/>
          </a:p>
        </p:txBody>
      </p:sp>
    </p:spTree>
    <p:extLst>
      <p:ext uri="{BB962C8B-B14F-4D97-AF65-F5344CB8AC3E}">
        <p14:creationId xmlns:p14="http://schemas.microsoft.com/office/powerpoint/2010/main" val="4176614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684EF3C-F69A-4F6F-8731-086C9ED5C9C4}"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7DF3A4-90C3-412A-B4A5-E39B1C7EB621}" type="slidenum">
              <a:rPr lang="en-US" smtClean="0"/>
              <a:t>‹#›</a:t>
            </a:fld>
            <a:endParaRPr lang="en-US"/>
          </a:p>
        </p:txBody>
      </p:sp>
    </p:spTree>
    <p:extLst>
      <p:ext uri="{BB962C8B-B14F-4D97-AF65-F5344CB8AC3E}">
        <p14:creationId xmlns:p14="http://schemas.microsoft.com/office/powerpoint/2010/main" val="1378885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684EF3C-F69A-4F6F-8731-086C9ED5C9C4}"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7DF3A4-90C3-412A-B4A5-E39B1C7EB621}" type="slidenum">
              <a:rPr lang="en-US" smtClean="0"/>
              <a:t>‹#›</a:t>
            </a:fld>
            <a:endParaRPr lang="en-US"/>
          </a:p>
        </p:txBody>
      </p:sp>
    </p:spTree>
    <p:extLst>
      <p:ext uri="{BB962C8B-B14F-4D97-AF65-F5344CB8AC3E}">
        <p14:creationId xmlns:p14="http://schemas.microsoft.com/office/powerpoint/2010/main" val="2040096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684EF3C-F69A-4F6F-8731-086C9ED5C9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DF3A4-90C3-412A-B4A5-E39B1C7EB621}" type="slidenum">
              <a:rPr lang="en-US" smtClean="0"/>
              <a:t>‹#›</a:t>
            </a:fld>
            <a:endParaRPr lang="en-US"/>
          </a:p>
        </p:txBody>
      </p:sp>
    </p:spTree>
    <p:extLst>
      <p:ext uri="{BB962C8B-B14F-4D97-AF65-F5344CB8AC3E}">
        <p14:creationId xmlns:p14="http://schemas.microsoft.com/office/powerpoint/2010/main" val="97203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684EF3C-F69A-4F6F-8731-086C9ED5C9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DF3A4-90C3-412A-B4A5-E39B1C7EB621}"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7237248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684EF3C-F69A-4F6F-8731-086C9ED5C9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DF3A4-90C3-412A-B4A5-E39B1C7EB621}" type="slidenum">
              <a:rPr lang="en-US" smtClean="0"/>
              <a:t>‹#›</a:t>
            </a:fld>
            <a:endParaRPr lang="en-US"/>
          </a:p>
        </p:txBody>
      </p:sp>
    </p:spTree>
    <p:extLst>
      <p:ext uri="{BB962C8B-B14F-4D97-AF65-F5344CB8AC3E}">
        <p14:creationId xmlns:p14="http://schemas.microsoft.com/office/powerpoint/2010/main" val="6759828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684EF3C-F69A-4F6F-8731-086C9ED5C9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DF3A4-90C3-412A-B4A5-E39B1C7EB621}"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69483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684EF3C-F69A-4F6F-8731-086C9ED5C9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DF3A4-90C3-412A-B4A5-E39B1C7EB621}" type="slidenum">
              <a:rPr lang="en-US" smtClean="0"/>
              <a:t>‹#›</a:t>
            </a:fld>
            <a:endParaRPr lang="en-US"/>
          </a:p>
        </p:txBody>
      </p:sp>
    </p:spTree>
    <p:extLst>
      <p:ext uri="{BB962C8B-B14F-4D97-AF65-F5344CB8AC3E}">
        <p14:creationId xmlns:p14="http://schemas.microsoft.com/office/powerpoint/2010/main" val="10589422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684EF3C-F69A-4F6F-8731-086C9ED5C9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DF3A4-90C3-412A-B4A5-E39B1C7EB621}" type="slidenum">
              <a:rPr lang="en-US" smtClean="0"/>
              <a:t>‹#›</a:t>
            </a:fld>
            <a:endParaRPr lang="en-US"/>
          </a:p>
        </p:txBody>
      </p:sp>
    </p:spTree>
    <p:extLst>
      <p:ext uri="{BB962C8B-B14F-4D97-AF65-F5344CB8AC3E}">
        <p14:creationId xmlns:p14="http://schemas.microsoft.com/office/powerpoint/2010/main" val="18305775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684EF3C-F69A-4F6F-8731-086C9ED5C9C4}"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DF3A4-90C3-412A-B4A5-E39B1C7EB621}" type="slidenum">
              <a:rPr lang="en-US" smtClean="0"/>
              <a:t>‹#›</a:t>
            </a:fld>
            <a:endParaRPr lang="en-US"/>
          </a:p>
        </p:txBody>
      </p:sp>
    </p:spTree>
    <p:extLst>
      <p:ext uri="{BB962C8B-B14F-4D97-AF65-F5344CB8AC3E}">
        <p14:creationId xmlns:p14="http://schemas.microsoft.com/office/powerpoint/2010/main" val="1986299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684EF3C-F69A-4F6F-8731-086C9ED5C9C4}" type="datetimeFigureOut">
              <a:rPr lang="en-US" smtClean="0"/>
              <a:t>6/11/2026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A7DF3A4-90C3-412A-B4A5-E39B1C7EB621}" type="slidenum">
              <a:rPr lang="en-US" smtClean="0"/>
              <a:t>‹#›</a:t>
            </a:fld>
            <a:endParaRPr lang="en-US"/>
          </a:p>
        </p:txBody>
      </p:sp>
    </p:spTree>
    <p:extLst>
      <p:ext uri="{BB962C8B-B14F-4D97-AF65-F5344CB8AC3E}">
        <p14:creationId xmlns:p14="http://schemas.microsoft.com/office/powerpoint/2010/main" val="10202566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48825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a:xfrm>
            <a:off x="1981200" y="632447"/>
            <a:ext cx="8229600" cy="5728597"/>
          </a:xfrm>
        </p:spPr>
        <p:txBody>
          <a:bodyPr/>
          <a:lstStyle/>
          <a:p>
            <a:pPr algn="ctr" eaLnBrk="1" hangingPunct="1">
              <a:defRPr/>
            </a:pPr>
            <a:r>
              <a:rPr lang="en-US" dirty="0"/>
              <a:t>TOPIC 5:</a:t>
            </a:r>
            <a:br>
              <a:rPr lang="en-US" dirty="0"/>
            </a:br>
            <a:r>
              <a:rPr lang="en-US" dirty="0"/>
              <a:t/>
            </a:r>
            <a:br>
              <a:rPr lang="en-US" dirty="0"/>
            </a:br>
            <a:r>
              <a:rPr lang="en-US" dirty="0"/>
              <a:t>NETWORK TECHNOLOGIES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4165423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Learning Outcomes</a:t>
            </a:r>
          </a:p>
        </p:txBody>
      </p:sp>
      <p:sp>
        <p:nvSpPr>
          <p:cNvPr id="203779" name="Rectangle 3"/>
          <p:cNvSpPr>
            <a:spLocks noGrp="1" noChangeArrowheads="1"/>
          </p:cNvSpPr>
          <p:nvPr>
            <p:ph idx="1"/>
          </p:nvPr>
        </p:nvSpPr>
        <p:spPr>
          <a:xfrm>
            <a:off x="1669774" y="1600201"/>
            <a:ext cx="8878956" cy="4840357"/>
          </a:xfrm>
        </p:spPr>
        <p:txBody>
          <a:bodyPr>
            <a:normAutofit lnSpcReduction="10000"/>
          </a:bodyPr>
          <a:lstStyle/>
          <a:p>
            <a:pPr algn="just" eaLnBrk="1" hangingPunct="1">
              <a:buClrTx/>
              <a:buFont typeface="Wingdings" panose="05000000000000000000" pitchFamily="2" charset="2"/>
              <a:buChar char="v"/>
              <a:defRPr/>
            </a:pPr>
            <a:r>
              <a:rPr lang="en-US" sz="2600" dirty="0"/>
              <a:t>Network Technologies and Network Services</a:t>
            </a:r>
          </a:p>
          <a:p>
            <a:pPr algn="just" eaLnBrk="1" hangingPunct="1">
              <a:buClrTx/>
              <a:buFont typeface="Wingdings" panose="05000000000000000000" pitchFamily="2" charset="2"/>
              <a:buChar char="v"/>
              <a:defRPr/>
            </a:pPr>
            <a:r>
              <a:rPr lang="en-US" sz="2600" dirty="0"/>
              <a:t>Network Switching: Circuit switching, Message Switching and Packet Switching</a:t>
            </a:r>
          </a:p>
          <a:p>
            <a:pPr algn="just" eaLnBrk="1" hangingPunct="1">
              <a:buClrTx/>
              <a:buFont typeface="Wingdings" panose="05000000000000000000" pitchFamily="2" charset="2"/>
              <a:buChar char="v"/>
              <a:defRPr/>
            </a:pPr>
            <a:r>
              <a:rPr lang="en-US" sz="2600" dirty="0"/>
              <a:t>Broadband Technologies</a:t>
            </a:r>
          </a:p>
          <a:p>
            <a:pPr algn="just" eaLnBrk="1" hangingPunct="1">
              <a:buClrTx/>
              <a:buFont typeface="Wingdings" panose="05000000000000000000" pitchFamily="2" charset="2"/>
              <a:buChar char="v"/>
              <a:defRPr/>
            </a:pPr>
            <a:r>
              <a:rPr lang="en-US" sz="2600" dirty="0"/>
              <a:t>Value Added Networks</a:t>
            </a:r>
          </a:p>
          <a:p>
            <a:pPr algn="just" eaLnBrk="1" hangingPunct="1">
              <a:buClrTx/>
              <a:buFont typeface="Wingdings" panose="05000000000000000000" pitchFamily="2" charset="2"/>
              <a:buChar char="v"/>
              <a:defRPr/>
            </a:pPr>
            <a:r>
              <a:rPr lang="en-US" sz="2600" dirty="0"/>
              <a:t>Frame Relay and Asynchronous Transfer Mode</a:t>
            </a:r>
          </a:p>
          <a:p>
            <a:pPr algn="just" eaLnBrk="1" hangingPunct="1">
              <a:buClrTx/>
              <a:buFont typeface="Wingdings" panose="05000000000000000000" pitchFamily="2" charset="2"/>
              <a:buChar char="v"/>
              <a:defRPr/>
            </a:pPr>
            <a:r>
              <a:rPr lang="en-US" sz="2600" dirty="0"/>
              <a:t>Integrated Service Digital Network (ISDN)</a:t>
            </a:r>
          </a:p>
          <a:p>
            <a:pPr algn="just" eaLnBrk="1" hangingPunct="1">
              <a:buClrTx/>
              <a:buFont typeface="Wingdings" panose="05000000000000000000" pitchFamily="2" charset="2"/>
              <a:buChar char="v"/>
              <a:defRPr/>
            </a:pPr>
            <a:r>
              <a:rPr lang="en-US" sz="2600" dirty="0"/>
              <a:t>Digital Subscriber Line (DSL)</a:t>
            </a:r>
          </a:p>
          <a:p>
            <a:pPr algn="just" eaLnBrk="1" hangingPunct="1">
              <a:buClrTx/>
              <a:buFont typeface="Wingdings" panose="05000000000000000000" pitchFamily="2" charset="2"/>
              <a:buChar char="v"/>
              <a:defRPr/>
            </a:pPr>
            <a:r>
              <a:rPr lang="en-US" sz="2600" dirty="0"/>
              <a:t>Cable modem and T1 line</a:t>
            </a:r>
          </a:p>
          <a:p>
            <a:pPr algn="just" eaLnBrk="1" hangingPunct="1">
              <a:buClrTx/>
              <a:buFont typeface="Wingdings" panose="05000000000000000000" pitchFamily="2" charset="2"/>
              <a:buChar char="v"/>
              <a:defRPr/>
            </a:pPr>
            <a:r>
              <a:rPr lang="en-US" sz="2600" dirty="0"/>
              <a:t>Convergence Network and Unified Messaging</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1068182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Network Technologies - Definition</a:t>
            </a:r>
          </a:p>
        </p:txBody>
      </p:sp>
      <p:sp>
        <p:nvSpPr>
          <p:cNvPr id="203779" name="Rectangle 3"/>
          <p:cNvSpPr>
            <a:spLocks noGrp="1" noChangeArrowheads="1"/>
          </p:cNvSpPr>
          <p:nvPr>
            <p:ph idx="1"/>
          </p:nvPr>
        </p:nvSpPr>
        <p:spPr>
          <a:xfrm>
            <a:off x="1669774" y="1600201"/>
            <a:ext cx="8878956" cy="4530725"/>
          </a:xfrm>
        </p:spPr>
        <p:txBody>
          <a:bodyPr/>
          <a:lstStyle/>
          <a:p>
            <a:pPr algn="just" eaLnBrk="1" hangingPunct="1">
              <a:buClrTx/>
              <a:buFont typeface="Wingdings" panose="05000000000000000000" pitchFamily="2" charset="2"/>
              <a:buChar char="§"/>
              <a:defRPr/>
            </a:pPr>
            <a:r>
              <a:rPr lang="en-US" dirty="0"/>
              <a:t>A network technology embroils the use of data systems to manage and deliver digital resources over a computer network.</a:t>
            </a:r>
          </a:p>
          <a:p>
            <a:pPr algn="just" eaLnBrk="1" hangingPunct="1">
              <a:buClrTx/>
              <a:buFont typeface="Wingdings" panose="05000000000000000000" pitchFamily="2" charset="2"/>
              <a:buChar char="§"/>
              <a:defRPr/>
            </a:pPr>
            <a:endParaRPr lang="en-US" dirty="0"/>
          </a:p>
          <a:p>
            <a:pPr algn="just" eaLnBrk="1" hangingPunct="1">
              <a:buClrTx/>
              <a:buFont typeface="Wingdings" panose="05000000000000000000" pitchFamily="2" charset="2"/>
              <a:buChar char="§"/>
              <a:defRPr/>
            </a:pPr>
            <a:r>
              <a:rPr lang="en-US" dirty="0"/>
              <a:t>It allows institutions and businesses to send data digitally with the help of information systems.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914607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Network Services - Definition</a:t>
            </a:r>
          </a:p>
        </p:txBody>
      </p:sp>
      <p:sp>
        <p:nvSpPr>
          <p:cNvPr id="203779" name="Rectangle 3"/>
          <p:cNvSpPr>
            <a:spLocks noGrp="1" noChangeArrowheads="1"/>
          </p:cNvSpPr>
          <p:nvPr>
            <p:ph idx="1"/>
          </p:nvPr>
        </p:nvSpPr>
        <p:spPr>
          <a:xfrm>
            <a:off x="1669774" y="1600201"/>
            <a:ext cx="8878956" cy="4893365"/>
          </a:xfrm>
        </p:spPr>
        <p:txBody>
          <a:bodyPr/>
          <a:lstStyle/>
          <a:p>
            <a:pPr algn="just" eaLnBrk="1" hangingPunct="1">
              <a:buClrTx/>
              <a:buFont typeface="Wingdings" panose="05000000000000000000" pitchFamily="2" charset="2"/>
              <a:buChar char="§"/>
              <a:defRPr/>
            </a:pPr>
            <a:r>
              <a:rPr lang="en-US" dirty="0"/>
              <a:t>A network service is an application running at the network application layer and above.</a:t>
            </a:r>
          </a:p>
          <a:p>
            <a:pPr algn="just" eaLnBrk="1" hangingPunct="1">
              <a:buClrTx/>
              <a:buFont typeface="Wingdings" panose="05000000000000000000" pitchFamily="2" charset="2"/>
              <a:buChar char="§"/>
              <a:defRPr/>
            </a:pPr>
            <a:r>
              <a:rPr lang="en-US" dirty="0"/>
              <a:t>It provides data storage, manipulation, presentation, communication or other capability which is often implemented using a client–server or peer-to-peer architecture.</a:t>
            </a:r>
          </a:p>
          <a:p>
            <a:pPr algn="just" eaLnBrk="1" hangingPunct="1">
              <a:buClrTx/>
              <a:buFont typeface="Wingdings" panose="05000000000000000000" pitchFamily="2" charset="2"/>
              <a:buChar char="§"/>
              <a:defRPr/>
            </a:pPr>
            <a:r>
              <a:rPr lang="en-US" dirty="0"/>
              <a:t>It is based on application layer network protocols.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96743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Network Services - Examples</a:t>
            </a:r>
          </a:p>
        </p:txBody>
      </p:sp>
      <p:sp>
        <p:nvSpPr>
          <p:cNvPr id="203779" name="Rectangle 3"/>
          <p:cNvSpPr>
            <a:spLocks noGrp="1" noChangeArrowheads="1"/>
          </p:cNvSpPr>
          <p:nvPr>
            <p:ph idx="1"/>
          </p:nvPr>
        </p:nvSpPr>
        <p:spPr>
          <a:xfrm>
            <a:off x="1669774" y="1600201"/>
            <a:ext cx="8878956" cy="4530725"/>
          </a:xfrm>
        </p:spPr>
        <p:txBody>
          <a:bodyPr/>
          <a:lstStyle/>
          <a:p>
            <a:pPr algn="just" eaLnBrk="1" hangingPunct="1">
              <a:buClrTx/>
              <a:buFont typeface="Wingdings" panose="05000000000000000000" pitchFamily="2" charset="2"/>
              <a:buChar char="§"/>
              <a:defRPr/>
            </a:pPr>
            <a:r>
              <a:rPr lang="en-US" dirty="0"/>
              <a:t>IP addressing</a:t>
            </a:r>
          </a:p>
          <a:p>
            <a:pPr algn="just" eaLnBrk="1" hangingPunct="1">
              <a:buClrTx/>
              <a:buFont typeface="Wingdings" panose="05000000000000000000" pitchFamily="2" charset="2"/>
              <a:buChar char="§"/>
              <a:defRPr/>
            </a:pPr>
            <a:r>
              <a:rPr lang="en-US" dirty="0"/>
              <a:t>Domain Name Systems (DNS), used to convert domain names to IP addresses.  </a:t>
            </a:r>
          </a:p>
          <a:p>
            <a:pPr algn="just" eaLnBrk="1" hangingPunct="1">
              <a:buClrTx/>
              <a:buFont typeface="Wingdings" panose="05000000000000000000" pitchFamily="2" charset="2"/>
              <a:buChar char="§"/>
              <a:defRPr/>
            </a:pPr>
            <a:r>
              <a:rPr lang="en-US" dirty="0"/>
              <a:t>Email services</a:t>
            </a:r>
          </a:p>
          <a:p>
            <a:pPr algn="just" eaLnBrk="1" hangingPunct="1">
              <a:buClrTx/>
              <a:buFont typeface="Wingdings" panose="05000000000000000000" pitchFamily="2" charset="2"/>
              <a:buChar char="§"/>
              <a:defRPr/>
            </a:pPr>
            <a:r>
              <a:rPr lang="en-US" dirty="0"/>
              <a:t>Internet access</a:t>
            </a:r>
          </a:p>
          <a:p>
            <a:pPr algn="just" eaLnBrk="1" hangingPunct="1">
              <a:buClrTx/>
              <a:buFont typeface="Wingdings" panose="05000000000000000000" pitchFamily="2" charset="2"/>
              <a:buChar char="§"/>
              <a:defRPr/>
            </a:pPr>
            <a:r>
              <a:rPr lang="en-US" dirty="0"/>
              <a:t>Web content filtering</a:t>
            </a:r>
          </a:p>
          <a:p>
            <a:pPr algn="just" eaLnBrk="1" hangingPunct="1">
              <a:buClrTx/>
              <a:buFont typeface="Wingdings" panose="05000000000000000000" pitchFamily="2" charset="2"/>
              <a:buChar char="§"/>
              <a:defRPr/>
            </a:pPr>
            <a:r>
              <a:rPr lang="en-US" dirty="0"/>
              <a:t>Security tools such as firewalls, VPNs and Intrusion Prevention Systems.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032814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Network Switching</a:t>
            </a:r>
          </a:p>
        </p:txBody>
      </p:sp>
      <p:sp>
        <p:nvSpPr>
          <p:cNvPr id="203779" name="Rectangle 3"/>
          <p:cNvSpPr>
            <a:spLocks noGrp="1" noChangeArrowheads="1"/>
          </p:cNvSpPr>
          <p:nvPr>
            <p:ph idx="1"/>
          </p:nvPr>
        </p:nvSpPr>
        <p:spPr>
          <a:xfrm>
            <a:off x="1669774" y="1282153"/>
            <a:ext cx="8878956" cy="4530725"/>
          </a:xfrm>
        </p:spPr>
        <p:txBody>
          <a:bodyPr>
            <a:normAutofit fontScale="92500"/>
          </a:bodyPr>
          <a:lstStyle/>
          <a:p>
            <a:pPr algn="just" eaLnBrk="1" hangingPunct="1">
              <a:buClrTx/>
              <a:buFont typeface="Wingdings" panose="05000000000000000000" pitchFamily="2" charset="2"/>
              <a:buChar char="§"/>
              <a:defRPr/>
            </a:pPr>
            <a:r>
              <a:rPr lang="en-US" sz="2200" dirty="0"/>
              <a:t>Switching is the process used to forward packets coming in from one port to a port leading towards the destination.</a:t>
            </a:r>
          </a:p>
          <a:p>
            <a:pPr algn="just" eaLnBrk="1" hangingPunct="1">
              <a:buClrTx/>
              <a:buFont typeface="Wingdings" panose="05000000000000000000" pitchFamily="2" charset="2"/>
              <a:buChar char="§"/>
              <a:defRPr/>
            </a:pPr>
            <a:r>
              <a:rPr lang="en-US" sz="2200" dirty="0"/>
              <a:t>When data comes on a port, it is called </a:t>
            </a:r>
            <a:r>
              <a:rPr lang="en-US" sz="2200" b="1" dirty="0"/>
              <a:t>ingress</a:t>
            </a:r>
            <a:r>
              <a:rPr lang="en-US" sz="2200" dirty="0"/>
              <a:t>, and when data leaves a port or goes out it is called </a:t>
            </a:r>
            <a:r>
              <a:rPr lang="en-US" sz="2200" b="1" dirty="0"/>
              <a:t>egress.</a:t>
            </a:r>
          </a:p>
          <a:p>
            <a:pPr algn="just" eaLnBrk="1" hangingPunct="1">
              <a:buClrTx/>
              <a:buFont typeface="Wingdings" panose="05000000000000000000" pitchFamily="2" charset="2"/>
              <a:buChar char="§"/>
              <a:defRPr/>
            </a:pPr>
            <a:r>
              <a:rPr lang="en-US" sz="2200" dirty="0"/>
              <a:t>A communication system may include a number of switches and nodes.</a:t>
            </a:r>
          </a:p>
          <a:p>
            <a:pPr algn="just" eaLnBrk="1" hangingPunct="1">
              <a:buClrTx/>
              <a:buFont typeface="Wingdings" panose="05000000000000000000" pitchFamily="2" charset="2"/>
              <a:buChar char="§"/>
              <a:defRPr/>
            </a:pPr>
            <a:r>
              <a:rPr lang="en-US" sz="2200" dirty="0"/>
              <a:t>At broad level, switching can be divided into two major categories:</a:t>
            </a:r>
          </a:p>
          <a:p>
            <a:pPr lvl="1" algn="just" eaLnBrk="1" hangingPunct="1">
              <a:buClrTx/>
              <a:buFont typeface="Wingdings" panose="05000000000000000000" pitchFamily="2" charset="2"/>
              <a:buChar char="ü"/>
              <a:defRPr/>
            </a:pPr>
            <a:r>
              <a:rPr lang="en-US" sz="1700" b="1" dirty="0"/>
              <a:t>Connectionless:</a:t>
            </a:r>
            <a:r>
              <a:rPr lang="en-US" sz="1700" dirty="0"/>
              <a:t> The data is forwarded on behalf of forwarding tables. No previous handshaking is required and acknowledgements are optional.</a:t>
            </a:r>
          </a:p>
          <a:p>
            <a:pPr lvl="1" algn="just" eaLnBrk="1" hangingPunct="1">
              <a:buClrTx/>
              <a:buFont typeface="Wingdings" panose="05000000000000000000" pitchFamily="2" charset="2"/>
              <a:buChar char="ü"/>
              <a:defRPr/>
            </a:pPr>
            <a:r>
              <a:rPr lang="en-US" sz="1700" b="1" dirty="0"/>
              <a:t>Connection Oriented: </a:t>
            </a:r>
            <a:r>
              <a:rPr lang="en-US" sz="1700" dirty="0"/>
              <a:t> Before switching data to be forwarded to destination, there is a need to pre-establish a circuit along the path between both endpoints. Data is then forwarded on that circuit. After the transfer is completed, circuits can be kept for future use or can be turned down immediately.</a:t>
            </a:r>
          </a:p>
          <a:p>
            <a:pPr algn="just" eaLnBrk="1" hangingPunct="1">
              <a:buClrTx/>
              <a:buFont typeface="Wingdings" panose="05000000000000000000" pitchFamily="2" charset="2"/>
              <a:buChar char="§"/>
              <a:defRPr/>
            </a:pPr>
            <a:endParaRPr lang="en-US" sz="2200"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733652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Circuit Switching</a:t>
            </a:r>
          </a:p>
        </p:txBody>
      </p:sp>
      <p:sp>
        <p:nvSpPr>
          <p:cNvPr id="203779" name="Rectangle 3"/>
          <p:cNvSpPr>
            <a:spLocks noGrp="1" noChangeArrowheads="1"/>
          </p:cNvSpPr>
          <p:nvPr>
            <p:ph idx="1"/>
          </p:nvPr>
        </p:nvSpPr>
        <p:spPr>
          <a:xfrm>
            <a:off x="1669774" y="1600201"/>
            <a:ext cx="8878956" cy="4840357"/>
          </a:xfrm>
        </p:spPr>
        <p:txBody>
          <a:bodyPr>
            <a:normAutofit fontScale="92500"/>
          </a:bodyPr>
          <a:lstStyle/>
          <a:p>
            <a:pPr algn="just" eaLnBrk="1" hangingPunct="1">
              <a:buClrTx/>
              <a:buFont typeface="Wingdings" panose="05000000000000000000" pitchFamily="2" charset="2"/>
              <a:buChar char="§"/>
              <a:defRPr/>
            </a:pPr>
            <a:r>
              <a:rPr lang="en-US" sz="2400" dirty="0"/>
              <a:t>When two nodes communicate with each other over a dedicated communication path, it is called </a:t>
            </a:r>
            <a:r>
              <a:rPr lang="en-US" sz="2400" b="1" dirty="0"/>
              <a:t>circuit switching</a:t>
            </a:r>
            <a:r>
              <a:rPr lang="en-US" sz="2400" dirty="0"/>
              <a:t>.</a:t>
            </a:r>
          </a:p>
          <a:p>
            <a:pPr algn="just" eaLnBrk="1" hangingPunct="1">
              <a:buClrTx/>
              <a:buFont typeface="Wingdings" panose="05000000000000000000" pitchFamily="2" charset="2"/>
              <a:buChar char="§"/>
              <a:defRPr/>
            </a:pPr>
            <a:r>
              <a:rPr lang="en-US" sz="2400" dirty="0"/>
              <a:t>There is a need for pre-specified route from which data will travel and no other data is permitted.</a:t>
            </a:r>
          </a:p>
          <a:p>
            <a:pPr algn="just" eaLnBrk="1" hangingPunct="1">
              <a:buClrTx/>
              <a:buFont typeface="Wingdings" panose="05000000000000000000" pitchFamily="2" charset="2"/>
              <a:buChar char="§"/>
              <a:defRPr/>
            </a:pPr>
            <a:r>
              <a:rPr lang="en-US" sz="2400" dirty="0"/>
              <a:t>In circuit switching, to transfer the data, a circuit must be established so that the data transfer can take place.</a:t>
            </a:r>
          </a:p>
          <a:p>
            <a:pPr algn="just" eaLnBrk="1" hangingPunct="1">
              <a:buClrTx/>
              <a:buFont typeface="Wingdings" panose="05000000000000000000" pitchFamily="2" charset="2"/>
              <a:buChar char="§"/>
              <a:defRPr/>
            </a:pPr>
            <a:r>
              <a:rPr lang="en-US" sz="2400" dirty="0"/>
              <a:t>Circuits can be permanent or temporary. Applications which use circuit switching may have to go through three phases, namely:</a:t>
            </a:r>
          </a:p>
          <a:p>
            <a:pPr lvl="1" algn="just" eaLnBrk="1" hangingPunct="1">
              <a:buClrTx/>
              <a:buFont typeface="Wingdings" panose="05000000000000000000" pitchFamily="2" charset="2"/>
              <a:buChar char="ü"/>
              <a:defRPr/>
            </a:pPr>
            <a:r>
              <a:rPr lang="en-US" sz="1900" dirty="0"/>
              <a:t>Establish a circuit</a:t>
            </a:r>
          </a:p>
          <a:p>
            <a:pPr lvl="1" algn="just" eaLnBrk="1" hangingPunct="1">
              <a:buClrTx/>
              <a:buFont typeface="Wingdings" panose="05000000000000000000" pitchFamily="2" charset="2"/>
              <a:buChar char="ü"/>
              <a:defRPr/>
            </a:pPr>
            <a:r>
              <a:rPr lang="en-US" sz="1900" dirty="0"/>
              <a:t>Transfer the data</a:t>
            </a:r>
          </a:p>
          <a:p>
            <a:pPr lvl="1" algn="just" eaLnBrk="1" hangingPunct="1">
              <a:buClrTx/>
              <a:buFont typeface="Wingdings" panose="05000000000000000000" pitchFamily="2" charset="2"/>
              <a:buChar char="ü"/>
              <a:defRPr/>
            </a:pPr>
            <a:r>
              <a:rPr lang="en-US" sz="1900" dirty="0"/>
              <a:t>Disconnect the circuit</a:t>
            </a:r>
          </a:p>
          <a:p>
            <a:pPr algn="just" eaLnBrk="1" hangingPunct="1">
              <a:buFont typeface="Wingdings" panose="05000000000000000000" pitchFamily="2" charset="2"/>
              <a:buChar char="§"/>
              <a:defRPr/>
            </a:pPr>
            <a:endParaRPr lang="en-US" sz="2400"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457967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Circuit Switching Cont’d</a:t>
            </a:r>
          </a:p>
        </p:txBody>
      </p:sp>
      <p:sp>
        <p:nvSpPr>
          <p:cNvPr id="203779" name="Rectangle 3"/>
          <p:cNvSpPr>
            <a:spLocks noGrp="1" noChangeArrowheads="1"/>
          </p:cNvSpPr>
          <p:nvPr>
            <p:ph idx="1"/>
          </p:nvPr>
        </p:nvSpPr>
        <p:spPr>
          <a:xfrm>
            <a:off x="1669774" y="1600201"/>
            <a:ext cx="8878956" cy="4530725"/>
          </a:xfrm>
        </p:spPr>
        <p:txBody>
          <a:bodyPr/>
          <a:lstStyle/>
          <a:p>
            <a:pPr algn="just" eaLnBrk="1" hangingPunct="1">
              <a:buClrTx/>
              <a:buFont typeface="Wingdings" panose="05000000000000000000" pitchFamily="2" charset="2"/>
              <a:buChar char="§"/>
              <a:defRPr/>
            </a:pPr>
            <a:r>
              <a:rPr lang="en-US" dirty="0"/>
              <a:t>Circuit switching was designed for voice applications.</a:t>
            </a:r>
          </a:p>
          <a:p>
            <a:pPr algn="just" eaLnBrk="1" hangingPunct="1">
              <a:buClrTx/>
              <a:buFont typeface="Wingdings" panose="05000000000000000000" pitchFamily="2" charset="2"/>
              <a:buChar char="§"/>
              <a:defRPr/>
            </a:pPr>
            <a:r>
              <a:rPr lang="en-US" dirty="0"/>
              <a:t>Telephone is the best suitable example of circuit switching.</a:t>
            </a:r>
          </a:p>
          <a:p>
            <a:pPr algn="just" eaLnBrk="1" hangingPunct="1">
              <a:buClrTx/>
              <a:buFont typeface="Wingdings" panose="05000000000000000000" pitchFamily="2" charset="2"/>
              <a:buChar char="§"/>
              <a:defRPr/>
            </a:pPr>
            <a:r>
              <a:rPr lang="en-US" dirty="0"/>
              <a:t>Before a user can make a call, a virtual path between the caller and the receiver is established over the network.</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845030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Circuit Switching Diagram</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7754" y="1562721"/>
            <a:ext cx="6440226" cy="4798322"/>
          </a:xfrm>
          <a:prstGeom prst="rect">
            <a:avLst/>
          </a:prstGeom>
        </p:spPr>
      </p:pic>
    </p:spTree>
    <p:extLst>
      <p:ext uri="{BB962C8B-B14F-4D97-AF65-F5344CB8AC3E}">
        <p14:creationId xmlns:p14="http://schemas.microsoft.com/office/powerpoint/2010/main" val="4198358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Message Switching</a:t>
            </a:r>
          </a:p>
        </p:txBody>
      </p:sp>
      <p:sp>
        <p:nvSpPr>
          <p:cNvPr id="203779" name="Rectangle 3"/>
          <p:cNvSpPr>
            <a:spLocks noGrp="1" noChangeArrowheads="1"/>
          </p:cNvSpPr>
          <p:nvPr>
            <p:ph idx="1"/>
          </p:nvPr>
        </p:nvSpPr>
        <p:spPr>
          <a:xfrm>
            <a:off x="1669774" y="1600200"/>
            <a:ext cx="8878956" cy="4813852"/>
          </a:xfrm>
        </p:spPr>
        <p:txBody>
          <a:bodyPr>
            <a:normAutofit lnSpcReduction="10000"/>
          </a:bodyPr>
          <a:lstStyle/>
          <a:p>
            <a:pPr algn="just" eaLnBrk="1" hangingPunct="1">
              <a:buClrTx/>
              <a:buFont typeface="Wingdings" panose="05000000000000000000" pitchFamily="2" charset="2"/>
              <a:buChar char="§"/>
              <a:defRPr/>
            </a:pPr>
            <a:r>
              <a:rPr lang="en-US" sz="2700" dirty="0"/>
              <a:t>Stands in the middle of circuit switching and packet switching.</a:t>
            </a:r>
          </a:p>
          <a:p>
            <a:pPr algn="just" eaLnBrk="1" hangingPunct="1">
              <a:buClrTx/>
              <a:buFont typeface="Wingdings" panose="05000000000000000000" pitchFamily="2" charset="2"/>
              <a:buChar char="§"/>
              <a:defRPr/>
            </a:pPr>
            <a:r>
              <a:rPr lang="en-US" sz="2700" dirty="0"/>
              <a:t>In message switching, the whole message is treated as a data unit and is switched or transferred in its entirety.</a:t>
            </a:r>
          </a:p>
          <a:p>
            <a:pPr algn="just" eaLnBrk="1" hangingPunct="1">
              <a:buClrTx/>
              <a:buFont typeface="Wingdings" panose="05000000000000000000" pitchFamily="2" charset="2"/>
              <a:buChar char="§"/>
              <a:defRPr/>
            </a:pPr>
            <a:r>
              <a:rPr lang="en-US" sz="2700" dirty="0"/>
              <a:t>A switch working on message switching first receives the whole message and buffers it until there are resources available to transfer it to the next hop. If the next hop is not having enough resource to accommodate a large sized message, the message is stored and the switch waits.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782098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Message Switching Cont’d</a:t>
            </a:r>
          </a:p>
        </p:txBody>
      </p:sp>
      <p:sp>
        <p:nvSpPr>
          <p:cNvPr id="203779" name="Rectangle 3"/>
          <p:cNvSpPr>
            <a:spLocks noGrp="1" noChangeArrowheads="1"/>
          </p:cNvSpPr>
          <p:nvPr>
            <p:ph idx="1"/>
          </p:nvPr>
        </p:nvSpPr>
        <p:spPr>
          <a:xfrm>
            <a:off x="1669774" y="1600201"/>
            <a:ext cx="8878956" cy="4530725"/>
          </a:xfrm>
        </p:spPr>
        <p:txBody>
          <a:bodyPr/>
          <a:lstStyle/>
          <a:p>
            <a:pPr algn="just" eaLnBrk="1" hangingPunct="1">
              <a:buClrTx/>
              <a:buFont typeface="Wingdings" panose="05000000000000000000" pitchFamily="2" charset="2"/>
              <a:buChar char="§"/>
              <a:defRPr/>
            </a:pPr>
            <a:r>
              <a:rPr lang="en-US" dirty="0"/>
              <a:t>Message switching has the following drawbacks:</a:t>
            </a:r>
          </a:p>
          <a:p>
            <a:pPr lvl="1" algn="just" eaLnBrk="1" hangingPunct="1">
              <a:buClrTx/>
              <a:buFont typeface="Wingdings" panose="05000000000000000000" pitchFamily="2" charset="2"/>
              <a:buChar char="ü"/>
              <a:defRPr/>
            </a:pPr>
            <a:r>
              <a:rPr lang="en-US" dirty="0"/>
              <a:t>Every switch in transit path needs enough storage to accommodate the entire message.</a:t>
            </a:r>
          </a:p>
          <a:p>
            <a:pPr lvl="1" algn="just" eaLnBrk="1" hangingPunct="1">
              <a:buClrTx/>
              <a:buFont typeface="Wingdings" panose="05000000000000000000" pitchFamily="2" charset="2"/>
              <a:buChar char="ü"/>
              <a:defRPr/>
            </a:pPr>
            <a:r>
              <a:rPr lang="en-US" dirty="0"/>
              <a:t>Because of store-and-forward technique and waiting included until resources are available, message switching is very slow.</a:t>
            </a:r>
          </a:p>
          <a:p>
            <a:pPr lvl="1" algn="just" eaLnBrk="1" hangingPunct="1">
              <a:buClrTx/>
              <a:buFont typeface="Wingdings" panose="05000000000000000000" pitchFamily="2" charset="2"/>
              <a:buChar char="ü"/>
              <a:defRPr/>
            </a:pPr>
            <a:r>
              <a:rPr lang="en-US" dirty="0"/>
              <a:t>Message switching is not the best solution for streaming media and real-time applications.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2222994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Message Switching Diagram</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8359" y="2085975"/>
            <a:ext cx="7220529" cy="3784738"/>
          </a:xfrm>
          <a:prstGeom prst="rect">
            <a:avLst/>
          </a:prstGeom>
        </p:spPr>
      </p:pic>
    </p:spTree>
    <p:extLst>
      <p:ext uri="{BB962C8B-B14F-4D97-AF65-F5344CB8AC3E}">
        <p14:creationId xmlns:p14="http://schemas.microsoft.com/office/powerpoint/2010/main" val="4115408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Packet Switching</a:t>
            </a:r>
          </a:p>
        </p:txBody>
      </p:sp>
      <p:sp>
        <p:nvSpPr>
          <p:cNvPr id="203779" name="Rectangle 3"/>
          <p:cNvSpPr>
            <a:spLocks noGrp="1" noChangeArrowheads="1"/>
          </p:cNvSpPr>
          <p:nvPr>
            <p:ph idx="1"/>
          </p:nvPr>
        </p:nvSpPr>
        <p:spPr>
          <a:xfrm>
            <a:off x="1669774" y="1600201"/>
            <a:ext cx="8878956" cy="4853609"/>
          </a:xfrm>
        </p:spPr>
        <p:txBody>
          <a:bodyPr/>
          <a:lstStyle/>
          <a:p>
            <a:pPr algn="just" eaLnBrk="1" hangingPunct="1">
              <a:buClrTx/>
              <a:buFont typeface="Wingdings" panose="05000000000000000000" pitchFamily="2" charset="2"/>
              <a:buChar char="§"/>
              <a:defRPr/>
            </a:pPr>
            <a:r>
              <a:rPr lang="en-US" dirty="0"/>
              <a:t>The drawbacks of message switching led to the development of packet switching.</a:t>
            </a:r>
          </a:p>
          <a:p>
            <a:pPr algn="just" eaLnBrk="1" hangingPunct="1">
              <a:buClrTx/>
              <a:buFont typeface="Wingdings" panose="05000000000000000000" pitchFamily="2" charset="2"/>
              <a:buChar char="§"/>
              <a:defRPr/>
            </a:pPr>
            <a:r>
              <a:rPr lang="en-US" dirty="0"/>
              <a:t>The entire message is broken down into smaller chunks called packets.</a:t>
            </a:r>
          </a:p>
          <a:p>
            <a:pPr algn="just" eaLnBrk="1" hangingPunct="1">
              <a:buClrTx/>
              <a:buFont typeface="Wingdings" panose="05000000000000000000" pitchFamily="2" charset="2"/>
              <a:buChar char="§"/>
              <a:defRPr/>
            </a:pPr>
            <a:r>
              <a:rPr lang="en-US" dirty="0"/>
              <a:t>The switching information is added in the header of each packet and transmitted independently.</a:t>
            </a:r>
          </a:p>
          <a:p>
            <a:pPr algn="just" eaLnBrk="1" hangingPunct="1">
              <a:buClrTx/>
              <a:buFont typeface="Wingdings" panose="05000000000000000000" pitchFamily="2" charset="2"/>
              <a:buChar char="§"/>
              <a:defRPr/>
            </a:pPr>
            <a:r>
              <a:rPr lang="en-US" dirty="0"/>
              <a:t>It is easier for intermediate networking devices to store small size packets as they do not take much resources either on carrier path or in the internal memory of switches.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008834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Packet Switching Cont’d</a:t>
            </a:r>
          </a:p>
        </p:txBody>
      </p:sp>
      <p:sp>
        <p:nvSpPr>
          <p:cNvPr id="203779" name="Rectangle 3"/>
          <p:cNvSpPr>
            <a:spLocks noGrp="1" noChangeArrowheads="1"/>
          </p:cNvSpPr>
          <p:nvPr>
            <p:ph idx="1"/>
          </p:nvPr>
        </p:nvSpPr>
        <p:spPr>
          <a:xfrm>
            <a:off x="1669774" y="1600201"/>
            <a:ext cx="8878956" cy="4530725"/>
          </a:xfrm>
        </p:spPr>
        <p:txBody>
          <a:bodyPr/>
          <a:lstStyle/>
          <a:p>
            <a:pPr algn="just" eaLnBrk="1" hangingPunct="1">
              <a:buClrTx/>
              <a:buFont typeface="Wingdings" panose="05000000000000000000" pitchFamily="2" charset="2"/>
              <a:buChar char="§"/>
              <a:defRPr/>
            </a:pPr>
            <a:r>
              <a:rPr lang="en-US" dirty="0"/>
              <a:t>The </a:t>
            </a:r>
            <a:r>
              <a:rPr lang="en-US" b="1" dirty="0"/>
              <a:t>internet</a:t>
            </a:r>
            <a:r>
              <a:rPr lang="en-US" dirty="0"/>
              <a:t> uses packet switching technique.</a:t>
            </a:r>
          </a:p>
          <a:p>
            <a:pPr algn="just" eaLnBrk="1" hangingPunct="1">
              <a:buClrTx/>
              <a:buFont typeface="Wingdings" panose="05000000000000000000" pitchFamily="2" charset="2"/>
              <a:buChar char="§"/>
              <a:defRPr/>
            </a:pPr>
            <a:r>
              <a:rPr lang="en-US" dirty="0"/>
              <a:t>Packet switching enables the user to differentiate data streams based on priorities.</a:t>
            </a:r>
          </a:p>
          <a:p>
            <a:pPr algn="just" eaLnBrk="1" hangingPunct="1">
              <a:buClrTx/>
              <a:buFont typeface="Wingdings" panose="05000000000000000000" pitchFamily="2" charset="2"/>
              <a:buChar char="§"/>
              <a:defRPr/>
            </a:pPr>
            <a:r>
              <a:rPr lang="en-US" dirty="0"/>
              <a:t>Packets are stored and forwarded according to their priority to provide quality of service.</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125390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Packet Switching Diagram</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55637" y="1828801"/>
            <a:ext cx="5791005" cy="4314617"/>
          </a:xfrm>
          <a:prstGeom prst="rect">
            <a:avLst/>
          </a:prstGeom>
        </p:spPr>
      </p:pic>
    </p:spTree>
    <p:extLst>
      <p:ext uri="{BB962C8B-B14F-4D97-AF65-F5344CB8AC3E}">
        <p14:creationId xmlns:p14="http://schemas.microsoft.com/office/powerpoint/2010/main" val="459470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400" dirty="0"/>
              <a:t>Broadband Technologies - Definition</a:t>
            </a:r>
          </a:p>
        </p:txBody>
      </p:sp>
      <p:sp>
        <p:nvSpPr>
          <p:cNvPr id="203779" name="Rectangle 3"/>
          <p:cNvSpPr>
            <a:spLocks noGrp="1" noChangeArrowheads="1"/>
          </p:cNvSpPr>
          <p:nvPr>
            <p:ph idx="1"/>
          </p:nvPr>
        </p:nvSpPr>
        <p:spPr>
          <a:xfrm>
            <a:off x="1669774" y="1600201"/>
            <a:ext cx="8878956" cy="4530725"/>
          </a:xfrm>
        </p:spPr>
        <p:txBody>
          <a:bodyPr/>
          <a:lstStyle/>
          <a:p>
            <a:pPr algn="just" eaLnBrk="1" hangingPunct="1">
              <a:buClrTx/>
              <a:buFont typeface="Wingdings" panose="05000000000000000000" pitchFamily="2" charset="2"/>
              <a:buChar char="§"/>
              <a:defRPr/>
            </a:pPr>
            <a:r>
              <a:rPr lang="en-US" dirty="0"/>
              <a:t>The term broadband commonly refers to high-speed Internet access that is always on and faster than the traditional dial-up access.</a:t>
            </a:r>
          </a:p>
          <a:p>
            <a:pPr algn="just" eaLnBrk="1" hangingPunct="1">
              <a:buClrTx/>
              <a:buFont typeface="Wingdings" panose="05000000000000000000" pitchFamily="2" charset="2"/>
              <a:buChar char="§"/>
              <a:defRPr/>
            </a:pPr>
            <a:endParaRPr lang="en-US" dirty="0"/>
          </a:p>
          <a:p>
            <a:pPr algn="just" eaLnBrk="1" hangingPunct="1">
              <a:buClrTx/>
              <a:buFont typeface="Wingdings" panose="05000000000000000000" pitchFamily="2" charset="2"/>
              <a:buChar char="§"/>
              <a:defRPr/>
            </a:pPr>
            <a:r>
              <a:rPr lang="en-US" dirty="0"/>
              <a:t>​​​​​​​​Broadband technology allows for high-speed transmission of voice, video and data over networks and ICT applications.</a:t>
            </a:r>
          </a:p>
          <a:p>
            <a:pPr algn="just" eaLnBrk="1" hangingPunct="1">
              <a:buClrTx/>
              <a:buFont typeface="Wingdings" panose="05000000000000000000" pitchFamily="2" charset="2"/>
              <a:buChar char="§"/>
              <a:defRPr/>
            </a:pPr>
            <a:endParaRPr lang="en-US" dirty="0"/>
          </a:p>
          <a:p>
            <a:pPr algn="just" eaLnBrk="1" hangingPunct="1">
              <a:buClrTx/>
              <a:buFont typeface="Wingdings" panose="05000000000000000000" pitchFamily="2" charset="2"/>
              <a:buChar char="§"/>
              <a:defRPr/>
            </a:pPr>
            <a:endParaRPr lang="en-US"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900190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Types of Broadband Technologies</a:t>
            </a:r>
          </a:p>
        </p:txBody>
      </p:sp>
      <p:sp>
        <p:nvSpPr>
          <p:cNvPr id="203779" name="Rectangle 3"/>
          <p:cNvSpPr>
            <a:spLocks noGrp="1" noChangeArrowheads="1"/>
          </p:cNvSpPr>
          <p:nvPr>
            <p:ph idx="1"/>
          </p:nvPr>
        </p:nvSpPr>
        <p:spPr>
          <a:xfrm>
            <a:off x="1669774" y="1600201"/>
            <a:ext cx="8878956" cy="4530725"/>
          </a:xfrm>
        </p:spPr>
        <p:txBody>
          <a:bodyPr/>
          <a:lstStyle/>
          <a:p>
            <a:pPr marL="514350" indent="-514350" algn="just">
              <a:buFont typeface="+mj-lt"/>
              <a:buAutoNum type="alphaLcPeriod"/>
              <a:defRPr/>
            </a:pPr>
            <a:r>
              <a:rPr lang="en-US" dirty="0"/>
              <a:t>Digital subscriber line (DSL)</a:t>
            </a:r>
          </a:p>
          <a:p>
            <a:pPr marL="514350" indent="-514350" algn="just">
              <a:buFont typeface="+mj-lt"/>
              <a:buAutoNum type="alphaLcPeriod"/>
              <a:defRPr/>
            </a:pPr>
            <a:r>
              <a:rPr lang="en-US" dirty="0"/>
              <a:t>Cable modem</a:t>
            </a:r>
          </a:p>
          <a:p>
            <a:pPr marL="514350" indent="-514350" algn="just">
              <a:buFont typeface="+mj-lt"/>
              <a:buAutoNum type="alphaLcPeriod"/>
              <a:defRPr/>
            </a:pPr>
            <a:r>
              <a:rPr lang="en-US" dirty="0"/>
              <a:t>Fiber</a:t>
            </a:r>
          </a:p>
          <a:p>
            <a:pPr marL="514350" indent="-514350" algn="just">
              <a:buFont typeface="+mj-lt"/>
              <a:buAutoNum type="alphaLcPeriod"/>
              <a:defRPr/>
            </a:pPr>
            <a:r>
              <a:rPr lang="en-US" dirty="0"/>
              <a:t>Wireless</a:t>
            </a:r>
          </a:p>
          <a:p>
            <a:pPr marL="514350" indent="-514350" algn="just">
              <a:buFont typeface="+mj-lt"/>
              <a:buAutoNum type="alphaLcPeriod"/>
              <a:defRPr/>
            </a:pPr>
            <a:r>
              <a:rPr lang="en-US" dirty="0"/>
              <a:t>Satellite</a:t>
            </a:r>
          </a:p>
          <a:p>
            <a:pPr marL="514350" indent="-514350" algn="just">
              <a:buFont typeface="+mj-lt"/>
              <a:buAutoNum type="alphaLcPeriod"/>
              <a:defRPr/>
            </a:pPr>
            <a:r>
              <a:rPr lang="en-US" dirty="0"/>
              <a:t>Broadband Over Power Lines (BPL).</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4221055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a:xfrm>
            <a:off x="1981200" y="248134"/>
            <a:ext cx="8229600" cy="1143000"/>
          </a:xfrm>
        </p:spPr>
        <p:txBody>
          <a:bodyPr/>
          <a:lstStyle/>
          <a:p>
            <a:pPr eaLnBrk="1" hangingPunct="1">
              <a:defRPr/>
            </a:pPr>
            <a:r>
              <a:rPr lang="en-US" dirty="0"/>
              <a:t>Value Added Networks</a:t>
            </a:r>
          </a:p>
        </p:txBody>
      </p:sp>
      <p:sp>
        <p:nvSpPr>
          <p:cNvPr id="203779" name="Rectangle 3"/>
          <p:cNvSpPr>
            <a:spLocks noGrp="1" noChangeArrowheads="1"/>
          </p:cNvSpPr>
          <p:nvPr>
            <p:ph idx="1"/>
          </p:nvPr>
        </p:nvSpPr>
        <p:spPr>
          <a:xfrm>
            <a:off x="1669774" y="1480932"/>
            <a:ext cx="8878956" cy="5092146"/>
          </a:xfrm>
        </p:spPr>
        <p:txBody>
          <a:bodyPr/>
          <a:lstStyle/>
          <a:p>
            <a:pPr algn="just" eaLnBrk="1" hangingPunct="1">
              <a:buClrTx/>
              <a:buFont typeface="Wingdings" panose="05000000000000000000" pitchFamily="2" charset="2"/>
              <a:buChar char="§"/>
              <a:defRPr/>
            </a:pPr>
            <a:r>
              <a:rPr lang="en-US" dirty="0"/>
              <a:t>A value-added network (VAN) is a private, hosted service that provides companies with a secure way to send and share data with other partners.</a:t>
            </a:r>
          </a:p>
          <a:p>
            <a:pPr algn="just" eaLnBrk="1" hangingPunct="1">
              <a:buClrTx/>
              <a:buFont typeface="Wingdings" panose="05000000000000000000" pitchFamily="2" charset="2"/>
              <a:buChar char="§"/>
              <a:defRPr/>
            </a:pPr>
            <a:r>
              <a:rPr lang="en-US" dirty="0"/>
              <a:t>Value-added networks are often used for electronic data interchanging between companies.</a:t>
            </a:r>
          </a:p>
          <a:p>
            <a:pPr algn="just" eaLnBrk="1" hangingPunct="1">
              <a:buClrTx/>
              <a:buFont typeface="Wingdings" panose="05000000000000000000" pitchFamily="2" charset="2"/>
              <a:buChar char="§"/>
              <a:defRPr/>
            </a:pPr>
            <a:r>
              <a:rPr lang="en-US" dirty="0"/>
              <a:t>VANs make the communication process easier with communication between fewer parties.</a:t>
            </a:r>
          </a:p>
          <a:p>
            <a:pPr algn="just" eaLnBrk="1" hangingPunct="1">
              <a:buClrTx/>
              <a:buFont typeface="Wingdings" panose="05000000000000000000" pitchFamily="2" charset="2"/>
              <a:buChar char="§"/>
              <a:defRPr/>
            </a:pPr>
            <a:r>
              <a:rPr lang="en-US" dirty="0"/>
              <a:t>VANs are important for managing supply chains.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1411556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Uses of Value Added Networks</a:t>
            </a:r>
          </a:p>
        </p:txBody>
      </p:sp>
      <p:sp>
        <p:nvSpPr>
          <p:cNvPr id="203779" name="Rectangle 3"/>
          <p:cNvSpPr>
            <a:spLocks noGrp="1" noChangeArrowheads="1"/>
          </p:cNvSpPr>
          <p:nvPr>
            <p:ph idx="1"/>
          </p:nvPr>
        </p:nvSpPr>
        <p:spPr>
          <a:xfrm>
            <a:off x="1669774" y="1600201"/>
            <a:ext cx="8878956" cy="4530725"/>
          </a:xfrm>
        </p:spPr>
        <p:txBody>
          <a:bodyPr/>
          <a:lstStyle/>
          <a:p>
            <a:pPr eaLnBrk="1" hangingPunct="1">
              <a:buClrTx/>
              <a:buFont typeface="Wingdings" panose="05000000000000000000" pitchFamily="2" charset="2"/>
              <a:buChar char="§"/>
              <a:defRPr/>
            </a:pPr>
            <a:r>
              <a:rPr lang="en-US" dirty="0"/>
              <a:t>Value-added networks are generally used by large companies for efficient supply chain management with their suppliers, or by industry consortiums or telecommunications companies. </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1241140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Frame Relay Transmission</a:t>
            </a:r>
          </a:p>
        </p:txBody>
      </p:sp>
      <p:sp>
        <p:nvSpPr>
          <p:cNvPr id="203779" name="Rectangle 3"/>
          <p:cNvSpPr>
            <a:spLocks noGrp="1" noChangeArrowheads="1"/>
          </p:cNvSpPr>
          <p:nvPr>
            <p:ph idx="1"/>
          </p:nvPr>
        </p:nvSpPr>
        <p:spPr>
          <a:xfrm>
            <a:off x="1669774" y="1600200"/>
            <a:ext cx="8878956" cy="4800600"/>
          </a:xfrm>
        </p:spPr>
        <p:txBody>
          <a:bodyPr>
            <a:normAutofit lnSpcReduction="10000"/>
          </a:bodyPr>
          <a:lstStyle/>
          <a:p>
            <a:pPr algn="just" eaLnBrk="1" hangingPunct="1">
              <a:buClrTx/>
              <a:buFont typeface="Wingdings" panose="05000000000000000000" pitchFamily="2" charset="2"/>
              <a:buChar char="§"/>
              <a:defRPr/>
            </a:pPr>
            <a:r>
              <a:rPr lang="en-US" sz="2600" dirty="0"/>
              <a:t>This is a transmission mode during which information is transferred through an electric circuit layer, within the style of packets.</a:t>
            </a:r>
          </a:p>
          <a:p>
            <a:pPr algn="just" eaLnBrk="1" hangingPunct="1">
              <a:buClrTx/>
              <a:buFont typeface="Wingdings" panose="05000000000000000000" pitchFamily="2" charset="2"/>
              <a:buChar char="§"/>
              <a:defRPr/>
            </a:pPr>
            <a:r>
              <a:rPr lang="en-US" sz="2600" dirty="0"/>
              <a:t>Does not provide error control.</a:t>
            </a:r>
          </a:p>
          <a:p>
            <a:pPr algn="just" eaLnBrk="1" hangingPunct="1">
              <a:buClrTx/>
              <a:buFont typeface="Wingdings" panose="05000000000000000000" pitchFamily="2" charset="2"/>
              <a:buChar char="§"/>
              <a:defRPr/>
            </a:pPr>
            <a:r>
              <a:rPr lang="en-US" sz="2600" dirty="0"/>
              <a:t>Does not provide flow control.</a:t>
            </a:r>
          </a:p>
          <a:p>
            <a:pPr algn="just" eaLnBrk="1" hangingPunct="1">
              <a:buClrTx/>
              <a:buFont typeface="Wingdings" panose="05000000000000000000" pitchFamily="2" charset="2"/>
              <a:buChar char="§"/>
              <a:defRPr/>
            </a:pPr>
            <a:r>
              <a:rPr lang="en-US" sz="2600" dirty="0"/>
              <a:t>Variable packet size.</a:t>
            </a:r>
          </a:p>
          <a:p>
            <a:pPr algn="just" eaLnBrk="1" hangingPunct="1">
              <a:buClrTx/>
              <a:buFont typeface="Wingdings" panose="05000000000000000000" pitchFamily="2" charset="2"/>
              <a:buChar char="§"/>
              <a:defRPr/>
            </a:pPr>
            <a:r>
              <a:rPr lang="en-US" sz="2600" dirty="0"/>
              <a:t>Low cost.</a:t>
            </a:r>
          </a:p>
          <a:p>
            <a:pPr algn="just" eaLnBrk="1" hangingPunct="1">
              <a:buClrTx/>
              <a:buFont typeface="Wingdings" panose="05000000000000000000" pitchFamily="2" charset="2"/>
              <a:buChar char="§"/>
              <a:defRPr/>
            </a:pPr>
            <a:r>
              <a:rPr lang="en-US" sz="2600" dirty="0"/>
              <a:t>Longer packet delay.</a:t>
            </a:r>
          </a:p>
          <a:p>
            <a:pPr algn="just" eaLnBrk="1" hangingPunct="1">
              <a:buClrTx/>
              <a:buFont typeface="Wingdings" panose="05000000000000000000" pitchFamily="2" charset="2"/>
              <a:buChar char="§"/>
              <a:defRPr/>
            </a:pPr>
            <a:r>
              <a:rPr lang="en-US" sz="2600" dirty="0"/>
              <a:t>Low packet transfer speed.</a:t>
            </a:r>
          </a:p>
          <a:p>
            <a:pPr algn="just" eaLnBrk="1" hangingPunct="1">
              <a:buClrTx/>
              <a:buFont typeface="Wingdings" panose="05000000000000000000" pitchFamily="2" charset="2"/>
              <a:buChar char="§"/>
              <a:defRPr/>
            </a:pPr>
            <a:r>
              <a:rPr lang="en-US" sz="2600" dirty="0"/>
              <a:t>Low throughput.</a:t>
            </a:r>
          </a:p>
          <a:p>
            <a:pPr algn="just" eaLnBrk="1" hangingPunct="1">
              <a:buClrTx/>
              <a:buFont typeface="Wingdings" panose="05000000000000000000" pitchFamily="2" charset="2"/>
              <a:buChar char="§"/>
              <a:defRPr/>
            </a:pPr>
            <a:endParaRPr lang="en-US" sz="2600" dirty="0"/>
          </a:p>
          <a:p>
            <a:pPr algn="just" eaLnBrk="1" hangingPunct="1">
              <a:buClrTx/>
              <a:buFont typeface="Wingdings" panose="05000000000000000000" pitchFamily="2" charset="2"/>
              <a:buChar char="§"/>
              <a:defRPr/>
            </a:pPr>
            <a:endParaRPr lang="en-US" sz="2600"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702806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Frame Relay Diagram</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4684" y="1632191"/>
            <a:ext cx="5880446" cy="4700103"/>
          </a:xfrm>
          <a:prstGeom prst="rect">
            <a:avLst/>
          </a:prstGeom>
        </p:spPr>
      </p:pic>
    </p:spTree>
    <p:extLst>
      <p:ext uri="{BB962C8B-B14F-4D97-AF65-F5344CB8AC3E}">
        <p14:creationId xmlns:p14="http://schemas.microsoft.com/office/powerpoint/2010/main" val="40246541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Asynchronous Transmission Mode (ATM)</a:t>
            </a:r>
          </a:p>
        </p:txBody>
      </p:sp>
      <p:sp>
        <p:nvSpPr>
          <p:cNvPr id="203779" name="Rectangle 3"/>
          <p:cNvSpPr>
            <a:spLocks noGrp="1" noChangeArrowheads="1"/>
          </p:cNvSpPr>
          <p:nvPr>
            <p:ph idx="1"/>
          </p:nvPr>
        </p:nvSpPr>
        <p:spPr>
          <a:xfrm>
            <a:off x="1669774" y="1600201"/>
            <a:ext cx="8878956" cy="4530725"/>
          </a:xfrm>
        </p:spPr>
        <p:txBody>
          <a:bodyPr/>
          <a:lstStyle/>
          <a:p>
            <a:pPr algn="just" eaLnBrk="1" hangingPunct="1">
              <a:buClrTx/>
              <a:buFont typeface="Wingdings" panose="05000000000000000000" pitchFamily="2" charset="2"/>
              <a:buChar char="§"/>
              <a:defRPr/>
            </a:pPr>
            <a:r>
              <a:rPr lang="en-US" sz="2600" dirty="0"/>
              <a:t>ATM has fixed packet size.</a:t>
            </a:r>
          </a:p>
          <a:p>
            <a:pPr algn="just" eaLnBrk="1" hangingPunct="1">
              <a:buClrTx/>
              <a:buFont typeface="Wingdings" panose="05000000000000000000" pitchFamily="2" charset="2"/>
              <a:buChar char="§"/>
              <a:defRPr/>
            </a:pPr>
            <a:r>
              <a:rPr lang="en-US" sz="2600" dirty="0"/>
              <a:t>Provides error management.</a:t>
            </a:r>
          </a:p>
          <a:p>
            <a:pPr algn="just" eaLnBrk="1" hangingPunct="1">
              <a:buClrTx/>
              <a:buFont typeface="Wingdings" panose="05000000000000000000" pitchFamily="2" charset="2"/>
              <a:buChar char="§"/>
              <a:defRPr/>
            </a:pPr>
            <a:r>
              <a:rPr lang="en-US" sz="2600" dirty="0"/>
              <a:t>Provides flow management.</a:t>
            </a:r>
          </a:p>
          <a:p>
            <a:pPr algn="just" eaLnBrk="1" hangingPunct="1">
              <a:buClrTx/>
              <a:buFont typeface="Wingdings" panose="05000000000000000000" pitchFamily="2" charset="2"/>
              <a:buChar char="§"/>
              <a:defRPr/>
            </a:pPr>
            <a:r>
              <a:rPr lang="en-US" sz="2600" dirty="0"/>
              <a:t>It’s reliable than frame relay.</a:t>
            </a:r>
          </a:p>
          <a:p>
            <a:pPr algn="just" eaLnBrk="1" hangingPunct="1">
              <a:buClrTx/>
              <a:buFont typeface="Wingdings" panose="05000000000000000000" pitchFamily="2" charset="2"/>
              <a:buChar char="§"/>
              <a:defRPr/>
            </a:pPr>
            <a:r>
              <a:rPr lang="en-US" sz="2600" dirty="0"/>
              <a:t>Higher cost than frame relay.</a:t>
            </a:r>
          </a:p>
          <a:p>
            <a:pPr algn="just" eaLnBrk="1" hangingPunct="1">
              <a:buClrTx/>
              <a:buFont typeface="Wingdings" panose="05000000000000000000" pitchFamily="2" charset="2"/>
              <a:buChar char="§"/>
              <a:defRPr/>
            </a:pPr>
            <a:r>
              <a:rPr lang="en-US" sz="2600" dirty="0"/>
              <a:t>Higher throughput.</a:t>
            </a:r>
          </a:p>
          <a:p>
            <a:pPr algn="just" eaLnBrk="1" hangingPunct="1">
              <a:buClrTx/>
              <a:buFont typeface="Wingdings" panose="05000000000000000000" pitchFamily="2" charset="2"/>
              <a:buChar char="§"/>
              <a:defRPr/>
            </a:pPr>
            <a:r>
              <a:rPr lang="en-US" sz="2600" dirty="0"/>
              <a:t>Higher packet transfer speed.</a:t>
            </a:r>
          </a:p>
          <a:p>
            <a:pPr algn="just" eaLnBrk="1" hangingPunct="1">
              <a:buClrTx/>
              <a:buFont typeface="Wingdings" panose="05000000000000000000" pitchFamily="2" charset="2"/>
              <a:buChar char="§"/>
              <a:defRPr/>
            </a:pPr>
            <a:endParaRPr lang="en-US" sz="2600"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0430361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ATM Diagram</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4603" y="1752600"/>
            <a:ext cx="8154953" cy="3574774"/>
          </a:xfrm>
          <a:prstGeom prst="rect">
            <a:avLst/>
          </a:prstGeom>
        </p:spPr>
      </p:pic>
    </p:spTree>
    <p:extLst>
      <p:ext uri="{BB962C8B-B14F-4D97-AF65-F5344CB8AC3E}">
        <p14:creationId xmlns:p14="http://schemas.microsoft.com/office/powerpoint/2010/main" val="19122633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Integrated Services Digital Network (ISDN)</a:t>
            </a:r>
          </a:p>
        </p:txBody>
      </p:sp>
      <p:sp>
        <p:nvSpPr>
          <p:cNvPr id="203779" name="Rectangle 3"/>
          <p:cNvSpPr>
            <a:spLocks noGrp="1" noChangeArrowheads="1"/>
          </p:cNvSpPr>
          <p:nvPr>
            <p:ph idx="1"/>
          </p:nvPr>
        </p:nvSpPr>
        <p:spPr>
          <a:xfrm>
            <a:off x="1669774" y="1600201"/>
            <a:ext cx="8878956" cy="4530725"/>
          </a:xfrm>
        </p:spPr>
        <p:txBody>
          <a:bodyPr/>
          <a:lstStyle/>
          <a:p>
            <a:pPr eaLnBrk="1" hangingPunct="1">
              <a:buClrTx/>
              <a:buFont typeface="Wingdings" panose="05000000000000000000" pitchFamily="2" charset="2"/>
              <a:buChar char="§"/>
              <a:defRPr/>
            </a:pPr>
            <a:r>
              <a:rPr lang="en-US" sz="2600" dirty="0"/>
              <a:t>ISDN is a circuit-switched telephone network system that transmits both data and voice over a digital line.</a:t>
            </a:r>
          </a:p>
          <a:p>
            <a:pPr eaLnBrk="1" hangingPunct="1">
              <a:buClrTx/>
              <a:buFont typeface="Wingdings" panose="05000000000000000000" pitchFamily="2" charset="2"/>
              <a:buChar char="§"/>
              <a:defRPr/>
            </a:pPr>
            <a:r>
              <a:rPr lang="en-US" sz="2600" dirty="0"/>
              <a:t>It is a set of communication standards to transmit data, voice, and signaling.</a:t>
            </a:r>
          </a:p>
          <a:p>
            <a:pPr eaLnBrk="1" hangingPunct="1">
              <a:buClrTx/>
              <a:buFont typeface="Wingdings" panose="05000000000000000000" pitchFamily="2" charset="2"/>
              <a:buChar char="§"/>
              <a:defRPr/>
            </a:pPr>
            <a:r>
              <a:rPr lang="en-US" sz="2600" dirty="0"/>
              <a:t>ISDN was an earlier attempt to provide digital service via copper lines in homes and small offices around the world.</a:t>
            </a:r>
          </a:p>
          <a:p>
            <a:pPr eaLnBrk="1" hangingPunct="1">
              <a:buClrTx/>
              <a:buFont typeface="Wingdings" panose="05000000000000000000" pitchFamily="2" charset="2"/>
              <a:buChar char="§"/>
              <a:defRPr/>
            </a:pPr>
            <a:r>
              <a:rPr lang="en-US" sz="2600" dirty="0"/>
              <a:t>It was eventually replaced by DSL and cable modems.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578586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Digital Subscriber Line (DSL)</a:t>
            </a:r>
          </a:p>
        </p:txBody>
      </p:sp>
      <p:sp>
        <p:nvSpPr>
          <p:cNvPr id="203779" name="Rectangle 3"/>
          <p:cNvSpPr>
            <a:spLocks noGrp="1" noChangeArrowheads="1"/>
          </p:cNvSpPr>
          <p:nvPr>
            <p:ph idx="1"/>
          </p:nvPr>
        </p:nvSpPr>
        <p:spPr>
          <a:xfrm>
            <a:off x="1669774" y="1600201"/>
            <a:ext cx="8878956" cy="4530725"/>
          </a:xfrm>
        </p:spPr>
        <p:txBody>
          <a:bodyPr/>
          <a:lstStyle/>
          <a:p>
            <a:pPr algn="just" eaLnBrk="1" hangingPunct="1">
              <a:buClrTx/>
              <a:buFont typeface="Wingdings" panose="05000000000000000000" pitchFamily="2" charset="2"/>
              <a:buChar char="§"/>
              <a:defRPr/>
            </a:pPr>
            <a:r>
              <a:rPr lang="en-US" dirty="0"/>
              <a:t>DSL is a technology for high-speed network or Internet access over telephone lines.</a:t>
            </a:r>
          </a:p>
          <a:p>
            <a:pPr algn="just" eaLnBrk="1" hangingPunct="1">
              <a:buClrTx/>
              <a:buFont typeface="Wingdings" panose="05000000000000000000" pitchFamily="2" charset="2"/>
              <a:buChar char="§"/>
              <a:defRPr/>
            </a:pPr>
            <a:endParaRPr lang="en-US" dirty="0"/>
          </a:p>
          <a:p>
            <a:pPr algn="just" eaLnBrk="1" hangingPunct="1">
              <a:buClrTx/>
              <a:buFont typeface="Wingdings" panose="05000000000000000000" pitchFamily="2" charset="2"/>
              <a:buChar char="§"/>
              <a:defRPr/>
            </a:pPr>
            <a:r>
              <a:rPr lang="en-US" dirty="0"/>
              <a:t>DSL is more widely used than ISDN because of its higher speeds, which can reach 10 megabits per second and above..</a:t>
            </a:r>
          </a:p>
          <a:p>
            <a:pPr algn="just" eaLnBrk="1" hangingPunct="1">
              <a:buClrTx/>
              <a:buFont typeface="Wingdings" panose="05000000000000000000" pitchFamily="2" charset="2"/>
              <a:buChar char="§"/>
              <a:defRPr/>
            </a:pPr>
            <a:endParaRPr lang="en-US"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40489914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Digital Subscriber Line (DSL) Cont’d</a:t>
            </a:r>
          </a:p>
        </p:txBody>
      </p:sp>
      <p:sp>
        <p:nvSpPr>
          <p:cNvPr id="203779" name="Rectangle 3"/>
          <p:cNvSpPr>
            <a:spLocks noGrp="1" noChangeArrowheads="1"/>
          </p:cNvSpPr>
          <p:nvPr>
            <p:ph idx="1"/>
          </p:nvPr>
        </p:nvSpPr>
        <p:spPr>
          <a:xfrm>
            <a:off x="1669774" y="1600201"/>
            <a:ext cx="8878956" cy="4530725"/>
          </a:xfrm>
        </p:spPr>
        <p:txBody>
          <a:bodyPr/>
          <a:lstStyle/>
          <a:p>
            <a:pPr eaLnBrk="1" hangingPunct="1">
              <a:buClrTx/>
              <a:buFont typeface="Wingdings" panose="05000000000000000000" pitchFamily="2" charset="2"/>
              <a:buChar char="§"/>
              <a:defRPr/>
            </a:pPr>
            <a:r>
              <a:rPr lang="en-US" sz="2600" dirty="0"/>
              <a:t>Common Types of DSL:</a:t>
            </a:r>
          </a:p>
          <a:p>
            <a:pPr lvl="1" eaLnBrk="1" hangingPunct="1">
              <a:buClrTx/>
              <a:buFont typeface="Wingdings" panose="05000000000000000000" pitchFamily="2" charset="2"/>
              <a:buChar char="ü"/>
              <a:defRPr/>
            </a:pPr>
            <a:r>
              <a:rPr lang="en-US" sz="2100" dirty="0"/>
              <a:t>Symmetric Digital Subscriber Line (SDSL; also called Single-Line DSL), with matching upload and download speeds;</a:t>
            </a:r>
          </a:p>
          <a:p>
            <a:pPr lvl="1" eaLnBrk="1" hangingPunct="1">
              <a:buClrTx/>
              <a:buFont typeface="Wingdings" panose="05000000000000000000" pitchFamily="2" charset="2"/>
              <a:buChar char="ü"/>
              <a:defRPr/>
            </a:pPr>
            <a:r>
              <a:rPr lang="en-US" sz="2100" dirty="0"/>
              <a:t>Asymmetric Digital Subscriber Line (ADSL), featuring faster downloads than uploads; and</a:t>
            </a:r>
          </a:p>
          <a:p>
            <a:pPr lvl="1" eaLnBrk="1" hangingPunct="1">
              <a:buClrTx/>
              <a:buFont typeface="Wingdings" panose="05000000000000000000" pitchFamily="2" charset="2"/>
              <a:buChar char="ü"/>
              <a:defRPr/>
            </a:pPr>
            <a:r>
              <a:rPr lang="en-US" sz="2100" dirty="0"/>
              <a:t>Very High Rate Digital Subscriber Line (VDSL), featuring much greater asymmetric speeds.</a:t>
            </a:r>
          </a:p>
          <a:p>
            <a:pPr lvl="1" eaLnBrk="1" hangingPunct="1">
              <a:buClrTx/>
              <a:buFont typeface="Wingdings" panose="05000000000000000000" pitchFamily="2" charset="2"/>
              <a:buChar char="ü"/>
              <a:defRPr/>
            </a:pPr>
            <a:r>
              <a:rPr lang="en-US" sz="2100" dirty="0"/>
              <a:t>High Data Rate Digital Subscriber Line (HDSL), which matches SDSL speeds using two pairs of copper; it is used to provide inexpensive T1 service.</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3104494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T1 Line</a:t>
            </a:r>
          </a:p>
        </p:txBody>
      </p:sp>
      <p:sp>
        <p:nvSpPr>
          <p:cNvPr id="203779" name="Rectangle 3"/>
          <p:cNvSpPr>
            <a:spLocks noGrp="1" noChangeArrowheads="1"/>
          </p:cNvSpPr>
          <p:nvPr>
            <p:ph idx="1"/>
          </p:nvPr>
        </p:nvSpPr>
        <p:spPr>
          <a:xfrm>
            <a:off x="1659837" y="1600200"/>
            <a:ext cx="8878956" cy="5012634"/>
          </a:xfrm>
        </p:spPr>
        <p:txBody>
          <a:bodyPr>
            <a:normAutofit lnSpcReduction="10000"/>
          </a:bodyPr>
          <a:lstStyle/>
          <a:p>
            <a:pPr algn="just" eaLnBrk="1" hangingPunct="1">
              <a:buClrTx/>
              <a:buFont typeface="Wingdings" panose="05000000000000000000" pitchFamily="2" charset="2"/>
              <a:buChar char="§"/>
              <a:defRPr/>
            </a:pPr>
            <a:r>
              <a:rPr lang="en-US" sz="2400" dirty="0"/>
              <a:t>A T1 line is a dedicated transmission connection between a service provider and client.</a:t>
            </a:r>
          </a:p>
          <a:p>
            <a:pPr algn="just" eaLnBrk="1" hangingPunct="1">
              <a:buClrTx/>
              <a:buFont typeface="Wingdings" panose="05000000000000000000" pitchFamily="2" charset="2"/>
              <a:buChar char="§"/>
              <a:defRPr/>
            </a:pPr>
            <a:r>
              <a:rPr lang="en-US" sz="2400" dirty="0"/>
              <a:t>Uses an advanced telephone line to carry more data than a traditional standard analog line that carries a single channel of data at 64 Kbps.</a:t>
            </a:r>
          </a:p>
          <a:p>
            <a:pPr algn="just" eaLnBrk="1" hangingPunct="1">
              <a:buClrTx/>
              <a:buFont typeface="Wingdings" panose="05000000000000000000" pitchFamily="2" charset="2"/>
              <a:buChar char="§"/>
              <a:defRPr/>
            </a:pPr>
            <a:r>
              <a:rPr lang="en-US" sz="2400" dirty="0"/>
              <a:t>T1 line speed is consistent and constant.</a:t>
            </a:r>
          </a:p>
          <a:p>
            <a:pPr algn="just" eaLnBrk="1" hangingPunct="1">
              <a:buClrTx/>
              <a:buFont typeface="Wingdings" panose="05000000000000000000" pitchFamily="2" charset="2"/>
              <a:buChar char="§"/>
              <a:defRPr/>
            </a:pPr>
            <a:r>
              <a:rPr lang="en-US" sz="2400" dirty="0"/>
              <a:t>A T1 line can carry 24 voice channels for telephone calls or digital data at a rate of 1.544 Mbps, and with usage of compression, carried channels double to 48. </a:t>
            </a:r>
          </a:p>
          <a:p>
            <a:pPr algn="just" eaLnBrk="1" hangingPunct="1">
              <a:buClrTx/>
              <a:buFont typeface="Wingdings" panose="05000000000000000000" pitchFamily="2" charset="2"/>
              <a:buChar char="§"/>
              <a:defRPr/>
            </a:pPr>
            <a:r>
              <a:rPr lang="en-US" sz="2400" dirty="0"/>
              <a:t>Developed by AT&amp;T Bell Laboratories in the late 1960s.</a:t>
            </a:r>
          </a:p>
          <a:p>
            <a:pPr algn="just" eaLnBrk="1" hangingPunct="1">
              <a:buClrTx/>
              <a:buFont typeface="Wingdings" panose="05000000000000000000" pitchFamily="2" charset="2"/>
              <a:buChar char="§"/>
              <a:defRPr/>
            </a:pPr>
            <a:r>
              <a:rPr lang="en-US" sz="2400" dirty="0"/>
              <a:t>Most new installations use optical fiber, instead of copper pair.</a:t>
            </a:r>
          </a:p>
          <a:p>
            <a:pPr algn="just" eaLnBrk="1" hangingPunct="1">
              <a:buClrTx/>
              <a:buFont typeface="Wingdings" panose="05000000000000000000" pitchFamily="2" charset="2"/>
              <a:buChar char="§"/>
              <a:defRPr/>
            </a:pPr>
            <a:endParaRPr lang="en-US" sz="2400"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0358087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Cable Modem</a:t>
            </a:r>
          </a:p>
        </p:txBody>
      </p:sp>
      <p:sp>
        <p:nvSpPr>
          <p:cNvPr id="203779" name="Rectangle 3"/>
          <p:cNvSpPr>
            <a:spLocks noGrp="1" noChangeArrowheads="1"/>
          </p:cNvSpPr>
          <p:nvPr>
            <p:ph idx="1"/>
          </p:nvPr>
        </p:nvSpPr>
        <p:spPr>
          <a:xfrm>
            <a:off x="1669774" y="1600201"/>
            <a:ext cx="8878956" cy="4530725"/>
          </a:xfrm>
        </p:spPr>
        <p:txBody>
          <a:bodyPr/>
          <a:lstStyle/>
          <a:p>
            <a:pPr algn="just" eaLnBrk="1" hangingPunct="1">
              <a:buClrTx/>
              <a:buFont typeface="Wingdings" panose="05000000000000000000" pitchFamily="2" charset="2"/>
              <a:buChar char="§"/>
              <a:defRPr/>
            </a:pPr>
            <a:r>
              <a:rPr lang="en-US" dirty="0"/>
              <a:t>A cable modem delivers high-speed Internet to your devices by using coaxial cables that connect to the back of the modem and the bolt-like outlet in your wall or on your cable box.</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3667041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Convergence Network and Unified Messaging</a:t>
            </a:r>
          </a:p>
        </p:txBody>
      </p:sp>
      <p:sp>
        <p:nvSpPr>
          <p:cNvPr id="203779" name="Rectangle 3"/>
          <p:cNvSpPr>
            <a:spLocks noGrp="1" noChangeArrowheads="1"/>
          </p:cNvSpPr>
          <p:nvPr>
            <p:ph idx="1"/>
          </p:nvPr>
        </p:nvSpPr>
        <p:spPr>
          <a:xfrm>
            <a:off x="1669774" y="1600201"/>
            <a:ext cx="8878956" cy="4530725"/>
          </a:xfrm>
        </p:spPr>
        <p:txBody>
          <a:bodyPr/>
          <a:lstStyle/>
          <a:p>
            <a:pPr algn="just" eaLnBrk="1" hangingPunct="1">
              <a:buClrTx/>
              <a:buFont typeface="Wingdings" panose="05000000000000000000" pitchFamily="2" charset="2"/>
              <a:buChar char="§"/>
              <a:defRPr/>
            </a:pPr>
            <a:r>
              <a:rPr lang="en-US" dirty="0"/>
              <a:t>In networking, convergence occurs when one network provider delivers networking services for voice, data, and video in a single network connection, instead of providing a separate network for each of these services.</a:t>
            </a:r>
          </a:p>
          <a:p>
            <a:pPr algn="just" eaLnBrk="1" hangingPunct="1">
              <a:buClrTx/>
              <a:buFont typeface="Wingdings" panose="05000000000000000000" pitchFamily="2" charset="2"/>
              <a:buChar char="§"/>
              <a:defRPr/>
            </a:pPr>
            <a:r>
              <a:rPr lang="en-US" dirty="0"/>
              <a:t>This allows a business to use one network from one provider for all communication and cloud-based services.</a:t>
            </a:r>
          </a:p>
          <a:p>
            <a:pPr algn="just" eaLnBrk="1" hangingPunct="1">
              <a:buClrTx/>
              <a:buFont typeface="Wingdings" panose="05000000000000000000" pitchFamily="2" charset="2"/>
              <a:buChar char="§"/>
              <a:defRPr/>
            </a:pPr>
            <a:r>
              <a:rPr lang="en-US" dirty="0"/>
              <a:t>Also referred to as unified communications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206246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Unified Messaging</a:t>
            </a:r>
          </a:p>
        </p:txBody>
      </p:sp>
      <p:sp>
        <p:nvSpPr>
          <p:cNvPr id="203779" name="Rectangle 3"/>
          <p:cNvSpPr>
            <a:spLocks noGrp="1" noChangeArrowheads="1"/>
          </p:cNvSpPr>
          <p:nvPr>
            <p:ph idx="1"/>
          </p:nvPr>
        </p:nvSpPr>
        <p:spPr>
          <a:xfrm>
            <a:off x="1669774" y="1600201"/>
            <a:ext cx="8878956" cy="4853609"/>
          </a:xfrm>
        </p:spPr>
        <p:txBody>
          <a:bodyPr/>
          <a:lstStyle/>
          <a:p>
            <a:pPr algn="just" eaLnBrk="1" hangingPunct="1">
              <a:buClrTx/>
              <a:buFont typeface="Wingdings" panose="05000000000000000000" pitchFamily="2" charset="2"/>
              <a:buChar char="§"/>
              <a:defRPr/>
            </a:pPr>
            <a:r>
              <a:rPr lang="en-US" sz="2600" dirty="0"/>
              <a:t>Unified Messaging is the integration of voice, fax, and e-mail messages into the user's Inbox.</a:t>
            </a:r>
          </a:p>
          <a:p>
            <a:pPr algn="just" eaLnBrk="1" hangingPunct="1">
              <a:buClrTx/>
              <a:buFont typeface="Wingdings" panose="05000000000000000000" pitchFamily="2" charset="2"/>
              <a:buChar char="§"/>
              <a:defRPr/>
            </a:pPr>
            <a:r>
              <a:rPr lang="en-US" sz="2600" dirty="0"/>
              <a:t>Unified messaging uses unified communication platforms.</a:t>
            </a:r>
          </a:p>
          <a:p>
            <a:pPr algn="just" eaLnBrk="1" hangingPunct="1">
              <a:buClrTx/>
              <a:buFont typeface="Wingdings" panose="05000000000000000000" pitchFamily="2" charset="2"/>
              <a:buChar char="§"/>
              <a:defRPr/>
            </a:pPr>
            <a:r>
              <a:rPr lang="en-US" sz="2600" dirty="0"/>
              <a:t>Unified communication platforms combine the software that supports both synchronous and asynchronous communications to enable the end-user to easily access all the tools, from whatever device is in use, in one place.</a:t>
            </a:r>
          </a:p>
          <a:p>
            <a:pPr algn="just" eaLnBrk="1" hangingPunct="1">
              <a:buClrTx/>
              <a:buFont typeface="Wingdings" panose="05000000000000000000" pitchFamily="2" charset="2"/>
              <a:buChar char="§"/>
              <a:defRPr/>
            </a:pPr>
            <a:r>
              <a:rPr lang="en-US" sz="2600" dirty="0"/>
              <a:t>This, in turn, enhances business communication, collaboration, and productivity.</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5463792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a:xfrm>
            <a:off x="1981200" y="1043265"/>
            <a:ext cx="8229600" cy="5304527"/>
          </a:xfrm>
        </p:spPr>
        <p:txBody>
          <a:bodyPr/>
          <a:lstStyle/>
          <a:p>
            <a:pPr algn="ctr" eaLnBrk="1" hangingPunct="1">
              <a:defRPr/>
            </a:pPr>
            <a:r>
              <a:rPr lang="en-US" sz="3000" dirty="0"/>
              <a:t>TOPIC 6:</a:t>
            </a:r>
            <a:br>
              <a:rPr lang="en-US" sz="3000" dirty="0"/>
            </a:br>
            <a:r>
              <a:rPr lang="en-US" sz="3000" dirty="0"/>
              <a:t/>
            </a:r>
            <a:br>
              <a:rPr lang="en-US" sz="3000" dirty="0"/>
            </a:br>
            <a:r>
              <a:rPr lang="en-US" sz="3000" dirty="0"/>
              <a:t>LAYERED ARCHITECTURE AND REFERENCE MODELS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1659592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dirty="0"/>
              <a:t>Learning Outcomes</a:t>
            </a:r>
          </a:p>
        </p:txBody>
      </p:sp>
      <p:sp>
        <p:nvSpPr>
          <p:cNvPr id="203779" name="Rectangle 3"/>
          <p:cNvSpPr>
            <a:spLocks noGrp="1" noChangeArrowheads="1"/>
          </p:cNvSpPr>
          <p:nvPr>
            <p:ph idx="1"/>
          </p:nvPr>
        </p:nvSpPr>
        <p:spPr>
          <a:xfrm>
            <a:off x="1669774" y="1600201"/>
            <a:ext cx="8878956" cy="4840357"/>
          </a:xfrm>
        </p:spPr>
        <p:txBody>
          <a:bodyPr/>
          <a:lstStyle/>
          <a:p>
            <a:pPr algn="just" eaLnBrk="1" hangingPunct="1">
              <a:buClrTx/>
              <a:buFont typeface="Wingdings" panose="05000000000000000000" pitchFamily="2" charset="2"/>
              <a:buChar char="v"/>
              <a:defRPr/>
            </a:pPr>
            <a:r>
              <a:rPr lang="en-US" sz="2600" dirty="0"/>
              <a:t>Understanding the Models</a:t>
            </a:r>
          </a:p>
          <a:p>
            <a:pPr algn="just" eaLnBrk="1" hangingPunct="1">
              <a:buClrTx/>
              <a:buFont typeface="Wingdings" panose="05000000000000000000" pitchFamily="2" charset="2"/>
              <a:buChar char="v"/>
              <a:defRPr/>
            </a:pPr>
            <a:r>
              <a:rPr lang="en-US" sz="2600" dirty="0"/>
              <a:t>Open system Interconnection Model</a:t>
            </a:r>
          </a:p>
          <a:p>
            <a:pPr algn="just" eaLnBrk="1" hangingPunct="1">
              <a:buClrTx/>
              <a:buFont typeface="Wingdings" panose="05000000000000000000" pitchFamily="2" charset="2"/>
              <a:buChar char="v"/>
              <a:defRPr/>
            </a:pPr>
            <a:r>
              <a:rPr lang="en-US" sz="2600" dirty="0"/>
              <a:t>TCP/IP Protocol suite</a:t>
            </a:r>
          </a:p>
          <a:p>
            <a:pPr algn="just" eaLnBrk="1" hangingPunct="1">
              <a:buClrTx/>
              <a:buFont typeface="Wingdings" panose="05000000000000000000" pitchFamily="2" charset="2"/>
              <a:buChar char="v"/>
              <a:defRPr/>
            </a:pPr>
            <a:r>
              <a:rPr lang="en-US" sz="2600" dirty="0"/>
              <a:t>Services of TCP/IP layers to layers above them</a:t>
            </a:r>
          </a:p>
        </p:txBody>
      </p:sp>
      <p:sp>
        <p:nvSpPr>
          <p:cNvPr id="8" name="Footer Placeholder 5"/>
          <p:cNvSpPr>
            <a:spLocks noGrp="1"/>
          </p:cNvSpPr>
          <p:nvPr>
            <p:ph type="ftr" sz="quarter" idx="11"/>
          </p:nvPr>
        </p:nvSpPr>
        <p:spPr>
          <a:xfrm>
            <a:off x="9725297" y="6612834"/>
            <a:ext cx="813496" cy="198782"/>
          </a:xfrm>
        </p:spPr>
        <p:txBody>
          <a:bodyPr/>
          <a:lstStyle/>
          <a:p>
            <a:pPr fontAlgn="base">
              <a:spcBef>
                <a:spcPct val="0"/>
              </a:spcBef>
              <a:spcAft>
                <a:spcPct val="0"/>
              </a:spcAft>
              <a:defRPr/>
            </a:pPr>
            <a:r>
              <a:rPr lang="en-US" sz="1000">
                <a:solidFill>
                  <a:srgbClr val="000000"/>
                </a:solidFill>
                <a:latin typeface="Arial" panose="020B0604020202020204" pitchFamily="34" charset="0"/>
                <a:cs typeface="Arial" panose="020B0604020202020204" pitchFamily="34" charset="0"/>
              </a:rPr>
              <a:t>CFC-MCA</a:t>
            </a:r>
            <a:endParaRPr lang="en-US" sz="1000"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17788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Two Reference Models</a:t>
            </a:r>
          </a:p>
        </p:txBody>
      </p:sp>
      <p:sp>
        <p:nvSpPr>
          <p:cNvPr id="203779" name="Rectangle 3"/>
          <p:cNvSpPr>
            <a:spLocks noGrp="1" noChangeArrowheads="1"/>
          </p:cNvSpPr>
          <p:nvPr>
            <p:ph idx="1"/>
          </p:nvPr>
        </p:nvSpPr>
        <p:spPr>
          <a:xfrm>
            <a:off x="1669774" y="1600201"/>
            <a:ext cx="8878956" cy="4853609"/>
          </a:xfrm>
        </p:spPr>
        <p:txBody>
          <a:bodyPr>
            <a:normAutofit lnSpcReduction="10000"/>
          </a:bodyPr>
          <a:lstStyle/>
          <a:p>
            <a:pPr marL="514350" indent="-514350" algn="just">
              <a:buFont typeface="+mj-lt"/>
              <a:buAutoNum type="arabicPeriod"/>
              <a:defRPr/>
            </a:pPr>
            <a:r>
              <a:rPr lang="en-US" sz="2600" dirty="0"/>
              <a:t>Open Systems Interconnection Model (OSI)</a:t>
            </a:r>
          </a:p>
          <a:p>
            <a:pPr marL="514350" indent="-514350" algn="just">
              <a:buFont typeface="+mj-lt"/>
              <a:buAutoNum type="arabicPeriod"/>
              <a:defRPr/>
            </a:pPr>
            <a:endParaRPr lang="en-US" sz="2600" dirty="0"/>
          </a:p>
          <a:p>
            <a:pPr marL="514350" indent="-514350" algn="just">
              <a:buFont typeface="+mj-lt"/>
              <a:buAutoNum type="arabicPeriod"/>
              <a:defRPr/>
            </a:pPr>
            <a:r>
              <a:rPr lang="en-US" sz="2600" dirty="0"/>
              <a:t>Transmission Control Protocol/ Internet Protocol (TCP/ IP).</a:t>
            </a:r>
          </a:p>
          <a:p>
            <a:pPr algn="just" eaLnBrk="1" hangingPunct="1">
              <a:buClrTx/>
              <a:buFont typeface="Wingdings" panose="05000000000000000000" pitchFamily="2" charset="2"/>
              <a:buChar char="§"/>
              <a:defRPr/>
            </a:pPr>
            <a:endParaRPr lang="en-US" sz="2600" dirty="0"/>
          </a:p>
          <a:p>
            <a:pPr algn="just" eaLnBrk="1" hangingPunct="1">
              <a:buClrTx/>
              <a:buFont typeface="Wingdings" panose="05000000000000000000" pitchFamily="2" charset="2"/>
              <a:buChar char="§"/>
              <a:defRPr/>
            </a:pPr>
            <a:r>
              <a:rPr lang="en-US" sz="2600" dirty="0"/>
              <a:t>The TCP / IP model became a common choice and the OSI model was rejected due to the slower formal standardization process compared to the TCP / IP model.</a:t>
            </a:r>
          </a:p>
          <a:p>
            <a:pPr algn="just" eaLnBrk="1" hangingPunct="1">
              <a:buClrTx/>
              <a:buFont typeface="Wingdings" panose="05000000000000000000" pitchFamily="2" charset="2"/>
              <a:buChar char="§"/>
              <a:defRPr/>
            </a:pPr>
            <a:r>
              <a:rPr lang="en-US" sz="2600" dirty="0"/>
              <a:t>Today, the world of computer networks uses only one network model, the TCP/ IP.</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4832446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The Open System Interconnection Model (OSI)</a:t>
            </a:r>
          </a:p>
        </p:txBody>
      </p:sp>
      <p:sp>
        <p:nvSpPr>
          <p:cNvPr id="203779" name="Rectangle 3"/>
          <p:cNvSpPr>
            <a:spLocks noGrp="1" noChangeArrowheads="1"/>
          </p:cNvSpPr>
          <p:nvPr>
            <p:ph idx="1"/>
          </p:nvPr>
        </p:nvSpPr>
        <p:spPr>
          <a:xfrm>
            <a:off x="1669774" y="1600201"/>
            <a:ext cx="8878956" cy="4853609"/>
          </a:xfrm>
        </p:spPr>
        <p:txBody>
          <a:bodyPr/>
          <a:lstStyle/>
          <a:p>
            <a:pPr algn="just" eaLnBrk="1" hangingPunct="1">
              <a:buClrTx/>
              <a:buFont typeface="Wingdings" panose="05000000000000000000" pitchFamily="2" charset="2"/>
              <a:buChar char="§"/>
              <a:defRPr/>
            </a:pPr>
            <a:r>
              <a:rPr lang="en-US" sz="2600" dirty="0"/>
              <a:t>The OSI Model (Open Systems Interconnection Model) is a conceptual framework used to describe the functions of a networking system.</a:t>
            </a:r>
          </a:p>
          <a:p>
            <a:pPr algn="just" eaLnBrk="1" hangingPunct="1">
              <a:buClrTx/>
              <a:buFont typeface="Wingdings" panose="05000000000000000000" pitchFamily="2" charset="2"/>
              <a:buChar char="§"/>
              <a:defRPr/>
            </a:pPr>
            <a:r>
              <a:rPr lang="en-US" sz="2600" dirty="0"/>
              <a:t>The OSI model characterizes computing functions into a universal set of rules and requirements in order to support interoperability between different products and software.</a:t>
            </a:r>
          </a:p>
          <a:p>
            <a:pPr algn="just" eaLnBrk="1" hangingPunct="1">
              <a:buClrTx/>
              <a:buFont typeface="Wingdings" panose="05000000000000000000" pitchFamily="2" charset="2"/>
              <a:buChar char="§"/>
              <a:defRPr/>
            </a:pPr>
            <a:r>
              <a:rPr lang="en-US" sz="2600" dirty="0"/>
              <a:t>It contains seven layers.</a:t>
            </a:r>
          </a:p>
          <a:p>
            <a:pPr algn="just" eaLnBrk="1" hangingPunct="1">
              <a:buClrTx/>
              <a:buFont typeface="Wingdings" panose="05000000000000000000" pitchFamily="2" charset="2"/>
              <a:buChar char="§"/>
              <a:defRPr/>
            </a:pPr>
            <a:r>
              <a:rPr lang="en-US" sz="2600" dirty="0"/>
              <a:t>Designed by the International Organization for Standardization (ISO).</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6337885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The Open System Interconnection Model (OSI)</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pic>
        <p:nvPicPr>
          <p:cNvPr id="6" name="Picture 5" descr="C:\Users\USER\Desktop\MCA\MCA Degree programme documents\HOPE\03-NET225 Jan 2020\NOTES\computer-network-osi-model-layers.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38590" y="1775792"/>
            <a:ext cx="4179116" cy="4041913"/>
          </a:xfrm>
          <a:prstGeom prst="rect">
            <a:avLst/>
          </a:prstGeom>
          <a:noFill/>
          <a:ln>
            <a:noFill/>
          </a:ln>
        </p:spPr>
      </p:pic>
      <p:pic>
        <p:nvPicPr>
          <p:cNvPr id="7" name="Picture 6" descr="C:\Users\USER\Desktop\MCA\MCA Degree programme documents\HOPE\03-NET225 Jan 2020\NOTES\OSI-7-layers.jpg"/>
          <p:cNvPicPr/>
          <p:nvPr/>
        </p:nvPicPr>
        <p:blipFill>
          <a:blip r:embed="rId3">
            <a:extLst>
              <a:ext uri="{28A0092B-C50C-407E-A947-70E740481C1C}">
                <a14:useLocalDpi xmlns:a14="http://schemas.microsoft.com/office/drawing/2010/main" val="0"/>
              </a:ext>
            </a:extLst>
          </a:blip>
          <a:srcRect/>
          <a:stretch>
            <a:fillRect/>
          </a:stretch>
        </p:blipFill>
        <p:spPr bwMode="auto">
          <a:xfrm>
            <a:off x="5923723" y="1510748"/>
            <a:ext cx="4318409" cy="4306956"/>
          </a:xfrm>
          <a:prstGeom prst="rect">
            <a:avLst/>
          </a:prstGeom>
          <a:noFill/>
          <a:ln>
            <a:noFill/>
          </a:ln>
        </p:spPr>
      </p:pic>
    </p:spTree>
    <p:extLst>
      <p:ext uri="{BB962C8B-B14F-4D97-AF65-F5344CB8AC3E}">
        <p14:creationId xmlns:p14="http://schemas.microsoft.com/office/powerpoint/2010/main" val="3139450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Physical Layer</a:t>
            </a:r>
          </a:p>
        </p:txBody>
      </p:sp>
      <p:sp>
        <p:nvSpPr>
          <p:cNvPr id="203779" name="Rectangle 3"/>
          <p:cNvSpPr>
            <a:spLocks noGrp="1" noChangeArrowheads="1"/>
          </p:cNvSpPr>
          <p:nvPr>
            <p:ph idx="1"/>
          </p:nvPr>
        </p:nvSpPr>
        <p:spPr>
          <a:xfrm>
            <a:off x="1669774" y="1441176"/>
            <a:ext cx="8878956" cy="5171658"/>
          </a:xfrm>
        </p:spPr>
        <p:txBody>
          <a:bodyPr>
            <a:normAutofit lnSpcReduction="10000"/>
          </a:bodyPr>
          <a:lstStyle/>
          <a:p>
            <a:pPr algn="just" eaLnBrk="1" hangingPunct="1">
              <a:buClrTx/>
              <a:buFont typeface="Wingdings" panose="05000000000000000000" pitchFamily="2" charset="2"/>
              <a:buChar char="§"/>
              <a:defRPr/>
            </a:pPr>
            <a:r>
              <a:rPr lang="en-US" sz="2200" dirty="0"/>
              <a:t>The lowest layer of the OSI reference model is the physical layer.</a:t>
            </a:r>
          </a:p>
          <a:p>
            <a:pPr algn="just" eaLnBrk="1" hangingPunct="1">
              <a:buClrTx/>
              <a:buFont typeface="Wingdings" panose="05000000000000000000" pitchFamily="2" charset="2"/>
              <a:buChar char="§"/>
              <a:defRPr/>
            </a:pPr>
            <a:r>
              <a:rPr lang="en-US" sz="2200" b="1" dirty="0"/>
              <a:t>Defines the electrical and physical specifications of the data connection: </a:t>
            </a:r>
            <a:r>
              <a:rPr lang="en-US" sz="2200" dirty="0"/>
              <a:t>E.g., the relationship between a device and a physical transmission medium (e.g., a copper or fiber optical cable, radio frequency).</a:t>
            </a:r>
          </a:p>
          <a:p>
            <a:pPr algn="just" eaLnBrk="1" hangingPunct="1">
              <a:buClrTx/>
              <a:buFont typeface="Wingdings" panose="05000000000000000000" pitchFamily="2" charset="2"/>
              <a:buChar char="§"/>
              <a:defRPr/>
            </a:pPr>
            <a:r>
              <a:rPr lang="en-US" sz="2200" b="1" dirty="0"/>
              <a:t>Bit synchronization: </a:t>
            </a:r>
            <a:r>
              <a:rPr lang="en-US" sz="2200" dirty="0"/>
              <a:t>Provides the synchronization of the bits by providing a clock.</a:t>
            </a:r>
          </a:p>
          <a:p>
            <a:pPr algn="just" eaLnBrk="1" hangingPunct="1">
              <a:buClrTx/>
              <a:buFont typeface="Wingdings" panose="05000000000000000000" pitchFamily="2" charset="2"/>
              <a:buChar char="§"/>
              <a:defRPr/>
            </a:pPr>
            <a:r>
              <a:rPr lang="en-US" sz="2200" b="1" dirty="0"/>
              <a:t>Bit rate control: </a:t>
            </a:r>
            <a:r>
              <a:rPr lang="en-US" sz="2200" dirty="0"/>
              <a:t>Defines the transmission rate i.e. the number of bits sent per second.</a:t>
            </a:r>
          </a:p>
          <a:p>
            <a:pPr algn="just" eaLnBrk="1" hangingPunct="1">
              <a:buClrTx/>
              <a:buFont typeface="Wingdings" panose="05000000000000000000" pitchFamily="2" charset="2"/>
              <a:buChar char="§"/>
              <a:defRPr/>
            </a:pPr>
            <a:r>
              <a:rPr lang="en-US" sz="2200" b="1" dirty="0"/>
              <a:t>Physical topologies: </a:t>
            </a:r>
            <a:r>
              <a:rPr lang="en-US" sz="2200" dirty="0"/>
              <a:t>Specifies the way in which the different, devices/nodes are arranged in a network i.e. bus, star, or mesh topology.</a:t>
            </a:r>
          </a:p>
          <a:p>
            <a:pPr algn="just" eaLnBrk="1" hangingPunct="1">
              <a:buClrTx/>
              <a:buFont typeface="Wingdings" panose="05000000000000000000" pitchFamily="2" charset="2"/>
              <a:buChar char="§"/>
              <a:defRPr/>
            </a:pPr>
            <a:r>
              <a:rPr lang="en-US" sz="2200" b="1" dirty="0"/>
              <a:t>Transmission mode: </a:t>
            </a:r>
            <a:r>
              <a:rPr lang="en-US" sz="2200" dirty="0"/>
              <a:t>Defines data flow between two connected devices.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1910052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Data Link Layer</a:t>
            </a:r>
          </a:p>
        </p:txBody>
      </p:sp>
      <p:sp>
        <p:nvSpPr>
          <p:cNvPr id="203779" name="Rectangle 3"/>
          <p:cNvSpPr>
            <a:spLocks noGrp="1" noChangeArrowheads="1"/>
          </p:cNvSpPr>
          <p:nvPr>
            <p:ph idx="1"/>
          </p:nvPr>
        </p:nvSpPr>
        <p:spPr>
          <a:xfrm>
            <a:off x="1669774" y="1441176"/>
            <a:ext cx="8878956" cy="5171658"/>
          </a:xfrm>
        </p:spPr>
        <p:txBody>
          <a:bodyPr/>
          <a:lstStyle/>
          <a:p>
            <a:pPr algn="just" eaLnBrk="1" hangingPunct="1">
              <a:buClrTx/>
              <a:buFont typeface="Wingdings" panose="05000000000000000000" pitchFamily="2" charset="2"/>
              <a:buChar char="§"/>
              <a:defRPr/>
            </a:pPr>
            <a:r>
              <a:rPr lang="en-US" sz="2400" dirty="0"/>
              <a:t>The data link layer is responsible for the node-to-node delivery of the message.</a:t>
            </a:r>
          </a:p>
          <a:p>
            <a:pPr algn="just" eaLnBrk="1" hangingPunct="1">
              <a:buClrTx/>
              <a:buFont typeface="Wingdings" panose="05000000000000000000" pitchFamily="2" charset="2"/>
              <a:buChar char="§"/>
              <a:defRPr/>
            </a:pPr>
            <a:r>
              <a:rPr lang="en-US" sz="2400" dirty="0"/>
              <a:t>Data Link Layer is divided into two sublayers:  </a:t>
            </a:r>
          </a:p>
          <a:p>
            <a:pPr marL="971550" lvl="1" indent="-514350" algn="just">
              <a:buFont typeface="+mj-lt"/>
              <a:buAutoNum type="romanLcPeriod"/>
              <a:defRPr/>
            </a:pPr>
            <a:r>
              <a:rPr lang="en-US" sz="2000" dirty="0"/>
              <a:t>Logical Link Control</a:t>
            </a:r>
          </a:p>
          <a:p>
            <a:pPr marL="971550" lvl="1" indent="-514350" algn="just">
              <a:buFont typeface="+mj-lt"/>
              <a:buAutoNum type="romanLcPeriod"/>
              <a:defRPr/>
            </a:pPr>
            <a:r>
              <a:rPr lang="en-US" sz="2000" dirty="0"/>
              <a:t>Media Access Control</a:t>
            </a:r>
          </a:p>
          <a:p>
            <a:pPr algn="just" eaLnBrk="1" hangingPunct="1">
              <a:buClrTx/>
              <a:buFont typeface="Wingdings" panose="05000000000000000000" pitchFamily="2" charset="2"/>
              <a:buChar char="§"/>
              <a:defRPr/>
            </a:pPr>
            <a:r>
              <a:rPr lang="en-US" sz="2400" dirty="0"/>
              <a:t>Other Functions include:</a:t>
            </a:r>
          </a:p>
          <a:p>
            <a:pPr lvl="1" algn="just" eaLnBrk="1" hangingPunct="1">
              <a:buClrTx/>
              <a:buFont typeface="Wingdings" panose="05000000000000000000" pitchFamily="2" charset="2"/>
              <a:buChar char="ü"/>
              <a:defRPr/>
            </a:pPr>
            <a:r>
              <a:rPr lang="en-US" sz="2000" dirty="0"/>
              <a:t>Framing</a:t>
            </a:r>
          </a:p>
          <a:p>
            <a:pPr lvl="1" algn="just" eaLnBrk="1" hangingPunct="1">
              <a:buClrTx/>
              <a:buFont typeface="Wingdings" panose="05000000000000000000" pitchFamily="2" charset="2"/>
              <a:buChar char="ü"/>
              <a:defRPr/>
            </a:pPr>
            <a:r>
              <a:rPr lang="en-US" sz="2000" dirty="0"/>
              <a:t>Physical addressing</a:t>
            </a:r>
          </a:p>
          <a:p>
            <a:pPr lvl="1" algn="just" eaLnBrk="1" hangingPunct="1">
              <a:buClrTx/>
              <a:buFont typeface="Wingdings" panose="05000000000000000000" pitchFamily="2" charset="2"/>
              <a:buChar char="ü"/>
              <a:defRPr/>
            </a:pPr>
            <a:r>
              <a:rPr lang="en-US" sz="2000" dirty="0"/>
              <a:t>Error control</a:t>
            </a:r>
          </a:p>
          <a:p>
            <a:pPr lvl="1" algn="just" eaLnBrk="1" hangingPunct="1">
              <a:buClrTx/>
              <a:buFont typeface="Wingdings" panose="05000000000000000000" pitchFamily="2" charset="2"/>
              <a:buChar char="ü"/>
              <a:defRPr/>
            </a:pPr>
            <a:r>
              <a:rPr lang="en-US" sz="2000" dirty="0"/>
              <a:t>Flow Control</a:t>
            </a:r>
          </a:p>
          <a:p>
            <a:pPr lvl="1" algn="just" eaLnBrk="1" hangingPunct="1">
              <a:buClrTx/>
              <a:buFont typeface="Wingdings" panose="05000000000000000000" pitchFamily="2" charset="2"/>
              <a:buChar char="ü"/>
              <a:defRPr/>
            </a:pPr>
            <a:r>
              <a:rPr lang="en-US" sz="2000" dirty="0"/>
              <a:t>Access control</a:t>
            </a:r>
          </a:p>
          <a:p>
            <a:pPr algn="just" eaLnBrk="1" hangingPunct="1">
              <a:buClrTx/>
              <a:buFont typeface="Wingdings" panose="05000000000000000000" pitchFamily="2" charset="2"/>
              <a:buChar char="§"/>
              <a:defRPr/>
            </a:pPr>
            <a:endParaRPr lang="en-US" sz="2400"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1283098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Network Layer</a:t>
            </a:r>
          </a:p>
        </p:txBody>
      </p:sp>
      <p:sp>
        <p:nvSpPr>
          <p:cNvPr id="203779" name="Rectangle 3"/>
          <p:cNvSpPr>
            <a:spLocks noGrp="1" noChangeArrowheads="1"/>
          </p:cNvSpPr>
          <p:nvPr>
            <p:ph idx="1"/>
          </p:nvPr>
        </p:nvSpPr>
        <p:spPr>
          <a:xfrm>
            <a:off x="1669774" y="1441176"/>
            <a:ext cx="8878956" cy="5171658"/>
          </a:xfrm>
        </p:spPr>
        <p:txBody>
          <a:bodyPr/>
          <a:lstStyle/>
          <a:p>
            <a:pPr algn="just" eaLnBrk="1" hangingPunct="1">
              <a:buClrTx/>
              <a:buFont typeface="Wingdings" panose="05000000000000000000" pitchFamily="2" charset="2"/>
              <a:buChar char="§"/>
              <a:defRPr/>
            </a:pPr>
            <a:r>
              <a:rPr lang="en-US" sz="2400" dirty="0"/>
              <a:t>Works for the transmission of data from one host to the other located in different networks.</a:t>
            </a:r>
          </a:p>
          <a:p>
            <a:pPr algn="just" eaLnBrk="1" hangingPunct="1">
              <a:buClrTx/>
              <a:buFont typeface="Wingdings" panose="05000000000000000000" pitchFamily="2" charset="2"/>
              <a:buChar char="§"/>
              <a:defRPr/>
            </a:pPr>
            <a:endParaRPr lang="en-US" sz="2400" dirty="0"/>
          </a:p>
          <a:p>
            <a:pPr algn="just" eaLnBrk="1" hangingPunct="1">
              <a:buClrTx/>
              <a:buFont typeface="Wingdings" panose="05000000000000000000" pitchFamily="2" charset="2"/>
              <a:buChar char="§"/>
              <a:defRPr/>
            </a:pPr>
            <a:r>
              <a:rPr lang="en-US" sz="2400" dirty="0"/>
              <a:t>Also takes care of packet routing i.e. selection of the shortest path to transmit the packet, from the number of routes available.</a:t>
            </a:r>
          </a:p>
          <a:p>
            <a:pPr algn="just" eaLnBrk="1" hangingPunct="1">
              <a:buClrTx/>
              <a:buFont typeface="Wingdings" panose="05000000000000000000" pitchFamily="2" charset="2"/>
              <a:buChar char="§"/>
              <a:defRPr/>
            </a:pPr>
            <a:endParaRPr lang="en-US" sz="2400" dirty="0"/>
          </a:p>
          <a:p>
            <a:pPr algn="just" eaLnBrk="1" hangingPunct="1">
              <a:buClrTx/>
              <a:buFont typeface="Wingdings" panose="05000000000000000000" pitchFamily="2" charset="2"/>
              <a:buChar char="§"/>
              <a:defRPr/>
            </a:pPr>
            <a:r>
              <a:rPr lang="en-US" sz="2400" dirty="0"/>
              <a:t>Other functions include:</a:t>
            </a:r>
          </a:p>
          <a:p>
            <a:pPr lvl="1" algn="just" eaLnBrk="1" hangingPunct="1">
              <a:buClrTx/>
              <a:buFont typeface="Wingdings" panose="05000000000000000000" pitchFamily="2" charset="2"/>
              <a:buChar char="ü"/>
              <a:defRPr/>
            </a:pPr>
            <a:r>
              <a:rPr lang="en-US" sz="2000" dirty="0"/>
              <a:t>Routing</a:t>
            </a:r>
          </a:p>
          <a:p>
            <a:pPr lvl="1" algn="just" eaLnBrk="1" hangingPunct="1">
              <a:buClrTx/>
              <a:buFont typeface="Wingdings" panose="05000000000000000000" pitchFamily="2" charset="2"/>
              <a:buChar char="ü"/>
              <a:defRPr/>
            </a:pPr>
            <a:r>
              <a:rPr lang="en-US" sz="2000" dirty="0"/>
              <a:t>Logical Addressing</a:t>
            </a:r>
          </a:p>
          <a:p>
            <a:pPr algn="just" eaLnBrk="1" hangingPunct="1">
              <a:buClrTx/>
              <a:buFont typeface="Wingdings" panose="05000000000000000000" pitchFamily="2" charset="2"/>
              <a:buChar char="§"/>
              <a:defRPr/>
            </a:pPr>
            <a:endParaRPr lang="en-US" sz="2400" dirty="0"/>
          </a:p>
          <a:p>
            <a:pPr algn="just" eaLnBrk="1" hangingPunct="1">
              <a:buClrTx/>
              <a:buFont typeface="Wingdings" panose="05000000000000000000" pitchFamily="2" charset="2"/>
              <a:buChar char="§"/>
              <a:defRPr/>
            </a:pPr>
            <a:endParaRPr lang="en-US" sz="2400"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4476606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Transport Layer</a:t>
            </a:r>
          </a:p>
        </p:txBody>
      </p:sp>
      <p:sp>
        <p:nvSpPr>
          <p:cNvPr id="203779" name="Rectangle 3"/>
          <p:cNvSpPr>
            <a:spLocks noGrp="1" noChangeArrowheads="1"/>
          </p:cNvSpPr>
          <p:nvPr>
            <p:ph idx="1"/>
          </p:nvPr>
        </p:nvSpPr>
        <p:spPr>
          <a:xfrm>
            <a:off x="1669774" y="1215892"/>
            <a:ext cx="8878956" cy="5383690"/>
          </a:xfrm>
        </p:spPr>
        <p:txBody>
          <a:bodyPr>
            <a:normAutofit lnSpcReduction="10000"/>
          </a:bodyPr>
          <a:lstStyle/>
          <a:p>
            <a:pPr algn="just" eaLnBrk="1" hangingPunct="1">
              <a:buClrTx/>
              <a:buFont typeface="Wingdings" panose="05000000000000000000" pitchFamily="2" charset="2"/>
              <a:buChar char="§"/>
              <a:defRPr/>
            </a:pPr>
            <a:r>
              <a:rPr lang="en-US" sz="2000" dirty="0"/>
              <a:t>Provides services to the application layer and takes services from the network layer.</a:t>
            </a:r>
          </a:p>
          <a:p>
            <a:pPr algn="just" eaLnBrk="1" hangingPunct="1">
              <a:buClrTx/>
              <a:buFont typeface="Wingdings" panose="05000000000000000000" pitchFamily="2" charset="2"/>
              <a:buChar char="§"/>
              <a:defRPr/>
            </a:pPr>
            <a:r>
              <a:rPr lang="en-US" sz="2000" dirty="0"/>
              <a:t>The data in the transport layer is referred to as Segments.</a:t>
            </a:r>
          </a:p>
          <a:p>
            <a:pPr algn="just" eaLnBrk="1" hangingPunct="1">
              <a:buClrTx/>
              <a:buFont typeface="Wingdings" panose="05000000000000000000" pitchFamily="2" charset="2"/>
              <a:buChar char="§"/>
              <a:defRPr/>
            </a:pPr>
            <a:r>
              <a:rPr lang="en-US" sz="2000" dirty="0"/>
              <a:t>Responsible for the End to End Delivery of the complete message.</a:t>
            </a:r>
          </a:p>
          <a:p>
            <a:pPr algn="just" eaLnBrk="1" hangingPunct="1">
              <a:buClrTx/>
              <a:buFont typeface="Wingdings" panose="05000000000000000000" pitchFamily="2" charset="2"/>
              <a:buChar char="§"/>
              <a:defRPr/>
            </a:pPr>
            <a:r>
              <a:rPr lang="en-US" sz="2000" dirty="0"/>
              <a:t>Provides the acknowledgement of the successful data transmission and re-transmits the data if an error is found.</a:t>
            </a:r>
          </a:p>
          <a:p>
            <a:pPr algn="just" eaLnBrk="1" hangingPunct="1">
              <a:buClrTx/>
              <a:buFont typeface="Wingdings" panose="05000000000000000000" pitchFamily="2" charset="2"/>
              <a:buChar char="§"/>
              <a:defRPr/>
            </a:pPr>
            <a:r>
              <a:rPr lang="en-US" sz="2000" dirty="0"/>
              <a:t>Other functions include:</a:t>
            </a:r>
          </a:p>
          <a:p>
            <a:pPr lvl="1" algn="just" eaLnBrk="1" hangingPunct="1">
              <a:buClrTx/>
              <a:buFont typeface="Wingdings" panose="05000000000000000000" pitchFamily="2" charset="2"/>
              <a:buChar char="ü"/>
              <a:defRPr/>
            </a:pPr>
            <a:r>
              <a:rPr lang="en-US" sz="1600" b="1" dirty="0"/>
              <a:t>Segmentation and Reassembly: </a:t>
            </a:r>
            <a:r>
              <a:rPr lang="en-US" sz="1600" dirty="0"/>
              <a:t>Accepts the message from the (session) layer, and breaks the message into smaller units. </a:t>
            </a:r>
          </a:p>
          <a:p>
            <a:pPr lvl="1" algn="just" eaLnBrk="1" hangingPunct="1">
              <a:buClrTx/>
              <a:buFont typeface="Wingdings" panose="05000000000000000000" pitchFamily="2" charset="2"/>
              <a:buChar char="ü"/>
              <a:defRPr/>
            </a:pPr>
            <a:r>
              <a:rPr lang="en-US" sz="1600" b="1" dirty="0"/>
              <a:t>Service Point Addressing: </a:t>
            </a:r>
            <a:r>
              <a:rPr lang="en-US" sz="1600" dirty="0"/>
              <a:t>In order to deliver the message to the correct process, the transport layer header includes a type of address called service point address or port address.</a:t>
            </a:r>
          </a:p>
          <a:p>
            <a:pPr lvl="1" algn="just" eaLnBrk="1" hangingPunct="1">
              <a:buClrTx/>
              <a:buFont typeface="Wingdings" panose="05000000000000000000" pitchFamily="2" charset="2"/>
              <a:buChar char="ü"/>
              <a:defRPr/>
            </a:pPr>
            <a:r>
              <a:rPr lang="en-US" sz="1600" b="1" dirty="0"/>
              <a:t>At the sender’s side</a:t>
            </a:r>
            <a:r>
              <a:rPr lang="en-US" sz="1600" dirty="0"/>
              <a:t>, this layer receives the formatted data from the upper layers, performs Segmentation, and also implements Flow &amp; Error control to ensure proper data transmission. </a:t>
            </a:r>
          </a:p>
          <a:p>
            <a:pPr lvl="1" algn="just" eaLnBrk="1" hangingPunct="1">
              <a:buClrTx/>
              <a:buFont typeface="Wingdings" panose="05000000000000000000" pitchFamily="2" charset="2"/>
              <a:buChar char="ü"/>
              <a:defRPr/>
            </a:pPr>
            <a:r>
              <a:rPr lang="en-US" sz="1600" b="1" dirty="0"/>
              <a:t>At receiver’s side, </a:t>
            </a:r>
            <a:r>
              <a:rPr lang="en-US" sz="1600" dirty="0"/>
              <a:t>it reads the port number from its header and forwards the Data which it has received to the respective application.</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0600657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Session Layer</a:t>
            </a:r>
          </a:p>
        </p:txBody>
      </p:sp>
      <p:sp>
        <p:nvSpPr>
          <p:cNvPr id="203779" name="Rectangle 3"/>
          <p:cNvSpPr>
            <a:spLocks noGrp="1" noChangeArrowheads="1"/>
          </p:cNvSpPr>
          <p:nvPr>
            <p:ph idx="1"/>
          </p:nvPr>
        </p:nvSpPr>
        <p:spPr>
          <a:xfrm>
            <a:off x="1669774" y="1348413"/>
            <a:ext cx="8878956" cy="5211413"/>
          </a:xfrm>
        </p:spPr>
        <p:txBody>
          <a:bodyPr/>
          <a:lstStyle/>
          <a:p>
            <a:pPr algn="just" eaLnBrk="1" hangingPunct="1">
              <a:buClrTx/>
              <a:buFont typeface="Wingdings" panose="05000000000000000000" pitchFamily="2" charset="2"/>
              <a:buChar char="§"/>
              <a:defRPr/>
            </a:pPr>
            <a:r>
              <a:rPr lang="en-US" sz="2400" dirty="0"/>
              <a:t>Responsible for the establishment of connection, maintenance of sessions, authentication, and also ensures security.</a:t>
            </a:r>
          </a:p>
          <a:p>
            <a:pPr algn="just" eaLnBrk="1" hangingPunct="1">
              <a:buClrTx/>
              <a:buFont typeface="Wingdings" panose="05000000000000000000" pitchFamily="2" charset="2"/>
              <a:buChar char="§"/>
              <a:defRPr/>
            </a:pPr>
            <a:r>
              <a:rPr lang="en-US" sz="2400" dirty="0"/>
              <a:t>Other functions include:</a:t>
            </a:r>
          </a:p>
          <a:p>
            <a:pPr lvl="1" algn="just" eaLnBrk="1" hangingPunct="1">
              <a:buClrTx/>
              <a:buFont typeface="Wingdings" panose="05000000000000000000" pitchFamily="2" charset="2"/>
              <a:buChar char="ü"/>
              <a:defRPr/>
            </a:pPr>
            <a:r>
              <a:rPr lang="en-US" sz="2000" b="1" dirty="0"/>
              <a:t>Session establishment, maintenance, and termination: </a:t>
            </a:r>
            <a:r>
              <a:rPr lang="en-US" sz="2000" dirty="0"/>
              <a:t>Allows the two processes to establish, use and terminate a connection.</a:t>
            </a:r>
          </a:p>
          <a:p>
            <a:pPr lvl="1" algn="just" eaLnBrk="1" hangingPunct="1">
              <a:buClrTx/>
              <a:buFont typeface="Wingdings" panose="05000000000000000000" pitchFamily="2" charset="2"/>
              <a:buChar char="ü"/>
              <a:defRPr/>
            </a:pPr>
            <a:r>
              <a:rPr lang="en-US" sz="2000" b="1" dirty="0"/>
              <a:t>Synchronization: </a:t>
            </a:r>
            <a:r>
              <a:rPr lang="en-US" sz="2000" dirty="0"/>
              <a:t>This layer allows a process to add checkpoints which are considered synchronization points into the data.</a:t>
            </a:r>
          </a:p>
          <a:p>
            <a:pPr lvl="1" algn="just" eaLnBrk="1" hangingPunct="1">
              <a:buClrTx/>
              <a:buFont typeface="Wingdings" panose="05000000000000000000" pitchFamily="2" charset="2"/>
              <a:buChar char="ü"/>
              <a:defRPr/>
            </a:pPr>
            <a:r>
              <a:rPr lang="en-US" sz="2000" b="1" dirty="0"/>
              <a:t>Dialog Controller: </a:t>
            </a:r>
            <a:r>
              <a:rPr lang="en-US" sz="2000" dirty="0"/>
              <a:t>Allows two systems to start communication with each other in half-duplex or full-duplex.</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1648287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Presentation Layer</a:t>
            </a:r>
          </a:p>
        </p:txBody>
      </p:sp>
      <p:sp>
        <p:nvSpPr>
          <p:cNvPr id="203779" name="Rectangle 3"/>
          <p:cNvSpPr>
            <a:spLocks noGrp="1" noChangeArrowheads="1"/>
          </p:cNvSpPr>
          <p:nvPr>
            <p:ph idx="1"/>
          </p:nvPr>
        </p:nvSpPr>
        <p:spPr>
          <a:xfrm>
            <a:off x="1669774" y="1427926"/>
            <a:ext cx="8878956" cy="5145152"/>
          </a:xfrm>
        </p:spPr>
        <p:txBody>
          <a:bodyPr/>
          <a:lstStyle/>
          <a:p>
            <a:pPr algn="just" eaLnBrk="1" hangingPunct="1">
              <a:buClrTx/>
              <a:buFont typeface="Wingdings" panose="05000000000000000000" pitchFamily="2" charset="2"/>
              <a:buChar char="§"/>
              <a:defRPr/>
            </a:pPr>
            <a:r>
              <a:rPr lang="en-US" sz="2400" dirty="0"/>
              <a:t>Also called the Translation layer.</a:t>
            </a:r>
          </a:p>
          <a:p>
            <a:pPr algn="just" eaLnBrk="1" hangingPunct="1">
              <a:buClrTx/>
              <a:buFont typeface="Wingdings" panose="05000000000000000000" pitchFamily="2" charset="2"/>
              <a:buChar char="§"/>
              <a:defRPr/>
            </a:pPr>
            <a:r>
              <a:rPr lang="en-US" sz="2400" dirty="0"/>
              <a:t>The data from the application layer is extracted here and manipulated as per the required format to transmit over the network.</a:t>
            </a:r>
          </a:p>
          <a:p>
            <a:pPr algn="just" eaLnBrk="1" hangingPunct="1">
              <a:buClrTx/>
              <a:buFont typeface="Wingdings" panose="05000000000000000000" pitchFamily="2" charset="2"/>
              <a:buChar char="§"/>
              <a:defRPr/>
            </a:pPr>
            <a:r>
              <a:rPr lang="en-US" sz="2400" dirty="0"/>
              <a:t>Other functions include:</a:t>
            </a:r>
          </a:p>
          <a:p>
            <a:pPr lvl="1" algn="just" eaLnBrk="1" hangingPunct="1">
              <a:buClrTx/>
              <a:buFont typeface="Wingdings" panose="05000000000000000000" pitchFamily="2" charset="2"/>
              <a:buChar char="ü"/>
              <a:defRPr/>
            </a:pPr>
            <a:r>
              <a:rPr lang="en-US" sz="2000" b="1" dirty="0"/>
              <a:t>Translation: </a:t>
            </a:r>
            <a:r>
              <a:rPr lang="en-US" sz="2000" dirty="0"/>
              <a:t>For example, ASCII to EBCDIC.</a:t>
            </a:r>
          </a:p>
          <a:p>
            <a:pPr lvl="1" algn="just" eaLnBrk="1" hangingPunct="1">
              <a:buClrTx/>
              <a:buFont typeface="Wingdings" panose="05000000000000000000" pitchFamily="2" charset="2"/>
              <a:buChar char="ü"/>
              <a:defRPr/>
            </a:pPr>
            <a:r>
              <a:rPr lang="en-US" sz="2000" b="1" dirty="0"/>
              <a:t>Encryption/ Decryption: </a:t>
            </a:r>
            <a:r>
              <a:rPr lang="en-US" sz="2000" dirty="0"/>
              <a:t>Data encryption translates the data into another form or code. The encrypted data is known as the </a:t>
            </a:r>
            <a:r>
              <a:rPr lang="en-US" sz="2000" dirty="0" err="1"/>
              <a:t>ciphertext</a:t>
            </a:r>
            <a:r>
              <a:rPr lang="en-US" sz="2000" dirty="0"/>
              <a:t> and the decrypted data is known as plain text. A key value is used for encrypting as well as decrypting data.</a:t>
            </a:r>
          </a:p>
          <a:p>
            <a:pPr lvl="1" algn="just" eaLnBrk="1" hangingPunct="1">
              <a:buClrTx/>
              <a:buFont typeface="Wingdings" panose="05000000000000000000" pitchFamily="2" charset="2"/>
              <a:buChar char="ü"/>
              <a:defRPr/>
            </a:pPr>
            <a:r>
              <a:rPr lang="en-US" sz="2000" b="1" dirty="0"/>
              <a:t>•	Compression: </a:t>
            </a:r>
            <a:r>
              <a:rPr lang="en-US" sz="2000" dirty="0"/>
              <a:t>Reduces the number of bits that need to be transmitted on the network.</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3915190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Application Layer</a:t>
            </a:r>
          </a:p>
        </p:txBody>
      </p:sp>
      <p:sp>
        <p:nvSpPr>
          <p:cNvPr id="203779" name="Rectangle 3"/>
          <p:cNvSpPr>
            <a:spLocks noGrp="1" noChangeArrowheads="1"/>
          </p:cNvSpPr>
          <p:nvPr>
            <p:ph idx="1"/>
          </p:nvPr>
        </p:nvSpPr>
        <p:spPr>
          <a:xfrm>
            <a:off x="1669774" y="1533942"/>
            <a:ext cx="8878956" cy="4986127"/>
          </a:xfrm>
        </p:spPr>
        <p:txBody>
          <a:bodyPr/>
          <a:lstStyle/>
          <a:p>
            <a:pPr algn="just" eaLnBrk="1" hangingPunct="1">
              <a:buClrTx/>
              <a:buFont typeface="Wingdings" panose="05000000000000000000" pitchFamily="2" charset="2"/>
              <a:buChar char="§"/>
              <a:defRPr/>
            </a:pPr>
            <a:r>
              <a:rPr lang="en-US" sz="2400" dirty="0"/>
              <a:t>Found at the very top of the OSI Reference Model.</a:t>
            </a:r>
          </a:p>
          <a:p>
            <a:pPr algn="just" eaLnBrk="1" hangingPunct="1">
              <a:buClrTx/>
              <a:buFont typeface="Wingdings" panose="05000000000000000000" pitchFamily="2" charset="2"/>
              <a:buChar char="§"/>
              <a:defRPr/>
            </a:pPr>
            <a:r>
              <a:rPr lang="en-US" sz="2400" dirty="0"/>
              <a:t>Implemented by Network Applications.</a:t>
            </a:r>
          </a:p>
          <a:p>
            <a:pPr algn="just" eaLnBrk="1" hangingPunct="1">
              <a:buClrTx/>
              <a:buFont typeface="Wingdings" panose="05000000000000000000" pitchFamily="2" charset="2"/>
              <a:buChar char="§"/>
              <a:defRPr/>
            </a:pPr>
            <a:r>
              <a:rPr lang="en-US" sz="2400" dirty="0"/>
              <a:t>These applications produce the data, which has to be transferred over the network.</a:t>
            </a:r>
          </a:p>
          <a:p>
            <a:pPr algn="just" eaLnBrk="1" hangingPunct="1">
              <a:buClrTx/>
              <a:buFont typeface="Wingdings" panose="05000000000000000000" pitchFamily="2" charset="2"/>
              <a:buChar char="§"/>
              <a:defRPr/>
            </a:pPr>
            <a:r>
              <a:rPr lang="en-US" sz="2400" dirty="0"/>
              <a:t>Other functions include:</a:t>
            </a:r>
          </a:p>
          <a:p>
            <a:pPr lvl="1" algn="just" eaLnBrk="1" hangingPunct="1">
              <a:buClrTx/>
              <a:buFont typeface="Wingdings" panose="05000000000000000000" pitchFamily="2" charset="2"/>
              <a:buChar char="ü"/>
              <a:defRPr/>
            </a:pPr>
            <a:r>
              <a:rPr lang="en-US" sz="2000" dirty="0"/>
              <a:t>Network Virtual Terminal</a:t>
            </a:r>
          </a:p>
          <a:p>
            <a:pPr lvl="1" algn="just" eaLnBrk="1" hangingPunct="1">
              <a:buClrTx/>
              <a:buFont typeface="Wingdings" panose="05000000000000000000" pitchFamily="2" charset="2"/>
              <a:buChar char="ü"/>
              <a:defRPr/>
            </a:pPr>
            <a:r>
              <a:rPr lang="en-US" sz="2000" dirty="0"/>
              <a:t>FTAM-File transfer access and management</a:t>
            </a:r>
          </a:p>
          <a:p>
            <a:pPr lvl="1" algn="just" eaLnBrk="1" hangingPunct="1">
              <a:buClrTx/>
              <a:buFont typeface="Wingdings" panose="05000000000000000000" pitchFamily="2" charset="2"/>
              <a:buChar char="ü"/>
              <a:defRPr/>
            </a:pPr>
            <a:r>
              <a:rPr lang="en-US" sz="2000" dirty="0"/>
              <a:t>Mail Services</a:t>
            </a:r>
          </a:p>
          <a:p>
            <a:pPr lvl="1" algn="just" eaLnBrk="1" hangingPunct="1">
              <a:buClrTx/>
              <a:buFont typeface="Wingdings" panose="05000000000000000000" pitchFamily="2" charset="2"/>
              <a:buChar char="ü"/>
              <a:defRPr/>
            </a:pPr>
            <a:r>
              <a:rPr lang="en-US" sz="2000" dirty="0"/>
              <a:t>Directory Services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1423654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TCP/IP Reference Model</a:t>
            </a:r>
          </a:p>
        </p:txBody>
      </p:sp>
      <p:sp>
        <p:nvSpPr>
          <p:cNvPr id="203779" name="Rectangle 3"/>
          <p:cNvSpPr>
            <a:spLocks noGrp="1" noChangeArrowheads="1"/>
          </p:cNvSpPr>
          <p:nvPr>
            <p:ph idx="1"/>
          </p:nvPr>
        </p:nvSpPr>
        <p:spPr>
          <a:xfrm>
            <a:off x="1669774" y="1533942"/>
            <a:ext cx="8878956" cy="4986127"/>
          </a:xfrm>
        </p:spPr>
        <p:txBody>
          <a:bodyPr>
            <a:normAutofit lnSpcReduction="10000"/>
          </a:bodyPr>
          <a:lstStyle/>
          <a:p>
            <a:pPr algn="just" eaLnBrk="1" hangingPunct="1">
              <a:buClrTx/>
              <a:buFont typeface="Wingdings" panose="05000000000000000000" pitchFamily="2" charset="2"/>
              <a:buChar char="§"/>
              <a:defRPr/>
            </a:pPr>
            <a:r>
              <a:rPr lang="en-US" sz="2400" dirty="0"/>
              <a:t>Set of rules that governs the connection of computer systems to the internet.</a:t>
            </a:r>
          </a:p>
          <a:p>
            <a:pPr algn="just" eaLnBrk="1" hangingPunct="1">
              <a:buClrTx/>
              <a:buFont typeface="Wingdings" panose="05000000000000000000" pitchFamily="2" charset="2"/>
              <a:buChar char="§"/>
              <a:defRPr/>
            </a:pPr>
            <a:r>
              <a:rPr lang="en-US" sz="2400" dirty="0"/>
              <a:t>Commonly known as TCP/IP. Stands for Transmission Control Protocol/Internet Protocol.</a:t>
            </a:r>
          </a:p>
          <a:p>
            <a:pPr algn="just" eaLnBrk="1" hangingPunct="1">
              <a:buClrTx/>
              <a:buFont typeface="Wingdings" panose="05000000000000000000" pitchFamily="2" charset="2"/>
              <a:buChar char="§"/>
              <a:defRPr/>
            </a:pPr>
            <a:r>
              <a:rPr lang="en-US" sz="2400" dirty="0"/>
              <a:t>The TCP/IP model is a concise version of the OSI model.</a:t>
            </a:r>
          </a:p>
          <a:p>
            <a:pPr algn="just" eaLnBrk="1" hangingPunct="1">
              <a:buClrTx/>
              <a:buFont typeface="Wingdings" panose="05000000000000000000" pitchFamily="2" charset="2"/>
              <a:buChar char="§"/>
              <a:defRPr/>
            </a:pPr>
            <a:r>
              <a:rPr lang="en-US" sz="2400" dirty="0"/>
              <a:t>Main protocols in the suite include:</a:t>
            </a:r>
          </a:p>
          <a:p>
            <a:pPr lvl="1" algn="just" eaLnBrk="1" hangingPunct="1">
              <a:buClrTx/>
              <a:buFont typeface="Wingdings" panose="05000000000000000000" pitchFamily="2" charset="2"/>
              <a:buChar char="§"/>
              <a:defRPr/>
            </a:pPr>
            <a:r>
              <a:rPr lang="en-US" sz="1900" dirty="0"/>
              <a:t>Transmission Control Protocol</a:t>
            </a:r>
          </a:p>
          <a:p>
            <a:pPr lvl="1" algn="just" eaLnBrk="1" hangingPunct="1">
              <a:buClrTx/>
              <a:buFont typeface="Wingdings" panose="05000000000000000000" pitchFamily="2" charset="2"/>
              <a:buChar char="§"/>
              <a:defRPr/>
            </a:pPr>
            <a:r>
              <a:rPr lang="en-US" sz="1900" dirty="0"/>
              <a:t>Internet Protocol</a:t>
            </a:r>
          </a:p>
          <a:p>
            <a:pPr lvl="1" algn="just" eaLnBrk="1" hangingPunct="1">
              <a:buClrTx/>
              <a:buFont typeface="Wingdings" panose="05000000000000000000" pitchFamily="2" charset="2"/>
              <a:buChar char="§"/>
              <a:defRPr/>
            </a:pPr>
            <a:r>
              <a:rPr lang="en-US" sz="1900" dirty="0"/>
              <a:t>User Datagram Protocol.</a:t>
            </a:r>
          </a:p>
          <a:p>
            <a:pPr algn="just" eaLnBrk="1" hangingPunct="1">
              <a:buClrTx/>
              <a:buFont typeface="Wingdings" panose="05000000000000000000" pitchFamily="2" charset="2"/>
              <a:buChar char="§"/>
              <a:defRPr/>
            </a:pPr>
            <a:r>
              <a:rPr lang="en-US" sz="2400" dirty="0"/>
              <a:t>Designed and developed by Department of Defense (DoD) in 1960s and is based on standard protocols.</a:t>
            </a:r>
          </a:p>
          <a:p>
            <a:pPr algn="just" eaLnBrk="1" hangingPunct="1">
              <a:buClrTx/>
              <a:buFont typeface="Wingdings" panose="05000000000000000000" pitchFamily="2" charset="2"/>
              <a:buChar char="§"/>
              <a:defRPr/>
            </a:pPr>
            <a:r>
              <a:rPr lang="en-US" sz="2400" dirty="0"/>
              <a:t>Contains four layers.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27989406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TCP/IP Layers</a:t>
            </a:r>
          </a:p>
        </p:txBody>
      </p:sp>
      <p:sp>
        <p:nvSpPr>
          <p:cNvPr id="203779" name="Rectangle 3"/>
          <p:cNvSpPr>
            <a:spLocks noGrp="1" noChangeArrowheads="1"/>
          </p:cNvSpPr>
          <p:nvPr>
            <p:ph idx="1"/>
          </p:nvPr>
        </p:nvSpPr>
        <p:spPr>
          <a:xfrm>
            <a:off x="1669774" y="1533942"/>
            <a:ext cx="8878956" cy="4986127"/>
          </a:xfrm>
        </p:spPr>
        <p:txBody>
          <a:bodyPr/>
          <a:lstStyle/>
          <a:p>
            <a:pPr algn="just" eaLnBrk="1" hangingPunct="1">
              <a:buClrTx/>
              <a:buFont typeface="Wingdings" panose="05000000000000000000" pitchFamily="2" charset="2"/>
              <a:buChar char="§"/>
              <a:defRPr/>
            </a:pPr>
            <a:r>
              <a:rPr lang="en-US" sz="2400" dirty="0"/>
              <a:t>Application Layer</a:t>
            </a:r>
          </a:p>
          <a:p>
            <a:pPr algn="just" eaLnBrk="1" hangingPunct="1">
              <a:buClrTx/>
              <a:buFont typeface="Wingdings" panose="05000000000000000000" pitchFamily="2" charset="2"/>
              <a:buChar char="§"/>
              <a:defRPr/>
            </a:pPr>
            <a:r>
              <a:rPr lang="en-US" sz="2400" dirty="0"/>
              <a:t>Transport Layer</a:t>
            </a:r>
          </a:p>
          <a:p>
            <a:pPr algn="just" eaLnBrk="1" hangingPunct="1">
              <a:buClrTx/>
              <a:buFont typeface="Wingdings" panose="05000000000000000000" pitchFamily="2" charset="2"/>
              <a:buChar char="§"/>
              <a:defRPr/>
            </a:pPr>
            <a:r>
              <a:rPr lang="en-US" sz="2400" dirty="0"/>
              <a:t>Internet Layer</a:t>
            </a:r>
          </a:p>
          <a:p>
            <a:pPr algn="just" eaLnBrk="1" hangingPunct="1">
              <a:buClrTx/>
              <a:buFont typeface="Wingdings" panose="05000000000000000000" pitchFamily="2" charset="2"/>
              <a:buChar char="§"/>
              <a:defRPr/>
            </a:pPr>
            <a:r>
              <a:rPr lang="en-US" sz="2400" dirty="0"/>
              <a:t>Network Access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5437557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Network Access Layer</a:t>
            </a:r>
          </a:p>
        </p:txBody>
      </p:sp>
      <p:sp>
        <p:nvSpPr>
          <p:cNvPr id="203779" name="Rectangle 3"/>
          <p:cNvSpPr>
            <a:spLocks noGrp="1" noChangeArrowheads="1"/>
          </p:cNvSpPr>
          <p:nvPr>
            <p:ph idx="1"/>
          </p:nvPr>
        </p:nvSpPr>
        <p:spPr>
          <a:xfrm>
            <a:off x="1669774" y="1533942"/>
            <a:ext cx="8878956" cy="4986127"/>
          </a:xfrm>
        </p:spPr>
        <p:txBody>
          <a:bodyPr/>
          <a:lstStyle/>
          <a:p>
            <a:pPr algn="just" eaLnBrk="1" hangingPunct="1">
              <a:buClrTx/>
              <a:buFont typeface="Wingdings" panose="05000000000000000000" pitchFamily="2" charset="2"/>
              <a:buChar char="§"/>
              <a:defRPr/>
            </a:pPr>
            <a:r>
              <a:rPr lang="en-US" sz="2400" dirty="0"/>
              <a:t>This layer corresponds to the combination of Data Link Layer and Physical Layer of the OSI model.</a:t>
            </a:r>
          </a:p>
          <a:p>
            <a:pPr algn="just" eaLnBrk="1" hangingPunct="1">
              <a:buClrTx/>
              <a:buFont typeface="Wingdings" panose="05000000000000000000" pitchFamily="2" charset="2"/>
              <a:buChar char="§"/>
              <a:defRPr/>
            </a:pPr>
            <a:r>
              <a:rPr lang="en-US" sz="2400" dirty="0"/>
              <a:t>It looks out for hardware addressing and the protocols present in this layer allows for the physical transmission of data.</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41036159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Internet Layer</a:t>
            </a:r>
          </a:p>
        </p:txBody>
      </p:sp>
      <p:sp>
        <p:nvSpPr>
          <p:cNvPr id="203779" name="Rectangle 3"/>
          <p:cNvSpPr>
            <a:spLocks noGrp="1" noChangeArrowheads="1"/>
          </p:cNvSpPr>
          <p:nvPr>
            <p:ph idx="1"/>
          </p:nvPr>
        </p:nvSpPr>
        <p:spPr>
          <a:xfrm>
            <a:off x="1669774" y="1533942"/>
            <a:ext cx="8878956" cy="4986127"/>
          </a:xfrm>
        </p:spPr>
        <p:txBody>
          <a:bodyPr/>
          <a:lstStyle/>
          <a:p>
            <a:pPr algn="just" eaLnBrk="1" hangingPunct="1">
              <a:buClrTx/>
              <a:buFont typeface="Wingdings" panose="05000000000000000000" pitchFamily="2" charset="2"/>
              <a:buChar char="§"/>
              <a:defRPr/>
            </a:pPr>
            <a:r>
              <a:rPr lang="en-US" sz="2400" dirty="0"/>
              <a:t>This layer parallels the functions of OSI’s Network layer.</a:t>
            </a:r>
          </a:p>
          <a:p>
            <a:pPr algn="just" eaLnBrk="1" hangingPunct="1">
              <a:buClrTx/>
              <a:buFont typeface="Wingdings" panose="05000000000000000000" pitchFamily="2" charset="2"/>
              <a:buChar char="§"/>
              <a:defRPr/>
            </a:pPr>
            <a:r>
              <a:rPr lang="en-US" sz="2400" dirty="0"/>
              <a:t>It defines the protocols which are responsible for logical transmission of data over the entire network.</a:t>
            </a:r>
          </a:p>
          <a:p>
            <a:pPr algn="just" eaLnBrk="1" hangingPunct="1">
              <a:buClrTx/>
              <a:buFont typeface="Wingdings" panose="05000000000000000000" pitchFamily="2" charset="2"/>
              <a:buChar char="§"/>
              <a:defRPr/>
            </a:pPr>
            <a:endParaRPr lang="en-US" sz="2400" dirty="0"/>
          </a:p>
          <a:p>
            <a:pPr algn="just" eaLnBrk="1" hangingPunct="1">
              <a:buClrTx/>
              <a:buFont typeface="Wingdings" panose="05000000000000000000" pitchFamily="2" charset="2"/>
              <a:buChar char="§"/>
              <a:defRPr/>
            </a:pPr>
            <a:r>
              <a:rPr lang="en-US" sz="2400" dirty="0"/>
              <a:t>The main protocols residing at this layer are:</a:t>
            </a:r>
          </a:p>
          <a:p>
            <a:pPr lvl="1" algn="just" eaLnBrk="1" hangingPunct="1">
              <a:buClrTx/>
              <a:buFont typeface="Wingdings" panose="05000000000000000000" pitchFamily="2" charset="2"/>
              <a:buChar char="ü"/>
              <a:defRPr/>
            </a:pPr>
            <a:r>
              <a:rPr lang="en-US" sz="1900" b="1" dirty="0"/>
              <a:t>IP:</a:t>
            </a:r>
            <a:r>
              <a:rPr lang="en-US" sz="1900" dirty="0"/>
              <a:t> Internet Protocol, including IPv4 and IPv6</a:t>
            </a:r>
          </a:p>
          <a:p>
            <a:pPr lvl="1" algn="just" eaLnBrk="1" hangingPunct="1">
              <a:buClrTx/>
              <a:buFont typeface="Wingdings" panose="05000000000000000000" pitchFamily="2" charset="2"/>
              <a:buChar char="ü"/>
              <a:defRPr/>
            </a:pPr>
            <a:r>
              <a:rPr lang="en-US" sz="1900" b="1" dirty="0"/>
              <a:t>ICMP: </a:t>
            </a:r>
            <a:r>
              <a:rPr lang="en-US" sz="1900" dirty="0"/>
              <a:t>Internet Control Message Protocol</a:t>
            </a:r>
          </a:p>
          <a:p>
            <a:pPr lvl="1" algn="just" eaLnBrk="1" hangingPunct="1">
              <a:buClrTx/>
              <a:buFont typeface="Wingdings" panose="05000000000000000000" pitchFamily="2" charset="2"/>
              <a:buChar char="ü"/>
              <a:defRPr/>
            </a:pPr>
            <a:r>
              <a:rPr lang="en-US" sz="1900" b="1" dirty="0"/>
              <a:t>ARP:</a:t>
            </a:r>
            <a:r>
              <a:rPr lang="en-US" sz="1900" dirty="0"/>
              <a:t> Address Resolution Protocol</a:t>
            </a:r>
          </a:p>
          <a:p>
            <a:pPr algn="just" eaLnBrk="1" hangingPunct="1">
              <a:buClrTx/>
              <a:buFont typeface="Wingdings" panose="05000000000000000000" pitchFamily="2" charset="2"/>
              <a:buChar char="§"/>
              <a:defRPr/>
            </a:pPr>
            <a:endParaRPr lang="en-US" sz="2400" dirty="0"/>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11251977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Transport Layer</a:t>
            </a:r>
          </a:p>
        </p:txBody>
      </p:sp>
      <p:sp>
        <p:nvSpPr>
          <p:cNvPr id="203779" name="Rectangle 3"/>
          <p:cNvSpPr>
            <a:spLocks noGrp="1" noChangeArrowheads="1"/>
          </p:cNvSpPr>
          <p:nvPr>
            <p:ph idx="1"/>
          </p:nvPr>
        </p:nvSpPr>
        <p:spPr>
          <a:xfrm>
            <a:off x="1669774" y="1533942"/>
            <a:ext cx="8878956" cy="4986127"/>
          </a:xfrm>
        </p:spPr>
        <p:txBody>
          <a:bodyPr/>
          <a:lstStyle/>
          <a:p>
            <a:pPr algn="just" eaLnBrk="1" hangingPunct="1">
              <a:buClrTx/>
              <a:buFont typeface="Wingdings" panose="05000000000000000000" pitchFamily="2" charset="2"/>
              <a:buChar char="§"/>
              <a:defRPr/>
            </a:pPr>
            <a:r>
              <a:rPr lang="en-US" sz="2400" dirty="0"/>
              <a:t>Also known as Host-To-Host Layer</a:t>
            </a:r>
          </a:p>
          <a:p>
            <a:pPr algn="just" eaLnBrk="1" hangingPunct="1">
              <a:buClrTx/>
              <a:buFont typeface="Wingdings" panose="05000000000000000000" pitchFamily="2" charset="2"/>
              <a:buChar char="§"/>
              <a:defRPr/>
            </a:pPr>
            <a:r>
              <a:rPr lang="en-US" sz="2400" dirty="0"/>
              <a:t>This layer is analogous to the transport layer of the OSI model. It is responsible for end-to-end communication and error-free delivery of data. </a:t>
            </a:r>
          </a:p>
          <a:p>
            <a:pPr algn="just" eaLnBrk="1" hangingPunct="1">
              <a:buClrTx/>
              <a:buFont typeface="Wingdings" panose="05000000000000000000" pitchFamily="2" charset="2"/>
              <a:buChar char="§"/>
              <a:defRPr/>
            </a:pPr>
            <a:r>
              <a:rPr lang="en-US" sz="2400" dirty="0"/>
              <a:t>The main protocols residing at this layer are:</a:t>
            </a:r>
          </a:p>
          <a:p>
            <a:pPr lvl="1" algn="just" eaLnBrk="1" hangingPunct="1">
              <a:buClrTx/>
              <a:buFont typeface="Wingdings" panose="05000000000000000000" pitchFamily="2" charset="2"/>
              <a:buChar char="ü"/>
              <a:defRPr/>
            </a:pPr>
            <a:r>
              <a:rPr lang="en-US" sz="1900" b="1" dirty="0"/>
              <a:t>Transmission Control Protocol (TCP)</a:t>
            </a:r>
          </a:p>
          <a:p>
            <a:pPr lvl="1" algn="just" eaLnBrk="1" hangingPunct="1">
              <a:buClrTx/>
              <a:buFont typeface="Wingdings" panose="05000000000000000000" pitchFamily="2" charset="2"/>
              <a:buChar char="ü"/>
              <a:defRPr/>
            </a:pPr>
            <a:r>
              <a:rPr lang="en-US" sz="1900" b="1" dirty="0"/>
              <a:t>User Datagram Protocol (UDP) </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34636474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pPr eaLnBrk="1" hangingPunct="1">
              <a:defRPr/>
            </a:pPr>
            <a:r>
              <a:rPr lang="en-US" sz="3000" dirty="0"/>
              <a:t>Application Layer</a:t>
            </a:r>
          </a:p>
        </p:txBody>
      </p:sp>
      <p:sp>
        <p:nvSpPr>
          <p:cNvPr id="203779" name="Rectangle 3"/>
          <p:cNvSpPr>
            <a:spLocks noGrp="1" noChangeArrowheads="1"/>
          </p:cNvSpPr>
          <p:nvPr>
            <p:ph idx="1"/>
          </p:nvPr>
        </p:nvSpPr>
        <p:spPr>
          <a:xfrm>
            <a:off x="1669774" y="1533942"/>
            <a:ext cx="8878956" cy="4986127"/>
          </a:xfrm>
        </p:spPr>
        <p:txBody>
          <a:bodyPr/>
          <a:lstStyle/>
          <a:p>
            <a:pPr algn="just" eaLnBrk="1" hangingPunct="1">
              <a:buClrTx/>
              <a:buFont typeface="Wingdings" panose="05000000000000000000" pitchFamily="2" charset="2"/>
              <a:buChar char="§"/>
              <a:defRPr/>
            </a:pPr>
            <a:r>
              <a:rPr lang="en-US" sz="2400" dirty="0"/>
              <a:t>Performs the functions of top three layers of the OSI model: Application, Presentation and Session Layer.</a:t>
            </a:r>
          </a:p>
          <a:p>
            <a:pPr algn="just" eaLnBrk="1" hangingPunct="1">
              <a:buClrTx/>
              <a:buFont typeface="Wingdings" panose="05000000000000000000" pitchFamily="2" charset="2"/>
              <a:buChar char="§"/>
              <a:defRPr/>
            </a:pPr>
            <a:r>
              <a:rPr lang="en-US" sz="2400" dirty="0"/>
              <a:t>Responsible for node-to-node communication and controls user-interface specifications.</a:t>
            </a:r>
          </a:p>
          <a:p>
            <a:pPr algn="just" eaLnBrk="1" hangingPunct="1">
              <a:buClrTx/>
              <a:buFont typeface="Wingdings" panose="05000000000000000000" pitchFamily="2" charset="2"/>
              <a:buChar char="§"/>
              <a:defRPr/>
            </a:pPr>
            <a:r>
              <a:rPr lang="en-US" sz="2400" dirty="0"/>
              <a:t>The protocols residing at this layer include:</a:t>
            </a:r>
          </a:p>
          <a:p>
            <a:pPr lvl="1" algn="just" eaLnBrk="1" hangingPunct="1">
              <a:buClrTx/>
              <a:buFont typeface="Wingdings" panose="05000000000000000000" pitchFamily="2" charset="2"/>
              <a:buChar char="ü"/>
              <a:defRPr/>
            </a:pPr>
            <a:r>
              <a:rPr lang="en-US" sz="1900" b="1" dirty="0"/>
              <a:t>HTTP: </a:t>
            </a:r>
            <a:r>
              <a:rPr lang="en-US" sz="1900" dirty="0"/>
              <a:t>Hypertext transfer protocol</a:t>
            </a:r>
          </a:p>
          <a:p>
            <a:pPr lvl="1" algn="just" eaLnBrk="1" hangingPunct="1">
              <a:buClrTx/>
              <a:buFont typeface="Wingdings" panose="05000000000000000000" pitchFamily="2" charset="2"/>
              <a:buChar char="ü"/>
              <a:defRPr/>
            </a:pPr>
            <a:r>
              <a:rPr lang="en-US" sz="1900" b="1" dirty="0"/>
              <a:t>HTTPS: </a:t>
            </a:r>
            <a:r>
              <a:rPr lang="en-US" sz="1900" dirty="0"/>
              <a:t>Hypertext transfer protocol-secure</a:t>
            </a:r>
          </a:p>
          <a:p>
            <a:pPr lvl="1" algn="just" eaLnBrk="1" hangingPunct="1">
              <a:buClrTx/>
              <a:buFont typeface="Wingdings" panose="05000000000000000000" pitchFamily="2" charset="2"/>
              <a:buChar char="ü"/>
              <a:defRPr/>
            </a:pPr>
            <a:r>
              <a:rPr lang="en-US" sz="1900" b="1" dirty="0"/>
              <a:t>Telnet: </a:t>
            </a:r>
            <a:r>
              <a:rPr lang="en-US" sz="1900" dirty="0"/>
              <a:t>Teletype Network Protocol</a:t>
            </a:r>
          </a:p>
          <a:p>
            <a:pPr lvl="1" algn="just" eaLnBrk="1" hangingPunct="1">
              <a:buClrTx/>
              <a:buFont typeface="Wingdings" panose="05000000000000000000" pitchFamily="2" charset="2"/>
              <a:buChar char="ü"/>
              <a:defRPr/>
            </a:pPr>
            <a:r>
              <a:rPr lang="en-US" sz="1900" b="1" dirty="0"/>
              <a:t>SSH: </a:t>
            </a:r>
            <a:r>
              <a:rPr lang="en-US" sz="1900" dirty="0"/>
              <a:t>Secure Shell</a:t>
            </a:r>
          </a:p>
          <a:p>
            <a:pPr lvl="1" algn="just" eaLnBrk="1" hangingPunct="1">
              <a:buClrTx/>
              <a:buFont typeface="Wingdings" panose="05000000000000000000" pitchFamily="2" charset="2"/>
              <a:buChar char="ü"/>
              <a:defRPr/>
            </a:pPr>
            <a:r>
              <a:rPr lang="en-US" sz="1900" b="1" dirty="0"/>
              <a:t>NTP: </a:t>
            </a:r>
            <a:r>
              <a:rPr lang="en-US" sz="1900" dirty="0"/>
              <a:t>Network Time Protocol</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spTree>
    <p:extLst>
      <p:ext uri="{BB962C8B-B14F-4D97-AF65-F5344CB8AC3E}">
        <p14:creationId xmlns:p14="http://schemas.microsoft.com/office/powerpoint/2010/main" val="8145123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a:xfrm>
            <a:off x="1981200" y="274638"/>
            <a:ext cx="8229600" cy="785536"/>
          </a:xfrm>
        </p:spPr>
        <p:txBody>
          <a:bodyPr/>
          <a:lstStyle/>
          <a:p>
            <a:pPr eaLnBrk="1" hangingPunct="1">
              <a:defRPr/>
            </a:pPr>
            <a:r>
              <a:rPr lang="en-US" sz="2600" dirty="0"/>
              <a:t>Comparison of OSI and TCP / IP Reference Models</a:t>
            </a:r>
          </a:p>
        </p:txBody>
      </p:sp>
      <p:sp>
        <p:nvSpPr>
          <p:cNvPr id="8" name="Footer Placeholder 5"/>
          <p:cNvSpPr>
            <a:spLocks noGrp="1"/>
          </p:cNvSpPr>
          <p:nvPr>
            <p:ph type="ftr" sz="quarter" idx="11"/>
          </p:nvPr>
        </p:nvSpPr>
        <p:spPr>
          <a:xfrm>
            <a:off x="9725297" y="6612834"/>
            <a:ext cx="813496" cy="198782"/>
          </a:xfrm>
        </p:spPr>
        <p:txBody>
          <a:bodyPr/>
          <a:lstStyle/>
          <a:p>
            <a:pPr>
              <a:defRPr/>
            </a:pPr>
            <a:r>
              <a:rPr lang="en-US"/>
              <a:t>CFC-MCA</a:t>
            </a:r>
            <a:endParaRPr lang="en-US" dirty="0"/>
          </a:p>
        </p:txBody>
      </p:sp>
      <p:graphicFrame>
        <p:nvGraphicFramePr>
          <p:cNvPr id="3" name="Table 2"/>
          <p:cNvGraphicFramePr>
            <a:graphicFrameLocks noGrp="1"/>
          </p:cNvGraphicFramePr>
          <p:nvPr>
            <p:extLst/>
          </p:nvPr>
        </p:nvGraphicFramePr>
        <p:xfrm>
          <a:off x="1981200" y="1436756"/>
          <a:ext cx="8229600" cy="5186680"/>
        </p:xfrm>
        <a:graphic>
          <a:graphicData uri="http://schemas.openxmlformats.org/drawingml/2006/table">
            <a:tbl>
              <a:tblPr firstRow="1" bandRow="1">
                <a:tableStyleId>{5940675A-B579-460E-94D1-54222C63F5DA}</a:tableStyleId>
              </a:tblPr>
              <a:tblGrid>
                <a:gridCol w="4114800">
                  <a:extLst>
                    <a:ext uri="{9D8B030D-6E8A-4147-A177-3AD203B41FA5}">
                      <a16:colId xmlns:a16="http://schemas.microsoft.com/office/drawing/2014/main" val="4044975610"/>
                    </a:ext>
                  </a:extLst>
                </a:gridCol>
                <a:gridCol w="4114800">
                  <a:extLst>
                    <a:ext uri="{9D8B030D-6E8A-4147-A177-3AD203B41FA5}">
                      <a16:colId xmlns:a16="http://schemas.microsoft.com/office/drawing/2014/main" val="1676297655"/>
                    </a:ext>
                  </a:extLst>
                </a:gridCol>
              </a:tblGrid>
              <a:tr h="370840">
                <a:tc>
                  <a:txBody>
                    <a:bodyPr/>
                    <a:lstStyle/>
                    <a:p>
                      <a:pPr algn="l"/>
                      <a:r>
                        <a:rPr lang="en-US" sz="1300" b="1" dirty="0"/>
                        <a:t>Similarities</a:t>
                      </a:r>
                    </a:p>
                  </a:txBody>
                  <a:tcPr/>
                </a:tc>
                <a:tc>
                  <a:txBody>
                    <a:bodyPr/>
                    <a:lstStyle/>
                    <a:p>
                      <a:pPr algn="l"/>
                      <a:r>
                        <a:rPr lang="en-US" sz="1300" b="1" dirty="0"/>
                        <a:t>Differences</a:t>
                      </a:r>
                    </a:p>
                  </a:txBody>
                  <a:tcPr/>
                </a:tc>
                <a:extLst>
                  <a:ext uri="{0D108BD9-81ED-4DB2-BD59-A6C34878D82A}">
                    <a16:rowId xmlns:a16="http://schemas.microsoft.com/office/drawing/2014/main" val="796233804"/>
                  </a:ext>
                </a:extLst>
              </a:tr>
              <a:tr h="370840">
                <a:tc>
                  <a:txBody>
                    <a:bodyPr/>
                    <a:lstStyle/>
                    <a:p>
                      <a:pPr algn="l"/>
                      <a:r>
                        <a:rPr lang="en-US" sz="1300" dirty="0"/>
                        <a:t>Both the reference</a:t>
                      </a:r>
                      <a:r>
                        <a:rPr lang="en-US" sz="1300" baseline="0" dirty="0"/>
                        <a:t> </a:t>
                      </a:r>
                      <a:r>
                        <a:rPr lang="en-US" sz="1300" dirty="0"/>
                        <a:t>models are based upon layered architecture.</a:t>
                      </a:r>
                    </a:p>
                  </a:txBody>
                  <a:tcPr/>
                </a:tc>
                <a:tc>
                  <a:txBody>
                    <a:bodyPr/>
                    <a:lstStyle/>
                    <a:p>
                      <a:pPr algn="l"/>
                      <a:r>
                        <a:rPr lang="en-US" sz="1300" dirty="0"/>
                        <a:t>OSI model distinguishes the</a:t>
                      </a:r>
                      <a:r>
                        <a:rPr lang="en-US" sz="1300" baseline="0" dirty="0"/>
                        <a:t> </a:t>
                      </a:r>
                      <a:r>
                        <a:rPr lang="en-US" sz="1300" dirty="0"/>
                        <a:t>three concepts, namely, services, interfaces, and protocols. TCP/IP does not have a clear distinction between these three.</a:t>
                      </a:r>
                    </a:p>
                  </a:txBody>
                  <a:tcPr/>
                </a:tc>
                <a:extLst>
                  <a:ext uri="{0D108BD9-81ED-4DB2-BD59-A6C34878D82A}">
                    <a16:rowId xmlns:a16="http://schemas.microsoft.com/office/drawing/2014/main" val="2055928114"/>
                  </a:ext>
                </a:extLst>
              </a:tr>
              <a:tr h="370840">
                <a:tc>
                  <a:txBody>
                    <a:bodyPr/>
                    <a:lstStyle/>
                    <a:p>
                      <a:pPr algn="l"/>
                      <a:r>
                        <a:rPr lang="en-US" sz="1300" dirty="0"/>
                        <a:t>In both the models, protocols are defined in a layer-wise manner.</a:t>
                      </a:r>
                    </a:p>
                  </a:txBody>
                  <a:tcPr/>
                </a:tc>
                <a:tc>
                  <a:txBody>
                    <a:bodyPr/>
                    <a:lstStyle/>
                    <a:p>
                      <a:pPr algn="l"/>
                      <a:r>
                        <a:rPr lang="en-US" sz="1300" dirty="0"/>
                        <a:t>OSI model gives guidelines on how communication needs to be done, while TCP/IP protocols layout standards on which the Internet was developed,</a:t>
                      </a:r>
                    </a:p>
                    <a:p>
                      <a:pPr algn="l"/>
                      <a:r>
                        <a:rPr lang="en-US" sz="1300" dirty="0"/>
                        <a:t>therefore, TCP/IP is a more practical model.</a:t>
                      </a:r>
                    </a:p>
                  </a:txBody>
                  <a:tcPr/>
                </a:tc>
                <a:extLst>
                  <a:ext uri="{0D108BD9-81ED-4DB2-BD59-A6C34878D82A}">
                    <a16:rowId xmlns:a16="http://schemas.microsoft.com/office/drawing/2014/main" val="718547723"/>
                  </a:ext>
                </a:extLst>
              </a:tr>
              <a:tr h="370840">
                <a:tc>
                  <a:txBody>
                    <a:bodyPr/>
                    <a:lstStyle/>
                    <a:p>
                      <a:pPr algn="l"/>
                      <a:r>
                        <a:rPr lang="en-US" sz="1300" dirty="0"/>
                        <a:t>In both models, data is divided into packets and each packet may take the individual route from the source to the destination.</a:t>
                      </a:r>
                    </a:p>
                  </a:txBody>
                  <a:tcPr/>
                </a:tc>
                <a:tc>
                  <a:txBody>
                    <a:bodyPr/>
                    <a:lstStyle/>
                    <a:p>
                      <a:pPr algn="l"/>
                      <a:r>
                        <a:rPr lang="en-US" sz="1300" dirty="0"/>
                        <a:t>In OSI, the model was developed first and then the protocols in each layer were developed. In the TCP/IP suite, the protocols were developed first and then the model was developed.</a:t>
                      </a:r>
                    </a:p>
                  </a:txBody>
                  <a:tcPr/>
                </a:tc>
                <a:extLst>
                  <a:ext uri="{0D108BD9-81ED-4DB2-BD59-A6C34878D82A}">
                    <a16:rowId xmlns:a16="http://schemas.microsoft.com/office/drawing/2014/main" val="744637899"/>
                  </a:ext>
                </a:extLst>
              </a:tr>
              <a:tr h="370840">
                <a:tc>
                  <a:txBody>
                    <a:bodyPr/>
                    <a:lstStyle/>
                    <a:p>
                      <a:pPr algn="l"/>
                      <a:r>
                        <a:rPr lang="en-US" sz="1300" dirty="0"/>
                        <a:t>The layers in the models are compared with each other. The physical layer and the data link layer of the OSI model correspond to the link layer of the TCP/IP model. The network layers and the transport layers are the same in both the models. The session layer, the presentation layer and the application layer of the OSI model together form the application layer of the TCP/IP model.</a:t>
                      </a:r>
                    </a:p>
                  </a:txBody>
                  <a:tcPr/>
                </a:tc>
                <a:tc>
                  <a:txBody>
                    <a:bodyPr/>
                    <a:lstStyle/>
                    <a:p>
                      <a:pPr algn="l"/>
                      <a:r>
                        <a:rPr lang="en-US" sz="1300" dirty="0"/>
                        <a:t>The OSI has seven layers while the TCP/IP has four layers.</a:t>
                      </a:r>
                    </a:p>
                  </a:txBody>
                  <a:tcPr/>
                </a:tc>
                <a:extLst>
                  <a:ext uri="{0D108BD9-81ED-4DB2-BD59-A6C34878D82A}">
                    <a16:rowId xmlns:a16="http://schemas.microsoft.com/office/drawing/2014/main" val="4230411579"/>
                  </a:ext>
                </a:extLst>
              </a:tr>
              <a:tr h="370840">
                <a:tc>
                  <a:txBody>
                    <a:bodyPr/>
                    <a:lstStyle/>
                    <a:p>
                      <a:pPr algn="l"/>
                      <a:endParaRPr lang="en-US" sz="1300" dirty="0"/>
                    </a:p>
                  </a:txBody>
                  <a:tcPr/>
                </a:tc>
                <a:tc>
                  <a:txBody>
                    <a:bodyPr/>
                    <a:lstStyle/>
                    <a:p>
                      <a:pPr algn="l"/>
                      <a:r>
                        <a:rPr lang="en-US" sz="1300" dirty="0"/>
                        <a:t>OSI model is a generic model that is based upon functionalities of each layer,</a:t>
                      </a:r>
                    </a:p>
                    <a:p>
                      <a:pPr algn="l"/>
                      <a:r>
                        <a:rPr lang="en-US" sz="1300" dirty="0"/>
                        <a:t>while TCP/IP model is a protocol-oriented standard.</a:t>
                      </a:r>
                    </a:p>
                  </a:txBody>
                  <a:tcPr/>
                </a:tc>
                <a:extLst>
                  <a:ext uri="{0D108BD9-81ED-4DB2-BD59-A6C34878D82A}">
                    <a16:rowId xmlns:a16="http://schemas.microsoft.com/office/drawing/2014/main" val="2912589128"/>
                  </a:ext>
                </a:extLst>
              </a:tr>
            </a:tbl>
          </a:graphicData>
        </a:graphic>
      </p:graphicFrame>
    </p:spTree>
    <p:extLst>
      <p:ext uri="{BB962C8B-B14F-4D97-AF65-F5344CB8AC3E}">
        <p14:creationId xmlns:p14="http://schemas.microsoft.com/office/powerpoint/2010/main" val="180890250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0</TotalTime>
  <Words>2882</Words>
  <Application>Microsoft Office PowerPoint</Application>
  <PresentationFormat>Widescreen</PresentationFormat>
  <Paragraphs>317</Paragraphs>
  <Slides>50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Trebuchet MS</vt:lpstr>
      <vt:lpstr>Wingdings</vt:lpstr>
      <vt:lpstr>Wingdings 3</vt:lpstr>
      <vt:lpstr>Facet</vt:lpstr>
      <vt:lpstr>PowerPoint Presentation</vt:lpstr>
      <vt:lpstr>TOPIC 5:  NETWORK TECHNOLOGIES</vt:lpstr>
      <vt:lpstr>Learning Outcomes</vt:lpstr>
      <vt:lpstr>Network Technologies - Definition</vt:lpstr>
      <vt:lpstr>Network Services - Definition</vt:lpstr>
      <vt:lpstr>Network Services - Examples</vt:lpstr>
      <vt:lpstr>Network Switching</vt:lpstr>
      <vt:lpstr>Circuit Switching</vt:lpstr>
      <vt:lpstr>Circuit Switching Cont’d</vt:lpstr>
      <vt:lpstr>Circuit Switching Diagram</vt:lpstr>
      <vt:lpstr>Message Switching</vt:lpstr>
      <vt:lpstr>Message Switching Cont’d</vt:lpstr>
      <vt:lpstr>Message Switching Diagram</vt:lpstr>
      <vt:lpstr>Packet Switching</vt:lpstr>
      <vt:lpstr>Packet Switching Cont’d</vt:lpstr>
      <vt:lpstr>Packet Switching Diagram</vt:lpstr>
      <vt:lpstr>Broadband Technologies - Definition</vt:lpstr>
      <vt:lpstr>Types of Broadband Technologies</vt:lpstr>
      <vt:lpstr>Value Added Networks</vt:lpstr>
      <vt:lpstr>Uses of Value Added Networks</vt:lpstr>
      <vt:lpstr>Frame Relay Transmission</vt:lpstr>
      <vt:lpstr>Frame Relay Diagram</vt:lpstr>
      <vt:lpstr>Asynchronous Transmission Mode (ATM)</vt:lpstr>
      <vt:lpstr>ATM Diagram</vt:lpstr>
      <vt:lpstr>Integrated Services Digital Network (ISDN)</vt:lpstr>
      <vt:lpstr>Digital Subscriber Line (DSL)</vt:lpstr>
      <vt:lpstr>Digital Subscriber Line (DSL) Cont’d</vt:lpstr>
      <vt:lpstr>T1 Line</vt:lpstr>
      <vt:lpstr>Cable Modem</vt:lpstr>
      <vt:lpstr>Convergence Network and Unified Messaging</vt:lpstr>
      <vt:lpstr>Unified Messaging</vt:lpstr>
      <vt:lpstr>TOPIC 6:  LAYERED ARCHITECTURE AND REFERENCE MODELS</vt:lpstr>
      <vt:lpstr>Learning Outcomes</vt:lpstr>
      <vt:lpstr>Two Reference Models</vt:lpstr>
      <vt:lpstr>The Open System Interconnection Model (OSI)</vt:lpstr>
      <vt:lpstr>The Open System Interconnection Model (OSI)</vt:lpstr>
      <vt:lpstr>Physical Layer</vt:lpstr>
      <vt:lpstr>Data Link Layer</vt:lpstr>
      <vt:lpstr>Network Layer</vt:lpstr>
      <vt:lpstr>Transport Layer</vt:lpstr>
      <vt:lpstr>Session Layer</vt:lpstr>
      <vt:lpstr>Presentation Layer</vt:lpstr>
      <vt:lpstr>Application Layer</vt:lpstr>
      <vt:lpstr>TCP/IP Reference Model</vt:lpstr>
      <vt:lpstr>TCP/IP Layers</vt:lpstr>
      <vt:lpstr>Network Access Layer</vt:lpstr>
      <vt:lpstr>Internet Layer</vt:lpstr>
      <vt:lpstr>Transport Layer</vt:lpstr>
      <vt:lpstr>Application Layer</vt:lpstr>
      <vt:lpstr>Comparison of OSI and TCP / IP Reference Models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1</cp:revision>
  <dcterms:created xsi:type="dcterms:W3CDTF">2026-06-11T16:55:29Z</dcterms:created>
  <dcterms:modified xsi:type="dcterms:W3CDTF">2026-06-11T16:55:46Z</dcterms:modified>
</cp:coreProperties>
</file>