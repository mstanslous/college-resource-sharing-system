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96" r:id="rId4"/>
    <p:sldId id="306" r:id="rId5"/>
    <p:sldId id="307" r:id="rId6"/>
    <p:sldId id="277" r:id="rId7"/>
    <p:sldId id="278" r:id="rId8"/>
    <p:sldId id="279" r:id="rId9"/>
    <p:sldId id="293" r:id="rId10"/>
    <p:sldId id="280" r:id="rId11"/>
    <p:sldId id="286" r:id="rId12"/>
    <p:sldId id="28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281" r:id="rId27"/>
    <p:sldId id="282" r:id="rId28"/>
    <p:sldId id="283" r:id="rId29"/>
    <p:sldId id="284" r:id="rId30"/>
    <p:sldId id="285" r:id="rId31"/>
    <p:sldId id="258" r:id="rId32"/>
    <p:sldId id="259" r:id="rId33"/>
    <p:sldId id="260" r:id="rId34"/>
    <p:sldId id="261" r:id="rId35"/>
    <p:sldId id="262" r:id="rId36"/>
    <p:sldId id="263" r:id="rId37"/>
    <p:sldId id="264" r:id="rId38"/>
    <p:sldId id="265" r:id="rId39"/>
    <p:sldId id="299" r:id="rId40"/>
    <p:sldId id="300" r:id="rId41"/>
    <p:sldId id="301" r:id="rId42"/>
    <p:sldId id="302" r:id="rId43"/>
    <p:sldId id="303" r:id="rId44"/>
    <p:sldId id="304" r:id="rId45"/>
    <p:sldId id="305" r:id="rId46"/>
    <p:sldId id="295"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74" autoAdjust="0"/>
  </p:normalViewPr>
  <p:slideViewPr>
    <p:cSldViewPr>
      <p:cViewPr varScale="1">
        <p:scale>
          <a:sx n="70" d="100"/>
          <a:sy n="70" d="100"/>
        </p:scale>
        <p:origin x="-1386"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395B7D-4B81-4217-9AC4-354E975DC563}" type="datetimeFigureOut">
              <a:rPr lang="en-US" smtClean="0"/>
              <a:t>6/22/2023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B69103-5EE5-4934-B5DD-4393AEC23FF1}" type="slidenum">
              <a:rPr lang="en-US" smtClean="0"/>
              <a:t>‹#›</a:t>
            </a:fld>
            <a:endParaRPr lang="en-US"/>
          </a:p>
        </p:txBody>
      </p:sp>
    </p:spTree>
    <p:extLst>
      <p:ext uri="{BB962C8B-B14F-4D97-AF65-F5344CB8AC3E}">
        <p14:creationId xmlns:p14="http://schemas.microsoft.com/office/powerpoint/2010/main" val="1986587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B69103-5EE5-4934-B5DD-4393AEC23FF1}" type="slidenum">
              <a:rPr lang="en-US" smtClean="0"/>
              <a:t>1</a:t>
            </a:fld>
            <a:endParaRPr lang="en-US"/>
          </a:p>
        </p:txBody>
      </p:sp>
    </p:spTree>
    <p:extLst>
      <p:ext uri="{BB962C8B-B14F-4D97-AF65-F5344CB8AC3E}">
        <p14:creationId xmlns:p14="http://schemas.microsoft.com/office/powerpoint/2010/main" val="4284429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Internet is not really a network at all, but a vast collection of different</a:t>
            </a:r>
            <a:r>
              <a:rPr lang="en-GB" baseline="0" dirty="0" smtClean="0"/>
              <a:t> </a:t>
            </a:r>
            <a:r>
              <a:rPr lang="en-GB" dirty="0" smtClean="0"/>
              <a:t>networks that use certain common protocols and provide certain common services.</a:t>
            </a:r>
            <a:endParaRPr lang="en-US" dirty="0"/>
          </a:p>
        </p:txBody>
      </p:sp>
      <p:sp>
        <p:nvSpPr>
          <p:cNvPr id="4" name="Slide Number Placeholder 3"/>
          <p:cNvSpPr>
            <a:spLocks noGrp="1"/>
          </p:cNvSpPr>
          <p:nvPr>
            <p:ph type="sldNum" sz="quarter" idx="10"/>
          </p:nvPr>
        </p:nvSpPr>
        <p:spPr/>
        <p:txBody>
          <a:bodyPr/>
          <a:lstStyle/>
          <a:p>
            <a:fld id="{68B69103-5EE5-4934-B5DD-4393AEC23FF1}" type="slidenum">
              <a:rPr lang="en-US" smtClean="0"/>
              <a:t>2</a:t>
            </a:fld>
            <a:endParaRPr lang="en-US"/>
          </a:p>
        </p:txBody>
      </p:sp>
    </p:spTree>
    <p:extLst>
      <p:ext uri="{BB962C8B-B14F-4D97-AF65-F5344CB8AC3E}">
        <p14:creationId xmlns:p14="http://schemas.microsoft.com/office/powerpoint/2010/main" val="1213924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 Structure of the telephone system. (b) </a:t>
            </a:r>
            <a:r>
              <a:rPr lang="en-GB" dirty="0" err="1" smtClean="0"/>
              <a:t>Baran’s</a:t>
            </a:r>
            <a:r>
              <a:rPr lang="en-GB" dirty="0" smtClean="0"/>
              <a:t> proposed distributed switching system</a:t>
            </a:r>
            <a:endParaRPr lang="en-GB" dirty="0"/>
          </a:p>
        </p:txBody>
      </p:sp>
      <p:sp>
        <p:nvSpPr>
          <p:cNvPr id="4" name="Slide Number Placeholder 3"/>
          <p:cNvSpPr>
            <a:spLocks noGrp="1"/>
          </p:cNvSpPr>
          <p:nvPr>
            <p:ph type="sldNum" sz="quarter" idx="10"/>
          </p:nvPr>
        </p:nvSpPr>
        <p:spPr/>
        <p:txBody>
          <a:bodyPr/>
          <a:lstStyle/>
          <a:p>
            <a:fld id="{68B69103-5EE5-4934-B5DD-4393AEC23FF1}" type="slidenum">
              <a:rPr lang="en-US" smtClean="0"/>
              <a:t>5</a:t>
            </a:fld>
            <a:endParaRPr lang="en-US"/>
          </a:p>
        </p:txBody>
      </p:sp>
    </p:spTree>
    <p:extLst>
      <p:ext uri="{BB962C8B-B14F-4D97-AF65-F5344CB8AC3E}">
        <p14:creationId xmlns:p14="http://schemas.microsoft.com/office/powerpoint/2010/main" val="1005123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story begins in the late 1950s. At the height of the Cold War, the U.S. </a:t>
            </a:r>
            <a:r>
              <a:rPr lang="en-US" sz="1200" b="0" i="0" u="none" strike="noStrike" kern="1200" baseline="0" dirty="0" err="1" smtClean="0">
                <a:solidFill>
                  <a:schemeClr val="tx1"/>
                </a:solidFill>
                <a:latin typeface="+mn-lt"/>
                <a:ea typeface="+mn-ea"/>
                <a:cs typeface="+mn-cs"/>
              </a:rPr>
              <a:t>DoD</a:t>
            </a:r>
            <a:r>
              <a:rPr lang="en-US" sz="1200" b="0" i="0" u="none" strike="noStrike" kern="1200" baseline="0" dirty="0" smtClean="0">
                <a:solidFill>
                  <a:schemeClr val="tx1"/>
                </a:solidFill>
                <a:latin typeface="+mn-lt"/>
                <a:ea typeface="+mn-ea"/>
                <a:cs typeface="+mn-cs"/>
              </a:rPr>
              <a:t> wanted a command-and-control network that could survive a nuclear war.</a:t>
            </a:r>
          </a:p>
          <a:p>
            <a:r>
              <a:rPr lang="en-US" sz="1200" b="0" i="0" u="none" strike="noStrike" kern="1200" baseline="0" dirty="0" smtClean="0">
                <a:solidFill>
                  <a:schemeClr val="tx1"/>
                </a:solidFill>
                <a:latin typeface="+mn-lt"/>
                <a:ea typeface="+mn-ea"/>
                <a:cs typeface="+mn-cs"/>
              </a:rPr>
              <a:t>To understand what happened next, we have to go back all the way to October 1957, when the Soviet Union beat the U.S. into space with the launch of the first artificial satellite, Sputnik</a:t>
            </a:r>
            <a:endParaRPr lang="en-US" dirty="0"/>
          </a:p>
        </p:txBody>
      </p:sp>
      <p:sp>
        <p:nvSpPr>
          <p:cNvPr id="4" name="Slide Number Placeholder 3"/>
          <p:cNvSpPr>
            <a:spLocks noGrp="1"/>
          </p:cNvSpPr>
          <p:nvPr>
            <p:ph type="sldNum" sz="quarter" idx="10"/>
          </p:nvPr>
        </p:nvSpPr>
        <p:spPr/>
        <p:txBody>
          <a:bodyPr/>
          <a:lstStyle/>
          <a:p>
            <a:fld id="{68B69103-5EE5-4934-B5DD-4393AEC23FF1}" type="slidenum">
              <a:rPr lang="en-US" smtClean="0"/>
              <a:t>6</a:t>
            </a:fld>
            <a:endParaRPr lang="en-US"/>
          </a:p>
        </p:txBody>
      </p:sp>
    </p:spTree>
    <p:extLst>
      <p:ext uri="{BB962C8B-B14F-4D97-AF65-F5344CB8AC3E}">
        <p14:creationId xmlns:p14="http://schemas.microsoft.com/office/powerpoint/2010/main" val="2590213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B69103-5EE5-4934-B5DD-4393AEC23FF1}" type="slidenum">
              <a:rPr lang="en-US" smtClean="0"/>
              <a:t>8</a:t>
            </a:fld>
            <a:endParaRPr lang="en-US"/>
          </a:p>
        </p:txBody>
      </p:sp>
    </p:spTree>
    <p:extLst>
      <p:ext uri="{BB962C8B-B14F-4D97-AF65-F5344CB8AC3E}">
        <p14:creationId xmlns:p14="http://schemas.microsoft.com/office/powerpoint/2010/main" val="3342090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a:solidFill>
                  <a:schemeClr val="tx1"/>
                </a:solidFill>
                <a:latin typeface="Arial" charset="0"/>
                <a:ea typeface="ＭＳ Ｐゴシック" charset="0"/>
                <a:cs typeface="ＭＳ Ｐゴシック" charset="0"/>
              </a:defRPr>
            </a:lvl1pPr>
            <a:lvl2pPr marL="729057" indent="-280406" defTabSz="886397">
              <a:defRPr sz="2400">
                <a:solidFill>
                  <a:schemeClr val="tx1"/>
                </a:solidFill>
                <a:latin typeface="Arial" charset="0"/>
                <a:ea typeface="ＭＳ Ｐゴシック" charset="0"/>
              </a:defRPr>
            </a:lvl2pPr>
            <a:lvl3pPr marL="1121626" indent="-224325" defTabSz="886397">
              <a:defRPr sz="2400">
                <a:solidFill>
                  <a:schemeClr val="tx1"/>
                </a:solidFill>
                <a:latin typeface="Arial" charset="0"/>
                <a:ea typeface="ＭＳ Ｐゴシック" charset="0"/>
              </a:defRPr>
            </a:lvl3pPr>
            <a:lvl4pPr marL="1570276" indent="-224325" defTabSz="886397">
              <a:defRPr sz="2400">
                <a:solidFill>
                  <a:schemeClr val="tx1"/>
                </a:solidFill>
                <a:latin typeface="Arial" charset="0"/>
                <a:ea typeface="ＭＳ Ｐゴシック" charset="0"/>
              </a:defRPr>
            </a:lvl4pPr>
            <a:lvl5pPr marL="2018927" indent="-224325" defTabSz="886397">
              <a:defRPr sz="2400">
                <a:solidFill>
                  <a:schemeClr val="tx1"/>
                </a:solidFill>
                <a:latin typeface="Arial" charset="0"/>
                <a:ea typeface="ＭＳ Ｐゴシック" charset="0"/>
              </a:defRPr>
            </a:lvl5pPr>
            <a:lvl6pPr marL="246757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1622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36487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1352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53927EE6-0587-B643-8AE4-3395E115027B}" type="slidenum">
              <a:rPr lang="en-US" sz="800"/>
              <a:pPr/>
              <a:t>34</a:t>
            </a:fld>
            <a:endParaRPr lang="en-US" sz="800"/>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latin typeface="Arial" charset="0"/>
                <a:ea typeface="ＭＳ Ｐゴシック" charset="0"/>
                <a:cs typeface="ＭＳ Ｐゴシック" charset="0"/>
              </a:rPr>
              <a:t>1.3.2.2 Fault Tolerance in Circuit Switched Networks</a:t>
            </a:r>
            <a:endParaRPr lang="en-US" dirty="0"/>
          </a:p>
        </p:txBody>
      </p:sp>
    </p:spTree>
    <p:extLst>
      <p:ext uri="{BB962C8B-B14F-4D97-AF65-F5344CB8AC3E}">
        <p14:creationId xmlns:p14="http://schemas.microsoft.com/office/powerpoint/2010/main" val="1979143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a:solidFill>
                  <a:schemeClr val="tx1"/>
                </a:solidFill>
                <a:latin typeface="Arial" charset="0"/>
                <a:ea typeface="ＭＳ Ｐゴシック" charset="0"/>
                <a:cs typeface="ＭＳ Ｐゴシック" charset="0"/>
              </a:defRPr>
            </a:lvl1pPr>
            <a:lvl2pPr marL="729057" indent="-280406" defTabSz="886397">
              <a:defRPr sz="2400">
                <a:solidFill>
                  <a:schemeClr val="tx1"/>
                </a:solidFill>
                <a:latin typeface="Arial" charset="0"/>
                <a:ea typeface="ＭＳ Ｐゴシック" charset="0"/>
              </a:defRPr>
            </a:lvl2pPr>
            <a:lvl3pPr marL="1121626" indent="-224325" defTabSz="886397">
              <a:defRPr sz="2400">
                <a:solidFill>
                  <a:schemeClr val="tx1"/>
                </a:solidFill>
                <a:latin typeface="Arial" charset="0"/>
                <a:ea typeface="ＭＳ Ｐゴシック" charset="0"/>
              </a:defRPr>
            </a:lvl3pPr>
            <a:lvl4pPr marL="1570276" indent="-224325" defTabSz="886397">
              <a:defRPr sz="2400">
                <a:solidFill>
                  <a:schemeClr val="tx1"/>
                </a:solidFill>
                <a:latin typeface="Arial" charset="0"/>
                <a:ea typeface="ＭＳ Ｐゴシック" charset="0"/>
              </a:defRPr>
            </a:lvl4pPr>
            <a:lvl5pPr marL="2018927" indent="-224325" defTabSz="886397">
              <a:defRPr sz="2400">
                <a:solidFill>
                  <a:schemeClr val="tx1"/>
                </a:solidFill>
                <a:latin typeface="Arial" charset="0"/>
                <a:ea typeface="ＭＳ Ｐゴシック" charset="0"/>
              </a:defRPr>
            </a:lvl5pPr>
            <a:lvl6pPr marL="246757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1622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36487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1352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53927EE6-0587-B643-8AE4-3395E115027B}" type="slidenum">
              <a:rPr lang="en-US" sz="800"/>
              <a:pPr/>
              <a:t>35</a:t>
            </a:fld>
            <a:endParaRPr lang="en-US" sz="800"/>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latin typeface="Arial" charset="0"/>
                <a:ea typeface="ＭＳ Ｐゴシック" charset="0"/>
                <a:cs typeface="ＭＳ Ｐゴシック" charset="0"/>
              </a:rPr>
              <a:t>1.3.2.3 Fault Tolerance in Packet-Switched Networks</a:t>
            </a:r>
            <a:endParaRPr lang="en-US" dirty="0"/>
          </a:p>
        </p:txBody>
      </p:sp>
    </p:spTree>
    <p:extLst>
      <p:ext uri="{BB962C8B-B14F-4D97-AF65-F5344CB8AC3E}">
        <p14:creationId xmlns:p14="http://schemas.microsoft.com/office/powerpoint/2010/main" val="1545231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a:solidFill>
                  <a:schemeClr val="tx1"/>
                </a:solidFill>
                <a:latin typeface="Arial" charset="0"/>
                <a:ea typeface="ＭＳ Ｐゴシック" charset="0"/>
                <a:cs typeface="ＭＳ Ｐゴシック" charset="0"/>
              </a:defRPr>
            </a:lvl1pPr>
            <a:lvl2pPr marL="729057" indent="-280406" defTabSz="886397">
              <a:defRPr sz="2400">
                <a:solidFill>
                  <a:schemeClr val="tx1"/>
                </a:solidFill>
                <a:latin typeface="Arial" charset="0"/>
                <a:ea typeface="ＭＳ Ｐゴシック" charset="0"/>
              </a:defRPr>
            </a:lvl2pPr>
            <a:lvl3pPr marL="1121626" indent="-224325" defTabSz="886397">
              <a:defRPr sz="2400">
                <a:solidFill>
                  <a:schemeClr val="tx1"/>
                </a:solidFill>
                <a:latin typeface="Arial" charset="0"/>
                <a:ea typeface="ＭＳ Ｐゴシック" charset="0"/>
              </a:defRPr>
            </a:lvl3pPr>
            <a:lvl4pPr marL="1570276" indent="-224325" defTabSz="886397">
              <a:defRPr sz="2400">
                <a:solidFill>
                  <a:schemeClr val="tx1"/>
                </a:solidFill>
                <a:latin typeface="Arial" charset="0"/>
                <a:ea typeface="ＭＳ Ｐゴシック" charset="0"/>
              </a:defRPr>
            </a:lvl4pPr>
            <a:lvl5pPr marL="2018927" indent="-224325" defTabSz="886397">
              <a:defRPr sz="2400">
                <a:solidFill>
                  <a:schemeClr val="tx1"/>
                </a:solidFill>
                <a:latin typeface="Arial" charset="0"/>
                <a:ea typeface="ＭＳ Ｐゴシック" charset="0"/>
              </a:defRPr>
            </a:lvl5pPr>
            <a:lvl6pPr marL="246757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1622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36487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1352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77722882-7E70-6043-B58D-8E593AE71A70}" type="slidenum">
              <a:rPr lang="en-US" sz="800"/>
              <a:pPr/>
              <a:t>36</a:t>
            </a:fld>
            <a:endParaRPr lang="en-US" sz="80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latin typeface="Arial" charset="0"/>
                <a:ea typeface="ＭＳ Ｐゴシック" charset="0"/>
                <a:cs typeface="ＭＳ Ｐゴシック" charset="0"/>
              </a:rPr>
              <a:t>1.3.2.4 Scalable Networks</a:t>
            </a:r>
            <a:endParaRPr lang="en-US" dirty="0"/>
          </a:p>
        </p:txBody>
      </p:sp>
    </p:spTree>
    <p:extLst>
      <p:ext uri="{BB962C8B-B14F-4D97-AF65-F5344CB8AC3E}">
        <p14:creationId xmlns:p14="http://schemas.microsoft.com/office/powerpoint/2010/main" val="258244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a:solidFill>
                  <a:schemeClr val="tx1"/>
                </a:solidFill>
                <a:latin typeface="Arial" charset="0"/>
                <a:ea typeface="ＭＳ Ｐゴシック" charset="0"/>
                <a:cs typeface="ＭＳ Ｐゴシック" charset="0"/>
              </a:defRPr>
            </a:lvl1pPr>
            <a:lvl2pPr marL="729057" indent="-280406" defTabSz="886397">
              <a:defRPr sz="2400">
                <a:solidFill>
                  <a:schemeClr val="tx1"/>
                </a:solidFill>
                <a:latin typeface="Arial" charset="0"/>
                <a:ea typeface="ＭＳ Ｐゴシック" charset="0"/>
              </a:defRPr>
            </a:lvl2pPr>
            <a:lvl3pPr marL="1121626" indent="-224325" defTabSz="886397">
              <a:defRPr sz="2400">
                <a:solidFill>
                  <a:schemeClr val="tx1"/>
                </a:solidFill>
                <a:latin typeface="Arial" charset="0"/>
                <a:ea typeface="ＭＳ Ｐゴシック" charset="0"/>
              </a:defRPr>
            </a:lvl3pPr>
            <a:lvl4pPr marL="1570276" indent="-224325" defTabSz="886397">
              <a:defRPr sz="2400">
                <a:solidFill>
                  <a:schemeClr val="tx1"/>
                </a:solidFill>
                <a:latin typeface="Arial" charset="0"/>
                <a:ea typeface="ＭＳ Ｐゴシック" charset="0"/>
              </a:defRPr>
            </a:lvl4pPr>
            <a:lvl5pPr marL="2018927" indent="-224325" defTabSz="886397">
              <a:defRPr sz="2400">
                <a:solidFill>
                  <a:schemeClr val="tx1"/>
                </a:solidFill>
                <a:latin typeface="Arial" charset="0"/>
                <a:ea typeface="ＭＳ Ｐゴシック" charset="0"/>
              </a:defRPr>
            </a:lvl5pPr>
            <a:lvl6pPr marL="246757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1622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36487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1352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D1A4364D-7D8A-FF42-B132-A95366D63434}" type="slidenum">
              <a:rPr lang="en-US" sz="800"/>
              <a:pPr/>
              <a:t>37</a:t>
            </a:fld>
            <a:endParaRPr lang="en-US" sz="800"/>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latin typeface="Arial" charset="0"/>
                <a:ea typeface="ＭＳ Ｐゴシック" charset="0"/>
                <a:cs typeface="ＭＳ Ｐゴシック" charset="0"/>
              </a:rPr>
              <a:t>1.3.2.5 Providing </a:t>
            </a:r>
            <a:r>
              <a:rPr lang="en-US" dirty="0" err="1">
                <a:latin typeface="Arial" charset="0"/>
                <a:ea typeface="ＭＳ Ｐゴシック" charset="0"/>
                <a:cs typeface="ＭＳ Ｐゴシック" charset="0"/>
              </a:rPr>
              <a:t>QoS</a:t>
            </a:r>
            <a:endParaRPr lang="en-US" dirty="0"/>
          </a:p>
        </p:txBody>
      </p:sp>
    </p:spTree>
    <p:extLst>
      <p:ext uri="{BB962C8B-B14F-4D97-AF65-F5344CB8AC3E}">
        <p14:creationId xmlns:p14="http://schemas.microsoft.com/office/powerpoint/2010/main" val="3777306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6397">
              <a:defRPr sz="2400">
                <a:solidFill>
                  <a:schemeClr val="tx1"/>
                </a:solidFill>
                <a:latin typeface="Arial" charset="0"/>
                <a:ea typeface="ＭＳ Ｐゴシック" charset="0"/>
                <a:cs typeface="ＭＳ Ｐゴシック" charset="0"/>
              </a:defRPr>
            </a:lvl1pPr>
            <a:lvl2pPr marL="729057" indent="-280406" defTabSz="886397">
              <a:defRPr sz="2400">
                <a:solidFill>
                  <a:schemeClr val="tx1"/>
                </a:solidFill>
                <a:latin typeface="Arial" charset="0"/>
                <a:ea typeface="ＭＳ Ｐゴシック" charset="0"/>
              </a:defRPr>
            </a:lvl2pPr>
            <a:lvl3pPr marL="1121626" indent="-224325" defTabSz="886397">
              <a:defRPr sz="2400">
                <a:solidFill>
                  <a:schemeClr val="tx1"/>
                </a:solidFill>
                <a:latin typeface="Arial" charset="0"/>
                <a:ea typeface="ＭＳ Ｐゴシック" charset="0"/>
              </a:defRPr>
            </a:lvl3pPr>
            <a:lvl4pPr marL="1570276" indent="-224325" defTabSz="886397">
              <a:defRPr sz="2400">
                <a:solidFill>
                  <a:schemeClr val="tx1"/>
                </a:solidFill>
                <a:latin typeface="Arial" charset="0"/>
                <a:ea typeface="ＭＳ Ｐゴシック" charset="0"/>
              </a:defRPr>
            </a:lvl4pPr>
            <a:lvl5pPr marL="2018927" indent="-224325" defTabSz="886397">
              <a:defRPr sz="2400">
                <a:solidFill>
                  <a:schemeClr val="tx1"/>
                </a:solidFill>
                <a:latin typeface="Arial" charset="0"/>
                <a:ea typeface="ＭＳ Ｐゴシック" charset="0"/>
              </a:defRPr>
            </a:lvl5pPr>
            <a:lvl6pPr marL="246757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16227"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36487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13528" indent="-224325" algn="ctr" defTabSz="886397"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126C4740-6176-6B42-AE8B-248565D05237}" type="slidenum">
              <a:rPr lang="en-US" sz="800"/>
              <a:pPr/>
              <a:t>38</a:t>
            </a:fld>
            <a:endParaRPr lang="en-US" sz="800"/>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dirty="0">
                <a:latin typeface="Arial" charset="0"/>
                <a:ea typeface="ＭＳ Ｐゴシック" charset="0"/>
                <a:cs typeface="ＭＳ Ｐゴシック" charset="0"/>
              </a:rPr>
              <a:t>1.3.2.6 Providing Network Security</a:t>
            </a:r>
            <a:endParaRPr lang="en-US" dirty="0"/>
          </a:p>
        </p:txBody>
      </p:sp>
    </p:spTree>
    <p:extLst>
      <p:ext uri="{BB962C8B-B14F-4D97-AF65-F5344CB8AC3E}">
        <p14:creationId xmlns:p14="http://schemas.microsoft.com/office/powerpoint/2010/main" val="2369395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E5FB996-4411-4AE6-8547-DD0039B47321}"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1403223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5FB996-4411-4AE6-8547-DD0039B47321}"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293198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E5FB996-4411-4AE6-8547-DD0039B47321}"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2059703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E5FB996-4411-4AE6-8547-DD0039B47321}"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2627010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E5FB996-4411-4AE6-8547-DD0039B47321}" type="datetimeFigureOut">
              <a:rPr lang="en-US" smtClean="0"/>
              <a:t>6/22/2023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3622532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E5FB996-4411-4AE6-8547-DD0039B47321}" type="datetimeFigureOut">
              <a:rPr lang="en-US" smtClean="0"/>
              <a:t>6/22/2023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197101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5FB996-4411-4AE6-8547-DD0039B47321}" type="datetimeFigureOut">
              <a:rPr lang="en-US" smtClean="0"/>
              <a:t>6/22/2023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4000815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5FB996-4411-4AE6-8547-DD0039B47321}"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3327779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5FB996-4411-4AE6-8547-DD0039B47321}"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254522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5FB996-4411-4AE6-8547-DD0039B47321}"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1307990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5FB996-4411-4AE6-8547-DD0039B47321}"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7649D1-10BE-4994-AE1F-369C1B99B285}" type="slidenum">
              <a:rPr lang="en-US" smtClean="0"/>
              <a:t>‹#›</a:t>
            </a:fld>
            <a:endParaRPr lang="en-US"/>
          </a:p>
        </p:txBody>
      </p:sp>
    </p:spTree>
    <p:extLst>
      <p:ext uri="{BB962C8B-B14F-4D97-AF65-F5344CB8AC3E}">
        <p14:creationId xmlns:p14="http://schemas.microsoft.com/office/powerpoint/2010/main" val="3723853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5FB996-4411-4AE6-8547-DD0039B47321}" type="datetimeFigureOut">
              <a:rPr lang="en-US" smtClean="0"/>
              <a:t>6/22/2023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7649D1-10BE-4994-AE1F-369C1B99B285}" type="slidenum">
              <a:rPr lang="en-US" smtClean="0"/>
              <a:t>‹#›</a:t>
            </a:fld>
            <a:endParaRPr lang="en-US"/>
          </a:p>
        </p:txBody>
      </p:sp>
    </p:spTree>
    <p:extLst>
      <p:ext uri="{BB962C8B-B14F-4D97-AF65-F5344CB8AC3E}">
        <p14:creationId xmlns:p14="http://schemas.microsoft.com/office/powerpoint/2010/main" val="457733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tm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networks</a:t>
            </a:r>
            <a:endParaRPr lang="en-US" dirty="0"/>
          </a:p>
        </p:txBody>
      </p:sp>
      <p:sp>
        <p:nvSpPr>
          <p:cNvPr id="3" name="Subtitle 2"/>
          <p:cNvSpPr>
            <a:spLocks noGrp="1"/>
          </p:cNvSpPr>
          <p:nvPr>
            <p:ph type="subTitle" idx="1"/>
          </p:nvPr>
        </p:nvSpPr>
        <p:spPr/>
        <p:txBody>
          <a:bodyPr>
            <a:normAutofit/>
          </a:bodyPr>
          <a:lstStyle/>
          <a:p>
            <a:r>
              <a:rPr lang="en-US" dirty="0" smtClean="0"/>
              <a:t>internet</a:t>
            </a:r>
            <a:endParaRPr lang="en-US" dirty="0"/>
          </a:p>
        </p:txBody>
      </p:sp>
    </p:spTree>
    <p:extLst>
      <p:ext uri="{BB962C8B-B14F-4D97-AF65-F5344CB8AC3E}">
        <p14:creationId xmlns:p14="http://schemas.microsoft.com/office/powerpoint/2010/main" val="4008718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Internet</a:t>
            </a:r>
            <a:endParaRPr lang="en-US" dirty="0"/>
          </a:p>
        </p:txBody>
      </p:sp>
      <p:sp>
        <p:nvSpPr>
          <p:cNvPr id="3" name="Subtitle 2"/>
          <p:cNvSpPr>
            <a:spLocks noGrp="1"/>
          </p:cNvSpPr>
          <p:nvPr>
            <p:ph idx="1"/>
          </p:nvPr>
        </p:nvSpPr>
        <p:spPr/>
        <p:txBody>
          <a:bodyPr>
            <a:normAutofit fontScale="92500" lnSpcReduction="20000"/>
          </a:bodyPr>
          <a:lstStyle/>
          <a:p>
            <a:r>
              <a:rPr lang="en-US" dirty="0" smtClean="0"/>
              <a:t>Internet </a:t>
            </a:r>
            <a:r>
              <a:rPr lang="en-US" dirty="0"/>
              <a:t>is a worldwide collection of interconnected networks (internetworks or internet for short), cooperating with each other to exchange information using common standards. </a:t>
            </a:r>
            <a:endParaRPr lang="en-US" dirty="0" smtClean="0"/>
          </a:p>
          <a:p>
            <a:r>
              <a:rPr lang="en-US" dirty="0" smtClean="0"/>
              <a:t>Through </a:t>
            </a:r>
            <a:r>
              <a:rPr lang="en-US" dirty="0"/>
              <a:t>telephone wires, fiber optic cables, wireless transmissions, and satellite links, Internet users can exchange information in a variety of forms</a:t>
            </a:r>
            <a:r>
              <a:rPr lang="en-US" dirty="0" smtClean="0"/>
              <a:t>.</a:t>
            </a:r>
            <a:r>
              <a:rPr lang="en-US" dirty="0"/>
              <a:t> </a:t>
            </a:r>
            <a:endParaRPr lang="en-US" dirty="0" smtClean="0"/>
          </a:p>
          <a:p>
            <a:r>
              <a:rPr lang="en-US" dirty="0" smtClean="0"/>
              <a:t>The </a:t>
            </a:r>
            <a:r>
              <a:rPr lang="en-US" dirty="0"/>
              <a:t>Internet is a conglomerate of networks and is not owned by any individual or group</a:t>
            </a:r>
            <a:r>
              <a:rPr lang="en-US" dirty="0" smtClean="0"/>
              <a:t>.</a:t>
            </a:r>
            <a:endParaRPr lang="en-US" dirty="0"/>
          </a:p>
        </p:txBody>
      </p:sp>
    </p:spTree>
    <p:extLst>
      <p:ext uri="{BB962C8B-B14F-4D97-AF65-F5344CB8AC3E}">
        <p14:creationId xmlns:p14="http://schemas.microsoft.com/office/powerpoint/2010/main" val="101634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the </a:t>
            </a:r>
            <a:r>
              <a:rPr lang="en-US" dirty="0" smtClean="0"/>
              <a:t>internet</a:t>
            </a:r>
            <a:endParaRPr lang="en-GB" dirty="0"/>
          </a:p>
        </p:txBody>
      </p:sp>
      <p:sp>
        <p:nvSpPr>
          <p:cNvPr id="3" name="Content Placeholder 2"/>
          <p:cNvSpPr>
            <a:spLocks noGrp="1"/>
          </p:cNvSpPr>
          <p:nvPr>
            <p:ph idx="1"/>
          </p:nvPr>
        </p:nvSpPr>
        <p:spPr/>
        <p:txBody>
          <a:bodyPr>
            <a:normAutofit fontScale="92500" lnSpcReduction="20000"/>
          </a:bodyPr>
          <a:lstStyle/>
          <a:p>
            <a:r>
              <a:rPr lang="en-US" dirty="0"/>
              <a:t>The story begins in the late 1950s. </a:t>
            </a:r>
            <a:endParaRPr lang="en-US" dirty="0" smtClean="0"/>
          </a:p>
          <a:p>
            <a:r>
              <a:rPr lang="en-US" dirty="0" smtClean="0"/>
              <a:t>At </a:t>
            </a:r>
            <a:r>
              <a:rPr lang="en-US" dirty="0"/>
              <a:t>the height of the Cold War, the U.S. </a:t>
            </a:r>
            <a:r>
              <a:rPr lang="en-US" dirty="0" err="1"/>
              <a:t>DoD</a:t>
            </a:r>
            <a:r>
              <a:rPr lang="en-US" dirty="0"/>
              <a:t> wanted a command-and-control network that could survive a nuclear war. </a:t>
            </a:r>
            <a:endParaRPr lang="en-US" dirty="0" smtClean="0"/>
          </a:p>
          <a:p>
            <a:r>
              <a:rPr lang="en-US" dirty="0" smtClean="0"/>
              <a:t>At </a:t>
            </a:r>
            <a:r>
              <a:rPr lang="en-US" dirty="0"/>
              <a:t>that time, all military communications used the public telephone network, which was considered </a:t>
            </a:r>
            <a:r>
              <a:rPr lang="en-US" dirty="0" smtClean="0"/>
              <a:t>vulnerable</a:t>
            </a:r>
          </a:p>
          <a:p>
            <a:r>
              <a:rPr lang="en-US" dirty="0"/>
              <a:t>To understand what happened next, we have to go back all the way to October 1957, when the Soviet Union beat the U.S. into space with the launch of the first artificial satellite, Sputnik</a:t>
            </a:r>
          </a:p>
          <a:p>
            <a:endParaRPr lang="en-US" dirty="0" smtClean="0"/>
          </a:p>
          <a:p>
            <a:endParaRPr lang="en-GB" dirty="0"/>
          </a:p>
        </p:txBody>
      </p:sp>
    </p:spTree>
    <p:extLst>
      <p:ext uri="{BB962C8B-B14F-4D97-AF65-F5344CB8AC3E}">
        <p14:creationId xmlns:p14="http://schemas.microsoft.com/office/powerpoint/2010/main" val="2996938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the </a:t>
            </a:r>
            <a:r>
              <a:rPr lang="en-US" dirty="0" smtClean="0"/>
              <a:t>internet cont’d</a:t>
            </a:r>
            <a:endParaRPr lang="en-GB" dirty="0"/>
          </a:p>
        </p:txBody>
      </p:sp>
      <p:sp>
        <p:nvSpPr>
          <p:cNvPr id="3" name="Content Placeholder 2"/>
          <p:cNvSpPr>
            <a:spLocks noGrp="1"/>
          </p:cNvSpPr>
          <p:nvPr>
            <p:ph idx="1"/>
          </p:nvPr>
        </p:nvSpPr>
        <p:spPr/>
        <p:txBody>
          <a:bodyPr>
            <a:normAutofit fontScale="92500" lnSpcReduction="10000"/>
          </a:bodyPr>
          <a:lstStyle/>
          <a:p>
            <a:r>
              <a:rPr lang="en-GB" dirty="0"/>
              <a:t>Here the black </a:t>
            </a:r>
            <a:r>
              <a:rPr lang="en-GB" dirty="0" smtClean="0"/>
              <a:t>dots represent </a:t>
            </a:r>
            <a:r>
              <a:rPr lang="en-GB" dirty="0"/>
              <a:t>telephone switching offices, each </a:t>
            </a:r>
            <a:r>
              <a:rPr lang="en-GB" dirty="0" smtClean="0"/>
              <a:t>of which was connected </a:t>
            </a:r>
            <a:r>
              <a:rPr lang="en-GB" dirty="0"/>
              <a:t>to thousands of telephones. </a:t>
            </a:r>
            <a:endParaRPr lang="en-GB" dirty="0" smtClean="0"/>
          </a:p>
          <a:p>
            <a:r>
              <a:rPr lang="en-GB" dirty="0" smtClean="0"/>
              <a:t>These </a:t>
            </a:r>
            <a:r>
              <a:rPr lang="en-GB" dirty="0"/>
              <a:t>switching offices </a:t>
            </a:r>
            <a:r>
              <a:rPr lang="en-GB" dirty="0" smtClean="0"/>
              <a:t>were, in </a:t>
            </a:r>
            <a:r>
              <a:rPr lang="en-GB" dirty="0"/>
              <a:t>turn, connected to higher-level switching offices (toll offices), to form </a:t>
            </a:r>
            <a:r>
              <a:rPr lang="en-GB" dirty="0" smtClean="0"/>
              <a:t>a hierarchy </a:t>
            </a:r>
            <a:r>
              <a:rPr lang="en-GB" dirty="0"/>
              <a:t>with only a small amount </a:t>
            </a:r>
            <a:r>
              <a:rPr lang="en-GB" dirty="0" smtClean="0"/>
              <a:t>of redundancy</a:t>
            </a:r>
            <a:r>
              <a:rPr lang="en-GB" dirty="0"/>
              <a:t>. </a:t>
            </a:r>
            <a:endParaRPr lang="en-GB" dirty="0" smtClean="0"/>
          </a:p>
          <a:p>
            <a:r>
              <a:rPr lang="en-GB" dirty="0" smtClean="0"/>
              <a:t>The </a:t>
            </a:r>
            <a:r>
              <a:rPr lang="en-GB" dirty="0"/>
              <a:t>vulnerability </a:t>
            </a:r>
            <a:r>
              <a:rPr lang="en-GB" dirty="0" smtClean="0"/>
              <a:t>of the </a:t>
            </a:r>
            <a:r>
              <a:rPr lang="en-GB" dirty="0"/>
              <a:t>system was that the destruction of a few key toll offices could fragment it </a:t>
            </a:r>
            <a:r>
              <a:rPr lang="en-GB" dirty="0" smtClean="0"/>
              <a:t>into many </a:t>
            </a:r>
            <a:r>
              <a:rPr lang="en-GB" dirty="0"/>
              <a:t>isolated islands.</a:t>
            </a:r>
          </a:p>
        </p:txBody>
      </p:sp>
    </p:spTree>
    <p:extLst>
      <p:ext uri="{BB962C8B-B14F-4D97-AF65-F5344CB8AC3E}">
        <p14:creationId xmlns:p14="http://schemas.microsoft.com/office/powerpoint/2010/main" val="2797721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89" y="1327785"/>
            <a:ext cx="7952423" cy="530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5169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the </a:t>
            </a:r>
            <a:r>
              <a:rPr lang="en-US" dirty="0"/>
              <a:t>internet cont’d</a:t>
            </a:r>
          </a:p>
        </p:txBody>
      </p:sp>
      <p:sp>
        <p:nvSpPr>
          <p:cNvPr id="3" name="Content Placeholder 2"/>
          <p:cNvSpPr>
            <a:spLocks noGrp="1"/>
          </p:cNvSpPr>
          <p:nvPr>
            <p:ph idx="1"/>
          </p:nvPr>
        </p:nvSpPr>
        <p:spPr/>
        <p:txBody>
          <a:bodyPr>
            <a:normAutofit fontScale="85000" lnSpcReduction="10000"/>
          </a:bodyPr>
          <a:lstStyle/>
          <a:p>
            <a:pP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In short, </a:t>
            </a:r>
            <a:r>
              <a:rPr lang="en-US" sz="2800" dirty="0" smtClean="0"/>
              <a:t>the </a:t>
            </a:r>
            <a:r>
              <a:rPr lang="en-US" sz="2800" dirty="0"/>
              <a:t>story </a:t>
            </a:r>
            <a:r>
              <a:rPr lang="en-US" sz="2800" dirty="0" smtClean="0"/>
              <a:t>begun </a:t>
            </a:r>
            <a:r>
              <a:rPr lang="en-US" sz="2800" dirty="0"/>
              <a:t>in the late 1950s </a:t>
            </a:r>
            <a:r>
              <a:rPr lang="en-US" sz="2800" dirty="0" smtClean="0">
                <a:latin typeface="Times New Roman" panose="02020603050405020304" pitchFamily="18" charset="0"/>
                <a:cs typeface="Times New Roman" panose="02020603050405020304" pitchFamily="18" charset="0"/>
              </a:rPr>
              <a:t>particularly in 1957 </a:t>
            </a:r>
            <a:r>
              <a:rPr lang="en-US" sz="2800" dirty="0">
                <a:latin typeface="Times New Roman" panose="02020603050405020304" pitchFamily="18" charset="0"/>
                <a:cs typeface="Times New Roman" panose="02020603050405020304" pitchFamily="18" charset="0"/>
              </a:rPr>
              <a:t>when Soviet Union </a:t>
            </a:r>
            <a:r>
              <a:rPr lang="en-US" sz="2800" dirty="0" smtClean="0">
                <a:latin typeface="Times New Roman" panose="02020603050405020304" pitchFamily="18" charset="0"/>
                <a:cs typeface="Times New Roman" panose="02020603050405020304" pitchFamily="18" charset="0"/>
              </a:rPr>
              <a:t>Launched the </a:t>
            </a:r>
            <a:r>
              <a:rPr lang="en-US" sz="2800" dirty="0">
                <a:latin typeface="Times New Roman" panose="02020603050405020304" pitchFamily="18" charset="0"/>
                <a:cs typeface="Times New Roman" panose="02020603050405020304" pitchFamily="18" charset="0"/>
              </a:rPr>
              <a:t>first artificial satellite</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Sputnik. </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1969 ARPANET (Advanced Research Projects Agency) connected Computers at UCLA, Stanford Research Institute</a:t>
            </a:r>
            <a:r>
              <a:rPr lang="en-US" sz="2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800" i="1" dirty="0" smtClean="0">
                <a:solidFill>
                  <a:srgbClr val="7030A0"/>
                </a:solidFill>
                <a:latin typeface="Times New Roman" panose="02020603050405020304" pitchFamily="18" charset="0"/>
                <a:cs typeface="Times New Roman" panose="02020603050405020304" pitchFamily="18" charset="0"/>
              </a:rPr>
              <a:t>ARPANET </a:t>
            </a:r>
            <a:r>
              <a:rPr lang="en-US" sz="2800" dirty="0" smtClean="0">
                <a:latin typeface="Times New Roman" panose="02020603050405020304" pitchFamily="18" charset="0"/>
                <a:cs typeface="Times New Roman" panose="02020603050405020304" pitchFamily="18" charset="0"/>
              </a:rPr>
              <a:t>is the grandparent </a:t>
            </a:r>
            <a:r>
              <a:rPr lang="en-US" sz="2800" dirty="0">
                <a:latin typeface="Times New Roman" panose="02020603050405020304" pitchFamily="18" charset="0"/>
                <a:cs typeface="Times New Roman" panose="02020603050405020304" pitchFamily="18" charset="0"/>
              </a:rPr>
              <a:t>of all wide area computer networks </a:t>
            </a: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In </a:t>
            </a:r>
            <a:r>
              <a:rPr lang="en-US" sz="2800" dirty="0">
                <a:latin typeface="Times New Roman" panose="02020603050405020304" pitchFamily="18" charset="0"/>
                <a:cs typeface="Times New Roman" panose="02020603050405020304" pitchFamily="18" charset="0"/>
              </a:rPr>
              <a:t>1985, National Science Foundation (NSF) used ARPANET Technology to create a larger Network, Connecting entire LANs to each other.</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NSF network was internet, as this network grew throughout the world, it became Internet.</a:t>
            </a:r>
          </a:p>
          <a:p>
            <a:endParaRPr lang="en-US" sz="2800" dirty="0"/>
          </a:p>
        </p:txBody>
      </p:sp>
    </p:spTree>
    <p:extLst>
      <p:ext uri="{BB962C8B-B14F-4D97-AF65-F5344CB8AC3E}">
        <p14:creationId xmlns:p14="http://schemas.microsoft.com/office/powerpoint/2010/main" val="18562228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t>
            </a:r>
            <a:r>
              <a:rPr lang="en-US" dirty="0" smtClean="0"/>
              <a:t>Background (Cont’d)</a:t>
            </a:r>
            <a:endParaRPr lang="en-US" dirty="0"/>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2340" y="1735931"/>
            <a:ext cx="5854003" cy="4364753"/>
          </a:xfrm>
        </p:spPr>
      </p:pic>
    </p:spTree>
    <p:extLst>
      <p:ext uri="{BB962C8B-B14F-4D97-AF65-F5344CB8AC3E}">
        <p14:creationId xmlns:p14="http://schemas.microsoft.com/office/powerpoint/2010/main" val="759952480"/>
      </p:ext>
    </p:extLst>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Internet Infrastructure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Internet is not owned or operated by any single organisation or government. It is network connected to other networks and to the internet backbone.</a:t>
            </a:r>
          </a:p>
          <a:p>
            <a:r>
              <a:rPr lang="en-US" dirty="0"/>
              <a:t>Several organizations set </a:t>
            </a:r>
            <a:r>
              <a:rPr lang="en-US" dirty="0" smtClean="0"/>
              <a:t>standards</a:t>
            </a:r>
          </a:p>
          <a:p>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967" y="3686630"/>
            <a:ext cx="3503546" cy="2435301"/>
          </a:xfrm>
          <a:prstGeom prst="rect">
            <a:avLst/>
          </a:prstGeom>
        </p:spPr>
      </p:pic>
      <p:pic>
        <p:nvPicPr>
          <p:cNvPr id="5" name="Picture 4"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8830" y="3686630"/>
            <a:ext cx="3407228" cy="2449041"/>
          </a:xfrm>
          <a:prstGeom prst="rect">
            <a:avLst/>
          </a:prstGeom>
        </p:spPr>
      </p:pic>
    </p:spTree>
    <p:extLst>
      <p:ext uri="{BB962C8B-B14F-4D97-AF65-F5344CB8AC3E}">
        <p14:creationId xmlns:p14="http://schemas.microsoft.com/office/powerpoint/2010/main" val="2347571628"/>
      </p:ext>
    </p:extLst>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These organizations include the Internet Engineering Task Force (IETF), Internet Corporation for Assigned Names and Numbers (ICANN), and the Internet Architecture Board (IAB)</a:t>
            </a:r>
          </a:p>
          <a:p>
            <a:endParaRPr lang="en-US" dirty="0"/>
          </a:p>
        </p:txBody>
      </p:sp>
    </p:spTree>
    <p:extLst>
      <p:ext uri="{BB962C8B-B14F-4D97-AF65-F5344CB8AC3E}">
        <p14:creationId xmlns:p14="http://schemas.microsoft.com/office/powerpoint/2010/main" val="305185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Requirements for connecting to the Internet</a:t>
            </a:r>
            <a:endParaRPr lang="en-GB" b="1" dirty="0"/>
          </a:p>
        </p:txBody>
      </p:sp>
      <p:sp>
        <p:nvSpPr>
          <p:cNvPr id="3" name="Content Placeholder 2"/>
          <p:cNvSpPr>
            <a:spLocks noGrp="1"/>
          </p:cNvSpPr>
          <p:nvPr>
            <p:ph idx="1"/>
          </p:nvPr>
        </p:nvSpPr>
        <p:spPr/>
        <p:txBody>
          <a:bodyPr>
            <a:normAutofit fontScale="70000" lnSpcReduction="20000"/>
          </a:bodyPr>
          <a:lstStyle/>
          <a:p>
            <a:pPr marL="514350" indent="-514350">
              <a:buAutoNum type="alphaLcParenR"/>
            </a:pPr>
            <a:r>
              <a:rPr lang="en-GB" dirty="0" smtClean="0"/>
              <a:t>Modem: A modem is a peripheral device that allows a computer to connect and communicate with other computers. Modem stands for Modulator Demodulator. </a:t>
            </a:r>
          </a:p>
          <a:p>
            <a:pPr marL="514350" indent="-514350">
              <a:buAutoNum type="alphaLcParenR"/>
            </a:pPr>
            <a:r>
              <a:rPr lang="en-GB" dirty="0" smtClean="0"/>
              <a:t>Web Browser: A browser is a software program that is necessary in order to view web pages on the web.  Ex: Internet Explorer, Netscape Navigator, Mozilla Firefox,  Microsoft outlook express etc. </a:t>
            </a:r>
          </a:p>
          <a:p>
            <a:pPr marL="514350" indent="-514350">
              <a:buAutoNum type="alphaLcParenR"/>
            </a:pPr>
            <a:r>
              <a:rPr lang="en-GB" dirty="0" smtClean="0"/>
              <a:t>Telephone line:  A telephone line is required to transfer data from one computer to another. The computer is connected to a modem, which, in turn, connected to a telephone line. </a:t>
            </a:r>
          </a:p>
          <a:p>
            <a:pPr marL="514350" indent="-514350">
              <a:buAutoNum type="alphaLcParenR"/>
            </a:pPr>
            <a:r>
              <a:rPr lang="en-GB" dirty="0" smtClean="0"/>
              <a:t>Subscription with Internet service provider (ISP):  ISP‘s are companies that provide access to the internet. We need subscription with any ISP to get an Internet connection. Some of the ISPs in India are VSNL, MTNL, </a:t>
            </a:r>
            <a:r>
              <a:rPr lang="en-GB" dirty="0" err="1" smtClean="0"/>
              <a:t>Sify</a:t>
            </a:r>
            <a:r>
              <a:rPr lang="en-GB" dirty="0" smtClean="0"/>
              <a:t>, </a:t>
            </a:r>
            <a:r>
              <a:rPr lang="en-GB" dirty="0" err="1" smtClean="0"/>
              <a:t>Specrta</a:t>
            </a:r>
            <a:r>
              <a:rPr lang="en-GB" dirty="0" smtClean="0"/>
              <a:t> Net etc. </a:t>
            </a:r>
            <a:endParaRPr lang="en-GB" dirty="0"/>
          </a:p>
        </p:txBody>
      </p:sp>
    </p:spTree>
    <p:extLst>
      <p:ext uri="{BB962C8B-B14F-4D97-AF65-F5344CB8AC3E}">
        <p14:creationId xmlns:p14="http://schemas.microsoft.com/office/powerpoint/2010/main" val="41040679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Access Technologies </a:t>
            </a:r>
          </a:p>
        </p:txBody>
      </p:sp>
      <p:sp>
        <p:nvSpPr>
          <p:cNvPr id="3" name="Subtitle 2"/>
          <p:cNvSpPr>
            <a:spLocks noGrp="1"/>
          </p:cNvSpPr>
          <p:nvPr>
            <p:ph sz="half" idx="1"/>
          </p:nvPr>
        </p:nvSpPr>
        <p:spPr/>
        <p:txBody>
          <a:bodyPr>
            <a:normAutofit fontScale="85000" lnSpcReduction="10000"/>
          </a:bodyPr>
          <a:lstStyle/>
          <a:p>
            <a:pPr marL="0" indent="0">
              <a:buNone/>
            </a:pPr>
            <a:r>
              <a:rPr lang="en-US" b="1" dirty="0"/>
              <a:t>Connecting Remote Users to the Internet </a:t>
            </a:r>
            <a:endParaRPr lang="en-US" b="1" dirty="0" smtClean="0"/>
          </a:p>
          <a:p>
            <a:pPr marL="0" indent="0">
              <a:buNone/>
            </a:pPr>
            <a:r>
              <a:rPr lang="en-US" dirty="0" smtClean="0"/>
              <a:t>There </a:t>
            </a:r>
            <a:r>
              <a:rPr lang="en-US" dirty="0"/>
              <a:t>are many different ways to connect users and organizations to the Internet</a:t>
            </a:r>
            <a:r>
              <a:rPr lang="en-US" dirty="0" smtClean="0"/>
              <a:t>.</a:t>
            </a:r>
          </a:p>
          <a:p>
            <a:pPr marL="514350" indent="-514350">
              <a:buFont typeface="+mj-lt"/>
              <a:buAutoNum type="arabicPeriod"/>
            </a:pPr>
            <a:r>
              <a:rPr lang="en-US" dirty="0" smtClean="0"/>
              <a:t>Cable</a:t>
            </a:r>
          </a:p>
          <a:p>
            <a:pPr marL="514350" indent="-514350">
              <a:buFont typeface="+mj-lt"/>
              <a:buAutoNum type="arabicPeriod"/>
            </a:pPr>
            <a:r>
              <a:rPr lang="en-US" dirty="0" smtClean="0"/>
              <a:t>DSL ( three lines: voice, downlink, uploading &amp; sending information)</a:t>
            </a:r>
          </a:p>
          <a:p>
            <a:pPr marL="514350" indent="-514350">
              <a:buFont typeface="+mj-lt"/>
              <a:buAutoNum type="arabicPeriod"/>
            </a:pPr>
            <a:r>
              <a:rPr lang="en-US" dirty="0" smtClean="0"/>
              <a:t>Cellular</a:t>
            </a:r>
          </a:p>
          <a:p>
            <a:pPr marL="514350" indent="-514350">
              <a:buFont typeface="+mj-lt"/>
              <a:buAutoNum type="arabicPeriod"/>
            </a:pPr>
            <a:r>
              <a:rPr lang="en-US" dirty="0" smtClean="0"/>
              <a:t>satellite</a:t>
            </a:r>
          </a:p>
          <a:p>
            <a:pPr marL="514350" indent="-514350">
              <a:buFont typeface="+mj-lt"/>
              <a:buAutoNum type="arabicPeriod"/>
            </a:pPr>
            <a:r>
              <a:rPr lang="en-US" dirty="0" smtClean="0"/>
              <a:t>Dial-up Telephone</a:t>
            </a:r>
          </a:p>
        </p:txBody>
      </p:sp>
      <p:pic>
        <p:nvPicPr>
          <p:cNvPr id="10242"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495800" y="2133600"/>
            <a:ext cx="4572000" cy="4495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77446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Connecting Businesses to the Internet</a:t>
            </a:r>
            <a:r>
              <a:rPr lang="en-US" sz="2800" dirty="0" smtClean="0"/>
              <a:t> </a:t>
            </a:r>
            <a:endParaRPr lang="en-US" sz="2800" dirty="0"/>
          </a:p>
        </p:txBody>
      </p:sp>
      <p:sp>
        <p:nvSpPr>
          <p:cNvPr id="3" name="Subtitle 2"/>
          <p:cNvSpPr>
            <a:spLocks noGrp="1"/>
          </p:cNvSpPr>
          <p:nvPr>
            <p:ph idx="1"/>
          </p:nvPr>
        </p:nvSpPr>
        <p:spPr/>
        <p:txBody>
          <a:bodyPr>
            <a:normAutofit/>
          </a:bodyPr>
          <a:lstStyle/>
          <a:p>
            <a:pPr marL="0" indent="0">
              <a:buNone/>
            </a:pPr>
            <a:r>
              <a:rPr lang="en-US" dirty="0"/>
              <a:t>Corporate </a:t>
            </a:r>
            <a:r>
              <a:rPr lang="en-US" dirty="0" smtClean="0"/>
              <a:t>connection:</a:t>
            </a:r>
          </a:p>
          <a:p>
            <a:pPr marL="514350" indent="-514350">
              <a:buFont typeface="+mj-lt"/>
              <a:buAutoNum type="arabicPeriod"/>
            </a:pP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743200"/>
            <a:ext cx="66294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485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GB" sz="3600" dirty="0">
                <a:cs typeface="Arial" charset="0"/>
              </a:rPr>
              <a:t>Overview of the Internet architecture</a:t>
            </a:r>
            <a:endParaRPr lang="en-US" sz="3600" dirty="0" smtClean="0">
              <a:cs typeface="Arial" charset="0"/>
            </a:endParaRPr>
          </a:p>
        </p:txBody>
      </p:sp>
      <p:sp>
        <p:nvSpPr>
          <p:cNvPr id="46083" name="Rectangle 3"/>
          <p:cNvSpPr>
            <a:spLocks noGrp="1" noChangeArrowheads="1"/>
          </p:cNvSpPr>
          <p:nvPr>
            <p:ph idx="1"/>
          </p:nvPr>
        </p:nvSpPr>
        <p:spPr>
          <a:xfrm>
            <a:off x="287338" y="5715000"/>
            <a:ext cx="8856662" cy="838200"/>
          </a:xfrm>
        </p:spPr>
        <p:txBody>
          <a:bodyPr/>
          <a:lstStyle/>
          <a:p>
            <a:pPr algn="ctr">
              <a:buFontTx/>
              <a:buNone/>
            </a:pPr>
            <a:r>
              <a:rPr lang="en-US" smtClean="0">
                <a:latin typeface="Arial" charset="0"/>
                <a:cs typeface="Arial" charset="0"/>
              </a:rPr>
              <a:t>Overview of the Internet architecture</a:t>
            </a:r>
          </a:p>
        </p:txBody>
      </p:sp>
      <p:sp>
        <p:nvSpPr>
          <p:cNvPr id="46084" name="Rectangle 5"/>
          <p:cNvSpPr>
            <a:spLocks noGrp="1" noChangeArrowheads="1"/>
          </p:cNvSpPr>
          <p:nvPr>
            <p:ph type="ftr" sz="quarter" idx="11"/>
          </p:nvPr>
        </p:nvSpPr>
        <p:spPr>
          <a:xfrm>
            <a:off x="304800" y="6629400"/>
            <a:ext cx="8610600" cy="228600"/>
          </a:xfrm>
          <a:noFill/>
        </p:spPr>
        <p:txBody>
          <a:bodyPr/>
          <a:lstStyle/>
          <a:p>
            <a:pPr algn="ctr" fontAlgn="base">
              <a:spcBef>
                <a:spcPct val="0"/>
              </a:spcBef>
              <a:spcAft>
                <a:spcPct val="0"/>
              </a:spcAft>
            </a:pPr>
            <a:r>
              <a:rPr lang="en-US" sz="1000" i="1" smtClean="0">
                <a:latin typeface="Arial" charset="0"/>
                <a:cs typeface="Arial" charset="0"/>
              </a:rPr>
              <a:t>Computer Networks</a:t>
            </a:r>
            <a:r>
              <a:rPr lang="en-US" sz="1000" smtClean="0">
                <a:latin typeface="Arial" charset="0"/>
                <a:cs typeface="Arial" charset="0"/>
              </a:rPr>
              <a:t>, Fifth Edition by Andrew Tanenbaum and David Wetherall, © Pearson Education-Prentice Hall, 2011</a:t>
            </a:r>
          </a:p>
        </p:txBody>
      </p:sp>
      <p:pic>
        <p:nvPicPr>
          <p:cNvPr id="46085" name="Picture 6"/>
          <p:cNvPicPr>
            <a:picLocks noChangeAspect="1" noChangeArrowheads="1"/>
          </p:cNvPicPr>
          <p:nvPr/>
        </p:nvPicPr>
        <p:blipFill>
          <a:blip r:embed="rId2" cstate="print"/>
          <a:srcRect/>
          <a:stretch>
            <a:fillRect/>
          </a:stretch>
        </p:blipFill>
        <p:spPr bwMode="auto">
          <a:xfrm>
            <a:off x="280988" y="1238250"/>
            <a:ext cx="8582025" cy="4381500"/>
          </a:xfrm>
          <a:prstGeom prst="rect">
            <a:avLst/>
          </a:prstGeom>
          <a:noFill/>
          <a:ln w="9525">
            <a:noFill/>
            <a:miter lim="800000"/>
            <a:headEnd/>
            <a:tailEnd/>
          </a:ln>
        </p:spPr>
      </p:pic>
    </p:spTree>
    <p:extLst>
      <p:ext uri="{BB962C8B-B14F-4D97-AF65-F5344CB8AC3E}">
        <p14:creationId xmlns:p14="http://schemas.microsoft.com/office/powerpoint/2010/main" val="38619373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t>
            </a:r>
            <a:r>
              <a:rPr lang="en-GB" dirty="0" smtClean="0"/>
              <a:t>architecture cont’d</a:t>
            </a:r>
            <a:endParaRPr lang="en-GB" dirty="0"/>
          </a:p>
        </p:txBody>
      </p:sp>
      <p:sp>
        <p:nvSpPr>
          <p:cNvPr id="3" name="Content Placeholder 2"/>
          <p:cNvSpPr>
            <a:spLocks noGrp="1"/>
          </p:cNvSpPr>
          <p:nvPr>
            <p:ph idx="1"/>
          </p:nvPr>
        </p:nvSpPr>
        <p:spPr>
          <a:xfrm>
            <a:off x="457200" y="1600200"/>
            <a:ext cx="8229600" cy="5029200"/>
          </a:xfrm>
        </p:spPr>
        <p:txBody>
          <a:bodyPr>
            <a:normAutofit fontScale="85000" lnSpcReduction="20000"/>
          </a:bodyPr>
          <a:lstStyle/>
          <a:p>
            <a:r>
              <a:rPr lang="en-GB" dirty="0"/>
              <a:t>Let us examine </a:t>
            </a:r>
            <a:r>
              <a:rPr lang="en-GB" dirty="0" smtClean="0"/>
              <a:t>this figure </a:t>
            </a:r>
            <a:r>
              <a:rPr lang="en-GB" dirty="0"/>
              <a:t>piece </a:t>
            </a:r>
            <a:r>
              <a:rPr lang="en-GB" dirty="0" smtClean="0"/>
              <a:t>by piece, starting </a:t>
            </a:r>
            <a:r>
              <a:rPr lang="en-GB" dirty="0"/>
              <a:t>with a computer at home (at the edges of the figure). </a:t>
            </a:r>
            <a:endParaRPr lang="en-GB" dirty="0" smtClean="0"/>
          </a:p>
          <a:p>
            <a:r>
              <a:rPr lang="en-GB" dirty="0" smtClean="0"/>
              <a:t>To </a:t>
            </a:r>
            <a:r>
              <a:rPr lang="en-GB" dirty="0"/>
              <a:t>join </a:t>
            </a:r>
            <a:r>
              <a:rPr lang="en-GB" dirty="0" smtClean="0"/>
              <a:t>the Internet</a:t>
            </a:r>
            <a:r>
              <a:rPr lang="en-GB" dirty="0"/>
              <a:t>, the computer is connected to </a:t>
            </a:r>
            <a:r>
              <a:rPr lang="en-GB" dirty="0" smtClean="0"/>
              <a:t>an </a:t>
            </a:r>
            <a:r>
              <a:rPr lang="en-GB" b="1" dirty="0" smtClean="0"/>
              <a:t>Internet </a:t>
            </a:r>
            <a:r>
              <a:rPr lang="en-GB" b="1" dirty="0"/>
              <a:t>Service Provider</a:t>
            </a:r>
            <a:r>
              <a:rPr lang="en-GB" dirty="0"/>
              <a:t>, or </a:t>
            </a:r>
            <a:r>
              <a:rPr lang="en-GB" dirty="0" smtClean="0"/>
              <a:t>simply ISP</a:t>
            </a:r>
            <a:r>
              <a:rPr lang="en-GB" dirty="0"/>
              <a:t>, from who the user purchases </a:t>
            </a:r>
            <a:r>
              <a:rPr lang="en-GB" dirty="0" smtClean="0"/>
              <a:t>Internet </a:t>
            </a:r>
            <a:r>
              <a:rPr lang="en-GB" b="1" dirty="0" smtClean="0"/>
              <a:t>access</a:t>
            </a:r>
            <a:r>
              <a:rPr lang="en-GB" dirty="0" smtClean="0"/>
              <a:t> or </a:t>
            </a:r>
            <a:r>
              <a:rPr lang="en-GB" b="1" dirty="0" smtClean="0"/>
              <a:t>connectivity</a:t>
            </a:r>
            <a:r>
              <a:rPr lang="en-GB" dirty="0"/>
              <a:t>. </a:t>
            </a:r>
            <a:endParaRPr lang="en-GB" dirty="0" smtClean="0"/>
          </a:p>
          <a:p>
            <a:r>
              <a:rPr lang="en-GB" dirty="0" smtClean="0"/>
              <a:t>This </a:t>
            </a:r>
            <a:r>
              <a:rPr lang="en-GB" dirty="0"/>
              <a:t>lets </a:t>
            </a:r>
            <a:r>
              <a:rPr lang="en-GB" dirty="0" smtClean="0"/>
              <a:t>the computer </a:t>
            </a:r>
            <a:r>
              <a:rPr lang="en-GB" dirty="0"/>
              <a:t>exchange packets with all of </a:t>
            </a:r>
            <a:r>
              <a:rPr lang="en-GB" dirty="0" smtClean="0"/>
              <a:t>the other accessible hosts </a:t>
            </a:r>
            <a:r>
              <a:rPr lang="en-GB" dirty="0"/>
              <a:t>on the Internet.</a:t>
            </a:r>
          </a:p>
          <a:p>
            <a:r>
              <a:rPr lang="en-GB" dirty="0"/>
              <a:t>The user might send packets to surf the Web or for any of a thousand other uses, </a:t>
            </a:r>
            <a:r>
              <a:rPr lang="en-GB" dirty="0" smtClean="0"/>
              <a:t>it does </a:t>
            </a:r>
            <a:r>
              <a:rPr lang="en-GB" dirty="0"/>
              <a:t>not matter. </a:t>
            </a:r>
            <a:endParaRPr lang="en-GB" dirty="0" smtClean="0"/>
          </a:p>
          <a:p>
            <a:r>
              <a:rPr lang="en-GB" dirty="0" smtClean="0"/>
              <a:t>There </a:t>
            </a:r>
            <a:r>
              <a:rPr lang="en-GB" dirty="0"/>
              <a:t>are many </a:t>
            </a:r>
            <a:r>
              <a:rPr lang="en-GB" dirty="0" smtClean="0"/>
              <a:t>kinds of Internet access</a:t>
            </a:r>
            <a:r>
              <a:rPr lang="en-GB" dirty="0"/>
              <a:t>, </a:t>
            </a:r>
            <a:r>
              <a:rPr lang="en-GB" dirty="0" smtClean="0"/>
              <a:t>and they </a:t>
            </a:r>
            <a:r>
              <a:rPr lang="en-GB" dirty="0"/>
              <a:t>are </a:t>
            </a:r>
            <a:r>
              <a:rPr lang="en-GB" dirty="0" smtClean="0"/>
              <a:t>usually distinguished </a:t>
            </a:r>
            <a:r>
              <a:rPr lang="en-GB" dirty="0"/>
              <a:t>by how much </a:t>
            </a:r>
            <a:r>
              <a:rPr lang="en-GB" dirty="0" smtClean="0"/>
              <a:t>bandwidth they </a:t>
            </a:r>
            <a:r>
              <a:rPr lang="en-GB" dirty="0"/>
              <a:t>provide and how much they cost, </a:t>
            </a:r>
            <a:r>
              <a:rPr lang="en-GB" dirty="0" smtClean="0"/>
              <a:t>but the </a:t>
            </a:r>
            <a:r>
              <a:rPr lang="en-GB" dirty="0"/>
              <a:t>most important attribute </a:t>
            </a:r>
            <a:r>
              <a:rPr lang="en-GB" dirty="0" smtClean="0"/>
              <a:t>is connectivity</a:t>
            </a:r>
            <a:r>
              <a:rPr lang="en-GB" dirty="0"/>
              <a:t>.</a:t>
            </a:r>
          </a:p>
        </p:txBody>
      </p:sp>
    </p:spTree>
    <p:extLst>
      <p:ext uri="{BB962C8B-B14F-4D97-AF65-F5344CB8AC3E}">
        <p14:creationId xmlns:p14="http://schemas.microsoft.com/office/powerpoint/2010/main" val="16493968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p:txBody>
          <a:bodyPr/>
          <a:lstStyle/>
          <a:p>
            <a:r>
              <a:rPr lang="en-GB" dirty="0"/>
              <a:t>The computer is connected to </a:t>
            </a:r>
            <a:r>
              <a:rPr lang="en-GB" dirty="0" smtClean="0"/>
              <a:t>a device </a:t>
            </a:r>
            <a:r>
              <a:rPr lang="en-GB" dirty="0"/>
              <a:t>called </a:t>
            </a:r>
            <a:r>
              <a:rPr lang="en-GB" dirty="0" smtClean="0"/>
              <a:t>a </a:t>
            </a:r>
            <a:r>
              <a:rPr lang="en-GB" b="1" dirty="0" smtClean="0"/>
              <a:t>DSL modem </a:t>
            </a:r>
            <a:r>
              <a:rPr lang="en-GB" dirty="0" smtClean="0"/>
              <a:t>that converts </a:t>
            </a:r>
            <a:r>
              <a:rPr lang="en-GB" dirty="0"/>
              <a:t>between </a:t>
            </a:r>
            <a:r>
              <a:rPr lang="en-GB" dirty="0" smtClean="0"/>
              <a:t>digital packets </a:t>
            </a:r>
            <a:r>
              <a:rPr lang="en-GB" dirty="0"/>
              <a:t>and </a:t>
            </a:r>
            <a:r>
              <a:rPr lang="en-GB" dirty="0" err="1"/>
              <a:t>analog</a:t>
            </a:r>
            <a:r>
              <a:rPr lang="en-GB" dirty="0"/>
              <a:t> signals </a:t>
            </a:r>
            <a:r>
              <a:rPr lang="en-GB" dirty="0" smtClean="0"/>
              <a:t>that can </a:t>
            </a:r>
            <a:r>
              <a:rPr lang="en-GB" dirty="0"/>
              <a:t>pass unhindered </a:t>
            </a:r>
            <a:r>
              <a:rPr lang="en-GB" dirty="0" smtClean="0"/>
              <a:t>over the </a:t>
            </a:r>
            <a:r>
              <a:rPr lang="en-GB" dirty="0"/>
              <a:t>telephone line. </a:t>
            </a:r>
            <a:endParaRPr lang="en-GB" dirty="0" smtClean="0"/>
          </a:p>
          <a:p>
            <a:r>
              <a:rPr lang="en-GB" dirty="0" smtClean="0"/>
              <a:t>At </a:t>
            </a:r>
            <a:r>
              <a:rPr lang="en-GB" dirty="0"/>
              <a:t>the other end, a device called </a:t>
            </a:r>
            <a:r>
              <a:rPr lang="en-GB" dirty="0" smtClean="0"/>
              <a:t>a </a:t>
            </a:r>
            <a:r>
              <a:rPr lang="en-GB" b="1" dirty="0" smtClean="0"/>
              <a:t>DSLAM(Digital </a:t>
            </a:r>
            <a:r>
              <a:rPr lang="en-GB" b="1" dirty="0"/>
              <a:t>Subscriber </a:t>
            </a:r>
            <a:r>
              <a:rPr lang="en-GB" b="1" dirty="0" smtClean="0"/>
              <a:t>Line Access Multiplexer</a:t>
            </a:r>
            <a:r>
              <a:rPr lang="en-GB" b="1" dirty="0"/>
              <a:t>)</a:t>
            </a:r>
            <a:r>
              <a:rPr lang="en-GB" dirty="0"/>
              <a:t> converts </a:t>
            </a:r>
            <a:r>
              <a:rPr lang="en-GB" dirty="0" smtClean="0"/>
              <a:t>between signals </a:t>
            </a:r>
            <a:r>
              <a:rPr lang="en-GB" dirty="0"/>
              <a:t>and packets.</a:t>
            </a:r>
          </a:p>
        </p:txBody>
      </p:sp>
    </p:spTree>
    <p:extLst>
      <p:ext uri="{BB962C8B-B14F-4D97-AF65-F5344CB8AC3E}">
        <p14:creationId xmlns:p14="http://schemas.microsoft.com/office/powerpoint/2010/main" val="14773149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a:xfrm>
            <a:off x="457200" y="1600200"/>
            <a:ext cx="8229600" cy="4953000"/>
          </a:xfrm>
        </p:spPr>
        <p:txBody>
          <a:bodyPr>
            <a:normAutofit fontScale="92500"/>
          </a:bodyPr>
          <a:lstStyle/>
          <a:p>
            <a:r>
              <a:rPr lang="en-GB" dirty="0"/>
              <a:t>Several other popular ways </a:t>
            </a:r>
            <a:r>
              <a:rPr lang="en-GB" dirty="0" smtClean="0"/>
              <a:t>to connect </a:t>
            </a:r>
            <a:r>
              <a:rPr lang="en-GB" dirty="0"/>
              <a:t>to an </a:t>
            </a:r>
            <a:r>
              <a:rPr lang="en-GB" dirty="0" smtClean="0"/>
              <a:t>ISP are </a:t>
            </a:r>
            <a:r>
              <a:rPr lang="en-GB" dirty="0"/>
              <a:t>shown in Fig. </a:t>
            </a:r>
            <a:r>
              <a:rPr lang="en-GB" dirty="0" smtClean="0"/>
              <a:t>above. </a:t>
            </a:r>
          </a:p>
          <a:p>
            <a:r>
              <a:rPr lang="en-GB" dirty="0" smtClean="0"/>
              <a:t>DSL is </a:t>
            </a:r>
            <a:r>
              <a:rPr lang="en-GB" dirty="0"/>
              <a:t>a higher-bandwidth way to use the local telephone line than to send bits over </a:t>
            </a:r>
            <a:r>
              <a:rPr lang="en-GB" dirty="0" smtClean="0"/>
              <a:t>a traditional </a:t>
            </a:r>
            <a:r>
              <a:rPr lang="en-GB" dirty="0"/>
              <a:t>telephone call instead of a voice conversation. </a:t>
            </a:r>
            <a:endParaRPr lang="en-GB" dirty="0" smtClean="0"/>
          </a:p>
          <a:p>
            <a:r>
              <a:rPr lang="en-GB" dirty="0" smtClean="0"/>
              <a:t>That </a:t>
            </a:r>
            <a:r>
              <a:rPr lang="en-GB" dirty="0"/>
              <a:t>is </a:t>
            </a:r>
            <a:r>
              <a:rPr lang="en-GB" dirty="0" smtClean="0"/>
              <a:t>called </a:t>
            </a:r>
            <a:r>
              <a:rPr lang="en-GB" b="1" dirty="0" smtClean="0"/>
              <a:t>dial-up</a:t>
            </a:r>
            <a:r>
              <a:rPr lang="en-GB" dirty="0" smtClean="0"/>
              <a:t> and </a:t>
            </a:r>
            <a:r>
              <a:rPr lang="en-GB" dirty="0"/>
              <a:t>done with a different kind of modem at both ends. </a:t>
            </a:r>
            <a:endParaRPr lang="en-GB" dirty="0" smtClean="0"/>
          </a:p>
          <a:p>
            <a:r>
              <a:rPr lang="en-GB" dirty="0" smtClean="0"/>
              <a:t>The word </a:t>
            </a:r>
            <a:r>
              <a:rPr lang="en-GB" b="1" dirty="0" smtClean="0"/>
              <a:t>modem</a:t>
            </a:r>
            <a:r>
              <a:rPr lang="en-GB" dirty="0" smtClean="0"/>
              <a:t> is short for </a:t>
            </a:r>
            <a:r>
              <a:rPr lang="en-GB" dirty="0"/>
              <a:t>‘‘</a:t>
            </a:r>
            <a:r>
              <a:rPr lang="en-GB" dirty="0" smtClean="0"/>
              <a:t>modulator demodulator</a:t>
            </a:r>
            <a:r>
              <a:rPr lang="en-GB" dirty="0"/>
              <a:t>’’ and refers to </a:t>
            </a:r>
            <a:r>
              <a:rPr lang="en-GB" dirty="0" smtClean="0"/>
              <a:t>any device </a:t>
            </a:r>
            <a:r>
              <a:rPr lang="en-GB" dirty="0"/>
              <a:t>that </a:t>
            </a:r>
            <a:r>
              <a:rPr lang="en-GB" dirty="0" smtClean="0"/>
              <a:t>converts between </a:t>
            </a:r>
            <a:r>
              <a:rPr lang="en-GB" dirty="0"/>
              <a:t>digital bits and </a:t>
            </a:r>
            <a:r>
              <a:rPr lang="en-GB" dirty="0" err="1"/>
              <a:t>analog</a:t>
            </a:r>
            <a:r>
              <a:rPr lang="en-GB" dirty="0"/>
              <a:t> signals.</a:t>
            </a:r>
          </a:p>
        </p:txBody>
      </p:sp>
    </p:spTree>
    <p:extLst>
      <p:ext uri="{BB962C8B-B14F-4D97-AF65-F5344CB8AC3E}">
        <p14:creationId xmlns:p14="http://schemas.microsoft.com/office/powerpoint/2010/main" val="42853012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p:txBody>
          <a:bodyPr>
            <a:normAutofit lnSpcReduction="10000"/>
          </a:bodyPr>
          <a:lstStyle/>
          <a:p>
            <a:r>
              <a:rPr lang="en-GB" dirty="0"/>
              <a:t>Another method is to send signals over the cable TV system. </a:t>
            </a:r>
            <a:endParaRPr lang="en-GB" dirty="0" smtClean="0"/>
          </a:p>
          <a:p>
            <a:r>
              <a:rPr lang="en-GB" dirty="0" smtClean="0"/>
              <a:t>Like </a:t>
            </a:r>
            <a:r>
              <a:rPr lang="en-GB" dirty="0"/>
              <a:t>DSL, </a:t>
            </a:r>
            <a:r>
              <a:rPr lang="en-GB" dirty="0" smtClean="0"/>
              <a:t>this is </a:t>
            </a:r>
            <a:r>
              <a:rPr lang="en-GB" dirty="0"/>
              <a:t>a way to reuse existing infrastructure, in this case otherwise unused cable TV channels. </a:t>
            </a:r>
            <a:endParaRPr lang="en-GB" dirty="0" smtClean="0"/>
          </a:p>
          <a:p>
            <a:r>
              <a:rPr lang="en-GB" dirty="0" smtClean="0"/>
              <a:t>The </a:t>
            </a:r>
            <a:r>
              <a:rPr lang="en-GB" dirty="0"/>
              <a:t>device at the home end is called </a:t>
            </a:r>
            <a:r>
              <a:rPr lang="en-GB" dirty="0" smtClean="0"/>
              <a:t>a </a:t>
            </a:r>
            <a:r>
              <a:rPr lang="en-GB" b="1" dirty="0" smtClean="0"/>
              <a:t>cable modem</a:t>
            </a:r>
            <a:r>
              <a:rPr lang="en-GB" dirty="0" smtClean="0"/>
              <a:t> and </a:t>
            </a:r>
            <a:r>
              <a:rPr lang="en-GB" dirty="0"/>
              <a:t>the device </a:t>
            </a:r>
            <a:r>
              <a:rPr lang="en-GB" dirty="0" smtClean="0"/>
              <a:t>at the </a:t>
            </a:r>
            <a:r>
              <a:rPr lang="en-GB" b="1" dirty="0" smtClean="0"/>
              <a:t>cable </a:t>
            </a:r>
            <a:r>
              <a:rPr lang="en-GB" b="1" dirty="0" err="1" smtClean="0"/>
              <a:t>headend</a:t>
            </a:r>
            <a:r>
              <a:rPr lang="en-GB" b="1" dirty="0" smtClean="0"/>
              <a:t> </a:t>
            </a:r>
            <a:r>
              <a:rPr lang="en-GB" dirty="0" smtClean="0"/>
              <a:t>is </a:t>
            </a:r>
            <a:r>
              <a:rPr lang="en-GB" dirty="0"/>
              <a:t>called </a:t>
            </a:r>
            <a:r>
              <a:rPr lang="en-GB" dirty="0" smtClean="0"/>
              <a:t>the </a:t>
            </a:r>
            <a:r>
              <a:rPr lang="en-GB" b="1" dirty="0" smtClean="0"/>
              <a:t>CMTS(Cable </a:t>
            </a:r>
            <a:r>
              <a:rPr lang="en-GB" b="1" dirty="0"/>
              <a:t>Modem Termination System).</a:t>
            </a:r>
          </a:p>
        </p:txBody>
      </p:sp>
    </p:spTree>
    <p:extLst>
      <p:ext uri="{BB962C8B-B14F-4D97-AF65-F5344CB8AC3E}">
        <p14:creationId xmlns:p14="http://schemas.microsoft.com/office/powerpoint/2010/main" val="38058721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r>
              <a:rPr lang="en-GB" dirty="0"/>
              <a:t>DSL and cable provide </a:t>
            </a:r>
            <a:r>
              <a:rPr lang="en-GB" dirty="0" smtClean="0"/>
              <a:t>Internet access </a:t>
            </a:r>
            <a:r>
              <a:rPr lang="en-GB" dirty="0"/>
              <a:t>at rates from a small fraction of </a:t>
            </a:r>
            <a:r>
              <a:rPr lang="en-GB" dirty="0" smtClean="0"/>
              <a:t>a megabit/sec </a:t>
            </a:r>
            <a:r>
              <a:rPr lang="en-GB" dirty="0"/>
              <a:t>to multiple megabit/sec</a:t>
            </a:r>
            <a:r>
              <a:rPr lang="en-GB" dirty="0" smtClean="0"/>
              <a:t>, depending </a:t>
            </a:r>
            <a:r>
              <a:rPr lang="en-GB" dirty="0"/>
              <a:t>on the system. </a:t>
            </a:r>
            <a:endParaRPr lang="en-GB" dirty="0" smtClean="0"/>
          </a:p>
          <a:p>
            <a:r>
              <a:rPr lang="en-GB" dirty="0" smtClean="0"/>
              <a:t>These </a:t>
            </a:r>
            <a:r>
              <a:rPr lang="en-GB" dirty="0"/>
              <a:t>rates </a:t>
            </a:r>
            <a:r>
              <a:rPr lang="en-GB" dirty="0" smtClean="0"/>
              <a:t>are much </a:t>
            </a:r>
            <a:r>
              <a:rPr lang="en-GB" dirty="0"/>
              <a:t>greater than dial-up rates, which are </a:t>
            </a:r>
            <a:r>
              <a:rPr lang="en-GB" dirty="0" smtClean="0"/>
              <a:t>limited to </a:t>
            </a:r>
            <a:r>
              <a:rPr lang="en-GB" dirty="0"/>
              <a:t>56 kbps because </a:t>
            </a:r>
            <a:r>
              <a:rPr lang="en-GB" dirty="0" smtClean="0"/>
              <a:t>of the </a:t>
            </a:r>
            <a:r>
              <a:rPr lang="en-GB" dirty="0"/>
              <a:t>narrow bandwidth used for voice calls. </a:t>
            </a:r>
            <a:endParaRPr lang="en-GB" dirty="0" smtClean="0"/>
          </a:p>
          <a:p>
            <a:r>
              <a:rPr lang="en-GB" dirty="0" smtClean="0"/>
              <a:t>Internet </a:t>
            </a:r>
            <a:r>
              <a:rPr lang="en-GB" dirty="0"/>
              <a:t>access </a:t>
            </a:r>
            <a:r>
              <a:rPr lang="en-GB" dirty="0" smtClean="0"/>
              <a:t>at much </a:t>
            </a:r>
            <a:r>
              <a:rPr lang="en-GB" dirty="0"/>
              <a:t>greater than </a:t>
            </a:r>
            <a:r>
              <a:rPr lang="en-GB" dirty="0" smtClean="0"/>
              <a:t>dial-up speeds </a:t>
            </a:r>
            <a:r>
              <a:rPr lang="en-GB" dirty="0"/>
              <a:t>is called </a:t>
            </a:r>
            <a:r>
              <a:rPr lang="en-GB" b="1" dirty="0"/>
              <a:t>broadband</a:t>
            </a:r>
            <a:r>
              <a:rPr lang="en-GB" dirty="0"/>
              <a:t>. </a:t>
            </a:r>
            <a:endParaRPr lang="en-GB" dirty="0" smtClean="0"/>
          </a:p>
          <a:p>
            <a:r>
              <a:rPr lang="en-GB" dirty="0" smtClean="0"/>
              <a:t>The </a:t>
            </a:r>
            <a:r>
              <a:rPr lang="en-GB" dirty="0"/>
              <a:t>name refers to the broader bandwidth that </a:t>
            </a:r>
            <a:r>
              <a:rPr lang="en-GB" dirty="0" smtClean="0"/>
              <a:t>is used </a:t>
            </a:r>
            <a:r>
              <a:rPr lang="en-GB" dirty="0"/>
              <a:t>for faster networks, rather than any particular speed.</a:t>
            </a:r>
          </a:p>
        </p:txBody>
      </p:sp>
    </p:spTree>
    <p:extLst>
      <p:ext uri="{BB962C8B-B14F-4D97-AF65-F5344CB8AC3E}">
        <p14:creationId xmlns:p14="http://schemas.microsoft.com/office/powerpoint/2010/main" val="382707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p:txBody>
          <a:bodyPr>
            <a:normAutofit fontScale="85000" lnSpcReduction="20000"/>
          </a:bodyPr>
          <a:lstStyle/>
          <a:p>
            <a:r>
              <a:rPr lang="en-GB" dirty="0"/>
              <a:t>The </a:t>
            </a:r>
            <a:r>
              <a:rPr lang="en-GB" dirty="0" smtClean="0"/>
              <a:t>access methods </a:t>
            </a:r>
            <a:r>
              <a:rPr lang="en-GB" dirty="0"/>
              <a:t>mentioned so far are limited by the bandwidth of </a:t>
            </a:r>
            <a:r>
              <a:rPr lang="en-GB" dirty="0" smtClean="0"/>
              <a:t>the ‘‘</a:t>
            </a:r>
            <a:r>
              <a:rPr lang="en-GB" dirty="0"/>
              <a:t>last mile’’ or last leg of transmission. </a:t>
            </a:r>
            <a:endParaRPr lang="en-GB" dirty="0" smtClean="0"/>
          </a:p>
          <a:p>
            <a:r>
              <a:rPr lang="en-GB" dirty="0" smtClean="0"/>
              <a:t>By </a:t>
            </a:r>
            <a:r>
              <a:rPr lang="en-GB" dirty="0"/>
              <a:t>running optical </a:t>
            </a:r>
            <a:r>
              <a:rPr lang="en-GB" dirty="0" err="1"/>
              <a:t>fiber</a:t>
            </a:r>
            <a:r>
              <a:rPr lang="en-GB" dirty="0"/>
              <a:t> to residences, faster </a:t>
            </a:r>
            <a:r>
              <a:rPr lang="en-GB" dirty="0" smtClean="0"/>
              <a:t>Internet access can be </a:t>
            </a:r>
            <a:r>
              <a:rPr lang="en-GB" dirty="0"/>
              <a:t>provided at rates on the order of 10 to 100 Mbps. </a:t>
            </a:r>
            <a:endParaRPr lang="en-GB" dirty="0" smtClean="0"/>
          </a:p>
          <a:p>
            <a:r>
              <a:rPr lang="en-GB" dirty="0" smtClean="0"/>
              <a:t>This design </a:t>
            </a:r>
            <a:r>
              <a:rPr lang="en-GB" dirty="0"/>
              <a:t>is called </a:t>
            </a:r>
            <a:r>
              <a:rPr lang="en-GB" b="1" dirty="0"/>
              <a:t>FTTH(</a:t>
            </a:r>
            <a:r>
              <a:rPr lang="en-GB" b="1" dirty="0" err="1"/>
              <a:t>Fiber</a:t>
            </a:r>
            <a:r>
              <a:rPr lang="en-GB" b="1" dirty="0"/>
              <a:t> to the Home). </a:t>
            </a:r>
            <a:endParaRPr lang="en-GB" b="1" dirty="0" smtClean="0"/>
          </a:p>
          <a:p>
            <a:r>
              <a:rPr lang="en-GB" dirty="0" smtClean="0"/>
              <a:t>For </a:t>
            </a:r>
            <a:r>
              <a:rPr lang="en-GB" dirty="0"/>
              <a:t>businesses in </a:t>
            </a:r>
            <a:r>
              <a:rPr lang="en-GB" dirty="0" smtClean="0"/>
              <a:t>commercial areas</a:t>
            </a:r>
            <a:r>
              <a:rPr lang="en-GB" dirty="0"/>
              <a:t>, it may make sense to lease a high-speed transmission line from the </a:t>
            </a:r>
            <a:r>
              <a:rPr lang="en-GB" dirty="0" smtClean="0"/>
              <a:t>offices to </a:t>
            </a:r>
            <a:r>
              <a:rPr lang="en-GB" dirty="0"/>
              <a:t>the nearest ISP. </a:t>
            </a:r>
            <a:endParaRPr lang="en-GB" dirty="0" smtClean="0"/>
          </a:p>
          <a:p>
            <a:r>
              <a:rPr lang="en-GB" dirty="0" smtClean="0"/>
              <a:t>For </a:t>
            </a:r>
            <a:r>
              <a:rPr lang="en-GB" dirty="0"/>
              <a:t>example, in North America, a T3 line runs at roughly </a:t>
            </a:r>
            <a:r>
              <a:rPr lang="en-GB" dirty="0" smtClean="0"/>
              <a:t>45 Mbps</a:t>
            </a:r>
            <a:r>
              <a:rPr lang="en-GB" dirty="0"/>
              <a:t>.</a:t>
            </a:r>
          </a:p>
        </p:txBody>
      </p:sp>
    </p:spTree>
    <p:extLst>
      <p:ext uri="{BB962C8B-B14F-4D97-AF65-F5344CB8AC3E}">
        <p14:creationId xmlns:p14="http://schemas.microsoft.com/office/powerpoint/2010/main" val="7351502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a:xfrm>
            <a:off x="457200" y="1295400"/>
            <a:ext cx="8229600" cy="5334000"/>
          </a:xfrm>
        </p:spPr>
        <p:txBody>
          <a:bodyPr>
            <a:normAutofit fontScale="85000" lnSpcReduction="10000"/>
          </a:bodyPr>
          <a:lstStyle/>
          <a:p>
            <a:r>
              <a:rPr lang="en-GB" dirty="0"/>
              <a:t>Wireless is used for </a:t>
            </a:r>
            <a:r>
              <a:rPr lang="en-GB" dirty="0" smtClean="0"/>
              <a:t>Internet access </a:t>
            </a:r>
            <a:r>
              <a:rPr lang="en-GB" dirty="0"/>
              <a:t>too</a:t>
            </a:r>
            <a:r>
              <a:rPr lang="en-GB" dirty="0" smtClean="0"/>
              <a:t>. </a:t>
            </a:r>
          </a:p>
          <a:p>
            <a:r>
              <a:rPr lang="en-GB" dirty="0" smtClean="0"/>
              <a:t>An </a:t>
            </a:r>
            <a:r>
              <a:rPr lang="en-GB" dirty="0"/>
              <a:t>example we will explore shortly </a:t>
            </a:r>
            <a:r>
              <a:rPr lang="en-GB" dirty="0" smtClean="0"/>
              <a:t>is that </a:t>
            </a:r>
            <a:r>
              <a:rPr lang="en-GB" dirty="0"/>
              <a:t>of 3G mobile phone networks. They can provide data delivery at rates of </a:t>
            </a:r>
            <a:r>
              <a:rPr lang="en-GB" dirty="0" smtClean="0"/>
              <a:t>1 Mbps </a:t>
            </a:r>
            <a:r>
              <a:rPr lang="en-GB" dirty="0"/>
              <a:t>or higher to mobile phones and fixed subscribers in the coverage area.</a:t>
            </a:r>
          </a:p>
          <a:p>
            <a:r>
              <a:rPr lang="en-GB" dirty="0"/>
              <a:t>We can now move packets between the home and the ISP. </a:t>
            </a:r>
            <a:endParaRPr lang="en-GB" dirty="0" smtClean="0"/>
          </a:p>
          <a:p>
            <a:r>
              <a:rPr lang="en-GB" dirty="0" smtClean="0"/>
              <a:t>We </a:t>
            </a:r>
            <a:r>
              <a:rPr lang="en-GB" dirty="0"/>
              <a:t>call the location at which customer packets enter the ISP network for service the ISP’s </a:t>
            </a:r>
            <a:r>
              <a:rPr lang="en-GB" b="1" dirty="0" smtClean="0"/>
              <a:t>POP (Point </a:t>
            </a:r>
            <a:r>
              <a:rPr lang="en-GB" b="1" dirty="0"/>
              <a:t>of Presence)</a:t>
            </a:r>
            <a:r>
              <a:rPr lang="en-GB" dirty="0"/>
              <a:t>. </a:t>
            </a:r>
            <a:endParaRPr lang="en-GB" dirty="0" smtClean="0"/>
          </a:p>
          <a:p>
            <a:r>
              <a:rPr lang="en-GB" dirty="0" smtClean="0"/>
              <a:t>We </a:t>
            </a:r>
            <a:r>
              <a:rPr lang="en-GB" dirty="0"/>
              <a:t>will next explain how packets are moved between </a:t>
            </a:r>
            <a:r>
              <a:rPr lang="en-GB" dirty="0" smtClean="0"/>
              <a:t>the POPs </a:t>
            </a:r>
            <a:r>
              <a:rPr lang="en-GB" dirty="0"/>
              <a:t>of different ISPs. From this point on, the system is fully digital and </a:t>
            </a:r>
            <a:r>
              <a:rPr lang="en-GB" dirty="0" smtClean="0"/>
              <a:t>packet switched</a:t>
            </a:r>
            <a:r>
              <a:rPr lang="en-GB" dirty="0"/>
              <a:t>.</a:t>
            </a:r>
          </a:p>
        </p:txBody>
      </p:sp>
    </p:spTree>
    <p:extLst>
      <p:ext uri="{BB962C8B-B14F-4D97-AF65-F5344CB8AC3E}">
        <p14:creationId xmlns:p14="http://schemas.microsoft.com/office/powerpoint/2010/main" val="20736144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p:txBody>
          <a:bodyPr>
            <a:normAutofit fontScale="92500" lnSpcReduction="20000"/>
          </a:bodyPr>
          <a:lstStyle/>
          <a:p>
            <a:r>
              <a:rPr lang="en-GB" dirty="0"/>
              <a:t>ISP networks may be regional, national, or international in scope. </a:t>
            </a:r>
            <a:endParaRPr lang="en-GB" dirty="0" smtClean="0"/>
          </a:p>
          <a:p>
            <a:r>
              <a:rPr lang="en-GB" dirty="0" smtClean="0"/>
              <a:t>We have already </a:t>
            </a:r>
            <a:r>
              <a:rPr lang="en-GB" dirty="0"/>
              <a:t>seen that their architecture </a:t>
            </a:r>
            <a:r>
              <a:rPr lang="en-GB" dirty="0" smtClean="0"/>
              <a:t>is made </a:t>
            </a:r>
            <a:r>
              <a:rPr lang="en-GB" dirty="0"/>
              <a:t>up </a:t>
            </a:r>
            <a:r>
              <a:rPr lang="en-GB" dirty="0" smtClean="0"/>
              <a:t>of </a:t>
            </a:r>
            <a:r>
              <a:rPr lang="en-GB" b="1" dirty="0" smtClean="0"/>
              <a:t>long-distance </a:t>
            </a:r>
            <a:r>
              <a:rPr lang="en-GB" b="1" dirty="0"/>
              <a:t>transmission </a:t>
            </a:r>
            <a:r>
              <a:rPr lang="en-GB" b="1" dirty="0" smtClean="0"/>
              <a:t>lines</a:t>
            </a:r>
            <a:r>
              <a:rPr lang="en-GB" dirty="0" smtClean="0"/>
              <a:t> that </a:t>
            </a:r>
            <a:r>
              <a:rPr lang="en-GB" dirty="0"/>
              <a:t>interconnect routers at POPs in the different cities that </a:t>
            </a:r>
            <a:r>
              <a:rPr lang="en-GB" dirty="0" smtClean="0"/>
              <a:t>the ISPs </a:t>
            </a:r>
            <a:r>
              <a:rPr lang="en-GB" dirty="0"/>
              <a:t>serve. </a:t>
            </a:r>
            <a:endParaRPr lang="en-GB" dirty="0" smtClean="0"/>
          </a:p>
          <a:p>
            <a:r>
              <a:rPr lang="en-GB" dirty="0" smtClean="0"/>
              <a:t>This equipment </a:t>
            </a:r>
            <a:r>
              <a:rPr lang="en-GB" dirty="0"/>
              <a:t>is called </a:t>
            </a:r>
            <a:r>
              <a:rPr lang="en-GB" dirty="0" smtClean="0"/>
              <a:t>the </a:t>
            </a:r>
            <a:r>
              <a:rPr lang="en-GB" b="1" dirty="0" smtClean="0"/>
              <a:t>backbone</a:t>
            </a:r>
            <a:r>
              <a:rPr lang="en-GB" dirty="0" smtClean="0"/>
              <a:t> of </a:t>
            </a:r>
            <a:r>
              <a:rPr lang="en-GB" dirty="0"/>
              <a:t>the ISP. </a:t>
            </a:r>
            <a:endParaRPr lang="en-GB" dirty="0" smtClean="0"/>
          </a:p>
          <a:p>
            <a:r>
              <a:rPr lang="en-GB" dirty="0" smtClean="0"/>
              <a:t>If </a:t>
            </a:r>
            <a:r>
              <a:rPr lang="en-GB" dirty="0"/>
              <a:t>a packet is destined for a </a:t>
            </a:r>
            <a:r>
              <a:rPr lang="en-GB" dirty="0" smtClean="0"/>
              <a:t>host served </a:t>
            </a:r>
            <a:r>
              <a:rPr lang="en-GB" dirty="0"/>
              <a:t>directly by the ISP, that </a:t>
            </a:r>
            <a:r>
              <a:rPr lang="en-GB" dirty="0" smtClean="0"/>
              <a:t>packet is </a:t>
            </a:r>
            <a:r>
              <a:rPr lang="en-GB" dirty="0"/>
              <a:t>routed over the backbone and </a:t>
            </a:r>
            <a:r>
              <a:rPr lang="en-GB" dirty="0" smtClean="0"/>
              <a:t>delivered to </a:t>
            </a:r>
            <a:r>
              <a:rPr lang="en-GB" dirty="0"/>
              <a:t>the host. Otherwise, it must be handed over to another ISP.</a:t>
            </a:r>
          </a:p>
        </p:txBody>
      </p:sp>
    </p:spTree>
    <p:extLst>
      <p:ext uri="{BB962C8B-B14F-4D97-AF65-F5344CB8AC3E}">
        <p14:creationId xmlns:p14="http://schemas.microsoft.com/office/powerpoint/2010/main" val="36315372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r>
              <a:rPr lang="en-GB" dirty="0"/>
              <a:t>ISPs </a:t>
            </a:r>
            <a:r>
              <a:rPr lang="en-GB" dirty="0" smtClean="0"/>
              <a:t>connect their </a:t>
            </a:r>
            <a:r>
              <a:rPr lang="en-GB" dirty="0"/>
              <a:t>networks to exchange traffic at IXPs(Internet </a:t>
            </a:r>
            <a:r>
              <a:rPr lang="en-GB" dirty="0" err="1" smtClean="0"/>
              <a:t>eXchange</a:t>
            </a:r>
            <a:r>
              <a:rPr lang="en-GB" dirty="0" smtClean="0"/>
              <a:t> Points</a:t>
            </a:r>
            <a:r>
              <a:rPr lang="en-GB" dirty="0"/>
              <a:t>). The connected ISPs are said to </a:t>
            </a:r>
            <a:r>
              <a:rPr lang="en-GB" b="1" dirty="0" smtClean="0"/>
              <a:t>peer</a:t>
            </a:r>
            <a:r>
              <a:rPr lang="en-GB" dirty="0" smtClean="0"/>
              <a:t> with each other</a:t>
            </a:r>
            <a:r>
              <a:rPr lang="en-GB" dirty="0"/>
              <a:t>. </a:t>
            </a:r>
            <a:endParaRPr lang="en-GB" dirty="0" smtClean="0"/>
          </a:p>
          <a:p>
            <a:r>
              <a:rPr lang="en-GB" dirty="0" smtClean="0"/>
              <a:t>There </a:t>
            </a:r>
            <a:r>
              <a:rPr lang="en-GB" dirty="0"/>
              <a:t>are </a:t>
            </a:r>
            <a:r>
              <a:rPr lang="en-GB" dirty="0" smtClean="0"/>
              <a:t>many IXPs </a:t>
            </a:r>
            <a:r>
              <a:rPr lang="en-GB" dirty="0"/>
              <a:t>in cities around the world. They are drawn vertically in </a:t>
            </a:r>
            <a:r>
              <a:rPr lang="en-GB" dirty="0" smtClean="0"/>
              <a:t>Fig. above because ISP </a:t>
            </a:r>
            <a:r>
              <a:rPr lang="en-GB" dirty="0"/>
              <a:t>networks overlap geographically. Basically, an IXP is a room full of </a:t>
            </a:r>
            <a:r>
              <a:rPr lang="en-GB" dirty="0" smtClean="0"/>
              <a:t>routers, at </a:t>
            </a:r>
            <a:r>
              <a:rPr lang="en-GB" dirty="0"/>
              <a:t>least one per ISP. </a:t>
            </a:r>
            <a:endParaRPr lang="en-GB" dirty="0" smtClean="0"/>
          </a:p>
          <a:p>
            <a:r>
              <a:rPr lang="en-GB" dirty="0" smtClean="0"/>
              <a:t>A </a:t>
            </a:r>
            <a:r>
              <a:rPr lang="en-GB" dirty="0"/>
              <a:t>LAN in </a:t>
            </a:r>
            <a:r>
              <a:rPr lang="en-GB" dirty="0" smtClean="0"/>
              <a:t>the room </a:t>
            </a:r>
            <a:r>
              <a:rPr lang="en-GB" dirty="0"/>
              <a:t>connects </a:t>
            </a:r>
            <a:r>
              <a:rPr lang="en-GB" dirty="0" smtClean="0"/>
              <a:t>all the </a:t>
            </a:r>
            <a:r>
              <a:rPr lang="en-GB" dirty="0"/>
              <a:t>routers, so packets </a:t>
            </a:r>
            <a:r>
              <a:rPr lang="en-GB" dirty="0" smtClean="0"/>
              <a:t>can be </a:t>
            </a:r>
            <a:r>
              <a:rPr lang="en-GB" dirty="0"/>
              <a:t>forwarded from any </a:t>
            </a:r>
            <a:r>
              <a:rPr lang="en-GB" dirty="0" smtClean="0"/>
              <a:t>ISP backbone </a:t>
            </a:r>
            <a:r>
              <a:rPr lang="en-GB" dirty="0"/>
              <a:t>to any other </a:t>
            </a:r>
            <a:r>
              <a:rPr lang="en-GB" dirty="0" smtClean="0"/>
              <a:t>ISP backbone</a:t>
            </a:r>
            <a:r>
              <a:rPr lang="en-GB" dirty="0"/>
              <a:t>. IXPs can </a:t>
            </a:r>
            <a:r>
              <a:rPr lang="en-GB" dirty="0" smtClean="0"/>
              <a:t>be large </a:t>
            </a:r>
            <a:r>
              <a:rPr lang="en-GB" dirty="0"/>
              <a:t>and independently owned facilities. </a:t>
            </a:r>
            <a:endParaRPr lang="en-GB" dirty="0" smtClean="0"/>
          </a:p>
          <a:p>
            <a:r>
              <a:rPr lang="en-GB" dirty="0" smtClean="0"/>
              <a:t>One of the </a:t>
            </a:r>
            <a:r>
              <a:rPr lang="en-GB" dirty="0"/>
              <a:t>largest is the Amsterdam Internet Exchange, to which hundreds of ISPs connect and through which </a:t>
            </a:r>
            <a:r>
              <a:rPr lang="en-GB" dirty="0" smtClean="0"/>
              <a:t>they exchange </a:t>
            </a:r>
            <a:r>
              <a:rPr lang="en-GB" dirty="0"/>
              <a:t>hundreds of gigabits/sec of traffic.</a:t>
            </a:r>
          </a:p>
        </p:txBody>
      </p:sp>
    </p:spTree>
    <p:extLst>
      <p:ext uri="{BB962C8B-B14F-4D97-AF65-F5344CB8AC3E}">
        <p14:creationId xmlns:p14="http://schemas.microsoft.com/office/powerpoint/2010/main" val="38154601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r>
              <a:rPr lang="en-GB" dirty="0"/>
              <a:t>The peering that happens at IXPs depends on the business relationships between ISPs. There are many possible relationships. </a:t>
            </a:r>
            <a:endParaRPr lang="en-GB" dirty="0" smtClean="0"/>
          </a:p>
          <a:p>
            <a:r>
              <a:rPr lang="en-GB" dirty="0" smtClean="0"/>
              <a:t>For </a:t>
            </a:r>
            <a:r>
              <a:rPr lang="en-GB" dirty="0"/>
              <a:t>example, a small </a:t>
            </a:r>
            <a:r>
              <a:rPr lang="en-GB" dirty="0" smtClean="0"/>
              <a:t>ISP might </a:t>
            </a:r>
            <a:r>
              <a:rPr lang="en-GB" dirty="0"/>
              <a:t>pay a larger </a:t>
            </a:r>
            <a:r>
              <a:rPr lang="en-GB" dirty="0" smtClean="0"/>
              <a:t>ISP for </a:t>
            </a:r>
            <a:r>
              <a:rPr lang="en-GB" dirty="0"/>
              <a:t>Internet connectivity to </a:t>
            </a:r>
            <a:r>
              <a:rPr lang="en-GB" dirty="0" smtClean="0"/>
              <a:t>reach distant </a:t>
            </a:r>
            <a:r>
              <a:rPr lang="en-GB" dirty="0"/>
              <a:t>hosts, much as </a:t>
            </a:r>
            <a:r>
              <a:rPr lang="en-GB" dirty="0" smtClean="0"/>
              <a:t>a customer </a:t>
            </a:r>
            <a:r>
              <a:rPr lang="en-GB" dirty="0"/>
              <a:t>purchases service from an Internet provider. In this case, the small </a:t>
            </a:r>
            <a:r>
              <a:rPr lang="en-GB" dirty="0" smtClean="0"/>
              <a:t>ISP is </a:t>
            </a:r>
            <a:r>
              <a:rPr lang="en-GB" dirty="0"/>
              <a:t>said to pay for </a:t>
            </a:r>
            <a:r>
              <a:rPr lang="en-GB" b="1" dirty="0"/>
              <a:t>transit</a:t>
            </a:r>
            <a:r>
              <a:rPr lang="en-GB" dirty="0"/>
              <a:t>. </a:t>
            </a:r>
            <a:endParaRPr lang="en-GB" dirty="0" smtClean="0"/>
          </a:p>
          <a:p>
            <a:r>
              <a:rPr lang="en-GB" dirty="0" smtClean="0"/>
              <a:t>Alternatively</a:t>
            </a:r>
            <a:r>
              <a:rPr lang="en-GB" dirty="0"/>
              <a:t>, two large ISPs might decide to exchange traffic so that each ISP </a:t>
            </a:r>
            <a:r>
              <a:rPr lang="en-GB" dirty="0" smtClean="0"/>
              <a:t>can deliver </a:t>
            </a:r>
            <a:r>
              <a:rPr lang="en-GB" dirty="0"/>
              <a:t>some traffic to the other ISP without having </a:t>
            </a:r>
            <a:r>
              <a:rPr lang="en-GB" dirty="0" smtClean="0"/>
              <a:t>to pay </a:t>
            </a:r>
            <a:r>
              <a:rPr lang="en-GB" dirty="0"/>
              <a:t>for transit. </a:t>
            </a:r>
            <a:endParaRPr lang="en-GB" dirty="0" smtClean="0"/>
          </a:p>
          <a:p>
            <a:r>
              <a:rPr lang="en-GB" dirty="0" smtClean="0"/>
              <a:t>One </a:t>
            </a:r>
            <a:r>
              <a:rPr lang="en-GB" dirty="0"/>
              <a:t>of </a:t>
            </a:r>
            <a:r>
              <a:rPr lang="en-GB" dirty="0" smtClean="0"/>
              <a:t>them any </a:t>
            </a:r>
            <a:r>
              <a:rPr lang="en-GB" dirty="0"/>
              <a:t>paradoxes of </a:t>
            </a:r>
            <a:r>
              <a:rPr lang="en-GB" dirty="0" smtClean="0"/>
              <a:t>the Internet </a:t>
            </a:r>
            <a:r>
              <a:rPr lang="en-GB" dirty="0"/>
              <a:t>is that ISPs who publicly compete with one another for customers often </a:t>
            </a:r>
            <a:r>
              <a:rPr lang="en-GB" dirty="0" smtClean="0"/>
              <a:t>privately cooperate to do </a:t>
            </a:r>
            <a:r>
              <a:rPr lang="en-GB" dirty="0"/>
              <a:t>peering</a:t>
            </a:r>
          </a:p>
        </p:txBody>
      </p:sp>
    </p:spTree>
    <p:extLst>
      <p:ext uri="{BB962C8B-B14F-4D97-AF65-F5344CB8AC3E}">
        <p14:creationId xmlns:p14="http://schemas.microsoft.com/office/powerpoint/2010/main" val="18571576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p:txBody>
          <a:bodyPr>
            <a:normAutofit fontScale="92500" lnSpcReduction="10000"/>
          </a:bodyPr>
          <a:lstStyle/>
          <a:p>
            <a:r>
              <a:rPr lang="en-GB" dirty="0"/>
              <a:t>At the top of the food chain are a small handful of companies, like AT&amp;T </a:t>
            </a:r>
            <a:r>
              <a:rPr lang="en-GB" dirty="0" smtClean="0"/>
              <a:t>and Sprint</a:t>
            </a:r>
            <a:r>
              <a:rPr lang="en-GB" dirty="0"/>
              <a:t>, that operate </a:t>
            </a:r>
            <a:r>
              <a:rPr lang="en-GB" dirty="0" smtClean="0"/>
              <a:t>large international </a:t>
            </a:r>
            <a:r>
              <a:rPr lang="en-GB" dirty="0"/>
              <a:t>backbone networks with thousands of routers connected </a:t>
            </a:r>
            <a:r>
              <a:rPr lang="en-GB" dirty="0" smtClean="0"/>
              <a:t>by high-bandwidth </a:t>
            </a:r>
            <a:r>
              <a:rPr lang="en-GB" dirty="0" err="1"/>
              <a:t>fiber</a:t>
            </a:r>
            <a:r>
              <a:rPr lang="en-GB" dirty="0"/>
              <a:t> optic links. These ISPs do not pay </a:t>
            </a:r>
            <a:r>
              <a:rPr lang="en-GB" dirty="0" smtClean="0"/>
              <a:t>for transit</a:t>
            </a:r>
            <a:r>
              <a:rPr lang="en-GB" dirty="0"/>
              <a:t>. </a:t>
            </a:r>
            <a:endParaRPr lang="en-GB" dirty="0" smtClean="0"/>
          </a:p>
          <a:p>
            <a:r>
              <a:rPr lang="en-GB" dirty="0" smtClean="0"/>
              <a:t>They </a:t>
            </a:r>
            <a:r>
              <a:rPr lang="en-GB" dirty="0"/>
              <a:t>are usually called </a:t>
            </a:r>
            <a:r>
              <a:rPr lang="en-GB" b="1" dirty="0"/>
              <a:t>tier </a:t>
            </a:r>
            <a:r>
              <a:rPr lang="en-GB" b="1" dirty="0" smtClean="0"/>
              <a:t>1</a:t>
            </a:r>
            <a:r>
              <a:rPr lang="en-GB" dirty="0" smtClean="0"/>
              <a:t> ISPs </a:t>
            </a:r>
            <a:r>
              <a:rPr lang="en-GB" dirty="0"/>
              <a:t>and are said </a:t>
            </a:r>
            <a:r>
              <a:rPr lang="en-GB" dirty="0" smtClean="0"/>
              <a:t>to form </a:t>
            </a:r>
            <a:r>
              <a:rPr lang="en-GB" dirty="0"/>
              <a:t>the backbone </a:t>
            </a:r>
            <a:r>
              <a:rPr lang="en-GB" dirty="0" smtClean="0"/>
              <a:t>of the </a:t>
            </a:r>
            <a:r>
              <a:rPr lang="en-GB" dirty="0"/>
              <a:t>Internet, since everyone else must connect to them </a:t>
            </a:r>
            <a:r>
              <a:rPr lang="en-GB" dirty="0" smtClean="0"/>
              <a:t>to be </a:t>
            </a:r>
            <a:r>
              <a:rPr lang="en-GB" dirty="0"/>
              <a:t>able </a:t>
            </a:r>
            <a:r>
              <a:rPr lang="en-GB" dirty="0" smtClean="0"/>
              <a:t>to reach </a:t>
            </a:r>
            <a:r>
              <a:rPr lang="en-GB" dirty="0"/>
              <a:t>the entire Internet.</a:t>
            </a:r>
          </a:p>
        </p:txBody>
      </p:sp>
    </p:spTree>
    <p:extLst>
      <p:ext uri="{BB962C8B-B14F-4D97-AF65-F5344CB8AC3E}">
        <p14:creationId xmlns:p14="http://schemas.microsoft.com/office/powerpoint/2010/main" val="6671395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Overview of the Internet architecture cont’d</a:t>
            </a:r>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r>
              <a:rPr lang="en-GB" dirty="0"/>
              <a:t>Companies that provide lots of content, such as Google and Yahoo!, </a:t>
            </a:r>
            <a:r>
              <a:rPr lang="en-GB" dirty="0" smtClean="0"/>
              <a:t>locate their </a:t>
            </a:r>
            <a:r>
              <a:rPr lang="en-GB" dirty="0"/>
              <a:t>computers in data </a:t>
            </a:r>
            <a:r>
              <a:rPr lang="en-GB" dirty="0" err="1" smtClean="0"/>
              <a:t>centers</a:t>
            </a:r>
            <a:r>
              <a:rPr lang="en-GB" dirty="0" smtClean="0"/>
              <a:t> that </a:t>
            </a:r>
            <a:r>
              <a:rPr lang="en-GB" dirty="0"/>
              <a:t>are well connected to </a:t>
            </a:r>
            <a:r>
              <a:rPr lang="en-GB" dirty="0" smtClean="0"/>
              <a:t>the rest </a:t>
            </a:r>
            <a:r>
              <a:rPr lang="en-GB" dirty="0"/>
              <a:t>of the Internet.</a:t>
            </a:r>
          </a:p>
          <a:p>
            <a:r>
              <a:rPr lang="en-GB" dirty="0"/>
              <a:t>These data </a:t>
            </a:r>
            <a:r>
              <a:rPr lang="en-GB" dirty="0" err="1"/>
              <a:t>centers</a:t>
            </a:r>
            <a:r>
              <a:rPr lang="en-GB" dirty="0"/>
              <a:t> are designed for computers</a:t>
            </a:r>
            <a:r>
              <a:rPr lang="en-GB" dirty="0" smtClean="0"/>
              <a:t>, not </a:t>
            </a:r>
            <a:r>
              <a:rPr lang="en-GB" dirty="0"/>
              <a:t>humans, and may be </a:t>
            </a:r>
            <a:r>
              <a:rPr lang="en-GB" dirty="0" smtClean="0"/>
              <a:t>filled with </a:t>
            </a:r>
            <a:r>
              <a:rPr lang="en-GB" dirty="0"/>
              <a:t>rack upon rack of machines called </a:t>
            </a:r>
            <a:r>
              <a:rPr lang="en-GB" dirty="0" smtClean="0"/>
              <a:t>a server </a:t>
            </a:r>
            <a:r>
              <a:rPr lang="en-GB" dirty="0"/>
              <a:t>farm. </a:t>
            </a:r>
            <a:endParaRPr lang="en-GB" dirty="0" smtClean="0"/>
          </a:p>
          <a:p>
            <a:r>
              <a:rPr lang="en-GB" dirty="0" smtClean="0"/>
              <a:t>Colocation or hosting data </a:t>
            </a:r>
            <a:r>
              <a:rPr lang="en-GB" dirty="0" err="1"/>
              <a:t>centers</a:t>
            </a:r>
            <a:r>
              <a:rPr lang="en-GB" dirty="0"/>
              <a:t> let customers put equipment such as servers at ISP POPs so </a:t>
            </a:r>
            <a:r>
              <a:rPr lang="en-GB" dirty="0" smtClean="0"/>
              <a:t>that short</a:t>
            </a:r>
            <a:r>
              <a:rPr lang="en-GB" dirty="0"/>
              <a:t>, fast </a:t>
            </a:r>
            <a:r>
              <a:rPr lang="en-GB" dirty="0" smtClean="0"/>
              <a:t>connections can </a:t>
            </a:r>
            <a:r>
              <a:rPr lang="en-GB" dirty="0"/>
              <a:t>be made between </a:t>
            </a:r>
            <a:r>
              <a:rPr lang="en-GB" dirty="0" smtClean="0"/>
              <a:t>the servers </a:t>
            </a:r>
            <a:r>
              <a:rPr lang="en-GB" dirty="0"/>
              <a:t>and </a:t>
            </a:r>
            <a:r>
              <a:rPr lang="en-GB" dirty="0" smtClean="0"/>
              <a:t>the ISP </a:t>
            </a:r>
            <a:r>
              <a:rPr lang="en-GB" dirty="0"/>
              <a:t>backbones.</a:t>
            </a:r>
          </a:p>
        </p:txBody>
      </p:sp>
    </p:spTree>
    <p:extLst>
      <p:ext uri="{BB962C8B-B14F-4D97-AF65-F5344CB8AC3E}">
        <p14:creationId xmlns:p14="http://schemas.microsoft.com/office/powerpoint/2010/main" val="32599621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Internet Protocols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Rules that govern communication on the Internet.</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Internet uses a variety of communications protocols to support basic data transport and services, such as e-mail, web access and downloading.</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Some of the main Protocols used on the Internet include:</a:t>
            </a:r>
          </a:p>
          <a:p>
            <a:pPr marL="971550" lvl="1" indent="-514350">
              <a:buAutoNum type="arabicPeriod"/>
            </a:pPr>
            <a:r>
              <a:rPr lang="en-US" b="1" i="1" dirty="0" smtClean="0">
                <a:latin typeface="Times New Roman" panose="02020603050405020304" pitchFamily="18" charset="0"/>
                <a:cs typeface="Times New Roman" panose="02020603050405020304" pitchFamily="18" charset="0"/>
              </a:rPr>
              <a:t>Transmission Control Protocol (TCP)</a:t>
            </a:r>
          </a:p>
          <a:p>
            <a:pPr lvl="2">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Creates connections and exchange packets of data</a:t>
            </a:r>
          </a:p>
          <a:p>
            <a:pPr marL="457200" lvl="1" indent="0">
              <a:buNone/>
            </a:pPr>
            <a:r>
              <a:rPr lang="en-US" b="1" i="1"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 </a:t>
            </a:r>
            <a:r>
              <a:rPr lang="en-US" b="1" i="1" dirty="0" smtClean="0">
                <a:latin typeface="Times New Roman" panose="02020603050405020304" pitchFamily="18" charset="0"/>
                <a:cs typeface="Times New Roman" panose="02020603050405020304" pitchFamily="18" charset="0"/>
              </a:rPr>
              <a:t>Internet Protocol (IP)</a:t>
            </a:r>
          </a:p>
          <a:p>
            <a:pPr lvl="2">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Provides devices with unique addresses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942369"/>
      </p:ext>
    </p:extLst>
  </p:cSld>
  <p:clrMapOvr>
    <a:masterClrMapping/>
  </p:clrMapOvr>
  <p:transition spd="slow">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t>
            </a:r>
            <a:r>
              <a:rPr lang="en-US" dirty="0" smtClean="0"/>
              <a:t>Protocols (Cont’d)</a:t>
            </a:r>
            <a:endParaRPr lang="en-US" dirty="0"/>
          </a:p>
        </p:txBody>
      </p:sp>
      <p:sp>
        <p:nvSpPr>
          <p:cNvPr id="3" name="Content Placeholder 2"/>
          <p:cNvSpPr>
            <a:spLocks noGrp="1"/>
          </p:cNvSpPr>
          <p:nvPr>
            <p:ph idx="1"/>
          </p:nvPr>
        </p:nvSpPr>
        <p:spPr/>
        <p:txBody>
          <a:bodyPr>
            <a:normAutofit/>
          </a:bodyPr>
          <a:lstStyle/>
          <a:p>
            <a:pPr marL="457200" lvl="1" indent="0">
              <a:buNone/>
            </a:pPr>
            <a:r>
              <a:rPr lang="en-US" b="1" i="1" dirty="0" smtClean="0">
                <a:latin typeface="Times New Roman" panose="02020603050405020304" pitchFamily="18" charset="0"/>
                <a:cs typeface="Times New Roman" panose="02020603050405020304" pitchFamily="18" charset="0"/>
              </a:rPr>
              <a:t>3. User Datagram Protocol (UDP)</a:t>
            </a:r>
          </a:p>
          <a:p>
            <a:pPr lvl="2">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Alternative to TCP used for DNS, VoIP and File Sharing</a:t>
            </a:r>
          </a:p>
          <a:p>
            <a:pPr marL="457200" lvl="1" indent="0">
              <a:buNone/>
            </a:pPr>
            <a:r>
              <a:rPr lang="en-US" b="1" i="1" dirty="0" smtClean="0">
                <a:latin typeface="Times New Roman" panose="02020603050405020304" pitchFamily="18" charset="0"/>
                <a:cs typeface="Times New Roman" panose="02020603050405020304" pitchFamily="18" charset="0"/>
              </a:rPr>
              <a:t>4. Hypertext Transfer Protocol (HTTP)</a:t>
            </a:r>
          </a:p>
          <a:p>
            <a:pPr lvl="2">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Exchanges information over the web</a:t>
            </a:r>
          </a:p>
          <a:p>
            <a:pPr marL="457200" lvl="1" indent="0">
              <a:buNone/>
            </a:pPr>
            <a:r>
              <a:rPr lang="en-US" b="1" i="1" dirty="0" smtClean="0">
                <a:latin typeface="Times New Roman" panose="02020603050405020304" pitchFamily="18" charset="0"/>
                <a:cs typeface="Times New Roman" panose="02020603050405020304" pitchFamily="18" charset="0"/>
              </a:rPr>
              <a:t>5. File Transfer protocol(FTP)</a:t>
            </a:r>
          </a:p>
          <a:p>
            <a:pPr lvl="2">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Transfers files between local and remote host computers</a:t>
            </a:r>
          </a:p>
        </p:txBody>
      </p:sp>
    </p:spTree>
    <p:extLst>
      <p:ext uri="{BB962C8B-B14F-4D97-AF65-F5344CB8AC3E}">
        <p14:creationId xmlns:p14="http://schemas.microsoft.com/office/powerpoint/2010/main" val="2796788483"/>
      </p:ext>
    </p:extLst>
  </p:cSld>
  <p:clrMapOvr>
    <a:masterClrMapping/>
  </p:clrMapOvr>
  <p:transition spd="slow">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Protocols (Cont’d)</a:t>
            </a:r>
          </a:p>
        </p:txBody>
      </p:sp>
      <p:sp>
        <p:nvSpPr>
          <p:cNvPr id="3" name="Content Placeholder 2"/>
          <p:cNvSpPr>
            <a:spLocks noGrp="1"/>
          </p:cNvSpPr>
          <p:nvPr>
            <p:ph idx="1"/>
          </p:nvPr>
        </p:nvSpPr>
        <p:spPr/>
        <p:txBody>
          <a:bodyPr>
            <a:normAutofit lnSpcReduction="10000"/>
          </a:bodyPr>
          <a:lstStyle/>
          <a:p>
            <a:pPr marL="0" indent="0">
              <a:buNone/>
            </a:pPr>
            <a:r>
              <a:rPr lang="en-US" b="1" i="1" dirty="0"/>
              <a:t>6. </a:t>
            </a:r>
            <a:r>
              <a:rPr lang="en-US" sz="2700" b="1" i="1" dirty="0"/>
              <a:t>Post Office Protocol (POP)</a:t>
            </a:r>
          </a:p>
          <a:p>
            <a:pPr lvl="1"/>
            <a:r>
              <a:rPr lang="en-US" sz="2700" dirty="0"/>
              <a:t>Transfers mail from an e-mail server to client Inbox</a:t>
            </a:r>
          </a:p>
          <a:p>
            <a:pPr marL="0" indent="0">
              <a:buNone/>
            </a:pPr>
            <a:r>
              <a:rPr lang="en-US" sz="2700" b="1" i="1" dirty="0"/>
              <a:t>7.Simple Mail Transfer Protocol (SMTP) </a:t>
            </a:r>
          </a:p>
          <a:p>
            <a:pPr lvl="1"/>
            <a:r>
              <a:rPr lang="en-US" sz="2700" dirty="0"/>
              <a:t>Transfers e-mail messages from client computers to an e-mail server</a:t>
            </a:r>
            <a:r>
              <a:rPr lang="en-US" sz="2700" dirty="0" smtClean="0"/>
              <a:t>.</a:t>
            </a:r>
            <a:endParaRPr lang="en-US" sz="2700" b="1" i="1" dirty="0" smtClean="0">
              <a:latin typeface="Times New Roman" panose="02020603050405020304" pitchFamily="18" charset="0"/>
              <a:cs typeface="Times New Roman" panose="02020603050405020304" pitchFamily="18" charset="0"/>
            </a:endParaRPr>
          </a:p>
          <a:p>
            <a:pPr marL="0" indent="0">
              <a:buNone/>
            </a:pPr>
            <a:r>
              <a:rPr lang="en-US" sz="2700" b="1" i="1" dirty="0" smtClean="0">
                <a:latin typeface="Times New Roman" panose="02020603050405020304" pitchFamily="18" charset="0"/>
                <a:cs typeface="Times New Roman" panose="02020603050405020304" pitchFamily="18" charset="0"/>
              </a:rPr>
              <a:t>8. Voice over Internet Protocol (VoIP)</a:t>
            </a:r>
          </a:p>
          <a:p>
            <a:pPr lvl="1">
              <a:buFont typeface="Wingdings" panose="05000000000000000000" pitchFamily="2" charset="2"/>
              <a:buChar char="§"/>
            </a:pPr>
            <a:r>
              <a:rPr lang="en-US" sz="2700" dirty="0" smtClean="0">
                <a:latin typeface="Times New Roman" panose="02020603050405020304" pitchFamily="18" charset="0"/>
                <a:cs typeface="Times New Roman" panose="02020603050405020304" pitchFamily="18" charset="0"/>
              </a:rPr>
              <a:t>Transmits voice conversations over the Internet</a:t>
            </a:r>
          </a:p>
          <a:p>
            <a:pPr marL="0" indent="0">
              <a:buNone/>
            </a:pPr>
            <a:r>
              <a:rPr lang="en-US" sz="2700" b="1" i="1" dirty="0" smtClean="0">
                <a:latin typeface="Times New Roman" panose="02020603050405020304" pitchFamily="18" charset="0"/>
                <a:cs typeface="Times New Roman" panose="02020603050405020304" pitchFamily="18" charset="0"/>
              </a:rPr>
              <a:t>9. Internet Relay Chat (IRC)</a:t>
            </a:r>
          </a:p>
          <a:p>
            <a:pPr lvl="1">
              <a:buFont typeface="Wingdings" panose="05000000000000000000" pitchFamily="2" charset="2"/>
              <a:buChar char="§"/>
            </a:pPr>
            <a:r>
              <a:rPr lang="en-US" sz="2700" dirty="0" smtClean="0">
                <a:latin typeface="Times New Roman" panose="02020603050405020304" pitchFamily="18" charset="0"/>
                <a:cs typeface="Times New Roman" panose="02020603050405020304" pitchFamily="18" charset="0"/>
              </a:rPr>
              <a:t>Transmits text messages in real time between online users.</a:t>
            </a:r>
          </a:p>
        </p:txBody>
      </p:sp>
    </p:spTree>
    <p:extLst>
      <p:ext uri="{BB962C8B-B14F-4D97-AF65-F5344CB8AC3E}">
        <p14:creationId xmlns:p14="http://schemas.microsoft.com/office/powerpoint/2010/main" val="520455864"/>
      </p:ext>
    </p:extLst>
  </p:cSld>
  <p:clrMapOvr>
    <a:masterClrMapping/>
  </p:clrMapOvr>
  <p:transition spd="slow">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Protocol </a:t>
            </a:r>
            <a:r>
              <a:rPr lang="en-US" dirty="0" smtClean="0"/>
              <a:t>Suite</a:t>
            </a:r>
            <a:endParaRPr lang="en-US" dirty="0"/>
          </a:p>
        </p:txBody>
      </p:sp>
      <p:sp>
        <p:nvSpPr>
          <p:cNvPr id="3" name="Content Placeholder 2"/>
          <p:cNvSpPr>
            <a:spLocks noGrp="1"/>
          </p:cNvSpPr>
          <p:nvPr>
            <p:ph idx="1"/>
          </p:nvPr>
        </p:nvSpPr>
        <p:spPr/>
        <p:txBody>
          <a:bodyPr/>
          <a:lstStyle/>
          <a:p>
            <a:r>
              <a:rPr lang="en-US" dirty="0" smtClean="0"/>
              <a:t>Is </a:t>
            </a:r>
            <a:r>
              <a:rPr lang="en-US" dirty="0"/>
              <a:t>a combination of protocols that work together, example TCP/IP.</a:t>
            </a:r>
          </a:p>
          <a:p>
            <a:r>
              <a:rPr lang="en-US" dirty="0"/>
              <a:t>TCP Breaks a message or file into packets. IP is responsible for addressing the packets so that they can be routed to their destination.</a:t>
            </a:r>
          </a:p>
          <a:p>
            <a:r>
              <a:rPr lang="en-US" dirty="0"/>
              <a:t>TCP/IP provides a protocol standard for the internet that is public, free, extensible and easy to implement. </a:t>
            </a:r>
          </a:p>
          <a:p>
            <a:endParaRPr lang="en-US" dirty="0"/>
          </a:p>
        </p:txBody>
      </p:sp>
    </p:spTree>
    <p:extLst>
      <p:ext uri="{BB962C8B-B14F-4D97-AF65-F5344CB8AC3E}">
        <p14:creationId xmlns:p14="http://schemas.microsoft.com/office/powerpoint/2010/main" val="2135378579"/>
      </p:ext>
    </p:extLst>
  </p:cSld>
  <p:clrMapOvr>
    <a:masterClrMapping/>
  </p:clrMapOvr>
  <p:transition spd="slow">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Internet Connections (Cont’d)</a:t>
            </a:r>
          </a:p>
        </p:txBody>
      </p:sp>
      <p:sp>
        <p:nvSpPr>
          <p:cNvPr id="3" name="Content Placeholder 2"/>
          <p:cNvSpPr>
            <a:spLocks noGrp="1"/>
          </p:cNvSpPr>
          <p:nvPr>
            <p:ph idx="1"/>
          </p:nvPr>
        </p:nvSpPr>
        <p:spPr/>
        <p:txBody>
          <a:bodyPr>
            <a:normAutofit fontScale="85000" lnSpcReduction="20000"/>
          </a:bodyPr>
          <a:lstStyle/>
          <a:p>
            <a:pPr marL="0" indent="0">
              <a:buNone/>
            </a:pPr>
            <a:r>
              <a:rPr lang="en-US" b="1" i="1" dirty="0" smtClean="0">
                <a:latin typeface="Times New Roman" panose="02020603050405020304" pitchFamily="18" charset="0"/>
                <a:cs typeface="Times New Roman" panose="02020603050405020304" pitchFamily="18" charset="0"/>
              </a:rPr>
              <a:t>i. Cable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cable Modem allows access to high speed Internet services through the cable television </a:t>
            </a:r>
            <a:r>
              <a:rPr lang="en-US" dirty="0" smtClean="0">
                <a:latin typeface="Times New Roman" panose="02020603050405020304" pitchFamily="18" charset="0"/>
                <a:cs typeface="Times New Roman" panose="02020603050405020304" pitchFamily="18" charset="0"/>
              </a:rPr>
              <a:t>network.</a:t>
            </a:r>
          </a:p>
          <a:p>
            <a:pPr marL="0" indent="0">
              <a:buNone/>
            </a:pPr>
            <a:r>
              <a:rPr lang="en-US" b="1" i="1" dirty="0" smtClean="0">
                <a:latin typeface="Times New Roman" panose="02020603050405020304" pitchFamily="18" charset="0"/>
                <a:cs typeface="Times New Roman" panose="02020603050405020304" pitchFamily="18" charset="0"/>
              </a:rPr>
              <a:t>ii</a:t>
            </a:r>
            <a:r>
              <a:rPr lang="en-US" b="1" i="1" dirty="0">
                <a:latin typeface="Times New Roman" panose="02020603050405020304" pitchFamily="18" charset="0"/>
                <a:cs typeface="Times New Roman" panose="02020603050405020304" pitchFamily="18" charset="0"/>
              </a:rPr>
              <a:t>. </a:t>
            </a:r>
            <a:r>
              <a:rPr lang="en-US" b="1" i="1" dirty="0" smtClean="0">
                <a:latin typeface="Times New Roman" panose="02020603050405020304" pitchFamily="18" charset="0"/>
                <a:cs typeface="Times New Roman" panose="02020603050405020304" pitchFamily="18" charset="0"/>
              </a:rPr>
              <a:t>Fiber-optic connection</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Uses optical fibers </a:t>
            </a:r>
            <a:r>
              <a:rPr lang="en-US" dirty="0">
                <a:latin typeface="Times New Roman" panose="02020603050405020304" pitchFamily="18" charset="0"/>
                <a:cs typeface="Times New Roman" panose="02020603050405020304" pitchFamily="18" charset="0"/>
              </a:rPr>
              <a:t>instead of metal wires, and transmits pulses of light rather than electrical </a:t>
            </a:r>
            <a:r>
              <a:rPr lang="en-US" dirty="0" smtClean="0">
                <a:latin typeface="Times New Roman" panose="02020603050405020304" pitchFamily="18" charset="0"/>
                <a:cs typeface="Times New Roman" panose="02020603050405020304" pitchFamily="18" charset="0"/>
              </a:rPr>
              <a:t>signals.</a:t>
            </a:r>
          </a:p>
          <a:p>
            <a:pPr marL="0" indent="0">
              <a:buNone/>
            </a:pPr>
            <a:r>
              <a:rPr lang="en-US" b="1" i="1" dirty="0" smtClean="0">
                <a:latin typeface="Times New Roman" panose="02020603050405020304" pitchFamily="18" charset="0"/>
                <a:cs typeface="Times New Roman" panose="02020603050405020304" pitchFamily="18" charset="0"/>
              </a:rPr>
              <a:t>iii. Broadband</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Broadband </a:t>
            </a:r>
            <a:r>
              <a:rPr lang="en-US" dirty="0">
                <a:latin typeface="Times New Roman" panose="02020603050405020304" pitchFamily="18" charset="0"/>
                <a:cs typeface="Times New Roman" panose="02020603050405020304" pitchFamily="18" charset="0"/>
              </a:rPr>
              <a:t>is characterized by a high-speed data transfer, permanent access to the Internet, and thus the risk of unauthorized access to the network or your personal </a:t>
            </a:r>
            <a:r>
              <a:rPr lang="en-US" dirty="0" smtClean="0">
                <a:latin typeface="Times New Roman" panose="02020603050405020304" pitchFamily="18" charset="0"/>
                <a:cs typeface="Times New Roman" panose="02020603050405020304" pitchFamily="18" charset="0"/>
              </a:rPr>
              <a:t>computer.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232537"/>
      </p:ext>
    </p:extLst>
  </p:cSld>
  <p:clrMapOvr>
    <a:masterClrMapping/>
  </p:clrMapOvr>
  <p:transition spd="slow">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Access Technologies </a:t>
            </a:r>
          </a:p>
        </p:txBody>
      </p:sp>
      <p:sp>
        <p:nvSpPr>
          <p:cNvPr id="3" name="Subtitle 2"/>
          <p:cNvSpPr>
            <a:spLocks noGrp="1"/>
          </p:cNvSpPr>
          <p:nvPr>
            <p:ph sz="half" idx="1"/>
          </p:nvPr>
        </p:nvSpPr>
        <p:spPr/>
        <p:txBody>
          <a:bodyPr>
            <a:normAutofit fontScale="85000" lnSpcReduction="10000"/>
          </a:bodyPr>
          <a:lstStyle/>
          <a:p>
            <a:pPr marL="0" indent="0">
              <a:buNone/>
            </a:pPr>
            <a:r>
              <a:rPr lang="en-US" b="1" dirty="0"/>
              <a:t>Connecting Remote Users to the Internet </a:t>
            </a:r>
            <a:endParaRPr lang="en-US" b="1" dirty="0" smtClean="0"/>
          </a:p>
          <a:p>
            <a:pPr marL="0" indent="0">
              <a:buNone/>
            </a:pPr>
            <a:r>
              <a:rPr lang="en-US" dirty="0" smtClean="0"/>
              <a:t>There </a:t>
            </a:r>
            <a:r>
              <a:rPr lang="en-US" dirty="0"/>
              <a:t>are many different ways to connect users and organizations to the Internet</a:t>
            </a:r>
            <a:r>
              <a:rPr lang="en-US" dirty="0" smtClean="0"/>
              <a:t>.</a:t>
            </a:r>
          </a:p>
          <a:p>
            <a:pPr marL="514350" indent="-514350">
              <a:buFont typeface="+mj-lt"/>
              <a:buAutoNum type="arabicPeriod"/>
            </a:pPr>
            <a:r>
              <a:rPr lang="en-US" dirty="0" smtClean="0"/>
              <a:t>Cable</a:t>
            </a:r>
          </a:p>
          <a:p>
            <a:pPr marL="514350" indent="-514350">
              <a:buFont typeface="+mj-lt"/>
              <a:buAutoNum type="arabicPeriod"/>
            </a:pPr>
            <a:r>
              <a:rPr lang="en-US" dirty="0" smtClean="0"/>
              <a:t>DSL ( three lines: voice, downlink, uploading &amp; sending information)</a:t>
            </a:r>
          </a:p>
          <a:p>
            <a:pPr marL="514350" indent="-514350">
              <a:buFont typeface="+mj-lt"/>
              <a:buAutoNum type="arabicPeriod"/>
            </a:pPr>
            <a:r>
              <a:rPr lang="en-US" dirty="0" smtClean="0"/>
              <a:t>Cellular</a:t>
            </a:r>
          </a:p>
          <a:p>
            <a:pPr marL="514350" indent="-514350">
              <a:buFont typeface="+mj-lt"/>
              <a:buAutoNum type="arabicPeriod"/>
            </a:pPr>
            <a:r>
              <a:rPr lang="en-US" dirty="0" smtClean="0"/>
              <a:t>satellite</a:t>
            </a:r>
          </a:p>
          <a:p>
            <a:pPr marL="514350" indent="-514350">
              <a:buFont typeface="+mj-lt"/>
              <a:buAutoNum type="arabicPeriod"/>
            </a:pPr>
            <a:r>
              <a:rPr lang="en-US" dirty="0" smtClean="0"/>
              <a:t>Dial-up Telephone</a:t>
            </a:r>
          </a:p>
        </p:txBody>
      </p:sp>
      <p:pic>
        <p:nvPicPr>
          <p:cNvPr id="10242"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419600" y="1981200"/>
            <a:ext cx="4572000" cy="4495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5513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Connecting Businesses to the Internet</a:t>
            </a:r>
            <a:r>
              <a:rPr lang="en-US" sz="2800" dirty="0" smtClean="0"/>
              <a:t> </a:t>
            </a:r>
            <a:endParaRPr lang="en-US" sz="2800" dirty="0"/>
          </a:p>
        </p:txBody>
      </p:sp>
      <p:sp>
        <p:nvSpPr>
          <p:cNvPr id="3" name="Subtitle 2"/>
          <p:cNvSpPr>
            <a:spLocks noGrp="1"/>
          </p:cNvSpPr>
          <p:nvPr>
            <p:ph idx="1"/>
          </p:nvPr>
        </p:nvSpPr>
        <p:spPr/>
        <p:txBody>
          <a:bodyPr>
            <a:normAutofit/>
          </a:bodyPr>
          <a:lstStyle/>
          <a:p>
            <a:pPr marL="0" indent="0">
              <a:buNone/>
            </a:pPr>
            <a:r>
              <a:rPr lang="en-US" dirty="0"/>
              <a:t>Corporate </a:t>
            </a:r>
            <a:r>
              <a:rPr lang="en-US" dirty="0" smtClean="0"/>
              <a:t>connection:</a:t>
            </a:r>
          </a:p>
          <a:p>
            <a:pPr marL="514350" indent="-514350">
              <a:buFont typeface="+mj-lt"/>
              <a:buAutoNum type="arabicPeriod"/>
            </a:pP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743200"/>
            <a:ext cx="66294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54049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Characteristics underlying internet  </a:t>
            </a:r>
            <a:r>
              <a:rPr lang="en-US" dirty="0"/>
              <a:t>architectures  (Design criteria)</a:t>
            </a:r>
          </a:p>
        </p:txBody>
      </p:sp>
      <p:sp>
        <p:nvSpPr>
          <p:cNvPr id="3" name="Content Placeholder 2"/>
          <p:cNvSpPr>
            <a:spLocks noGrp="1"/>
          </p:cNvSpPr>
          <p:nvPr>
            <p:ph idx="1"/>
          </p:nvPr>
        </p:nvSpPr>
        <p:spPr/>
        <p:txBody>
          <a:bodyPr>
            <a:noAutofit/>
          </a:bodyPr>
          <a:lstStyle/>
          <a:p>
            <a:r>
              <a:rPr lang="en-US" sz="2600" dirty="0" smtClean="0"/>
              <a:t>Networks must support a wide range of applications and services, as well as operate over many different types of physical infrastructures. </a:t>
            </a:r>
          </a:p>
          <a:p>
            <a:r>
              <a:rPr lang="en-US" sz="2600" dirty="0" smtClean="0"/>
              <a:t>The term network architecture, in this context, refers to both the technologies that support the infrastructure and the programmed services and protocols that move the messages across that infrastructure.</a:t>
            </a:r>
          </a:p>
          <a:p>
            <a:r>
              <a:rPr lang="en-US" sz="2600" dirty="0" smtClean="0"/>
              <a:t>As the Internet, and networks in general, evolve, we are discovering that there are four basic characteristics that the underlying architectures  (</a:t>
            </a:r>
            <a:r>
              <a:rPr lang="en-US" sz="2800" dirty="0"/>
              <a:t>Design </a:t>
            </a:r>
            <a:r>
              <a:rPr lang="en-US" sz="2800" dirty="0" smtClean="0"/>
              <a:t>criteria</a:t>
            </a:r>
            <a:r>
              <a:rPr lang="en-US" sz="2600" dirty="0" smtClean="0"/>
              <a:t>) need to address in order to meet user expectations: </a:t>
            </a:r>
            <a:r>
              <a:rPr lang="en-US" sz="2600" b="1" dirty="0" smtClean="0"/>
              <a:t>fault tolerance, scalability, quality of service, and security</a:t>
            </a:r>
            <a:r>
              <a:rPr lang="en-US" sz="2600" dirty="0" smtClean="0"/>
              <a:t>.</a:t>
            </a:r>
            <a:endParaRPr lang="en-US" sz="2600" dirty="0"/>
          </a:p>
        </p:txBody>
      </p:sp>
    </p:spTree>
    <p:extLst>
      <p:ext uri="{BB962C8B-B14F-4D97-AF65-F5344CB8AC3E}">
        <p14:creationId xmlns:p14="http://schemas.microsoft.com/office/powerpoint/2010/main" val="31281033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p:txBody>
          <a:bodyPr>
            <a:normAutofit fontScale="90000"/>
          </a:bodyPr>
          <a:lstStyle/>
          <a:p>
            <a:pPr eaLnBrk="1" hangingPunct="1"/>
            <a:r>
              <a:rPr lang="en-US" sz="1800" dirty="0">
                <a:latin typeface="Arial" charset="0"/>
              </a:rPr>
              <a:t>Reliable Network</a:t>
            </a:r>
            <a:r>
              <a:rPr lang="en-US" dirty="0">
                <a:latin typeface="Arial" charset="0"/>
              </a:rPr>
              <a:t/>
            </a:r>
            <a:br>
              <a:rPr lang="en-US" dirty="0">
                <a:latin typeface="Arial" charset="0"/>
              </a:rPr>
            </a:br>
            <a:r>
              <a:rPr lang="en-US" dirty="0" smtClean="0">
                <a:latin typeface="Arial" charset="0"/>
              </a:rPr>
              <a:t>Fault Tolerance in Circuit Switched Network</a:t>
            </a:r>
            <a:endParaRPr lang="en-US" dirty="0">
              <a:latin typeface="Arial" charset="0"/>
            </a:endParaRPr>
          </a:p>
        </p:txBody>
      </p:sp>
      <p:pic>
        <p:nvPicPr>
          <p:cNvPr id="6" name="Content Placeholder 2"/>
          <p:cNvPicPr>
            <a:picLocks noGrp="1" noChangeAspect="1"/>
          </p:cNvPicPr>
          <p:nvPr>
            <p:ph idx="1"/>
          </p:nvPr>
        </p:nvPicPr>
        <p:blipFill>
          <a:blip r:embed="rId3"/>
          <a:srcRect l="-24196" r="-24196"/>
          <a:stretch>
            <a:fillRect/>
          </a:stretch>
        </p:blipFill>
        <p:spPr>
          <a:xfrm>
            <a:off x="213109" y="1539502"/>
            <a:ext cx="8733677" cy="4926405"/>
          </a:xfrm>
        </p:spPr>
      </p:pic>
    </p:spTree>
    <p:extLst>
      <p:ext uri="{BB962C8B-B14F-4D97-AF65-F5344CB8AC3E}">
        <p14:creationId xmlns:p14="http://schemas.microsoft.com/office/powerpoint/2010/main" val="4279896777"/>
      </p:ext>
    </p:extLst>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p:txBody>
          <a:bodyPr/>
          <a:lstStyle/>
          <a:p>
            <a:pPr eaLnBrk="1" hangingPunct="1"/>
            <a:r>
              <a:rPr lang="en-US" sz="1800" dirty="0">
                <a:latin typeface="Arial" charset="0"/>
              </a:rPr>
              <a:t>Reliable Network</a:t>
            </a:r>
            <a:r>
              <a:rPr lang="en-US" dirty="0">
                <a:latin typeface="Arial" charset="0"/>
              </a:rPr>
              <a:t/>
            </a:r>
            <a:br>
              <a:rPr lang="en-US" dirty="0">
                <a:latin typeface="Arial" charset="0"/>
              </a:rPr>
            </a:br>
            <a:r>
              <a:rPr lang="en-US" dirty="0" smtClean="0">
                <a:latin typeface="Arial" charset="0"/>
              </a:rPr>
              <a:t>Packet-Switched Networks</a:t>
            </a:r>
            <a:endParaRPr lang="en-US" dirty="0">
              <a:latin typeface="Arial" charset="0"/>
            </a:endParaRPr>
          </a:p>
        </p:txBody>
      </p:sp>
      <p:pic>
        <p:nvPicPr>
          <p:cNvPr id="4" name="Content Placeholder 2"/>
          <p:cNvPicPr>
            <a:picLocks noGrp="1" noChangeAspect="1"/>
          </p:cNvPicPr>
          <p:nvPr>
            <p:ph idx="1"/>
          </p:nvPr>
        </p:nvPicPr>
        <p:blipFill>
          <a:blip r:embed="rId3"/>
          <a:srcRect l="-24672" r="-24672"/>
          <a:stretch>
            <a:fillRect/>
          </a:stretch>
        </p:blipFill>
        <p:spPr/>
      </p:pic>
    </p:spTree>
    <p:extLst>
      <p:ext uri="{BB962C8B-B14F-4D97-AF65-F5344CB8AC3E}">
        <p14:creationId xmlns:p14="http://schemas.microsoft.com/office/powerpoint/2010/main" val="1062255175"/>
      </p:ext>
    </p:extLst>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lstStyle/>
          <a:p>
            <a:pPr eaLnBrk="1" hangingPunct="1"/>
            <a:r>
              <a:rPr lang="en-US" sz="1800" dirty="0">
                <a:latin typeface="Arial" charset="0"/>
              </a:rPr>
              <a:t>Reliable Network</a:t>
            </a:r>
            <a:r>
              <a:rPr lang="en-US" dirty="0">
                <a:latin typeface="Arial" charset="0"/>
              </a:rPr>
              <a:t/>
            </a:r>
            <a:br>
              <a:rPr lang="en-US" dirty="0">
                <a:latin typeface="Arial" charset="0"/>
              </a:rPr>
            </a:br>
            <a:r>
              <a:rPr lang="en-US" dirty="0" smtClean="0">
                <a:latin typeface="Arial" charset="0"/>
              </a:rPr>
              <a:t>Scalable Networks</a:t>
            </a:r>
            <a:endParaRPr lang="en-US" dirty="0">
              <a:latin typeface="Arial" charset="0"/>
            </a:endParaRPr>
          </a:p>
        </p:txBody>
      </p:sp>
      <p:pic>
        <p:nvPicPr>
          <p:cNvPr id="4" name="Content Placeholder 2"/>
          <p:cNvPicPr>
            <a:picLocks noGrp="1" noChangeAspect="1"/>
          </p:cNvPicPr>
          <p:nvPr>
            <p:ph idx="1"/>
          </p:nvPr>
        </p:nvPicPr>
        <p:blipFill rotWithShape="1">
          <a:blip r:embed="rId3"/>
          <a:srcRect l="-19860" t="11328" r="-19860"/>
          <a:stretch/>
        </p:blipFill>
        <p:spPr>
          <a:xfrm>
            <a:off x="849131" y="2876944"/>
            <a:ext cx="7444791" cy="3723672"/>
          </a:xfrm>
        </p:spPr>
      </p:pic>
      <p:pic>
        <p:nvPicPr>
          <p:cNvPr id="2" name="Picture 1"/>
          <p:cNvPicPr>
            <a:picLocks noChangeAspect="1"/>
          </p:cNvPicPr>
          <p:nvPr/>
        </p:nvPicPr>
        <p:blipFill>
          <a:blip r:embed="rId4"/>
          <a:stretch>
            <a:fillRect/>
          </a:stretch>
        </p:blipFill>
        <p:spPr>
          <a:xfrm>
            <a:off x="175853" y="1155953"/>
            <a:ext cx="5404597" cy="605853"/>
          </a:xfrm>
          <a:prstGeom prst="rect">
            <a:avLst/>
          </a:prstGeom>
        </p:spPr>
      </p:pic>
      <p:pic>
        <p:nvPicPr>
          <p:cNvPr id="3" name="Picture 2"/>
          <p:cNvPicPr>
            <a:picLocks noChangeAspect="1"/>
          </p:cNvPicPr>
          <p:nvPr/>
        </p:nvPicPr>
        <p:blipFill>
          <a:blip r:embed="rId5"/>
          <a:stretch>
            <a:fillRect/>
          </a:stretch>
        </p:blipFill>
        <p:spPr>
          <a:xfrm>
            <a:off x="3617660" y="1791028"/>
            <a:ext cx="5311050" cy="1067880"/>
          </a:xfrm>
          <a:prstGeom prst="rect">
            <a:avLst/>
          </a:prstGeom>
        </p:spPr>
      </p:pic>
    </p:spTree>
    <p:extLst>
      <p:ext uri="{BB962C8B-B14F-4D97-AF65-F5344CB8AC3E}">
        <p14:creationId xmlns:p14="http://schemas.microsoft.com/office/powerpoint/2010/main" val="4085549294"/>
      </p:ext>
    </p:extLst>
  </p:cSld>
  <p:clrMapOvr>
    <a:masterClrMapping/>
  </p:clrMapOvr>
  <p:transition spd="med">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pPr eaLnBrk="1" hangingPunct="1"/>
            <a:r>
              <a:rPr lang="en-US" sz="1800" dirty="0">
                <a:latin typeface="Arial" charset="0"/>
              </a:rPr>
              <a:t>Reliable Network</a:t>
            </a:r>
            <a:r>
              <a:rPr lang="en-US" dirty="0">
                <a:latin typeface="Arial" charset="0"/>
              </a:rPr>
              <a:t/>
            </a:r>
            <a:br>
              <a:rPr lang="en-US" dirty="0">
                <a:latin typeface="Arial" charset="0"/>
              </a:rPr>
            </a:br>
            <a:r>
              <a:rPr lang="en-US" dirty="0" smtClean="0">
                <a:latin typeface="Arial" charset="0"/>
              </a:rPr>
              <a:t>Providing QoS</a:t>
            </a:r>
            <a:endParaRPr lang="en-US" dirty="0">
              <a:latin typeface="Arial" charset="0"/>
            </a:endParaRPr>
          </a:p>
        </p:txBody>
      </p:sp>
      <p:sp>
        <p:nvSpPr>
          <p:cNvPr id="2" name="Content Placeholder 1"/>
          <p:cNvSpPr>
            <a:spLocks noGrp="1"/>
          </p:cNvSpPr>
          <p:nvPr>
            <p:ph idx="1"/>
          </p:nvPr>
        </p:nvSpPr>
        <p:spPr/>
        <p:txBody>
          <a:bodyPr/>
          <a:lstStyle/>
          <a:p>
            <a:pPr marL="0" indent="0">
              <a:buNone/>
            </a:pPr>
            <a:r>
              <a:rPr lang="en-US" sz="2000" dirty="0" smtClean="0"/>
              <a:t>Examples of priority decisions for an organization might include:</a:t>
            </a:r>
          </a:p>
          <a:p>
            <a:r>
              <a:rPr lang="en-US" sz="2000" dirty="0" smtClean="0"/>
              <a:t>Time-sensitive communication - increase priority for services like telephony or video distribution.</a:t>
            </a:r>
          </a:p>
          <a:p>
            <a:r>
              <a:rPr lang="en-US" sz="2000" dirty="0" smtClean="0"/>
              <a:t>Non time-sensitive communication - decrease priority for web page retrieval or email.</a:t>
            </a:r>
          </a:p>
          <a:p>
            <a:r>
              <a:rPr lang="en-US" sz="2000" dirty="0" smtClean="0"/>
              <a:t>High importance to organization - increase priority for production control or business transaction data.</a:t>
            </a:r>
          </a:p>
          <a:p>
            <a:r>
              <a:rPr lang="en-US" sz="2000" dirty="0" smtClean="0"/>
              <a:t>Undesirable communication - decrease priority or block unwanted activity, like peer-to-peer file sharing or live entertainment.</a:t>
            </a:r>
          </a:p>
          <a:p>
            <a:endParaRPr lang="en-US" dirty="0"/>
          </a:p>
        </p:txBody>
      </p:sp>
    </p:spTree>
    <p:extLst>
      <p:ext uri="{BB962C8B-B14F-4D97-AF65-F5344CB8AC3E}">
        <p14:creationId xmlns:p14="http://schemas.microsoft.com/office/powerpoint/2010/main" val="1967227087"/>
      </p:ext>
    </p:extLst>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p:txBody>
          <a:bodyPr/>
          <a:lstStyle/>
          <a:p>
            <a:pPr eaLnBrk="1" hangingPunct="1"/>
            <a:r>
              <a:rPr lang="en-US" sz="1800" dirty="0">
                <a:latin typeface="Arial" charset="0"/>
              </a:rPr>
              <a:t>Reliable Network</a:t>
            </a:r>
            <a:r>
              <a:rPr lang="en-US" dirty="0">
                <a:latin typeface="Arial" charset="0"/>
              </a:rPr>
              <a:t/>
            </a:r>
            <a:br>
              <a:rPr lang="en-US" dirty="0">
                <a:latin typeface="Arial" charset="0"/>
              </a:rPr>
            </a:br>
            <a:r>
              <a:rPr lang="en-US" dirty="0" smtClean="0">
                <a:latin typeface="Arial" charset="0"/>
              </a:rPr>
              <a:t>Providing Network </a:t>
            </a:r>
            <a:r>
              <a:rPr lang="en-US" dirty="0">
                <a:latin typeface="Arial" charset="0"/>
              </a:rPr>
              <a:t>Security</a:t>
            </a:r>
          </a:p>
        </p:txBody>
      </p:sp>
      <p:pic>
        <p:nvPicPr>
          <p:cNvPr id="5"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10540" y="1808834"/>
            <a:ext cx="6453572"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6235552"/>
      </p:ext>
    </p:extLst>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Intranet and Extranet</a:t>
            </a:r>
          </a:p>
        </p:txBody>
      </p:sp>
      <p:sp>
        <p:nvSpPr>
          <p:cNvPr id="7" name="Text Placeholder 6"/>
          <p:cNvSpPr>
            <a:spLocks noGrp="1"/>
          </p:cNvSpPr>
          <p:nvPr>
            <p:ph type="body" idx="1"/>
          </p:nvPr>
        </p:nvSpPr>
        <p:spPr/>
        <p:txBody>
          <a:bodyPr/>
          <a:lstStyle/>
          <a:p>
            <a:r>
              <a:rPr lang="en-US" dirty="0"/>
              <a:t>•Intranet</a:t>
            </a:r>
          </a:p>
        </p:txBody>
      </p:sp>
      <p:sp>
        <p:nvSpPr>
          <p:cNvPr id="9" name="Text Placeholder 8"/>
          <p:cNvSpPr>
            <a:spLocks noGrp="1"/>
          </p:cNvSpPr>
          <p:nvPr>
            <p:ph type="body" sz="half" idx="3"/>
          </p:nvPr>
        </p:nvSpPr>
        <p:spPr/>
        <p:txBody>
          <a:bodyPr/>
          <a:lstStyle/>
          <a:p>
            <a:r>
              <a:rPr lang="en-US" dirty="0"/>
              <a:t>•Extranet</a:t>
            </a:r>
          </a:p>
        </p:txBody>
      </p:sp>
      <p:sp>
        <p:nvSpPr>
          <p:cNvPr id="8" name="Content Placeholder 7"/>
          <p:cNvSpPr>
            <a:spLocks noGrp="1"/>
          </p:cNvSpPr>
          <p:nvPr>
            <p:ph sz="quarter" idx="2"/>
          </p:nvPr>
        </p:nvSpPr>
        <p:spPr/>
        <p:txBody>
          <a:bodyPr>
            <a:normAutofit fontScale="70000" lnSpcReduction="20000"/>
          </a:bodyPr>
          <a:lstStyle/>
          <a:p>
            <a:r>
              <a:rPr lang="en-US" dirty="0"/>
              <a:t>Intranet is a term often used to refer to a private connection of LANs and WANs that belongs to an organization, and is designed to be accessible only by the organization's members, employees, or others with authorization. </a:t>
            </a:r>
            <a:endParaRPr lang="en-US" dirty="0" smtClean="0"/>
          </a:p>
          <a:p>
            <a:r>
              <a:rPr lang="en-US" dirty="0" smtClean="0"/>
              <a:t>Intranets </a:t>
            </a:r>
            <a:r>
              <a:rPr lang="en-US" dirty="0"/>
              <a:t>are basically an internet which is usually only accessible from within the </a:t>
            </a:r>
            <a:r>
              <a:rPr lang="en-US" dirty="0" smtClean="0"/>
              <a:t>organization</a:t>
            </a:r>
          </a:p>
          <a:p>
            <a:r>
              <a:rPr lang="en-US" dirty="0"/>
              <a:t>Intranets usually help eliminate paperwork and speed up workflows. </a:t>
            </a:r>
            <a:endParaRPr lang="en-US" dirty="0" smtClean="0"/>
          </a:p>
          <a:p>
            <a:r>
              <a:rPr lang="en-US" dirty="0" smtClean="0"/>
              <a:t>The </a:t>
            </a:r>
            <a:r>
              <a:rPr lang="en-US" dirty="0"/>
              <a:t>intranet may be accessible to staff working outside of the organization by using secure connections to the internal network</a:t>
            </a:r>
          </a:p>
        </p:txBody>
      </p:sp>
      <p:sp>
        <p:nvSpPr>
          <p:cNvPr id="10" name="Content Placeholder 9"/>
          <p:cNvSpPr>
            <a:spLocks noGrp="1"/>
          </p:cNvSpPr>
          <p:nvPr>
            <p:ph sz="quarter" idx="4"/>
          </p:nvPr>
        </p:nvSpPr>
        <p:spPr/>
        <p:txBody>
          <a:bodyPr>
            <a:normAutofit fontScale="77500" lnSpcReduction="20000"/>
          </a:bodyPr>
          <a:lstStyle/>
          <a:p>
            <a:r>
              <a:rPr lang="en-US" dirty="0"/>
              <a:t>An organization may use an extranet to provide secure and safe access to individuals who work for a different organizations, but require company data. Examples of extranets include:</a:t>
            </a:r>
          </a:p>
          <a:p>
            <a:r>
              <a:rPr lang="en-US" dirty="0" smtClean="0"/>
              <a:t>A </a:t>
            </a:r>
            <a:r>
              <a:rPr lang="en-US" dirty="0"/>
              <a:t>company providing access to outside suppliers/contractors</a:t>
            </a:r>
            <a:r>
              <a:rPr lang="en-US" dirty="0" smtClean="0"/>
              <a:t>.</a:t>
            </a:r>
            <a:endParaRPr lang="en-US" dirty="0"/>
          </a:p>
          <a:p>
            <a:r>
              <a:rPr lang="en-US" dirty="0" smtClean="0"/>
              <a:t>A </a:t>
            </a:r>
            <a:r>
              <a:rPr lang="en-US" dirty="0"/>
              <a:t>hospital providing a booking system to doctors so they can make appointments for their patients</a:t>
            </a:r>
            <a:r>
              <a:rPr lang="en-US" dirty="0" smtClean="0"/>
              <a:t>.</a:t>
            </a:r>
            <a:endParaRPr lang="en-US" dirty="0"/>
          </a:p>
          <a:p>
            <a:r>
              <a:rPr lang="en-US" dirty="0" smtClean="0"/>
              <a:t>A </a:t>
            </a:r>
            <a:r>
              <a:rPr lang="en-US" dirty="0"/>
              <a:t>local office of education providing budget and personnel information to the schools in its district.</a:t>
            </a:r>
          </a:p>
        </p:txBody>
      </p:sp>
    </p:spTree>
    <p:extLst>
      <p:ext uri="{BB962C8B-B14F-4D97-AF65-F5344CB8AC3E}">
        <p14:creationId xmlns:p14="http://schemas.microsoft.com/office/powerpoint/2010/main" val="36158062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GB" b="1" dirty="0" smtClean="0"/>
              <a:t>World Wide Web </a:t>
            </a:r>
            <a:r>
              <a:rPr lang="en-GB" dirty="0" smtClean="0"/>
              <a:t>(WWW)</a:t>
            </a:r>
            <a:endParaRPr lang="en-GB" dirty="0"/>
          </a:p>
        </p:txBody>
      </p:sp>
      <p:sp>
        <p:nvSpPr>
          <p:cNvPr id="3" name="Content Placeholder 2"/>
          <p:cNvSpPr>
            <a:spLocks noGrp="1"/>
          </p:cNvSpPr>
          <p:nvPr>
            <p:ph idx="1"/>
          </p:nvPr>
        </p:nvSpPr>
        <p:spPr>
          <a:xfrm>
            <a:off x="457200" y="838200"/>
            <a:ext cx="8229600" cy="5287963"/>
          </a:xfrm>
        </p:spPr>
        <p:txBody>
          <a:bodyPr>
            <a:noAutofit/>
          </a:bodyPr>
          <a:lstStyle/>
          <a:p>
            <a:r>
              <a:rPr lang="en-GB" sz="2800" dirty="0" smtClean="0"/>
              <a:t>It refers to the collection of information accessible on the internet. The web is similar to a library. </a:t>
            </a:r>
          </a:p>
          <a:p>
            <a:r>
              <a:rPr lang="en-GB" sz="2800" dirty="0" smtClean="0"/>
              <a:t>It consists of millions &amp; millions of pages of text, pictures, sounds and animation on various topics. </a:t>
            </a:r>
          </a:p>
          <a:p>
            <a:r>
              <a:rPr lang="en-GB" sz="2800" dirty="0" smtClean="0"/>
              <a:t>These pages, called web pages are stored on different computers that are connected to the internet. </a:t>
            </a:r>
          </a:p>
          <a:p>
            <a:r>
              <a:rPr lang="en-GB" sz="2800" dirty="0" smtClean="0"/>
              <a:t>The web pages have links between them </a:t>
            </a:r>
            <a:r>
              <a:rPr lang="en-GB" sz="2800" dirty="0" err="1" smtClean="0"/>
              <a:t>i.e</a:t>
            </a:r>
            <a:r>
              <a:rPr lang="en-GB" sz="2800" dirty="0" smtClean="0"/>
              <a:t> when we click a certain word or picture in a page, it will take us to another page. </a:t>
            </a:r>
          </a:p>
          <a:p>
            <a:r>
              <a:rPr lang="en-GB" sz="2800" dirty="0" smtClean="0"/>
              <a:t>These words or pictures that help to move from one page to another are called hyperlinks. </a:t>
            </a:r>
          </a:p>
        </p:txBody>
      </p:sp>
    </p:spTree>
    <p:extLst>
      <p:ext uri="{BB962C8B-B14F-4D97-AF65-F5344CB8AC3E}">
        <p14:creationId xmlns:p14="http://schemas.microsoft.com/office/powerpoint/2010/main" val="40749955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fontScale="85000" lnSpcReduction="10000"/>
          </a:bodyPr>
          <a:lstStyle/>
          <a:p>
            <a:r>
              <a:rPr lang="en-GB" dirty="0"/>
              <a:t>A collection of related web pages is known as a web site. A web site can be accessed by means of a  unique name assigned to it. </a:t>
            </a:r>
            <a:endParaRPr lang="en-GB" dirty="0" smtClean="0"/>
          </a:p>
          <a:p>
            <a:r>
              <a:rPr lang="en-GB" dirty="0" smtClean="0"/>
              <a:t>Internet </a:t>
            </a:r>
            <a:r>
              <a:rPr lang="en-GB" dirty="0"/>
              <a:t>was initially designed for the transmission of text basing on the protocols mentioned.  </a:t>
            </a:r>
          </a:p>
          <a:p>
            <a:r>
              <a:rPr lang="en-GB" dirty="0"/>
              <a:t>In order to transmit a graphically designed web page complete with pictures, embedded sound and animation a special language was designed which is referred to as Hyper Text Mark up Language (HTML).  </a:t>
            </a:r>
            <a:endParaRPr lang="en-GB" dirty="0" smtClean="0"/>
          </a:p>
          <a:p>
            <a:r>
              <a:rPr lang="en-GB" dirty="0" smtClean="0"/>
              <a:t>HTML </a:t>
            </a:r>
            <a:r>
              <a:rPr lang="en-GB" dirty="0"/>
              <a:t>uses special text codes to define the various elements of a web page.</a:t>
            </a:r>
          </a:p>
          <a:p>
            <a:endParaRPr lang="en-US" dirty="0"/>
          </a:p>
        </p:txBody>
      </p:sp>
    </p:spTree>
    <p:extLst>
      <p:ext uri="{BB962C8B-B14F-4D97-AF65-F5344CB8AC3E}">
        <p14:creationId xmlns:p14="http://schemas.microsoft.com/office/powerpoint/2010/main" val="21672828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a:t>
            </a:r>
            <a:endParaRPr lang="en-GB" dirty="0"/>
          </a:p>
        </p:txBody>
      </p:sp>
      <p:sp>
        <p:nvSpPr>
          <p:cNvPr id="3" name="Content Placeholder 2"/>
          <p:cNvSpPr>
            <a:spLocks noGrp="1"/>
          </p:cNvSpPr>
          <p:nvPr>
            <p:ph idx="1"/>
          </p:nvPr>
        </p:nvSpPr>
        <p:spPr/>
        <p:txBody>
          <a:bodyPr>
            <a:normAutofit fontScale="77500" lnSpcReduction="20000"/>
          </a:bodyPr>
          <a:lstStyle/>
          <a:p>
            <a:r>
              <a:rPr lang="en-GB" dirty="0" smtClean="0"/>
              <a:t>The WWW support a protocol called Hyper Text Transfer Protocol (HTTP).  </a:t>
            </a:r>
          </a:p>
          <a:p>
            <a:r>
              <a:rPr lang="en-GB" dirty="0" smtClean="0"/>
              <a:t>All internet servers cannot support HTTP and so the web can be regarded as a subset of the larger internet. </a:t>
            </a:r>
          </a:p>
          <a:p>
            <a:r>
              <a:rPr lang="en-GB" dirty="0" smtClean="0"/>
              <a:t>HTTP provides a method of transmitting a professionally laid out page over the text based internet.  </a:t>
            </a:r>
          </a:p>
          <a:p>
            <a:r>
              <a:rPr lang="en-GB" dirty="0" smtClean="0"/>
              <a:t>Uniform Resource Locator: (URL): Each web site has a unique address commonly referred to as a URL. </a:t>
            </a:r>
          </a:p>
          <a:p>
            <a:r>
              <a:rPr lang="en-GB" dirty="0" smtClean="0"/>
              <a:t>A URL specifies the exact location of the web page on the internet.  </a:t>
            </a:r>
          </a:p>
          <a:p>
            <a:r>
              <a:rPr lang="en-GB" dirty="0" smtClean="0"/>
              <a:t>A typical web address or URL looks as http:// Explanation  of the example URL:</a:t>
            </a:r>
            <a:endParaRPr lang="en-GB" dirty="0"/>
          </a:p>
        </p:txBody>
      </p:sp>
    </p:spTree>
    <p:extLst>
      <p:ext uri="{BB962C8B-B14F-4D97-AF65-F5344CB8AC3E}">
        <p14:creationId xmlns:p14="http://schemas.microsoft.com/office/powerpoint/2010/main" val="11195460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a:t>
            </a:r>
            <a:endParaRPr lang="en-GB" dirty="0"/>
          </a:p>
        </p:txBody>
      </p:sp>
      <p:pic>
        <p:nvPicPr>
          <p:cNvPr id="4" name="Content Placeholder 3"/>
          <p:cNvPicPr>
            <a:picLocks noGrp="1" noChangeAspect="1"/>
          </p:cNvPicPr>
          <p:nvPr>
            <p:ph idx="1"/>
          </p:nvPr>
        </p:nvPicPr>
        <p:blipFill>
          <a:blip r:embed="rId2"/>
          <a:stretch>
            <a:fillRect/>
          </a:stretch>
        </p:blipFill>
        <p:spPr>
          <a:xfrm>
            <a:off x="1130011" y="1802174"/>
            <a:ext cx="7576667" cy="3942643"/>
          </a:xfrm>
          <a:prstGeom prst="rect">
            <a:avLst/>
          </a:prstGeom>
        </p:spPr>
      </p:pic>
    </p:spTree>
    <p:extLst>
      <p:ext uri="{BB962C8B-B14F-4D97-AF65-F5344CB8AC3E}">
        <p14:creationId xmlns:p14="http://schemas.microsoft.com/office/powerpoint/2010/main" val="13440129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Schemes</a:t>
            </a:r>
          </a:p>
        </p:txBody>
      </p:sp>
      <p:sp>
        <p:nvSpPr>
          <p:cNvPr id="3" name="Content Placeholder 2"/>
          <p:cNvSpPr>
            <a:spLocks noGrp="1"/>
          </p:cNvSpPr>
          <p:nvPr>
            <p:ph idx="1"/>
          </p:nvPr>
        </p:nvSpPr>
        <p:spPr/>
        <p:txBody>
          <a:bodyPr>
            <a:normAutofit lnSpcReduction="10000"/>
          </a:bodyPr>
          <a:lstStyle/>
          <a:p>
            <a:r>
              <a:rPr lang="en-US" dirty="0"/>
              <a:t>In order to communicate across the Internet, a computer must have a unique address</a:t>
            </a:r>
            <a:r>
              <a:rPr lang="en-US" dirty="0" smtClean="0"/>
              <a:t>.</a:t>
            </a:r>
          </a:p>
          <a:p>
            <a:r>
              <a:rPr lang="en-US" dirty="0"/>
              <a:t>Every computer on the Internet has a unique numeric identifier, called an Internet Protocol (IP) address</a:t>
            </a:r>
            <a:r>
              <a:rPr lang="en-US" dirty="0" smtClean="0"/>
              <a:t>.</a:t>
            </a:r>
          </a:p>
          <a:p>
            <a:r>
              <a:rPr lang="en-US" dirty="0"/>
              <a:t>Each IP address has four parts – each part a number between 0 and 255. </a:t>
            </a:r>
            <a:endParaRPr lang="en-US" dirty="0" smtClean="0"/>
          </a:p>
          <a:p>
            <a:r>
              <a:rPr lang="en-US" dirty="0" smtClean="0"/>
              <a:t>An </a:t>
            </a:r>
            <a:r>
              <a:rPr lang="en-US" dirty="0"/>
              <a:t>IP address might look like this: </a:t>
            </a:r>
            <a:r>
              <a:rPr lang="en-US" b="1" dirty="0"/>
              <a:t>205.46.117.104</a:t>
            </a:r>
            <a:r>
              <a:rPr lang="en-US" dirty="0"/>
              <a:t>.</a:t>
            </a:r>
          </a:p>
        </p:txBody>
      </p:sp>
    </p:spTree>
    <p:extLst>
      <p:ext uri="{BB962C8B-B14F-4D97-AF65-F5344CB8AC3E}">
        <p14:creationId xmlns:p14="http://schemas.microsoft.com/office/powerpoint/2010/main" val="27561443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Domains and Subdomains</a:t>
            </a:r>
          </a:p>
        </p:txBody>
      </p:sp>
      <p:sp>
        <p:nvSpPr>
          <p:cNvPr id="3" name="Content Placeholder 2"/>
          <p:cNvSpPr>
            <a:spLocks noGrp="1"/>
          </p:cNvSpPr>
          <p:nvPr>
            <p:ph idx="1"/>
          </p:nvPr>
        </p:nvSpPr>
        <p:spPr/>
        <p:txBody>
          <a:bodyPr>
            <a:normAutofit fontScale="92500" lnSpcReduction="20000"/>
          </a:bodyPr>
          <a:lstStyle/>
          <a:p>
            <a:r>
              <a:rPr lang="en-US" dirty="0"/>
              <a:t>In addition to an IP address, most Internet hosts or servers have a Domain Name System (DNS) address, which uses </a:t>
            </a:r>
            <a:r>
              <a:rPr lang="en-US" dirty="0" smtClean="0"/>
              <a:t>words</a:t>
            </a:r>
          </a:p>
          <a:p>
            <a:r>
              <a:rPr lang="en-US" dirty="0"/>
              <a:t>A domain name identifies the type of institution that owns the computer. </a:t>
            </a:r>
            <a:endParaRPr lang="en-US" dirty="0" smtClean="0"/>
          </a:p>
          <a:p>
            <a:r>
              <a:rPr lang="en-US" dirty="0" smtClean="0"/>
              <a:t>An </a:t>
            </a:r>
            <a:r>
              <a:rPr lang="en-US" dirty="0"/>
              <a:t>Internet server owned by </a:t>
            </a:r>
            <a:r>
              <a:rPr lang="en-US" b="1" dirty="0" smtClean="0"/>
              <a:t>University of Columbus </a:t>
            </a:r>
            <a:r>
              <a:rPr lang="en-US" dirty="0" smtClean="0"/>
              <a:t>might </a:t>
            </a:r>
            <a:r>
              <a:rPr lang="en-US" dirty="0"/>
              <a:t>have the domain name </a:t>
            </a:r>
            <a:r>
              <a:rPr lang="en-US" b="1" dirty="0" smtClean="0"/>
              <a:t>columbus.com</a:t>
            </a:r>
            <a:r>
              <a:rPr lang="en-US" dirty="0" smtClean="0"/>
              <a:t>.</a:t>
            </a:r>
          </a:p>
          <a:p>
            <a:r>
              <a:rPr lang="en-US" dirty="0"/>
              <a:t>Some enterprises have multiple servers, and identify them with subdomains, such as </a:t>
            </a:r>
            <a:r>
              <a:rPr lang="en-US" b="1" dirty="0" smtClean="0"/>
              <a:t>students.colombus.com</a:t>
            </a:r>
            <a:r>
              <a:rPr lang="en-US" b="1" dirty="0"/>
              <a:t>.</a:t>
            </a:r>
          </a:p>
        </p:txBody>
      </p:sp>
    </p:spTree>
    <p:extLst>
      <p:ext uri="{BB962C8B-B14F-4D97-AF65-F5344CB8AC3E}">
        <p14:creationId xmlns:p14="http://schemas.microsoft.com/office/powerpoint/2010/main" val="320412923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19400" y="2438400"/>
            <a:ext cx="3428999" cy="3386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8784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499</TotalTime>
  <Words>3144</Words>
  <Application>Microsoft Office PowerPoint</Application>
  <PresentationFormat>On-screen Show (4:3)</PresentationFormat>
  <Paragraphs>221</Paragraphs>
  <Slides>46</Slides>
  <Notes>10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Computer networks</vt:lpstr>
      <vt:lpstr>The Internet</vt:lpstr>
      <vt:lpstr>History of the internet</vt:lpstr>
      <vt:lpstr>History of the internet cont’d</vt:lpstr>
      <vt:lpstr>PowerPoint Presentation</vt:lpstr>
      <vt:lpstr>History of the internet cont’d</vt:lpstr>
      <vt:lpstr>Internet Background (Cont’d)</vt:lpstr>
      <vt:lpstr>Internet Infrastructure</vt:lpstr>
      <vt:lpstr>Cont’d</vt:lpstr>
      <vt:lpstr>Requirements for connecting to the Internet</vt:lpstr>
      <vt:lpstr>Internet Access Technologies </vt:lpstr>
      <vt:lpstr>Connecting Businesses to the Internet </vt:lpstr>
      <vt:lpstr>Overview of the Internet architecture</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Overview of the Internet architecture cont’d</vt:lpstr>
      <vt:lpstr>Internet Protocols</vt:lpstr>
      <vt:lpstr>Internet Protocols (Cont’d)</vt:lpstr>
      <vt:lpstr>Internet Protocols (Cont’d)</vt:lpstr>
      <vt:lpstr>Protocol Suite</vt:lpstr>
      <vt:lpstr>Types of Internet Connections (Cont’d)</vt:lpstr>
      <vt:lpstr>Internet Access Technologies </vt:lpstr>
      <vt:lpstr>Connecting Businesses to the Internet </vt:lpstr>
      <vt:lpstr>Characteristics underlying internet  architectures  (Design criteria)</vt:lpstr>
      <vt:lpstr>Reliable Network Fault Tolerance in Circuit Switched Network</vt:lpstr>
      <vt:lpstr>Reliable Network Packet-Switched Networks</vt:lpstr>
      <vt:lpstr>Reliable Network Scalable Networks</vt:lpstr>
      <vt:lpstr>Reliable Network Providing QoS</vt:lpstr>
      <vt:lpstr>Reliable Network Providing Network Security</vt:lpstr>
      <vt:lpstr>Intranet and Extranet</vt:lpstr>
      <vt:lpstr>World Wide Web (WWW)</vt:lpstr>
      <vt:lpstr>Cont’d</vt:lpstr>
      <vt:lpstr>Cont..</vt:lpstr>
      <vt:lpstr>Cont..</vt:lpstr>
      <vt:lpstr>Addressing Schemes</vt:lpstr>
      <vt:lpstr>Domains and Subdomains</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Kho</dc:creator>
  <cp:lastModifiedBy>KHO</cp:lastModifiedBy>
  <cp:revision>31</cp:revision>
  <dcterms:created xsi:type="dcterms:W3CDTF">2020-02-27T10:09:49Z</dcterms:created>
  <dcterms:modified xsi:type="dcterms:W3CDTF">2023-06-22T10:57:32Z</dcterms:modified>
</cp:coreProperties>
</file>