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258" r:id="rId4"/>
    <p:sldId id="284" r:id="rId5"/>
    <p:sldId id="285" r:id="rId6"/>
    <p:sldId id="287" r:id="rId7"/>
    <p:sldId id="301" r:id="rId8"/>
    <p:sldId id="288" r:id="rId9"/>
    <p:sldId id="289" r:id="rId10"/>
    <p:sldId id="302" r:id="rId11"/>
    <p:sldId id="290" r:id="rId12"/>
    <p:sldId id="303" r:id="rId13"/>
    <p:sldId id="304" r:id="rId14"/>
    <p:sldId id="305" r:id="rId15"/>
    <p:sldId id="306" r:id="rId16"/>
    <p:sldId id="307" r:id="rId17"/>
    <p:sldId id="308" r:id="rId18"/>
    <p:sldId id="309" r:id="rId19"/>
    <p:sldId id="310" r:id="rId20"/>
    <p:sldId id="291" r:id="rId21"/>
    <p:sldId id="259" r:id="rId22"/>
    <p:sldId id="260" r:id="rId23"/>
    <p:sldId id="261" r:id="rId24"/>
    <p:sldId id="262" r:id="rId25"/>
    <p:sldId id="263" r:id="rId26"/>
    <p:sldId id="264" r:id="rId27"/>
    <p:sldId id="265" r:id="rId28"/>
    <p:sldId id="266" r:id="rId29"/>
    <p:sldId id="267" r:id="rId30"/>
    <p:sldId id="276" r:id="rId31"/>
    <p:sldId id="283" r:id="rId32"/>
    <p:sldId id="277" r:id="rId33"/>
    <p:sldId id="278" r:id="rId34"/>
    <p:sldId id="279" r:id="rId35"/>
    <p:sldId id="280" r:id="rId36"/>
    <p:sldId id="281" r:id="rId37"/>
    <p:sldId id="282" r:id="rId38"/>
    <p:sldId id="268" r:id="rId39"/>
    <p:sldId id="269" r:id="rId40"/>
    <p:sldId id="270" r:id="rId41"/>
    <p:sldId id="271" r:id="rId42"/>
    <p:sldId id="273" r:id="rId43"/>
    <p:sldId id="274" r:id="rId44"/>
    <p:sldId id="272" r:id="rId45"/>
    <p:sldId id="275" r:id="rId46"/>
    <p:sldId id="311"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715" autoAdjust="0"/>
  </p:normalViewPr>
  <p:slideViewPr>
    <p:cSldViewPr>
      <p:cViewPr varScale="1">
        <p:scale>
          <a:sx n="58" d="100"/>
          <a:sy n="58" d="100"/>
        </p:scale>
        <p:origin x="-171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CC8AE5-A9EC-44A1-9EE1-202D415F56EA}" type="datetimeFigureOut">
              <a:rPr lang="en-US" smtClean="0"/>
              <a:t>6/22/2023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EC24AA-CDCB-4DCE-9279-55806ABB38A7}" type="slidenum">
              <a:rPr lang="en-US" smtClean="0"/>
              <a:t>‹#›</a:t>
            </a:fld>
            <a:endParaRPr lang="en-US"/>
          </a:p>
        </p:txBody>
      </p:sp>
    </p:spTree>
    <p:extLst>
      <p:ext uri="{BB962C8B-B14F-4D97-AF65-F5344CB8AC3E}">
        <p14:creationId xmlns:p14="http://schemas.microsoft.com/office/powerpoint/2010/main" val="218243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en.wikipedia.org/wiki/Broadcasting_(networking)" TargetMode="External"/><Relationship Id="rId3" Type="http://schemas.openxmlformats.org/officeDocument/2006/relationships/hyperlink" Target="https://en.wikipedia.org/wiki/Telecommunications" TargetMode="External"/><Relationship Id="rId7" Type="http://schemas.openxmlformats.org/officeDocument/2006/relationships/hyperlink" Target="https://en.wikipedia.org/wiki/Point-to-multipoint"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en.wikipedia.org/wiki/Telephone_call" TargetMode="External"/><Relationship Id="rId5" Type="http://schemas.openxmlformats.org/officeDocument/2006/relationships/hyperlink" Target="https://en.wikipedia.org/wiki/Node_(networking)" TargetMode="External"/><Relationship Id="rId10" Type="http://schemas.openxmlformats.org/officeDocument/2006/relationships/hyperlink" Target="https://en.wikipedia.org/wiki/Microwave_radio_relay" TargetMode="External"/><Relationship Id="rId4" Type="http://schemas.openxmlformats.org/officeDocument/2006/relationships/hyperlink" Target="https://en.wikipedia.org/wiki/Communication_endpoint" TargetMode="External"/><Relationship Id="rId9" Type="http://schemas.openxmlformats.org/officeDocument/2006/relationships/hyperlink" Target="https://en.wikipedia.org/wiki/Leased_line"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EEC24AA-CDCB-4DCE-9279-55806ABB38A7}" type="slidenum">
              <a:rPr lang="en-US" smtClean="0"/>
              <a:t>1</a:t>
            </a:fld>
            <a:endParaRPr lang="en-US"/>
          </a:p>
        </p:txBody>
      </p:sp>
    </p:spTree>
    <p:extLst>
      <p:ext uri="{BB962C8B-B14F-4D97-AF65-F5344CB8AC3E}">
        <p14:creationId xmlns:p14="http://schemas.microsoft.com/office/powerpoint/2010/main" val="4238645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a:p>
        </p:txBody>
      </p:sp>
      <p:sp>
        <p:nvSpPr>
          <p:cNvPr id="4" name="عنصر نائب لرقم الشريحة 3"/>
          <p:cNvSpPr>
            <a:spLocks noGrp="1"/>
          </p:cNvSpPr>
          <p:nvPr>
            <p:ph type="sldNum" sz="quarter" idx="10"/>
          </p:nvPr>
        </p:nvSpPr>
        <p:spPr/>
        <p:txBody>
          <a:bodyPr/>
          <a:lstStyle/>
          <a:p>
            <a:fld id="{3FD4DF9F-ED70-4233-BC37-941D044E97D9}" type="slidenum">
              <a:rPr lang="en-US" smtClean="0"/>
              <a:t>5</a:t>
            </a:fld>
            <a:endParaRPr lang="en-US"/>
          </a:p>
        </p:txBody>
      </p:sp>
    </p:spTree>
    <p:extLst>
      <p:ext uri="{BB962C8B-B14F-4D97-AF65-F5344CB8AC3E}">
        <p14:creationId xmlns:p14="http://schemas.microsoft.com/office/powerpoint/2010/main" val="3862219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Synchronous Data Link Control (SDLC) created by IBM</a:t>
            </a:r>
            <a:endParaRPr lang="en-US" dirty="0" smtClean="0"/>
          </a:p>
          <a:p>
            <a:r>
              <a:rPr lang="en-US" dirty="0" smtClean="0"/>
              <a:t>HDLC= High</a:t>
            </a:r>
            <a:r>
              <a:rPr lang="en-US" baseline="0" dirty="0" smtClean="0"/>
              <a:t>-Level Data Link Control is adopted from SDLC (improved SDLC by ISO): Is a bit-oriented code-transparent synchronous data link layer protocol. It provides connection-oriented and connectionless service</a:t>
            </a:r>
          </a:p>
          <a:p>
            <a:endParaRPr lang="en-US" baseline="0" dirty="0" smtClean="0"/>
          </a:p>
          <a:p>
            <a:r>
              <a:rPr lang="en-GB" sz="1200" b="0" i="0" kern="1200" dirty="0" smtClean="0">
                <a:solidFill>
                  <a:schemeClr val="tx1"/>
                </a:solidFill>
                <a:effectLst/>
                <a:latin typeface="+mn-lt"/>
                <a:ea typeface="+mn-ea"/>
                <a:cs typeface="+mn-cs"/>
              </a:rPr>
              <a:t>In </a:t>
            </a:r>
            <a:r>
              <a:rPr lang="en-GB" sz="1200" b="0" i="0" u="none" strike="noStrike" kern="1200" dirty="0" smtClean="0">
                <a:solidFill>
                  <a:schemeClr val="tx1"/>
                </a:solidFill>
                <a:effectLst/>
                <a:latin typeface="+mn-lt"/>
                <a:ea typeface="+mn-ea"/>
                <a:cs typeface="+mn-cs"/>
                <a:hlinkClick r:id="rId3" tooltip="Telecommunications"/>
              </a:rPr>
              <a:t>telecommunications</a:t>
            </a:r>
            <a:r>
              <a:rPr lang="en-GB" sz="1200" b="0" i="0" kern="1200" dirty="0" smtClean="0">
                <a:solidFill>
                  <a:schemeClr val="tx1"/>
                </a:solidFill>
                <a:effectLst/>
                <a:latin typeface="+mn-lt"/>
                <a:ea typeface="+mn-ea"/>
                <a:cs typeface="+mn-cs"/>
              </a:rPr>
              <a:t>, a </a:t>
            </a:r>
            <a:r>
              <a:rPr lang="en-GB" sz="1200" b="1" i="0" kern="1200" dirty="0" smtClean="0">
                <a:solidFill>
                  <a:schemeClr val="tx1"/>
                </a:solidFill>
                <a:effectLst/>
                <a:latin typeface="+mn-lt"/>
                <a:ea typeface="+mn-ea"/>
                <a:cs typeface="+mn-cs"/>
              </a:rPr>
              <a:t>point-to-point</a:t>
            </a:r>
            <a:r>
              <a:rPr lang="en-GB" sz="1200" b="0" i="0" kern="1200" dirty="0" smtClean="0">
                <a:solidFill>
                  <a:schemeClr val="tx1"/>
                </a:solidFill>
                <a:effectLst/>
                <a:latin typeface="+mn-lt"/>
                <a:ea typeface="+mn-ea"/>
                <a:cs typeface="+mn-cs"/>
              </a:rPr>
              <a:t> connection refers to a communications connection between two </a:t>
            </a:r>
            <a:r>
              <a:rPr lang="en-GB" sz="1200" b="0" i="0" u="none" strike="noStrike" kern="1200" dirty="0" smtClean="0">
                <a:solidFill>
                  <a:schemeClr val="tx1"/>
                </a:solidFill>
                <a:effectLst/>
                <a:latin typeface="+mn-lt"/>
                <a:ea typeface="+mn-ea"/>
                <a:cs typeface="+mn-cs"/>
                <a:hlinkClick r:id="rId4" tooltip="Communication endpoint"/>
              </a:rPr>
              <a:t>communication endpoints</a:t>
            </a:r>
            <a:r>
              <a:rPr lang="en-GB" sz="1200" b="0" i="0" kern="1200" dirty="0" smtClean="0">
                <a:solidFill>
                  <a:schemeClr val="tx1"/>
                </a:solidFill>
                <a:effectLst/>
                <a:latin typeface="+mn-lt"/>
                <a:ea typeface="+mn-ea"/>
                <a:cs typeface="+mn-cs"/>
              </a:rPr>
              <a:t> or </a:t>
            </a:r>
            <a:r>
              <a:rPr lang="en-GB" sz="1200" b="0" i="0" u="none" strike="noStrike" kern="1200" dirty="0" smtClean="0">
                <a:solidFill>
                  <a:schemeClr val="tx1"/>
                </a:solidFill>
                <a:effectLst/>
                <a:latin typeface="+mn-lt"/>
                <a:ea typeface="+mn-ea"/>
                <a:cs typeface="+mn-cs"/>
                <a:hlinkClick r:id="rId5" tooltip="Node (networking)"/>
              </a:rPr>
              <a:t>nodes</a:t>
            </a:r>
            <a:r>
              <a:rPr lang="en-GB" sz="1200" b="0" i="0" kern="1200" dirty="0" smtClean="0">
                <a:solidFill>
                  <a:schemeClr val="tx1"/>
                </a:solidFill>
                <a:effectLst/>
                <a:latin typeface="+mn-lt"/>
                <a:ea typeface="+mn-ea"/>
                <a:cs typeface="+mn-cs"/>
              </a:rPr>
              <a:t>. An example is a </a:t>
            </a:r>
            <a:r>
              <a:rPr lang="en-GB" sz="1200" b="0" i="0" u="none" strike="noStrike" kern="1200" dirty="0" smtClean="0">
                <a:solidFill>
                  <a:schemeClr val="tx1"/>
                </a:solidFill>
                <a:effectLst/>
                <a:latin typeface="+mn-lt"/>
                <a:ea typeface="+mn-ea"/>
                <a:cs typeface="+mn-cs"/>
                <a:hlinkClick r:id="rId6" tooltip="Telephone call"/>
              </a:rPr>
              <a:t>telephone call</a:t>
            </a:r>
            <a:r>
              <a:rPr lang="en-GB" sz="1200" b="0" i="0" kern="1200" dirty="0" smtClean="0">
                <a:solidFill>
                  <a:schemeClr val="tx1"/>
                </a:solidFill>
                <a:effectLst/>
                <a:latin typeface="+mn-lt"/>
                <a:ea typeface="+mn-ea"/>
                <a:cs typeface="+mn-cs"/>
              </a:rPr>
              <a:t>, in which one telephone is connected with one other, and what is said by one caller can only be heard by the other. This is contrasted with a </a:t>
            </a:r>
            <a:r>
              <a:rPr lang="en-GB" sz="1200" b="0" i="1" u="none" strike="noStrike" kern="1200" dirty="0" smtClean="0">
                <a:solidFill>
                  <a:schemeClr val="tx1"/>
                </a:solidFill>
                <a:effectLst/>
                <a:latin typeface="+mn-lt"/>
                <a:ea typeface="+mn-ea"/>
                <a:cs typeface="+mn-cs"/>
                <a:hlinkClick r:id="rId7" tooltip="Point-to-multipoint"/>
              </a:rPr>
              <a:t>point-to-multipoint</a:t>
            </a:r>
            <a:r>
              <a:rPr lang="en-GB" sz="1200" b="0" i="0" kern="1200" dirty="0" smtClean="0">
                <a:solidFill>
                  <a:schemeClr val="tx1"/>
                </a:solidFill>
                <a:effectLst/>
                <a:latin typeface="+mn-lt"/>
                <a:ea typeface="+mn-ea"/>
                <a:cs typeface="+mn-cs"/>
              </a:rPr>
              <a:t> or </a:t>
            </a:r>
            <a:r>
              <a:rPr lang="en-GB" sz="1200" b="0" i="1" u="none" strike="noStrike" kern="1200" dirty="0" smtClean="0">
                <a:solidFill>
                  <a:schemeClr val="tx1"/>
                </a:solidFill>
                <a:effectLst/>
                <a:latin typeface="+mn-lt"/>
                <a:ea typeface="+mn-ea"/>
                <a:cs typeface="+mn-cs"/>
                <a:hlinkClick r:id="rId8" tooltip="Broadcasting (networking)"/>
              </a:rPr>
              <a:t>broadcast</a:t>
            </a:r>
            <a:r>
              <a:rPr lang="en-GB" sz="1200" b="0" i="0" kern="1200" dirty="0" smtClean="0">
                <a:solidFill>
                  <a:schemeClr val="tx1"/>
                </a:solidFill>
                <a:effectLst/>
                <a:latin typeface="+mn-lt"/>
                <a:ea typeface="+mn-ea"/>
                <a:cs typeface="+mn-cs"/>
              </a:rPr>
              <a:t> connection, in which many nodes can receive information transmitted by one node. Other examples of point-to-point communications links are </a:t>
            </a:r>
            <a:r>
              <a:rPr lang="en-GB" sz="1200" b="0" i="0" u="none" strike="noStrike" kern="1200" dirty="0" smtClean="0">
                <a:solidFill>
                  <a:schemeClr val="tx1"/>
                </a:solidFill>
                <a:effectLst/>
                <a:latin typeface="+mn-lt"/>
                <a:ea typeface="+mn-ea"/>
                <a:cs typeface="+mn-cs"/>
                <a:hlinkClick r:id="rId9" tooltip="Leased line"/>
              </a:rPr>
              <a:t>leased lines</a:t>
            </a:r>
            <a:r>
              <a:rPr lang="en-GB" sz="1200" b="0" i="0" kern="1200" dirty="0" smtClean="0">
                <a:solidFill>
                  <a:schemeClr val="tx1"/>
                </a:solidFill>
                <a:effectLst/>
                <a:latin typeface="+mn-lt"/>
                <a:ea typeface="+mn-ea"/>
                <a:cs typeface="+mn-cs"/>
              </a:rPr>
              <a:t> and </a:t>
            </a:r>
            <a:r>
              <a:rPr lang="en-GB" sz="1200" b="0" i="0" u="none" strike="noStrike" kern="1200" dirty="0" smtClean="0">
                <a:solidFill>
                  <a:schemeClr val="tx1"/>
                </a:solidFill>
                <a:effectLst/>
                <a:latin typeface="+mn-lt"/>
                <a:ea typeface="+mn-ea"/>
                <a:cs typeface="+mn-cs"/>
                <a:hlinkClick r:id="rId10" tooltip="Microwave radio relay"/>
              </a:rPr>
              <a:t>microwave radio relay</a:t>
            </a:r>
            <a:r>
              <a:rPr lang="en-GB" sz="1200" b="0" i="0"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DEEC24AA-CDCB-4DCE-9279-55806ABB38A7}" type="slidenum">
              <a:rPr lang="en-US" smtClean="0"/>
              <a:t>7</a:t>
            </a:fld>
            <a:endParaRPr lang="en-US"/>
          </a:p>
        </p:txBody>
      </p:sp>
    </p:spTree>
    <p:extLst>
      <p:ext uri="{BB962C8B-B14F-4D97-AF65-F5344CB8AC3E}">
        <p14:creationId xmlns:p14="http://schemas.microsoft.com/office/powerpoint/2010/main" val="3830696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DEEC24AA-CDCB-4DCE-9279-55806ABB38A7}" type="slidenum">
              <a:rPr lang="en-US" smtClean="0"/>
              <a:t>8</a:t>
            </a:fld>
            <a:endParaRPr lang="en-US"/>
          </a:p>
        </p:txBody>
      </p:sp>
    </p:spTree>
    <p:extLst>
      <p:ext uri="{BB962C8B-B14F-4D97-AF65-F5344CB8AC3E}">
        <p14:creationId xmlns:p14="http://schemas.microsoft.com/office/powerpoint/2010/main" val="3041534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EC24AA-CDCB-4DCE-9279-55806ABB38A7}" type="slidenum">
              <a:rPr lang="en-US" smtClean="0"/>
              <a:t>9</a:t>
            </a:fld>
            <a:endParaRPr lang="en-US"/>
          </a:p>
        </p:txBody>
      </p:sp>
    </p:spTree>
    <p:extLst>
      <p:ext uri="{BB962C8B-B14F-4D97-AF65-F5344CB8AC3E}">
        <p14:creationId xmlns:p14="http://schemas.microsoft.com/office/powerpoint/2010/main" val="2151922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Public Switched Telephone Network (PSTN) </a:t>
            </a:r>
            <a:r>
              <a:rPr lang="en-US" dirty="0" smtClean="0"/>
              <a:t>is an aggregate of the worlds circuit-switched</a:t>
            </a:r>
            <a:r>
              <a:rPr lang="en-US" baseline="0" dirty="0" smtClean="0"/>
              <a:t> telephone networks that are operated by national, regional or local telephony operators providing infrastructure and services for public telecommunication. E.g. telephone lines, fiber optic cables, switching centers, cellular networks, satellites and cable systems (It is </a:t>
            </a:r>
            <a:r>
              <a:rPr lang="en-US" dirty="0" smtClean="0"/>
              <a:t>analogue and voice oriented)</a:t>
            </a:r>
          </a:p>
          <a:p>
            <a:r>
              <a:rPr lang="en-US" b="1" dirty="0" smtClean="0"/>
              <a:t>Integrated Services</a:t>
            </a:r>
            <a:r>
              <a:rPr lang="en-US" b="1" baseline="0" dirty="0" smtClean="0"/>
              <a:t> Digital Network (</a:t>
            </a:r>
            <a:r>
              <a:rPr lang="en-US" b="1" dirty="0" smtClean="0"/>
              <a:t>ISDN)</a:t>
            </a:r>
            <a:r>
              <a:rPr lang="en-US" b="1" baseline="0" dirty="0" smtClean="0"/>
              <a:t> </a:t>
            </a:r>
            <a:r>
              <a:rPr lang="en-US" baseline="0" dirty="0" smtClean="0"/>
              <a:t>is a set of communication standards for simultaneous digital transmission of voice, video, data and other network services over the traditional circuits of the public switched telephone network</a:t>
            </a:r>
            <a:endParaRPr lang="en-US" dirty="0" smtClean="0"/>
          </a:p>
          <a:p>
            <a:endParaRPr lang="en-US" dirty="0" smtClean="0"/>
          </a:p>
          <a:p>
            <a:endParaRPr lang="en-US" dirty="0" smtClean="0"/>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DEEC24AA-CDCB-4DCE-9279-55806ABB38A7}" type="slidenum">
              <a:rPr lang="en-US" smtClean="0"/>
              <a:t>11</a:t>
            </a:fld>
            <a:endParaRPr lang="en-US"/>
          </a:p>
        </p:txBody>
      </p:sp>
    </p:spTree>
    <p:extLst>
      <p:ext uri="{BB962C8B-B14F-4D97-AF65-F5344CB8AC3E}">
        <p14:creationId xmlns:p14="http://schemas.microsoft.com/office/powerpoint/2010/main" val="1651489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EC24AA-CDCB-4DCE-9279-55806ABB38A7}" type="slidenum">
              <a:rPr lang="en-US" smtClean="0"/>
              <a:t>12</a:t>
            </a:fld>
            <a:endParaRPr lang="en-US"/>
          </a:p>
        </p:txBody>
      </p:sp>
    </p:spTree>
    <p:extLst>
      <p:ext uri="{BB962C8B-B14F-4D97-AF65-F5344CB8AC3E}">
        <p14:creationId xmlns:p14="http://schemas.microsoft.com/office/powerpoint/2010/main" val="1749833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Broadband</a:t>
            </a:r>
            <a:r>
              <a:rPr lang="en-US" baseline="0" dirty="0" smtClean="0"/>
              <a:t> refers to high-speed internet access that is faster than the traditional dial-up access. It includes high speed transmission technologies such as Digital Subscriber Liner (DSL), Cable modem, Fiber, Wireless, Satellite, Broadband over Powerlines (BPL)</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Dial-up access is a form of internet access that uses the facilities of the public switched telephone network (PSTN) to establish a connection to an internet service provider (ISP) by dialing a telephone number on a conventional telephone line</a:t>
            </a:r>
            <a:endParaRPr lang="en-US" dirty="0" smtClean="0"/>
          </a:p>
          <a:p>
            <a:endParaRPr lang="en-US" dirty="0"/>
          </a:p>
        </p:txBody>
      </p:sp>
      <p:sp>
        <p:nvSpPr>
          <p:cNvPr id="4" name="Slide Number Placeholder 3"/>
          <p:cNvSpPr>
            <a:spLocks noGrp="1"/>
          </p:cNvSpPr>
          <p:nvPr>
            <p:ph type="sldNum" sz="quarter" idx="10"/>
          </p:nvPr>
        </p:nvSpPr>
        <p:spPr/>
        <p:txBody>
          <a:bodyPr/>
          <a:lstStyle/>
          <a:p>
            <a:fld id="{DEEC24AA-CDCB-4DCE-9279-55806ABB38A7}" type="slidenum">
              <a:rPr lang="en-US" smtClean="0"/>
              <a:t>20</a:t>
            </a:fld>
            <a:endParaRPr lang="en-US"/>
          </a:p>
        </p:txBody>
      </p:sp>
    </p:spTree>
    <p:extLst>
      <p:ext uri="{BB962C8B-B14F-4D97-AF65-F5344CB8AC3E}">
        <p14:creationId xmlns:p14="http://schemas.microsoft.com/office/powerpoint/2010/main" val="2037634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VPN solves </a:t>
            </a:r>
            <a:r>
              <a:rPr lang="en-US" sz="1200" kern="1200" smtClean="0">
                <a:solidFill>
                  <a:schemeClr val="tx1"/>
                </a:solidFill>
                <a:effectLst/>
                <a:latin typeface="+mn-lt"/>
                <a:ea typeface="+mn-ea"/>
                <a:cs typeface="+mn-cs"/>
              </a:rPr>
              <a:t>the</a:t>
            </a:r>
            <a:r>
              <a:rPr lang="en-US" sz="1200" kern="1200" baseline="0" smtClean="0">
                <a:solidFill>
                  <a:schemeClr val="tx1"/>
                </a:solidFill>
                <a:effectLst/>
                <a:latin typeface="+mn-lt"/>
                <a:ea typeface="+mn-ea"/>
                <a:cs typeface="+mn-cs"/>
              </a:rPr>
              <a:t> </a:t>
            </a:r>
            <a:r>
              <a:rPr lang="en-US" sz="1200" kern="1200" smtClean="0">
                <a:solidFill>
                  <a:schemeClr val="tx1"/>
                </a:solidFill>
                <a:effectLst/>
                <a:latin typeface="+mn-lt"/>
                <a:ea typeface="+mn-ea"/>
                <a:cs typeface="+mn-cs"/>
              </a:rPr>
              <a:t>limitation of </a:t>
            </a:r>
            <a:r>
              <a:rPr lang="en-US" sz="1200" kern="1200" dirty="0" smtClean="0">
                <a:solidFill>
                  <a:schemeClr val="tx1"/>
                </a:solidFill>
                <a:effectLst/>
                <a:latin typeface="+mn-lt"/>
                <a:ea typeface="+mn-ea"/>
                <a:cs typeface="+mn-cs"/>
              </a:rPr>
              <a:t>geographic disperse working environments</a:t>
            </a:r>
            <a:endParaRPr lang="en-US" sz="11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DEEC24AA-CDCB-4DCE-9279-55806ABB38A7}" type="slidenum">
              <a:rPr lang="en-US" smtClean="0"/>
              <a:t>38</a:t>
            </a:fld>
            <a:endParaRPr lang="en-US"/>
          </a:p>
        </p:txBody>
      </p:sp>
    </p:spTree>
    <p:extLst>
      <p:ext uri="{BB962C8B-B14F-4D97-AF65-F5344CB8AC3E}">
        <p14:creationId xmlns:p14="http://schemas.microsoft.com/office/powerpoint/2010/main" val="4218363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CB2A11D-94D5-4F99-9428-DD29A1BF2F2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2570727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B2A11D-94D5-4F99-9428-DD29A1BF2F2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1507331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B2A11D-94D5-4F99-9428-DD29A1BF2F2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174659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CB2A11D-94D5-4F99-9428-DD29A1BF2F2D}" type="datetimeFigureOut">
              <a:rPr lang="en-US" smtClean="0"/>
              <a:t>6/22/2023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169563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CB2A11D-94D5-4F99-9428-DD29A1BF2F2D}" type="datetimeFigureOut">
              <a:rPr lang="en-US" smtClean="0"/>
              <a:t>6/22/2023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2298866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CB2A11D-94D5-4F99-9428-DD29A1BF2F2D}" type="datetimeFigureOut">
              <a:rPr lang="en-US" smtClean="0"/>
              <a:t>6/22/2023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3086910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B2A11D-94D5-4F99-9428-DD29A1BF2F2D}" type="datetimeFigureOut">
              <a:rPr lang="en-US" smtClean="0"/>
              <a:t>6/22/2023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3181644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B2A11D-94D5-4F99-9428-DD29A1BF2F2D}" type="datetimeFigureOut">
              <a:rPr lang="en-US" smtClean="0"/>
              <a:t>6/22/2023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3321568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B2A11D-94D5-4F99-9428-DD29A1BF2F2D}" type="datetimeFigureOut">
              <a:rPr lang="en-US" smtClean="0"/>
              <a:t>6/22/2023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3886718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B2A11D-94D5-4F99-9428-DD29A1BF2F2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3981329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B2A11D-94D5-4F99-9428-DD29A1BF2F2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4EED68-D06C-4058-BAEF-567F3BB93908}" type="slidenum">
              <a:rPr lang="en-US" smtClean="0"/>
              <a:t>‹#›</a:t>
            </a:fld>
            <a:endParaRPr lang="en-US"/>
          </a:p>
        </p:txBody>
      </p:sp>
    </p:spTree>
    <p:extLst>
      <p:ext uri="{BB962C8B-B14F-4D97-AF65-F5344CB8AC3E}">
        <p14:creationId xmlns:p14="http://schemas.microsoft.com/office/powerpoint/2010/main" val="2472682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685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52400" y="1371600"/>
            <a:ext cx="43434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3434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70178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B2A11D-94D5-4F99-9428-DD29A1BF2F2D}" type="datetimeFigureOut">
              <a:rPr lang="en-US" smtClean="0"/>
              <a:t>6/22/2023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4EED68-D06C-4058-BAEF-567F3BB93908}" type="slidenum">
              <a:rPr lang="en-US" smtClean="0"/>
              <a:t>‹#›</a:t>
            </a:fld>
            <a:endParaRPr lang="en-US"/>
          </a:p>
        </p:txBody>
      </p:sp>
    </p:spTree>
    <p:extLst>
      <p:ext uri="{BB962C8B-B14F-4D97-AF65-F5344CB8AC3E}">
        <p14:creationId xmlns:p14="http://schemas.microsoft.com/office/powerpoint/2010/main" val="937284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Computer networks (NET-225)</a:t>
            </a:r>
            <a:endParaRPr lang="en-US" dirty="0"/>
          </a:p>
        </p:txBody>
      </p:sp>
      <p:sp>
        <p:nvSpPr>
          <p:cNvPr id="3" name="Subtitle 2"/>
          <p:cNvSpPr>
            <a:spLocks noGrp="1"/>
          </p:cNvSpPr>
          <p:nvPr>
            <p:ph type="subTitle" idx="1"/>
          </p:nvPr>
        </p:nvSpPr>
        <p:spPr/>
        <p:txBody>
          <a:bodyPr/>
          <a:lstStyle/>
          <a:p>
            <a:r>
              <a:rPr lang="en-US" dirty="0" smtClean="0"/>
              <a:t>Introduction to WANs</a:t>
            </a:r>
            <a:endParaRPr lang="en-US" dirty="0"/>
          </a:p>
        </p:txBody>
      </p:sp>
    </p:spTree>
    <p:extLst>
      <p:ext uri="{BB962C8B-B14F-4D97-AF65-F5344CB8AC3E}">
        <p14:creationId xmlns:p14="http://schemas.microsoft.com/office/powerpoint/2010/main" val="34957527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sp>
        <p:nvSpPr>
          <p:cNvPr id="3" name="Content Placeholder 2"/>
          <p:cNvSpPr>
            <a:spLocks noGrp="1"/>
          </p:cNvSpPr>
          <p:nvPr>
            <p:ph idx="1"/>
          </p:nvPr>
        </p:nvSpPr>
        <p:spPr>
          <a:xfrm>
            <a:off x="457200" y="1295400"/>
            <a:ext cx="8229600" cy="5257800"/>
          </a:xfrm>
        </p:spPr>
        <p:txBody>
          <a:bodyPr>
            <a:normAutofit fontScale="85000" lnSpcReduction="20000"/>
          </a:bodyPr>
          <a:lstStyle/>
          <a:p>
            <a:r>
              <a:rPr lang="en-US" dirty="0" smtClean="0"/>
              <a:t>One way to categorize networks based on scale (or distance they span) is to divide them into local-area networks (LAN) and wide-area networks (WAN). </a:t>
            </a:r>
          </a:p>
          <a:p>
            <a:r>
              <a:rPr lang="en-US" dirty="0" smtClean="0"/>
              <a:t>LANs typically are connected workstations, printers, and other devices within a limited geographic area such as a building. </a:t>
            </a:r>
          </a:p>
          <a:p>
            <a:r>
              <a:rPr lang="en-US" dirty="0" smtClean="0"/>
              <a:t>All the devices in the LAN are under the common administration of the owner of that LAN, such as a company or an educational institution. </a:t>
            </a:r>
          </a:p>
          <a:p>
            <a:r>
              <a:rPr lang="en-US" dirty="0" smtClean="0"/>
              <a:t>Most LANs today are Ethernet LANs. </a:t>
            </a:r>
          </a:p>
          <a:p>
            <a:r>
              <a:rPr lang="en-US" dirty="0" smtClean="0"/>
              <a:t>WANs are networks that span a larger geographic area and usually require the services of a common carrier. </a:t>
            </a:r>
          </a:p>
          <a:p>
            <a:r>
              <a:rPr lang="en-US" dirty="0" smtClean="0"/>
              <a:t>Examples of WAN technologies and protocols include Frame Relay, ATM, and DSL</a:t>
            </a:r>
            <a:endParaRPr lang="en-US" dirty="0"/>
          </a:p>
        </p:txBody>
      </p:sp>
    </p:spTree>
    <p:extLst>
      <p:ext uri="{BB962C8B-B14F-4D97-AF65-F5344CB8AC3E}">
        <p14:creationId xmlns:p14="http://schemas.microsoft.com/office/powerpoint/2010/main" val="35836551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WAN? </a:t>
            </a:r>
            <a:endParaRPr lang="en-US" dirty="0"/>
          </a:p>
        </p:txBody>
      </p:sp>
      <p:sp>
        <p:nvSpPr>
          <p:cNvPr id="3" name="Content Placeholder 2"/>
          <p:cNvSpPr>
            <a:spLocks noGrp="1"/>
          </p:cNvSpPr>
          <p:nvPr>
            <p:ph idx="1"/>
          </p:nvPr>
        </p:nvSpPr>
        <p:spPr/>
        <p:txBody>
          <a:bodyPr>
            <a:normAutofit fontScale="92500"/>
          </a:bodyPr>
          <a:lstStyle/>
          <a:p>
            <a:r>
              <a:rPr lang="en-US" dirty="0" smtClean="0"/>
              <a:t>A WAN is a data communications network that operates beyond the geographic scope of a LAN.</a:t>
            </a:r>
          </a:p>
          <a:p>
            <a:pPr lvl="1">
              <a:lnSpc>
                <a:spcPct val="150000"/>
              </a:lnSpc>
              <a:defRPr/>
            </a:pPr>
            <a:r>
              <a:rPr lang="en-US" dirty="0" smtClean="0"/>
              <a:t>Connect </a:t>
            </a:r>
            <a:r>
              <a:rPr lang="en-US" dirty="0"/>
              <a:t>devices that are separated by a broader geographical area than a LAN.</a:t>
            </a:r>
          </a:p>
          <a:p>
            <a:pPr lvl="1">
              <a:lnSpc>
                <a:spcPct val="150000"/>
              </a:lnSpc>
              <a:defRPr/>
            </a:pPr>
            <a:r>
              <a:rPr lang="en-US" dirty="0"/>
              <a:t>Use carriers (phone companies, cable companies, network providers).</a:t>
            </a:r>
          </a:p>
          <a:p>
            <a:pPr lvl="1">
              <a:lnSpc>
                <a:spcPct val="150000"/>
              </a:lnSpc>
              <a:defRPr/>
            </a:pPr>
            <a:r>
              <a:rPr lang="en-US" dirty="0"/>
              <a:t>Use serial connections of various types.</a:t>
            </a:r>
          </a:p>
          <a:p>
            <a:pPr>
              <a:lnSpc>
                <a:spcPct val="150000"/>
              </a:lnSpc>
              <a:defRPr/>
            </a:pPr>
            <a:endParaRPr lang="en-US" dirty="0"/>
          </a:p>
          <a:p>
            <a:endParaRPr lang="en-US" dirty="0" smtClean="0"/>
          </a:p>
          <a:p>
            <a:endParaRPr lang="en-US" dirty="0"/>
          </a:p>
        </p:txBody>
      </p:sp>
    </p:spTree>
    <p:extLst>
      <p:ext uri="{BB962C8B-B14F-4D97-AF65-F5344CB8AC3E}">
        <p14:creationId xmlns:p14="http://schemas.microsoft.com/office/powerpoint/2010/main" val="11487737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t>
            </a:r>
            <a:r>
              <a:rPr lang="en-US" dirty="0" smtClean="0"/>
              <a:t>is </a:t>
            </a:r>
            <a:r>
              <a:rPr lang="en-US" dirty="0"/>
              <a:t>a WAN? </a:t>
            </a:r>
            <a:r>
              <a:rPr lang="en-US" dirty="0" smtClean="0"/>
              <a:t>Cont’d</a:t>
            </a:r>
            <a:endParaRPr 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5884" y="1615472"/>
            <a:ext cx="7112233" cy="5090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209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492919" y="170602"/>
            <a:ext cx="8079581" cy="896198"/>
          </a:xfrm>
        </p:spPr>
        <p:txBody>
          <a:bodyPr/>
          <a:lstStyle/>
          <a:p>
            <a:pPr algn="ctr" eaLnBrk="1" hangingPunct="1">
              <a:defRPr/>
            </a:pPr>
            <a:r>
              <a:rPr lang="en-US" dirty="0" smtClean="0"/>
              <a:t>The Evolving Enterprise</a:t>
            </a:r>
          </a:p>
        </p:txBody>
      </p:sp>
      <p:sp>
        <p:nvSpPr>
          <p:cNvPr id="9" name="Rectangle 3"/>
          <p:cNvSpPr txBox="1">
            <a:spLocks noChangeArrowheads="1"/>
          </p:cNvSpPr>
          <p:nvPr/>
        </p:nvSpPr>
        <p:spPr bwMode="auto">
          <a:xfrm>
            <a:off x="152400" y="1066800"/>
            <a:ext cx="8839200" cy="5105400"/>
          </a:xfrm>
          <a:prstGeom prst="rect">
            <a:avLst/>
          </a:prstGeom>
          <a:noFill/>
          <a:ln w="9525">
            <a:noFill/>
            <a:miter lim="800000"/>
            <a:headEnd/>
            <a:tailEnd/>
          </a:ln>
          <a:effectLst/>
        </p:spPr>
        <p:txBody>
          <a:bodyPr/>
          <a:lstStyle/>
          <a:p>
            <a:pPr marL="342900" indent="-342900" algn="l">
              <a:spcBef>
                <a:spcPct val="20000"/>
              </a:spcBef>
              <a:buClr>
                <a:srgbClr val="FFFF00"/>
              </a:buClr>
              <a:buFont typeface="Tahoma" pitchFamily="34" charset="0"/>
              <a:buChar char="•"/>
              <a:defRPr/>
            </a:pPr>
            <a:r>
              <a:rPr lang="en-US" sz="2400" kern="0" dirty="0">
                <a:latin typeface="+mn-lt"/>
              </a:rPr>
              <a:t>As companies grow, they hire more employees, open branch offices, and expand into global markets.</a:t>
            </a:r>
          </a:p>
          <a:p>
            <a:pPr marL="342900" indent="-342900" algn="l">
              <a:spcBef>
                <a:spcPct val="20000"/>
              </a:spcBef>
              <a:buClr>
                <a:srgbClr val="FFFF00"/>
              </a:buClr>
              <a:buFont typeface="Tahoma" pitchFamily="34" charset="0"/>
              <a:buChar char="•"/>
              <a:defRPr/>
            </a:pPr>
            <a:r>
              <a:rPr lang="en-US" sz="2400" kern="0" dirty="0">
                <a:latin typeface="+mn-lt"/>
              </a:rPr>
              <a:t>These changes also influence their requirements for integrated services and drive their network requirements. </a:t>
            </a:r>
          </a:p>
        </p:txBody>
      </p:sp>
      <p:pic>
        <p:nvPicPr>
          <p:cNvPr id="10" name="Picture 9" descr="wan02.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048000"/>
            <a:ext cx="6635750" cy="354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wan03.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048000"/>
            <a:ext cx="67056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wan04.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048000"/>
            <a:ext cx="6400800"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wan05.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2997200"/>
            <a:ext cx="55118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عنصر نائب لرقم الشريحة 2"/>
          <p:cNvSpPr>
            <a:spLocks noGrp="1"/>
          </p:cNvSpPr>
          <p:nvPr>
            <p:ph type="sldNum" sz="quarter" idx="12"/>
          </p:nvPr>
        </p:nvSpPr>
        <p:spPr/>
        <p:txBody>
          <a:bodyPr/>
          <a:lstStyle/>
          <a:p>
            <a:fld id="{281822F9-C57A-4751-B00C-83DE62342CE0}" type="slidenum">
              <a:rPr lang="en-US" smtClean="0"/>
              <a:t>5</a:t>
            </a:fld>
            <a:endParaRPr lang="en-US"/>
          </a:p>
        </p:txBody>
      </p:sp>
    </p:spTree>
    <p:extLst>
      <p:ext uri="{BB962C8B-B14F-4D97-AF65-F5344CB8AC3E}">
        <p14:creationId xmlns:p14="http://schemas.microsoft.com/office/powerpoint/2010/main" val="42367138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xit" presetSubtype="0" fill="hold" nodeType="clickEffect">
                                  <p:stCondLst>
                                    <p:cond delay="0"/>
                                  </p:stCondLst>
                                  <p:childTnLst>
                                    <p:set>
                                      <p:cBhvr>
                                        <p:cTn id="13" dur="1" fill="hold">
                                          <p:stCondLst>
                                            <p:cond delay="0"/>
                                          </p:stCondLst>
                                        </p:cTn>
                                        <p:tgtEl>
                                          <p:spTgt spid="10"/>
                                        </p:tgtEl>
                                        <p:attrNameLst>
                                          <p:attrName>style.visibility</p:attrName>
                                        </p:attrNameLst>
                                      </p:cBhvr>
                                      <p:to>
                                        <p:strVal val="hidden"/>
                                      </p:to>
                                    </p:set>
                                  </p:childTnLst>
                                </p:cTn>
                              </p:par>
                              <p:par>
                                <p:cTn id="14" presetID="53"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nodeType="clickEffect">
                                  <p:stCondLst>
                                    <p:cond delay="0"/>
                                  </p:stCondLst>
                                  <p:childTnLst>
                                    <p:set>
                                      <p:cBhvr>
                                        <p:cTn id="22" dur="1" fill="hold">
                                          <p:stCondLst>
                                            <p:cond delay="0"/>
                                          </p:stCondLst>
                                        </p:cTn>
                                        <p:tgtEl>
                                          <p:spTgt spid="11"/>
                                        </p:tgtEl>
                                        <p:attrNameLst>
                                          <p:attrName>style.visibility</p:attrName>
                                        </p:attrNameLst>
                                      </p:cBhvr>
                                      <p:to>
                                        <p:strVal val="hidden"/>
                                      </p:to>
                                    </p:set>
                                  </p:childTnLst>
                                </p:cTn>
                              </p:par>
                              <p:par>
                                <p:cTn id="23" presetID="53"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xit" presetSubtype="0" fill="hold" nodeType="clickEffect">
                                  <p:stCondLst>
                                    <p:cond delay="0"/>
                                  </p:stCondLst>
                                  <p:childTnLst>
                                    <p:set>
                                      <p:cBhvr>
                                        <p:cTn id="31" dur="1" fill="hold">
                                          <p:stCondLst>
                                            <p:cond delay="0"/>
                                          </p:stCondLst>
                                        </p:cTn>
                                        <p:tgtEl>
                                          <p:spTgt spid="12"/>
                                        </p:tgtEl>
                                        <p:attrNameLst>
                                          <p:attrName>style.visibility</p:attrName>
                                        </p:attrNameLst>
                                      </p:cBhvr>
                                      <p:to>
                                        <p:strVal val="hidden"/>
                                      </p:to>
                                    </p:set>
                                  </p:childTnLst>
                                </p:cTn>
                              </p:par>
                              <p:par>
                                <p:cTn id="32" presetID="53"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500" fill="hold"/>
                                        <p:tgtEl>
                                          <p:spTgt spid="13"/>
                                        </p:tgtEl>
                                        <p:attrNameLst>
                                          <p:attrName>ppt_w</p:attrName>
                                        </p:attrNameLst>
                                      </p:cBhvr>
                                      <p:tavLst>
                                        <p:tav tm="0">
                                          <p:val>
                                            <p:fltVal val="0"/>
                                          </p:val>
                                        </p:tav>
                                        <p:tav tm="100000">
                                          <p:val>
                                            <p:strVal val="#ppt_w"/>
                                          </p:val>
                                        </p:tav>
                                      </p:tavLst>
                                    </p:anim>
                                    <p:anim calcmode="lin" valueType="num">
                                      <p:cBhvr>
                                        <p:cTn id="35" dur="500" fill="hold"/>
                                        <p:tgtEl>
                                          <p:spTgt spid="13"/>
                                        </p:tgtEl>
                                        <p:attrNameLst>
                                          <p:attrName>ppt_h</p:attrName>
                                        </p:attrNameLst>
                                      </p:cBhvr>
                                      <p:tavLst>
                                        <p:tav tm="0">
                                          <p:val>
                                            <p:fltVal val="0"/>
                                          </p:val>
                                        </p:tav>
                                        <p:tav tm="100000">
                                          <p:val>
                                            <p:strVal val="#ppt_h"/>
                                          </p:val>
                                        </p:tav>
                                      </p:tavLst>
                                    </p:anim>
                                    <p:animEffect transition="in" filter="fade">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484710" y="152400"/>
            <a:ext cx="7055380" cy="1400530"/>
          </a:xfrm>
        </p:spPr>
        <p:txBody>
          <a:bodyPr/>
          <a:lstStyle/>
          <a:p>
            <a:pPr algn="ctr" eaLnBrk="1" hangingPunct="1">
              <a:defRPr/>
            </a:pPr>
            <a:r>
              <a:rPr lang="en-US" dirty="0" smtClean="0"/>
              <a:t>The Evolving Network Model</a:t>
            </a:r>
          </a:p>
        </p:txBody>
      </p:sp>
      <p:sp>
        <p:nvSpPr>
          <p:cNvPr id="214019" name="Rectangle 3"/>
          <p:cNvSpPr>
            <a:spLocks noGrp="1" noChangeArrowheads="1"/>
          </p:cNvSpPr>
          <p:nvPr>
            <p:ph idx="1"/>
          </p:nvPr>
        </p:nvSpPr>
        <p:spPr>
          <a:xfrm>
            <a:off x="381000" y="1671919"/>
            <a:ext cx="8007791" cy="4195481"/>
          </a:xfrm>
        </p:spPr>
        <p:txBody>
          <a:bodyPr/>
          <a:lstStyle/>
          <a:p>
            <a:pPr eaLnBrk="1" hangingPunct="1">
              <a:defRPr/>
            </a:pPr>
            <a:r>
              <a:rPr lang="en-US" dirty="0" smtClean="0"/>
              <a:t>As networks grow, the hierarchical design model must grow with it.</a:t>
            </a:r>
          </a:p>
          <a:p>
            <a:pPr eaLnBrk="1" hangingPunct="1">
              <a:defRPr/>
            </a:pPr>
            <a:endParaRPr lang="en-US" dirty="0" smtClean="0"/>
          </a:p>
        </p:txBody>
      </p:sp>
      <p:pic>
        <p:nvPicPr>
          <p:cNvPr id="8196" name="Picture 5" descr="wan08.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048000"/>
            <a:ext cx="8113713"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9"/>
          <p:cNvGrpSpPr>
            <a:grpSpLocks/>
          </p:cNvGrpSpPr>
          <p:nvPr/>
        </p:nvGrpSpPr>
        <p:grpSpPr bwMode="auto">
          <a:xfrm>
            <a:off x="5410200" y="4648200"/>
            <a:ext cx="3429000" cy="1200150"/>
            <a:chOff x="5410200" y="4876800"/>
            <a:chExt cx="3429000" cy="1200329"/>
          </a:xfrm>
        </p:grpSpPr>
        <p:cxnSp>
          <p:nvCxnSpPr>
            <p:cNvPr id="9" name="Straight Connector 8"/>
            <p:cNvCxnSpPr/>
            <p:nvPr/>
          </p:nvCxnSpPr>
          <p:spPr bwMode="auto">
            <a:xfrm rot="10800000">
              <a:off x="5410200" y="5562702"/>
              <a:ext cx="1524000" cy="0"/>
            </a:xfrm>
            <a:prstGeom prst="line">
              <a:avLst/>
            </a:prstGeom>
            <a:noFill/>
            <a:ln w="50800" cap="flat" cmpd="sng" algn="ctr">
              <a:solidFill>
                <a:srgbClr val="FF0000"/>
              </a:solidFill>
              <a:prstDash val="solid"/>
              <a:round/>
              <a:headEnd type="none" w="med" len="med"/>
              <a:tailEnd type="triangle"/>
            </a:ln>
            <a:effectLst>
              <a:outerShdw blurRad="50800" dist="38100" dir="2700000" algn="tl" rotWithShape="0">
                <a:prstClr val="black">
                  <a:alpha val="78000"/>
                </a:prstClr>
              </a:outerShdw>
            </a:effectLst>
          </p:spPr>
        </p:cxnSp>
        <p:sp>
          <p:nvSpPr>
            <p:cNvPr id="7" name="TextBox 6"/>
            <p:cNvSpPr txBox="1"/>
            <p:nvPr/>
          </p:nvSpPr>
          <p:spPr>
            <a:xfrm>
              <a:off x="6705600" y="4876800"/>
              <a:ext cx="2133600" cy="1200329"/>
            </a:xfrm>
            <a:prstGeom prst="rect">
              <a:avLst/>
            </a:prstGeom>
            <a:solidFill>
              <a:srgbClr val="800000"/>
            </a:solidFill>
            <a:ln w="25400">
              <a:solidFill>
                <a:srgbClr val="FF0000"/>
              </a:solidFill>
            </a:ln>
          </p:spPr>
          <p:txBody>
            <a:bodyPr>
              <a:spAutoFit/>
            </a:bodyPr>
            <a:lstStyle/>
            <a:p>
              <a:pPr>
                <a:defRPr/>
              </a:pPr>
              <a:r>
                <a:rPr lang="en-US" dirty="0">
                  <a:latin typeface="Arial" charset="0"/>
                </a:rPr>
                <a:t>User Access to network devices.</a:t>
              </a:r>
            </a:p>
          </p:txBody>
        </p:sp>
      </p:grpSp>
      <p:sp>
        <p:nvSpPr>
          <p:cNvPr id="11" name="TextBox 10"/>
          <p:cNvSpPr txBox="1"/>
          <p:nvPr/>
        </p:nvSpPr>
        <p:spPr>
          <a:xfrm>
            <a:off x="762000" y="3773269"/>
            <a:ext cx="3124200" cy="646331"/>
          </a:xfrm>
          <a:prstGeom prst="rect">
            <a:avLst/>
          </a:prstGeom>
          <a:solidFill>
            <a:srgbClr val="800000"/>
          </a:solidFill>
          <a:ln w="25400">
            <a:solidFill>
              <a:srgbClr val="FF0000"/>
            </a:solidFill>
          </a:ln>
        </p:spPr>
        <p:txBody>
          <a:bodyPr wrap="square">
            <a:spAutoFit/>
          </a:bodyPr>
          <a:lstStyle/>
          <a:p>
            <a:pPr>
              <a:defRPr/>
            </a:pPr>
            <a:r>
              <a:rPr lang="en-US" dirty="0">
                <a:latin typeface="Arial" charset="0"/>
              </a:rPr>
              <a:t>Policies to aggregate WAN traffic.</a:t>
            </a:r>
          </a:p>
        </p:txBody>
      </p:sp>
      <p:sp>
        <p:nvSpPr>
          <p:cNvPr id="12" name="TextBox 11"/>
          <p:cNvSpPr txBox="1"/>
          <p:nvPr/>
        </p:nvSpPr>
        <p:spPr>
          <a:xfrm>
            <a:off x="4114800" y="2819400"/>
            <a:ext cx="3200400" cy="830263"/>
          </a:xfrm>
          <a:prstGeom prst="rect">
            <a:avLst/>
          </a:prstGeom>
          <a:solidFill>
            <a:srgbClr val="800000"/>
          </a:solidFill>
          <a:ln w="25400">
            <a:solidFill>
              <a:srgbClr val="FF0000"/>
            </a:solidFill>
          </a:ln>
        </p:spPr>
        <p:txBody>
          <a:bodyPr>
            <a:spAutoFit/>
          </a:bodyPr>
          <a:lstStyle/>
          <a:p>
            <a:pPr>
              <a:defRPr/>
            </a:pPr>
            <a:r>
              <a:rPr lang="en-US" dirty="0">
                <a:latin typeface="Arial" charset="0"/>
              </a:rPr>
              <a:t>Fast switching, availability, scalability.</a:t>
            </a:r>
          </a:p>
        </p:txBody>
      </p:sp>
      <p:sp>
        <p:nvSpPr>
          <p:cNvPr id="4" name="عنصر نائب لرقم الشريحة 3"/>
          <p:cNvSpPr>
            <a:spLocks noGrp="1"/>
          </p:cNvSpPr>
          <p:nvPr>
            <p:ph type="sldNum" sz="quarter" idx="12"/>
          </p:nvPr>
        </p:nvSpPr>
        <p:spPr/>
        <p:txBody>
          <a:bodyPr/>
          <a:lstStyle/>
          <a:p>
            <a:fld id="{281822F9-C57A-4751-B00C-83DE62342CE0}" type="slidenum">
              <a:rPr lang="en-US" smtClean="0"/>
              <a:t>6</a:t>
            </a:fld>
            <a:endParaRPr lang="en-US"/>
          </a:p>
        </p:txBody>
      </p:sp>
    </p:spTree>
    <p:extLst>
      <p:ext uri="{BB962C8B-B14F-4D97-AF65-F5344CB8AC3E}">
        <p14:creationId xmlns:p14="http://schemas.microsoft.com/office/powerpoint/2010/main" val="32007959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274638"/>
            <a:ext cx="8229600" cy="487362"/>
          </a:xfrm>
        </p:spPr>
        <p:txBody>
          <a:bodyPr>
            <a:normAutofit fontScale="90000"/>
          </a:bodyPr>
          <a:lstStyle/>
          <a:p>
            <a:r>
              <a:rPr lang="en-AU" dirty="0" smtClean="0"/>
              <a:t>WAN Services</a:t>
            </a:r>
            <a:endParaRPr lang="en-AU" dirty="0"/>
          </a:p>
        </p:txBody>
      </p:sp>
      <p:graphicFrame>
        <p:nvGraphicFramePr>
          <p:cNvPr id="9" name="Table 8"/>
          <p:cNvGraphicFramePr>
            <a:graphicFrameLocks noGrp="1"/>
          </p:cNvGraphicFramePr>
          <p:nvPr>
            <p:extLst>
              <p:ext uri="{D42A27DB-BD31-4B8C-83A1-F6EECF244321}">
                <p14:modId xmlns:p14="http://schemas.microsoft.com/office/powerpoint/2010/main" val="1064007968"/>
              </p:ext>
            </p:extLst>
          </p:nvPr>
        </p:nvGraphicFramePr>
        <p:xfrm>
          <a:off x="76200" y="851229"/>
          <a:ext cx="8991599" cy="5949696"/>
        </p:xfrm>
        <a:graphic>
          <a:graphicData uri="http://schemas.openxmlformats.org/drawingml/2006/table">
            <a:tbl>
              <a:tblPr/>
              <a:tblGrid>
                <a:gridCol w="1498600"/>
                <a:gridCol w="2540000"/>
                <a:gridCol w="1066800"/>
                <a:gridCol w="1143000"/>
                <a:gridCol w="1295400"/>
                <a:gridCol w="1447799"/>
              </a:tblGrid>
              <a:tr h="428679">
                <a:tc>
                  <a:txBody>
                    <a:bodyPr/>
                    <a:lstStyle/>
                    <a:p>
                      <a:pPr algn="ctr"/>
                      <a:r>
                        <a:rPr lang="en-AU" sz="1400" b="1" dirty="0">
                          <a:solidFill>
                            <a:schemeClr val="tx1"/>
                          </a:solidFill>
                          <a:effectLst/>
                        </a:rPr>
                        <a:t>Option:</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c>
                  <a:txBody>
                    <a:bodyPr/>
                    <a:lstStyle/>
                    <a:p>
                      <a:pPr algn="ctr"/>
                      <a:r>
                        <a:rPr lang="en-AU" sz="1400" b="1" dirty="0">
                          <a:solidFill>
                            <a:schemeClr val="tx1"/>
                          </a:solidFill>
                          <a:effectLst/>
                        </a:rPr>
                        <a:t>Description</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c>
                  <a:txBody>
                    <a:bodyPr/>
                    <a:lstStyle/>
                    <a:p>
                      <a:pPr algn="ctr"/>
                      <a:r>
                        <a:rPr lang="en-AU" sz="1400" b="1">
                          <a:solidFill>
                            <a:schemeClr val="tx1"/>
                          </a:solidFill>
                          <a:effectLst/>
                        </a:rPr>
                        <a:t>Advantages</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c>
                  <a:txBody>
                    <a:bodyPr/>
                    <a:lstStyle/>
                    <a:p>
                      <a:pPr algn="ctr"/>
                      <a:r>
                        <a:rPr lang="en-AU" sz="1400" b="1" dirty="0">
                          <a:solidFill>
                            <a:schemeClr val="tx1"/>
                          </a:solidFill>
                          <a:effectLst/>
                        </a:rPr>
                        <a:t>Disadvantages</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c>
                  <a:txBody>
                    <a:bodyPr/>
                    <a:lstStyle/>
                    <a:p>
                      <a:pPr algn="ctr"/>
                      <a:r>
                        <a:rPr lang="en-AU" sz="1400" b="1">
                          <a:solidFill>
                            <a:schemeClr val="tx1"/>
                          </a:solidFill>
                          <a:effectLst/>
                        </a:rPr>
                        <a:t>Bandwidth range</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c>
                  <a:txBody>
                    <a:bodyPr/>
                    <a:lstStyle/>
                    <a:p>
                      <a:pPr algn="ctr"/>
                      <a:r>
                        <a:rPr lang="en-AU" sz="1400" b="1">
                          <a:solidFill>
                            <a:schemeClr val="tx1"/>
                          </a:solidFill>
                          <a:effectLst/>
                        </a:rPr>
                        <a:t>Sample protocols used</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r>
              <a:tr h="823994">
                <a:tc>
                  <a:txBody>
                    <a:bodyPr/>
                    <a:lstStyle/>
                    <a:p>
                      <a:pPr algn="ctr"/>
                      <a:r>
                        <a:rPr lang="en-AU" sz="1400" b="1" u="none" strike="noStrike" dirty="0">
                          <a:solidFill>
                            <a:schemeClr val="tx1"/>
                          </a:solidFill>
                          <a:effectLst/>
                        </a:rPr>
                        <a:t>Leased line</a:t>
                      </a:r>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c>
                  <a:txBody>
                    <a:bodyPr/>
                    <a:lstStyle/>
                    <a:p>
                      <a:r>
                        <a:rPr lang="en-AU" sz="1400" b="1" dirty="0">
                          <a:solidFill>
                            <a:schemeClr val="tx1"/>
                          </a:solidFill>
                          <a:effectLst/>
                        </a:rPr>
                        <a:t>Point-to-Point connection between two computers or Local Area Networks (LANs)</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dirty="0">
                          <a:solidFill>
                            <a:schemeClr val="tx1"/>
                          </a:solidFill>
                          <a:effectLst/>
                        </a:rPr>
                        <a:t>Most secure</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a:solidFill>
                            <a:schemeClr val="tx1"/>
                          </a:solidFill>
                          <a:effectLst/>
                        </a:rPr>
                        <a:t>Expensive</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endParaRPr lang="en-AU" sz="1400" b="1">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u="none" strike="noStrike" dirty="0" smtClean="0">
                          <a:solidFill>
                            <a:schemeClr val="tx1"/>
                          </a:solidFill>
                          <a:effectLst/>
                        </a:rPr>
                        <a:t>PPP</a:t>
                      </a:r>
                      <a:r>
                        <a:rPr lang="en-AU" sz="1400" b="1" dirty="0" smtClean="0">
                          <a:solidFill>
                            <a:schemeClr val="tx1"/>
                          </a:solidFill>
                          <a:effectLst/>
                        </a:rPr>
                        <a:t>,</a:t>
                      </a:r>
                      <a:r>
                        <a:rPr lang="en-AU" sz="1400" b="1" dirty="0">
                          <a:solidFill>
                            <a:schemeClr val="tx1"/>
                          </a:solidFill>
                          <a:effectLst/>
                        </a:rPr>
                        <a:t> </a:t>
                      </a:r>
                      <a:r>
                        <a:rPr lang="en-AU" sz="1400" b="1" u="none" strike="noStrike" dirty="0" smtClean="0">
                          <a:solidFill>
                            <a:schemeClr val="tx1"/>
                          </a:solidFill>
                          <a:effectLst/>
                        </a:rPr>
                        <a:t>SDLC</a:t>
                      </a:r>
                      <a:r>
                        <a:rPr lang="en-AU" sz="1400" b="1" dirty="0" smtClean="0">
                          <a:solidFill>
                            <a:schemeClr val="tx1"/>
                          </a:solidFill>
                          <a:effectLst/>
                        </a:rPr>
                        <a:t>, </a:t>
                      </a:r>
                      <a:r>
                        <a:rPr lang="en-AU" sz="1400" b="1" u="none" strike="noStrike" dirty="0" smtClean="0">
                          <a:solidFill>
                            <a:schemeClr val="tx1"/>
                          </a:solidFill>
                          <a:effectLst/>
                        </a:rPr>
                        <a:t>HDLC</a:t>
                      </a:r>
                      <a:r>
                        <a:rPr lang="en-AU" sz="1400" b="1" dirty="0" smtClean="0">
                          <a:solidFill>
                            <a:schemeClr val="tx1"/>
                          </a:solidFill>
                          <a:effectLst/>
                        </a:rPr>
                        <a:t>,</a:t>
                      </a:r>
                      <a:r>
                        <a:rPr lang="en-AU" sz="1400" b="1" u="none" strike="noStrike" dirty="0" smtClean="0">
                          <a:solidFill>
                            <a:schemeClr val="tx1"/>
                          </a:solidFill>
                          <a:effectLst/>
                        </a:rPr>
                        <a:t>HNAS</a:t>
                      </a:r>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r>
              <a:tr h="823994">
                <a:tc>
                  <a:txBody>
                    <a:bodyPr/>
                    <a:lstStyle/>
                    <a:p>
                      <a:pPr algn="ctr"/>
                      <a:r>
                        <a:rPr lang="en-AU" sz="1400" b="1" u="none" strike="noStrike" dirty="0">
                          <a:solidFill>
                            <a:schemeClr val="tx1"/>
                          </a:solidFill>
                          <a:effectLst/>
                        </a:rPr>
                        <a:t>Circuit switching</a:t>
                      </a:r>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c>
                  <a:txBody>
                    <a:bodyPr/>
                    <a:lstStyle/>
                    <a:p>
                      <a:r>
                        <a:rPr lang="en-AU" sz="1400" b="1" dirty="0">
                          <a:solidFill>
                            <a:schemeClr val="tx1"/>
                          </a:solidFill>
                          <a:effectLst/>
                        </a:rPr>
                        <a:t>A dedicated circuit path is created between end points. Best example is </a:t>
                      </a:r>
                      <a:r>
                        <a:rPr lang="en-AU" sz="1400" b="1" u="none" strike="noStrike" dirty="0">
                          <a:solidFill>
                            <a:schemeClr val="tx1"/>
                          </a:solidFill>
                          <a:effectLst/>
                        </a:rPr>
                        <a:t>dialup</a:t>
                      </a:r>
                      <a:r>
                        <a:rPr lang="en-AU" sz="1400" b="1" dirty="0">
                          <a:solidFill>
                            <a:schemeClr val="tx1"/>
                          </a:solidFill>
                          <a:effectLst/>
                        </a:rPr>
                        <a:t> connections</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dirty="0">
                          <a:solidFill>
                            <a:schemeClr val="tx1"/>
                          </a:solidFill>
                          <a:effectLst/>
                        </a:rPr>
                        <a:t>Less Expensive</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dirty="0">
                          <a:solidFill>
                            <a:schemeClr val="tx1"/>
                          </a:solidFill>
                          <a:effectLst/>
                        </a:rPr>
                        <a:t>Call Setup</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a:solidFill>
                            <a:schemeClr val="tx1"/>
                          </a:solidFill>
                          <a:effectLst/>
                        </a:rPr>
                        <a:t>28 - 144 kbps</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u="none" strike="noStrike" dirty="0">
                          <a:solidFill>
                            <a:schemeClr val="tx1"/>
                          </a:solidFill>
                          <a:effectLst/>
                        </a:rPr>
                        <a:t>PPP</a:t>
                      </a:r>
                      <a:r>
                        <a:rPr lang="en-AU" sz="1400" b="1" dirty="0">
                          <a:solidFill>
                            <a:schemeClr val="tx1"/>
                          </a:solidFill>
                          <a:effectLst/>
                        </a:rPr>
                        <a:t>, </a:t>
                      </a:r>
                      <a:r>
                        <a:rPr lang="en-AU" sz="1400" b="1" u="none" strike="noStrike" dirty="0">
                          <a:solidFill>
                            <a:schemeClr val="tx1"/>
                          </a:solidFill>
                          <a:effectLst/>
                        </a:rPr>
                        <a:t>ISDN</a:t>
                      </a:r>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r>
              <a:tr h="2307950">
                <a:tc>
                  <a:txBody>
                    <a:bodyPr/>
                    <a:lstStyle/>
                    <a:p>
                      <a:pPr algn="ctr"/>
                      <a:r>
                        <a:rPr lang="en-AU" sz="1400" b="1" u="none" strike="noStrike" dirty="0">
                          <a:solidFill>
                            <a:schemeClr val="tx1"/>
                          </a:solidFill>
                          <a:effectLst/>
                        </a:rPr>
                        <a:t>Packet switching</a:t>
                      </a:r>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c>
                  <a:txBody>
                    <a:bodyPr/>
                    <a:lstStyle/>
                    <a:p>
                      <a:r>
                        <a:rPr lang="en-AU" sz="1400" b="1" dirty="0">
                          <a:solidFill>
                            <a:schemeClr val="tx1"/>
                          </a:solidFill>
                          <a:effectLst/>
                        </a:rPr>
                        <a:t>Devices transport packets via a shared single point-to-point or point-to-multipoint link across a carrier internetwork. Variable length packets are transmitted over Permanent Virtual Circuits (</a:t>
                      </a:r>
                      <a:r>
                        <a:rPr lang="en-AU" sz="1400" b="1" u="none" strike="noStrike" dirty="0">
                          <a:solidFill>
                            <a:schemeClr val="tx1"/>
                          </a:solidFill>
                          <a:effectLst/>
                        </a:rPr>
                        <a:t>PVC</a:t>
                      </a:r>
                      <a:r>
                        <a:rPr lang="en-AU" sz="1400" b="1" dirty="0">
                          <a:solidFill>
                            <a:schemeClr val="tx1"/>
                          </a:solidFill>
                          <a:effectLst/>
                        </a:rPr>
                        <a:t>) or Switched Virtual Circuits (</a:t>
                      </a:r>
                      <a:r>
                        <a:rPr lang="en-AU" sz="1400" b="1" u="none" strike="noStrike" dirty="0">
                          <a:solidFill>
                            <a:schemeClr val="tx1"/>
                          </a:solidFill>
                          <a:effectLst/>
                        </a:rPr>
                        <a:t>SVC</a:t>
                      </a:r>
                      <a:r>
                        <a:rPr lang="en-AU" sz="1400" b="1" dirty="0">
                          <a:solidFill>
                            <a:schemeClr val="tx1"/>
                          </a:solidFill>
                          <a:effectLst/>
                        </a:rPr>
                        <a:t>)</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dirty="0">
                          <a:solidFill>
                            <a:schemeClr val="tx1"/>
                          </a:solidFill>
                          <a:effectLst/>
                        </a:rPr>
                        <a:t>Shared media across link</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u="none" strike="noStrike" dirty="0">
                          <a:solidFill>
                            <a:schemeClr val="tx1"/>
                          </a:solidFill>
                          <a:effectLst/>
                        </a:rPr>
                        <a:t>X.25</a:t>
                      </a:r>
                      <a:r>
                        <a:rPr lang="en-AU" sz="1400" b="1" dirty="0">
                          <a:solidFill>
                            <a:schemeClr val="tx1"/>
                          </a:solidFill>
                          <a:effectLst/>
                        </a:rPr>
                        <a:t> </a:t>
                      </a:r>
                      <a:r>
                        <a:rPr lang="en-AU" sz="1400" b="1" u="none" strike="noStrike" dirty="0">
                          <a:solidFill>
                            <a:schemeClr val="tx1"/>
                          </a:solidFill>
                          <a:effectLst/>
                        </a:rPr>
                        <a:t>Frame-Relay</a:t>
                      </a:r>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r>
              <a:tr h="1545954">
                <a:tc>
                  <a:txBody>
                    <a:bodyPr/>
                    <a:lstStyle/>
                    <a:p>
                      <a:pPr algn="ctr"/>
                      <a:r>
                        <a:rPr lang="en-AU" sz="1400" b="1" u="none" strike="noStrike" dirty="0">
                          <a:solidFill>
                            <a:schemeClr val="tx1"/>
                          </a:solidFill>
                          <a:effectLst/>
                        </a:rPr>
                        <a:t>Cell relay</a:t>
                      </a:r>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noFill/>
                  </a:tcPr>
                </a:tc>
                <a:tc>
                  <a:txBody>
                    <a:bodyPr/>
                    <a:lstStyle/>
                    <a:p>
                      <a:r>
                        <a:rPr lang="en-AU" sz="1400" b="1" dirty="0">
                          <a:solidFill>
                            <a:schemeClr val="tx1"/>
                          </a:solidFill>
                          <a:effectLst/>
                        </a:rPr>
                        <a:t>Similar to packet switching, but uses fixed length cells instead of variable length packets. Data is divided into fixed-length cells and then transported across virtual circuits</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a:solidFill>
                            <a:schemeClr val="tx1"/>
                          </a:solidFill>
                          <a:effectLst/>
                        </a:rPr>
                        <a:t>Best for simultaneous use of voice and data</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u="none" strike="noStrike" dirty="0">
                          <a:solidFill>
                            <a:schemeClr val="tx1"/>
                          </a:solidFill>
                          <a:effectLst/>
                        </a:rPr>
                        <a:t>Overhead</a:t>
                      </a:r>
                      <a:r>
                        <a:rPr lang="en-AU" sz="1400" b="1" dirty="0">
                          <a:solidFill>
                            <a:schemeClr val="tx1"/>
                          </a:solidFill>
                          <a:effectLst/>
                        </a:rPr>
                        <a:t> can be considerable</a:t>
                      </a: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c>
                  <a:txBody>
                    <a:bodyPr/>
                    <a:lstStyle/>
                    <a:p>
                      <a:r>
                        <a:rPr lang="en-AU" sz="1400" b="1" u="none" strike="noStrike" dirty="0">
                          <a:solidFill>
                            <a:schemeClr val="tx1"/>
                          </a:solidFill>
                          <a:effectLst/>
                        </a:rPr>
                        <a:t>ATM</a:t>
                      </a:r>
                      <a:endParaRPr lang="en-AU" sz="1400" b="1" dirty="0">
                        <a:solidFill>
                          <a:schemeClr val="tx1"/>
                        </a:solidFill>
                        <a:effectLst/>
                      </a:endParaRPr>
                    </a:p>
                  </a:txBody>
                  <a:tcPr marL="21084" marR="21084" marT="10542" marB="105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tcPr>
                </a:tc>
              </a:tr>
            </a:tbl>
          </a:graphicData>
        </a:graphic>
      </p:graphicFrame>
      <p:sp>
        <p:nvSpPr>
          <p:cNvPr id="10" name="Rectangle 4"/>
          <p:cNvSpPr>
            <a:spLocks noChangeArrowheads="1"/>
          </p:cNvSpPr>
          <p:nvPr/>
        </p:nvSpPr>
        <p:spPr bwMode="auto">
          <a:xfrm>
            <a:off x="3306763" y="1463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919278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a:defRPr/>
            </a:pPr>
            <a:r>
              <a:rPr lang="en-US" dirty="0">
                <a:effectLst>
                  <a:outerShdw blurRad="38100" dist="38100" dir="2700000" algn="tl">
                    <a:srgbClr val="000000"/>
                  </a:outerShdw>
                </a:effectLst>
                <a:latin typeface="Arial" charset="0"/>
              </a:rPr>
              <a:t>WAN Connection </a:t>
            </a:r>
            <a:r>
              <a:rPr lang="en-US" dirty="0" smtClean="0">
                <a:effectLst>
                  <a:outerShdw blurRad="38100" dist="38100" dir="2700000" algn="tl">
                    <a:srgbClr val="000000"/>
                  </a:outerShdw>
                </a:effectLst>
                <a:latin typeface="Arial" charset="0"/>
              </a:rPr>
              <a:t>Options</a:t>
            </a:r>
            <a:endParaRPr lang="en-US" dirty="0" smtClean="0"/>
          </a:p>
        </p:txBody>
      </p:sp>
      <p:sp>
        <p:nvSpPr>
          <p:cNvPr id="215043" name="Rectangle 3"/>
          <p:cNvSpPr>
            <a:spLocks noChangeArrowheads="1"/>
          </p:cNvSpPr>
          <p:nvPr/>
        </p:nvSpPr>
        <p:spPr bwMode="auto">
          <a:xfrm>
            <a:off x="762000" y="1447800"/>
            <a:ext cx="7772400" cy="914400"/>
          </a:xfrm>
          <a:prstGeom prst="rect">
            <a:avLst/>
          </a:prstGeom>
          <a:noFill/>
          <a:ln w="9525">
            <a:noFill/>
            <a:miter lim="800000"/>
            <a:headEnd/>
            <a:tailEnd/>
          </a:ln>
          <a:effectLst/>
        </p:spPr>
        <p:txBody>
          <a:bodyPr anchor="ctr"/>
          <a:lstStyle/>
          <a:p>
            <a:pPr>
              <a:defRPr/>
            </a:pPr>
            <a:endParaRPr lang="en-US" sz="3600" dirty="0">
              <a:solidFill>
                <a:schemeClr val="bg1"/>
              </a:solidFill>
              <a:effectLst>
                <a:outerShdw blurRad="38100" dist="38100" dir="2700000" algn="tl">
                  <a:srgbClr val="000000"/>
                </a:outerShdw>
              </a:effectLst>
              <a:latin typeface="Arial" charset="0"/>
            </a:endParaRPr>
          </a:p>
        </p:txBody>
      </p:sp>
      <p:pic>
        <p:nvPicPr>
          <p:cNvPr id="40964" name="Picture 4" descr="wan25.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5210" y="1600200"/>
            <a:ext cx="7180580" cy="455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عنصر نائب لرقم الشريحة 2"/>
          <p:cNvSpPr>
            <a:spLocks noGrp="1"/>
          </p:cNvSpPr>
          <p:nvPr>
            <p:ph type="sldNum" sz="quarter" idx="12"/>
          </p:nvPr>
        </p:nvSpPr>
        <p:spPr/>
        <p:txBody>
          <a:bodyPr/>
          <a:lstStyle/>
          <a:p>
            <a:fld id="{281822F9-C57A-4751-B00C-83DE62342CE0}" type="slidenum">
              <a:rPr lang="en-US" smtClean="0"/>
              <a:t>8</a:t>
            </a:fld>
            <a:endParaRPr lang="en-US"/>
          </a:p>
        </p:txBody>
      </p:sp>
    </p:spTree>
    <p:extLst>
      <p:ext uri="{BB962C8B-B14F-4D97-AF65-F5344CB8AC3E}">
        <p14:creationId xmlns:p14="http://schemas.microsoft.com/office/powerpoint/2010/main" val="340987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1524000"/>
            <a:ext cx="8839200" cy="5257800"/>
          </a:xfrm>
        </p:spPr>
        <p:txBody>
          <a:bodyPr>
            <a:normAutofit fontScale="92500" lnSpcReduction="10000"/>
          </a:bodyPr>
          <a:lstStyle/>
          <a:p>
            <a:pPr>
              <a:defRPr/>
            </a:pPr>
            <a:r>
              <a:rPr lang="en-US" dirty="0" smtClean="0">
                <a:solidFill>
                  <a:srgbClr val="FF0000"/>
                </a:solidFill>
              </a:rPr>
              <a:t>Dedicated or leased-</a:t>
            </a:r>
            <a:br>
              <a:rPr lang="en-US" dirty="0" smtClean="0">
                <a:solidFill>
                  <a:srgbClr val="FF0000"/>
                </a:solidFill>
              </a:rPr>
            </a:br>
            <a:r>
              <a:rPr lang="en-US" dirty="0" smtClean="0">
                <a:solidFill>
                  <a:srgbClr val="FF0000"/>
                </a:solidFill>
              </a:rPr>
              <a:t>line </a:t>
            </a:r>
            <a:r>
              <a:rPr lang="en-US" dirty="0" smtClean="0"/>
              <a:t>networks are the</a:t>
            </a:r>
            <a:br>
              <a:rPr lang="en-US" dirty="0" smtClean="0"/>
            </a:br>
            <a:r>
              <a:rPr lang="en-US" dirty="0" smtClean="0"/>
              <a:t>simplest of the</a:t>
            </a:r>
            <a:br>
              <a:rPr lang="en-US" dirty="0" smtClean="0"/>
            </a:br>
            <a:r>
              <a:rPr lang="en-US" dirty="0" smtClean="0"/>
              <a:t>implementations.</a:t>
            </a:r>
            <a:br>
              <a:rPr lang="en-US" dirty="0" smtClean="0"/>
            </a:br>
            <a:endParaRPr lang="en-US" sz="1400" dirty="0" smtClean="0"/>
          </a:p>
          <a:p>
            <a:pPr>
              <a:defRPr/>
            </a:pPr>
            <a:r>
              <a:rPr lang="en-US" dirty="0" smtClean="0"/>
              <a:t>A dedicated point-to-</a:t>
            </a:r>
            <a:br>
              <a:rPr lang="en-US" dirty="0" smtClean="0"/>
            </a:br>
            <a:r>
              <a:rPr lang="en-US" dirty="0" smtClean="0"/>
              <a:t>point link is provided</a:t>
            </a:r>
            <a:br>
              <a:rPr lang="en-US" dirty="0" smtClean="0"/>
            </a:br>
            <a:r>
              <a:rPr lang="en-US" dirty="0" smtClean="0"/>
              <a:t>by the vendor.</a:t>
            </a:r>
          </a:p>
          <a:p>
            <a:pPr>
              <a:defRPr/>
            </a:pPr>
            <a:endParaRPr lang="en-US" sz="1400" dirty="0" smtClean="0"/>
          </a:p>
          <a:p>
            <a:pPr>
              <a:defRPr/>
            </a:pPr>
            <a:r>
              <a:rPr lang="en-US" dirty="0" smtClean="0"/>
              <a:t>Bandwidth is guaranteed between the end points.</a:t>
            </a:r>
          </a:p>
          <a:p>
            <a:pPr>
              <a:defRPr/>
            </a:pPr>
            <a:endParaRPr lang="en-US" sz="1400" dirty="0" smtClean="0"/>
          </a:p>
          <a:p>
            <a:pPr>
              <a:defRPr/>
            </a:pPr>
            <a:r>
              <a:rPr lang="en-US" dirty="0" smtClean="0"/>
              <a:t>Leased lines are also used to connect the subscriber to the vendor to make use of other technologies. </a:t>
            </a:r>
            <a:endParaRPr lang="en-US" dirty="0" smtClean="0">
              <a:solidFill>
                <a:srgbClr val="FFFF00"/>
              </a:solidFill>
              <a:cs typeface="Arial" charset="0"/>
            </a:endParaRP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WAN Link Connection Options</a:t>
            </a:r>
            <a:endParaRPr lang="en-US" dirty="0"/>
          </a:p>
        </p:txBody>
      </p:sp>
      <p:pic>
        <p:nvPicPr>
          <p:cNvPr id="41988" name="Picture 4" descr="wan25.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10025" y="990600"/>
            <a:ext cx="5057775" cy="344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bwMode="auto">
          <a:xfrm>
            <a:off x="4953000" y="1676400"/>
            <a:ext cx="1143000" cy="304800"/>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lstStyle/>
          <a:p>
            <a:pPr>
              <a:defRPr/>
            </a:pPr>
            <a:endParaRPr lang="en-US">
              <a:latin typeface="Arial" charset="0"/>
            </a:endParaRPr>
          </a:p>
        </p:txBody>
      </p:sp>
      <p:sp>
        <p:nvSpPr>
          <p:cNvPr id="7" name="Rectangle 6"/>
          <p:cNvSpPr/>
          <p:nvPr/>
        </p:nvSpPr>
        <p:spPr bwMode="auto">
          <a:xfrm>
            <a:off x="4038600" y="2286000"/>
            <a:ext cx="1143000" cy="2057400"/>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lstStyle/>
          <a:p>
            <a:pPr>
              <a:defRPr/>
            </a:pPr>
            <a:endParaRPr lang="en-US">
              <a:latin typeface="Arial" charset="0"/>
            </a:endParaRPr>
          </a:p>
        </p:txBody>
      </p:sp>
    </p:spTree>
    <p:extLst>
      <p:ext uri="{BB962C8B-B14F-4D97-AF65-F5344CB8AC3E}">
        <p14:creationId xmlns:p14="http://schemas.microsoft.com/office/powerpoint/2010/main" val="38283683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4267200"/>
            <a:ext cx="8839200" cy="2209800"/>
          </a:xfrm>
        </p:spPr>
        <p:txBody>
          <a:bodyPr>
            <a:normAutofit lnSpcReduction="10000"/>
          </a:bodyPr>
          <a:lstStyle/>
          <a:p>
            <a:pPr marL="342900" lvl="1" indent="-342900">
              <a:buFont typeface="Tahoma" pitchFamily="34" charset="0"/>
              <a:buChar char="•"/>
              <a:defRPr/>
            </a:pPr>
            <a:r>
              <a:rPr lang="en-US" dirty="0" smtClean="0">
                <a:cs typeface="Arial" charset="0"/>
              </a:rPr>
              <a:t>A </a:t>
            </a:r>
            <a:r>
              <a:rPr lang="en-US" dirty="0" smtClean="0">
                <a:solidFill>
                  <a:srgbClr val="FF0000"/>
                </a:solidFill>
                <a:cs typeface="Arial" charset="0"/>
              </a:rPr>
              <a:t>point-to-point link </a:t>
            </a:r>
            <a:r>
              <a:rPr lang="en-US" dirty="0" smtClean="0">
                <a:cs typeface="Arial" charset="0"/>
              </a:rPr>
              <a:t>is used to provide a </a:t>
            </a:r>
            <a:r>
              <a:rPr lang="en-US" dirty="0" smtClean="0">
                <a:solidFill>
                  <a:srgbClr val="FF0000"/>
                </a:solidFill>
                <a:cs typeface="Arial" charset="0"/>
              </a:rPr>
              <a:t>pre-established WAN communications path</a:t>
            </a:r>
            <a:r>
              <a:rPr lang="en-US" dirty="0" smtClean="0">
                <a:cs typeface="Arial" charset="0"/>
              </a:rPr>
              <a:t> from the customer premises </a:t>
            </a:r>
            <a:r>
              <a:rPr lang="en-US" dirty="0" smtClean="0">
                <a:solidFill>
                  <a:srgbClr val="FF0000"/>
                </a:solidFill>
                <a:cs typeface="Arial" charset="0"/>
              </a:rPr>
              <a:t>through the provider network</a:t>
            </a:r>
            <a:r>
              <a:rPr lang="en-US" dirty="0" smtClean="0">
                <a:cs typeface="Arial" charset="0"/>
              </a:rPr>
              <a:t> to a remote destination.</a:t>
            </a:r>
          </a:p>
          <a:p>
            <a:pPr marL="342900" lvl="1" indent="-342900">
              <a:buFont typeface="Tahoma" pitchFamily="34" charset="0"/>
              <a:buChar char="•"/>
              <a:defRPr/>
            </a:pPr>
            <a:r>
              <a:rPr lang="en-US" dirty="0" smtClean="0">
                <a:cs typeface="Arial" charset="0"/>
              </a:rPr>
              <a:t>Point-to-point links are </a:t>
            </a:r>
            <a:r>
              <a:rPr lang="en-US" dirty="0" smtClean="0">
                <a:solidFill>
                  <a:srgbClr val="FF0000"/>
                </a:solidFill>
                <a:cs typeface="Arial" charset="0"/>
              </a:rPr>
              <a:t>usually more expensive </a:t>
            </a:r>
            <a:r>
              <a:rPr lang="en-US" dirty="0" smtClean="0">
                <a:cs typeface="Arial" charset="0"/>
              </a:rPr>
              <a:t>than shared services.  </a:t>
            </a:r>
          </a:p>
          <a:p>
            <a:pPr marL="342900" lvl="1" indent="-342900">
              <a:buFont typeface="Tahoma" pitchFamily="34" charset="0"/>
              <a:buChar char="•"/>
              <a:defRPr/>
            </a:pPr>
            <a:endParaRPr lang="en-US" dirty="0" smtClean="0">
              <a:cs typeface="Arial" charset="0"/>
            </a:endParaRP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Dedicated Connection Link Options</a:t>
            </a:r>
            <a:endParaRPr lang="en-US" dirty="0"/>
          </a:p>
        </p:txBody>
      </p:sp>
      <p:pic>
        <p:nvPicPr>
          <p:cNvPr id="45060" name="Picture 7" descr="wan26.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90600"/>
            <a:ext cx="71628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2743200" y="990600"/>
            <a:ext cx="4114800" cy="830263"/>
          </a:xfrm>
          <a:prstGeom prst="rect">
            <a:avLst/>
          </a:prstGeom>
          <a:solidFill>
            <a:srgbClr val="800000"/>
          </a:solidFill>
          <a:ln w="25400">
            <a:solidFill>
              <a:srgbClr val="FF0000"/>
            </a:solidFill>
          </a:ln>
        </p:spPr>
        <p:txBody>
          <a:bodyPr>
            <a:spAutoFit/>
          </a:bodyPr>
          <a:lstStyle/>
          <a:p>
            <a:pPr>
              <a:defRPr/>
            </a:pPr>
            <a:r>
              <a:rPr lang="en-US" dirty="0">
                <a:latin typeface="Arial" charset="0"/>
              </a:rPr>
              <a:t>Dedicated or Leased Line Connection</a:t>
            </a:r>
          </a:p>
        </p:txBody>
      </p:sp>
    </p:spTree>
    <p:extLst>
      <p:ext uri="{BB962C8B-B14F-4D97-AF65-F5344CB8AC3E}">
        <p14:creationId xmlns:p14="http://schemas.microsoft.com/office/powerpoint/2010/main" val="3630652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1219200"/>
            <a:ext cx="8839200" cy="5257800"/>
          </a:xfrm>
        </p:spPr>
        <p:txBody>
          <a:bodyPr>
            <a:normAutofit fontScale="92500" lnSpcReduction="20000"/>
          </a:bodyPr>
          <a:lstStyle/>
          <a:p>
            <a:pPr>
              <a:defRPr/>
            </a:pPr>
            <a:r>
              <a:rPr lang="en-US" dirty="0" smtClean="0">
                <a:solidFill>
                  <a:srgbClr val="FF0000"/>
                </a:solidFill>
                <a:cs typeface="Arial" charset="0"/>
              </a:rPr>
              <a:t>Switched</a:t>
            </a:r>
            <a:r>
              <a:rPr lang="en-US" dirty="0" smtClean="0">
                <a:solidFill>
                  <a:srgbClr val="FFFF00"/>
                </a:solidFill>
                <a:cs typeface="Arial" charset="0"/>
              </a:rPr>
              <a:t/>
            </a:r>
            <a:br>
              <a:rPr lang="en-US" dirty="0" smtClean="0">
                <a:solidFill>
                  <a:srgbClr val="FFFF00"/>
                </a:solidFill>
                <a:cs typeface="Arial" charset="0"/>
              </a:rPr>
            </a:br>
            <a:r>
              <a:rPr lang="en-US" dirty="0" smtClean="0">
                <a:cs typeface="Arial" charset="0"/>
              </a:rPr>
              <a:t>communication links</a:t>
            </a:r>
            <a:br>
              <a:rPr lang="en-US" dirty="0" smtClean="0">
                <a:cs typeface="Arial" charset="0"/>
              </a:rPr>
            </a:br>
            <a:r>
              <a:rPr lang="en-US" dirty="0" smtClean="0">
                <a:cs typeface="Arial" charset="0"/>
              </a:rPr>
              <a:t>can be either circuit</a:t>
            </a:r>
            <a:br>
              <a:rPr lang="en-US" dirty="0" smtClean="0">
                <a:cs typeface="Arial" charset="0"/>
              </a:rPr>
            </a:br>
            <a:r>
              <a:rPr lang="en-US" dirty="0" smtClean="0">
                <a:cs typeface="Arial" charset="0"/>
              </a:rPr>
              <a:t>switched or packet</a:t>
            </a:r>
            <a:br>
              <a:rPr lang="en-US" dirty="0" smtClean="0">
                <a:cs typeface="Arial" charset="0"/>
              </a:rPr>
            </a:br>
            <a:r>
              <a:rPr lang="en-US" dirty="0" smtClean="0">
                <a:cs typeface="Arial" charset="0"/>
              </a:rPr>
              <a:t>switched.</a:t>
            </a:r>
          </a:p>
          <a:p>
            <a:pPr>
              <a:defRPr/>
            </a:pPr>
            <a:r>
              <a:rPr lang="en-US" dirty="0" smtClean="0">
                <a:solidFill>
                  <a:srgbClr val="FF0000"/>
                </a:solidFill>
                <a:cs typeface="Arial" charset="0"/>
              </a:rPr>
              <a:t>Circuit Switched</a:t>
            </a:r>
            <a:r>
              <a:rPr lang="en-US" dirty="0" smtClean="0">
                <a:cs typeface="Arial" charset="0"/>
              </a:rPr>
              <a:t>:</a:t>
            </a:r>
          </a:p>
          <a:p>
            <a:pPr lvl="1">
              <a:defRPr/>
            </a:pPr>
            <a:r>
              <a:rPr lang="en-US" dirty="0" smtClean="0">
                <a:cs typeface="Arial" charset="0"/>
              </a:rPr>
              <a:t>PSTN</a:t>
            </a:r>
          </a:p>
          <a:p>
            <a:pPr lvl="1">
              <a:defRPr/>
            </a:pPr>
            <a:r>
              <a:rPr lang="en-US" dirty="0" smtClean="0">
                <a:cs typeface="Arial" charset="0"/>
              </a:rPr>
              <a:t>ISDN</a:t>
            </a:r>
          </a:p>
          <a:p>
            <a:pPr>
              <a:defRPr/>
            </a:pPr>
            <a:r>
              <a:rPr lang="en-US" dirty="0" smtClean="0">
                <a:solidFill>
                  <a:srgbClr val="FF0000"/>
                </a:solidFill>
                <a:cs typeface="Arial" charset="0"/>
              </a:rPr>
              <a:t>Packet Switched:</a:t>
            </a:r>
          </a:p>
          <a:p>
            <a:pPr lvl="1">
              <a:defRPr/>
            </a:pPr>
            <a:r>
              <a:rPr lang="en-US" dirty="0" smtClean="0">
                <a:cs typeface="Arial" charset="0"/>
              </a:rPr>
              <a:t>Frame Relay</a:t>
            </a:r>
          </a:p>
          <a:p>
            <a:pPr lvl="1">
              <a:defRPr/>
            </a:pPr>
            <a:r>
              <a:rPr lang="en-US" dirty="0" smtClean="0">
                <a:cs typeface="Arial" charset="0"/>
              </a:rPr>
              <a:t>X.25</a:t>
            </a:r>
          </a:p>
          <a:p>
            <a:pPr lvl="1">
              <a:defRPr/>
            </a:pPr>
            <a:r>
              <a:rPr lang="en-US" dirty="0" smtClean="0">
                <a:cs typeface="Arial" charset="0"/>
              </a:rPr>
              <a:t>ATM</a:t>
            </a: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WAN Link Connection Options</a:t>
            </a:r>
            <a:endParaRPr lang="en-US" dirty="0"/>
          </a:p>
        </p:txBody>
      </p:sp>
      <p:pic>
        <p:nvPicPr>
          <p:cNvPr id="43012" name="Picture 4" descr="wan25.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76242" y="2214202"/>
            <a:ext cx="4944341" cy="313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bwMode="auto">
          <a:xfrm>
            <a:off x="4724400" y="2743200"/>
            <a:ext cx="1143000" cy="304800"/>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lstStyle/>
          <a:p>
            <a:pPr>
              <a:defRPr/>
            </a:pPr>
            <a:endParaRPr lang="en-US">
              <a:latin typeface="Arial" charset="0"/>
            </a:endParaRPr>
          </a:p>
        </p:txBody>
      </p:sp>
      <p:sp>
        <p:nvSpPr>
          <p:cNvPr id="7" name="Rectangle 6"/>
          <p:cNvSpPr/>
          <p:nvPr/>
        </p:nvSpPr>
        <p:spPr bwMode="auto">
          <a:xfrm>
            <a:off x="5029200" y="3352800"/>
            <a:ext cx="2514600" cy="2057400"/>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lstStyle/>
          <a:p>
            <a:pPr>
              <a:defRPr/>
            </a:pPr>
            <a:endParaRPr lang="en-US">
              <a:latin typeface="Arial" charset="0"/>
            </a:endParaRPr>
          </a:p>
        </p:txBody>
      </p:sp>
    </p:spTree>
    <p:extLst>
      <p:ext uri="{BB962C8B-B14F-4D97-AF65-F5344CB8AC3E}">
        <p14:creationId xmlns:p14="http://schemas.microsoft.com/office/powerpoint/2010/main" val="35676840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4114800"/>
            <a:ext cx="8839200" cy="2362200"/>
          </a:xfrm>
        </p:spPr>
        <p:txBody>
          <a:bodyPr>
            <a:normAutofit lnSpcReduction="10000"/>
          </a:bodyPr>
          <a:lstStyle/>
          <a:p>
            <a:pPr marL="342900" lvl="1" indent="-342900">
              <a:buFont typeface="Tahoma" pitchFamily="34" charset="0"/>
              <a:buChar char="•"/>
              <a:defRPr/>
            </a:pPr>
            <a:r>
              <a:rPr lang="en-US" dirty="0" smtClean="0">
                <a:cs typeface="Arial" charset="0"/>
              </a:rPr>
              <a:t>Interrupted, low-volume data transfers.</a:t>
            </a:r>
          </a:p>
          <a:p>
            <a:pPr marL="342900" lvl="1" indent="-342900">
              <a:buFont typeface="Tahoma" pitchFamily="34" charset="0"/>
              <a:buChar char="•"/>
              <a:defRPr/>
            </a:pPr>
            <a:r>
              <a:rPr lang="en-US" dirty="0" smtClean="0">
                <a:cs typeface="Arial" charset="0"/>
              </a:rPr>
              <a:t>Limited to less than 56 kb/s.</a:t>
            </a:r>
          </a:p>
          <a:p>
            <a:pPr marL="342900" lvl="1" indent="-342900">
              <a:buFont typeface="Tahoma" pitchFamily="34" charset="0"/>
              <a:buChar char="•"/>
              <a:defRPr/>
            </a:pPr>
            <a:r>
              <a:rPr lang="en-US" dirty="0" smtClean="0">
                <a:solidFill>
                  <a:srgbClr val="FF0000"/>
                </a:solidFill>
                <a:cs typeface="Arial" charset="0"/>
              </a:rPr>
              <a:t>Advantages:</a:t>
            </a:r>
            <a:r>
              <a:rPr lang="en-US" dirty="0" smtClean="0">
                <a:cs typeface="Arial" charset="0"/>
              </a:rPr>
              <a:t> </a:t>
            </a:r>
            <a:r>
              <a:rPr lang="en-US" dirty="0" smtClean="0"/>
              <a:t>simplicity, availability, low implementation cost.</a:t>
            </a:r>
            <a:endParaRPr lang="en-US" dirty="0" smtClean="0">
              <a:cs typeface="Arial" charset="0"/>
            </a:endParaRPr>
          </a:p>
          <a:p>
            <a:pPr marL="342900" lvl="1" indent="-342900">
              <a:buFont typeface="Tahoma" pitchFamily="34" charset="0"/>
              <a:buChar char="•"/>
              <a:defRPr/>
            </a:pPr>
            <a:r>
              <a:rPr lang="en-US" dirty="0" smtClean="0">
                <a:solidFill>
                  <a:srgbClr val="FF0000"/>
                </a:solidFill>
              </a:rPr>
              <a:t>Disadvantages:</a:t>
            </a:r>
            <a:r>
              <a:rPr lang="en-US" dirty="0" smtClean="0"/>
              <a:t> low data rates, long connection time. </a:t>
            </a: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Circuit-Switched Link Options</a:t>
            </a:r>
            <a:endParaRPr lang="en-US" dirty="0"/>
          </a:p>
        </p:txBody>
      </p:sp>
      <p:pic>
        <p:nvPicPr>
          <p:cNvPr id="48132" name="Picture 5" descr="wan28.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95400"/>
            <a:ext cx="7543800"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276600" y="1143000"/>
            <a:ext cx="2590800" cy="461963"/>
          </a:xfrm>
          <a:prstGeom prst="rect">
            <a:avLst/>
          </a:prstGeom>
          <a:solidFill>
            <a:srgbClr val="800000"/>
          </a:solidFill>
          <a:ln w="25400">
            <a:solidFill>
              <a:srgbClr val="FF0000"/>
            </a:solidFill>
          </a:ln>
        </p:spPr>
        <p:txBody>
          <a:bodyPr>
            <a:spAutoFit/>
          </a:bodyPr>
          <a:lstStyle/>
          <a:p>
            <a:pPr>
              <a:defRPr/>
            </a:pPr>
            <a:r>
              <a:rPr lang="en-US" dirty="0">
                <a:latin typeface="Arial" charset="0"/>
              </a:rPr>
              <a:t>Analog Dial-Up</a:t>
            </a:r>
          </a:p>
        </p:txBody>
      </p:sp>
    </p:spTree>
    <p:extLst>
      <p:ext uri="{BB962C8B-B14F-4D97-AF65-F5344CB8AC3E}">
        <p14:creationId xmlns:p14="http://schemas.microsoft.com/office/powerpoint/2010/main" val="21564615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7" descr="wan29.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219200"/>
            <a:ext cx="699135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8195" name="Rectangle 3"/>
          <p:cNvSpPr>
            <a:spLocks noGrp="1" noChangeArrowheads="1"/>
          </p:cNvSpPr>
          <p:nvPr>
            <p:ph type="body" sz="half" idx="1"/>
          </p:nvPr>
        </p:nvSpPr>
        <p:spPr>
          <a:xfrm>
            <a:off x="152400" y="4191000"/>
            <a:ext cx="8839200" cy="2286000"/>
          </a:xfrm>
        </p:spPr>
        <p:txBody>
          <a:bodyPr/>
          <a:lstStyle/>
          <a:p>
            <a:pPr marL="342900" lvl="1" indent="-342900">
              <a:buFont typeface="Tahoma" pitchFamily="34" charset="0"/>
              <a:buChar char="•"/>
              <a:defRPr/>
            </a:pPr>
            <a:r>
              <a:rPr lang="en-US" dirty="0" smtClean="0">
                <a:cs typeface="Arial" charset="0"/>
              </a:rPr>
              <a:t>Enables the local loop to carry </a:t>
            </a:r>
            <a:r>
              <a:rPr lang="en-US" dirty="0" smtClean="0">
                <a:solidFill>
                  <a:srgbClr val="FF0000"/>
                </a:solidFill>
                <a:cs typeface="Arial" charset="0"/>
              </a:rPr>
              <a:t>end-to-end digital signals.</a:t>
            </a:r>
          </a:p>
          <a:p>
            <a:pPr marL="342900" lvl="1" indent="-342900">
              <a:buFont typeface="Tahoma" pitchFamily="34" charset="0"/>
              <a:buChar char="•"/>
              <a:defRPr/>
            </a:pPr>
            <a:r>
              <a:rPr lang="en-US" dirty="0" smtClean="0">
                <a:cs typeface="Arial" charset="0"/>
              </a:rPr>
              <a:t>Higher capacity connections.</a:t>
            </a:r>
          </a:p>
          <a:p>
            <a:pPr marL="342900" lvl="1" indent="-342900">
              <a:buFont typeface="Tahoma" pitchFamily="34" charset="0"/>
              <a:buChar char="•"/>
              <a:defRPr/>
            </a:pPr>
            <a:r>
              <a:rPr lang="en-US" dirty="0" smtClean="0">
                <a:cs typeface="Arial" charset="0"/>
              </a:rPr>
              <a:t>ISDN changes the internal connections of the PSTN from carrying analog signals to digital signals.</a:t>
            </a: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Circuit-Switched Link Options</a:t>
            </a:r>
            <a:endParaRPr lang="en-US" dirty="0"/>
          </a:p>
        </p:txBody>
      </p:sp>
      <p:sp>
        <p:nvSpPr>
          <p:cNvPr id="7" name="TextBox 6"/>
          <p:cNvSpPr txBox="1"/>
          <p:nvPr/>
        </p:nvSpPr>
        <p:spPr>
          <a:xfrm>
            <a:off x="2514600" y="914400"/>
            <a:ext cx="4191000" cy="830263"/>
          </a:xfrm>
          <a:prstGeom prst="rect">
            <a:avLst/>
          </a:prstGeom>
          <a:solidFill>
            <a:srgbClr val="800000"/>
          </a:solidFill>
          <a:ln w="25400">
            <a:solidFill>
              <a:srgbClr val="FF0000"/>
            </a:solidFill>
          </a:ln>
        </p:spPr>
        <p:txBody>
          <a:bodyPr>
            <a:spAutoFit/>
          </a:bodyPr>
          <a:lstStyle/>
          <a:p>
            <a:pPr>
              <a:defRPr/>
            </a:pPr>
            <a:r>
              <a:rPr lang="en-US" dirty="0">
                <a:latin typeface="Arial" charset="0"/>
              </a:rPr>
              <a:t>Integrated Services Digital Network (ISDN)</a:t>
            </a:r>
          </a:p>
        </p:txBody>
      </p:sp>
    </p:spTree>
    <p:extLst>
      <p:ext uri="{BB962C8B-B14F-4D97-AF65-F5344CB8AC3E}">
        <p14:creationId xmlns:p14="http://schemas.microsoft.com/office/powerpoint/2010/main" val="24067187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7" descr="wan3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371600"/>
            <a:ext cx="555466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8195" name="Rectangle 3"/>
          <p:cNvSpPr>
            <a:spLocks noGrp="1" noChangeArrowheads="1"/>
          </p:cNvSpPr>
          <p:nvPr>
            <p:ph type="body" sz="half" idx="1"/>
          </p:nvPr>
        </p:nvSpPr>
        <p:spPr>
          <a:xfrm>
            <a:off x="152400" y="1371600"/>
            <a:ext cx="8839200" cy="5181600"/>
          </a:xfrm>
        </p:spPr>
        <p:txBody>
          <a:bodyPr>
            <a:normAutofit fontScale="92500" lnSpcReduction="10000"/>
          </a:bodyPr>
          <a:lstStyle/>
          <a:p>
            <a:pPr marL="342900" lvl="1" indent="-342900">
              <a:buFont typeface="Tahoma" pitchFamily="34" charset="0"/>
              <a:buChar char="•"/>
              <a:defRPr/>
            </a:pPr>
            <a:r>
              <a:rPr lang="en-US" dirty="0" smtClean="0">
                <a:solidFill>
                  <a:srgbClr val="FF0000"/>
                </a:solidFill>
                <a:cs typeface="Arial" charset="0"/>
              </a:rPr>
              <a:t>X.25:</a:t>
            </a:r>
          </a:p>
          <a:p>
            <a:pPr marL="342900" lvl="1" indent="-342900">
              <a:buFont typeface="Tahoma" pitchFamily="34" charset="0"/>
              <a:buChar char="•"/>
              <a:defRPr/>
            </a:pPr>
            <a:r>
              <a:rPr lang="en-US" dirty="0" smtClean="0">
                <a:cs typeface="Arial" charset="0"/>
              </a:rPr>
              <a:t>Legacy </a:t>
            </a:r>
            <a:r>
              <a:rPr lang="en-US" dirty="0" smtClean="0">
                <a:solidFill>
                  <a:srgbClr val="FF0000"/>
                </a:solidFill>
                <a:cs typeface="Arial" charset="0"/>
              </a:rPr>
              <a:t>network</a:t>
            </a:r>
            <a:br>
              <a:rPr lang="en-US" dirty="0" smtClean="0">
                <a:solidFill>
                  <a:srgbClr val="FF0000"/>
                </a:solidFill>
                <a:cs typeface="Arial" charset="0"/>
              </a:rPr>
            </a:br>
            <a:r>
              <a:rPr lang="en-US" dirty="0" smtClean="0">
                <a:solidFill>
                  <a:srgbClr val="FF0000"/>
                </a:solidFill>
                <a:cs typeface="Arial" charset="0"/>
              </a:rPr>
              <a:t>layer</a:t>
            </a:r>
            <a:r>
              <a:rPr lang="en-US" dirty="0" smtClean="0">
                <a:cs typeface="Arial" charset="0"/>
              </a:rPr>
              <a:t> protocol. </a:t>
            </a:r>
          </a:p>
          <a:p>
            <a:pPr marL="342900" lvl="1" indent="-342900">
              <a:buFont typeface="Tahoma" pitchFamily="34" charset="0"/>
              <a:buChar char="•"/>
              <a:defRPr/>
            </a:pPr>
            <a:r>
              <a:rPr lang="en-US" dirty="0" smtClean="0">
                <a:cs typeface="Arial" charset="0"/>
              </a:rPr>
              <a:t>Typical applications</a:t>
            </a:r>
            <a:br>
              <a:rPr lang="en-US" dirty="0" smtClean="0">
                <a:cs typeface="Arial" charset="0"/>
              </a:rPr>
            </a:br>
            <a:r>
              <a:rPr lang="en-US" dirty="0" smtClean="0">
                <a:cs typeface="Arial" charset="0"/>
              </a:rPr>
              <a:t>are point-of-sale</a:t>
            </a:r>
            <a:br>
              <a:rPr lang="en-US" dirty="0" smtClean="0">
                <a:cs typeface="Arial" charset="0"/>
              </a:rPr>
            </a:br>
            <a:r>
              <a:rPr lang="en-US" dirty="0" smtClean="0">
                <a:cs typeface="Arial" charset="0"/>
              </a:rPr>
              <a:t>card readers.</a:t>
            </a:r>
          </a:p>
          <a:p>
            <a:pPr marL="342900" lvl="1" indent="-342900">
              <a:buFont typeface="Tahoma" pitchFamily="34" charset="0"/>
              <a:buChar char="•"/>
              <a:defRPr/>
            </a:pPr>
            <a:r>
              <a:rPr lang="en-US" dirty="0" smtClean="0">
                <a:cs typeface="Arial" charset="0"/>
              </a:rPr>
              <a:t>Speeds vary from</a:t>
            </a:r>
            <a:br>
              <a:rPr lang="en-US" dirty="0" smtClean="0">
                <a:cs typeface="Arial" charset="0"/>
              </a:rPr>
            </a:br>
            <a:r>
              <a:rPr lang="en-US" dirty="0" smtClean="0">
                <a:cs typeface="Arial" charset="0"/>
              </a:rPr>
              <a:t>2400 b/s up to</a:t>
            </a:r>
            <a:br>
              <a:rPr lang="en-US" dirty="0" smtClean="0">
                <a:cs typeface="Arial" charset="0"/>
              </a:rPr>
            </a:br>
            <a:r>
              <a:rPr lang="en-US" dirty="0" smtClean="0">
                <a:cs typeface="Arial" charset="0"/>
              </a:rPr>
              <a:t>2 Mb/s. </a:t>
            </a:r>
          </a:p>
          <a:p>
            <a:pPr marL="342900" lvl="1" indent="-342900">
              <a:buFont typeface="Tahoma" pitchFamily="34" charset="0"/>
              <a:buChar char="•"/>
              <a:defRPr/>
            </a:pPr>
            <a:endParaRPr lang="en-US" dirty="0">
              <a:cs typeface="Arial" charset="0"/>
            </a:endParaRPr>
          </a:p>
          <a:p>
            <a:pPr marL="342900" lvl="1" indent="-342900">
              <a:buFont typeface="Tahoma" pitchFamily="34" charset="0"/>
              <a:buChar char="•"/>
              <a:defRPr/>
            </a:pPr>
            <a:r>
              <a:rPr lang="en-US" dirty="0" smtClean="0">
                <a:cs typeface="Arial" charset="0"/>
              </a:rPr>
              <a:t>Now in dramatic decline. </a:t>
            </a:r>
          </a:p>
          <a:p>
            <a:pPr marL="342900" lvl="1" indent="-342900">
              <a:buFont typeface="Tahoma" pitchFamily="34" charset="0"/>
              <a:buChar char="•"/>
              <a:defRPr/>
            </a:pPr>
            <a:r>
              <a:rPr lang="en-US" dirty="0" smtClean="0">
                <a:cs typeface="Arial" charset="0"/>
              </a:rPr>
              <a:t>They are still in use in many portions of the developing world.</a:t>
            </a:r>
          </a:p>
        </p:txBody>
      </p:sp>
      <p:sp>
        <p:nvSpPr>
          <p:cNvPr id="648194" name="Rectangle 2"/>
          <p:cNvSpPr>
            <a:spLocks noGrp="1" noChangeArrowheads="1"/>
          </p:cNvSpPr>
          <p:nvPr>
            <p:ph type="title"/>
          </p:nvPr>
        </p:nvSpPr>
        <p:spPr/>
        <p:txBody>
          <a:bodyPr/>
          <a:lstStyle/>
          <a:p>
            <a:pPr algn="ctr">
              <a:defRPr/>
            </a:pPr>
            <a:r>
              <a:rPr lang="en-US" sz="3200" dirty="0" smtClean="0"/>
              <a:t>Packet-Switched Connection Options</a:t>
            </a:r>
            <a:endParaRPr lang="en-US" sz="3200" dirty="0"/>
          </a:p>
        </p:txBody>
      </p:sp>
      <p:sp>
        <p:nvSpPr>
          <p:cNvPr id="7" name="TextBox 6"/>
          <p:cNvSpPr txBox="1"/>
          <p:nvPr/>
        </p:nvSpPr>
        <p:spPr>
          <a:xfrm>
            <a:off x="3744913" y="3276600"/>
            <a:ext cx="1676400" cy="461963"/>
          </a:xfrm>
          <a:prstGeom prst="rect">
            <a:avLst/>
          </a:prstGeom>
          <a:solidFill>
            <a:srgbClr val="800000"/>
          </a:solidFill>
          <a:ln w="25400">
            <a:solidFill>
              <a:srgbClr val="FF0000"/>
            </a:solidFill>
          </a:ln>
        </p:spPr>
        <p:txBody>
          <a:bodyPr>
            <a:spAutoFit/>
          </a:bodyPr>
          <a:lstStyle/>
          <a:p>
            <a:pPr>
              <a:defRPr/>
            </a:pPr>
            <a:r>
              <a:rPr lang="en-US" dirty="0">
                <a:latin typeface="Arial" charset="0"/>
              </a:rPr>
              <a:t>X.25</a:t>
            </a:r>
          </a:p>
        </p:txBody>
      </p:sp>
    </p:spTree>
    <p:extLst>
      <p:ext uri="{BB962C8B-B14F-4D97-AF65-F5344CB8AC3E}">
        <p14:creationId xmlns:p14="http://schemas.microsoft.com/office/powerpoint/2010/main" val="12855868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1295400"/>
            <a:ext cx="8839200" cy="5181600"/>
          </a:xfrm>
        </p:spPr>
        <p:txBody>
          <a:bodyPr>
            <a:normAutofit fontScale="92500" lnSpcReduction="10000"/>
          </a:bodyPr>
          <a:lstStyle/>
          <a:p>
            <a:pPr marL="342900" lvl="1" indent="-342900">
              <a:buFont typeface="Tahoma" pitchFamily="34" charset="0"/>
              <a:buChar char="•"/>
              <a:defRPr/>
            </a:pPr>
            <a:r>
              <a:rPr lang="en-US" dirty="0" smtClean="0">
                <a:solidFill>
                  <a:srgbClr val="FF0000"/>
                </a:solidFill>
                <a:cs typeface="Arial" charset="0"/>
              </a:rPr>
              <a:t>Frame Relay:</a:t>
            </a:r>
          </a:p>
          <a:p>
            <a:pPr marL="342900" lvl="1" indent="-342900">
              <a:buFont typeface="Tahoma" pitchFamily="34" charset="0"/>
              <a:buChar char="•"/>
              <a:defRPr/>
            </a:pPr>
            <a:r>
              <a:rPr lang="en-US" dirty="0" smtClean="0">
                <a:cs typeface="Arial" charset="0"/>
              </a:rPr>
              <a:t>Much simpler protocol</a:t>
            </a:r>
            <a:br>
              <a:rPr lang="en-US" dirty="0" smtClean="0">
                <a:cs typeface="Arial" charset="0"/>
              </a:rPr>
            </a:br>
            <a:r>
              <a:rPr lang="en-US" dirty="0" smtClean="0">
                <a:cs typeface="Arial" charset="0"/>
              </a:rPr>
              <a:t>at the </a:t>
            </a:r>
            <a:r>
              <a:rPr lang="en-US" dirty="0" smtClean="0">
                <a:solidFill>
                  <a:srgbClr val="FF0000"/>
                </a:solidFill>
                <a:cs typeface="Arial" charset="0"/>
              </a:rPr>
              <a:t>data link layer</a:t>
            </a:r>
            <a:r>
              <a:rPr lang="en-US" dirty="0" smtClean="0">
                <a:cs typeface="Arial" charset="0"/>
              </a:rPr>
              <a:t>. </a:t>
            </a:r>
          </a:p>
          <a:p>
            <a:pPr marL="342900" lvl="1" indent="-342900">
              <a:buFont typeface="Tahoma" pitchFamily="34" charset="0"/>
              <a:buChar char="•"/>
              <a:defRPr/>
            </a:pPr>
            <a:r>
              <a:rPr lang="en-US" dirty="0" smtClean="0">
                <a:cs typeface="Arial" charset="0"/>
              </a:rPr>
              <a:t>Implements no error or</a:t>
            </a:r>
            <a:br>
              <a:rPr lang="en-US" dirty="0" smtClean="0">
                <a:cs typeface="Arial" charset="0"/>
              </a:rPr>
            </a:br>
            <a:r>
              <a:rPr lang="en-US" dirty="0" smtClean="0">
                <a:cs typeface="Arial" charset="0"/>
              </a:rPr>
              <a:t>flow control. </a:t>
            </a:r>
          </a:p>
          <a:p>
            <a:pPr marL="342900" lvl="1" indent="-342900">
              <a:buFont typeface="Tahoma" pitchFamily="34" charset="0"/>
              <a:buChar char="•"/>
              <a:defRPr/>
            </a:pPr>
            <a:r>
              <a:rPr lang="en-US" dirty="0" smtClean="0">
                <a:cs typeface="Arial" charset="0"/>
              </a:rPr>
              <a:t>Data rates up to 4 Mb/s.</a:t>
            </a:r>
          </a:p>
          <a:p>
            <a:pPr marL="342900" lvl="1" indent="-342900">
              <a:buFont typeface="Tahoma" pitchFamily="34" charset="0"/>
              <a:buChar char="•"/>
              <a:defRPr/>
            </a:pPr>
            <a:endParaRPr lang="en-US" dirty="0" smtClean="0">
              <a:cs typeface="Arial" charset="0"/>
            </a:endParaRPr>
          </a:p>
          <a:p>
            <a:pPr marL="342900" lvl="1" indent="-342900">
              <a:buFont typeface="Tahoma" pitchFamily="34" charset="0"/>
              <a:buChar char="•"/>
              <a:defRPr/>
            </a:pPr>
            <a:endParaRPr lang="en-US" dirty="0">
              <a:cs typeface="Arial" charset="0"/>
            </a:endParaRPr>
          </a:p>
          <a:p>
            <a:pPr marL="342900" lvl="1" indent="-342900">
              <a:buFont typeface="Tahoma" pitchFamily="34" charset="0"/>
              <a:buChar char="•"/>
              <a:defRPr/>
            </a:pPr>
            <a:r>
              <a:rPr lang="en-US" dirty="0" smtClean="0">
                <a:cs typeface="Arial" charset="0"/>
              </a:rPr>
              <a:t>The router on the LAN needs only a single interface.</a:t>
            </a:r>
          </a:p>
          <a:p>
            <a:pPr marL="342900" lvl="1" indent="-342900">
              <a:buFont typeface="Tahoma" pitchFamily="34" charset="0"/>
              <a:buChar char="•"/>
              <a:defRPr/>
            </a:pPr>
            <a:endParaRPr lang="en-US" dirty="0" smtClean="0">
              <a:cs typeface="Arial" charset="0"/>
            </a:endParaRPr>
          </a:p>
          <a:p>
            <a:pPr marL="342900" lvl="1" indent="-342900">
              <a:buFont typeface="Tahoma" pitchFamily="34" charset="0"/>
              <a:buChar char="•"/>
              <a:defRPr/>
            </a:pPr>
            <a:r>
              <a:rPr lang="en-US" dirty="0" smtClean="0">
                <a:cs typeface="Arial" charset="0"/>
              </a:rPr>
              <a:t>The short-leased line to the Frame Relay network edge allows cost-effective connections between widely scattered LANs.</a:t>
            </a:r>
          </a:p>
          <a:p>
            <a:pPr marL="342900" lvl="1" indent="-342900">
              <a:buFont typeface="Tahoma" pitchFamily="34" charset="0"/>
              <a:buChar char="•"/>
              <a:defRPr/>
            </a:pPr>
            <a:endParaRPr lang="en-US" dirty="0" smtClean="0">
              <a:solidFill>
                <a:srgbClr val="FFFF00"/>
              </a:solidFill>
              <a:cs typeface="Arial" charset="0"/>
            </a:endParaRPr>
          </a:p>
        </p:txBody>
      </p:sp>
      <p:sp>
        <p:nvSpPr>
          <p:cNvPr id="648194" name="Rectangle 2"/>
          <p:cNvSpPr>
            <a:spLocks noGrp="1" noChangeArrowheads="1"/>
          </p:cNvSpPr>
          <p:nvPr>
            <p:ph type="title"/>
          </p:nvPr>
        </p:nvSpPr>
        <p:spPr/>
        <p:txBody>
          <a:bodyPr/>
          <a:lstStyle/>
          <a:p>
            <a:pPr algn="ctr">
              <a:defRPr/>
            </a:pPr>
            <a:r>
              <a:rPr lang="en-US" sz="3200" dirty="0" smtClean="0"/>
              <a:t>Packet-Switched Connection Options</a:t>
            </a:r>
            <a:endParaRPr lang="en-US" sz="3200" dirty="0"/>
          </a:p>
        </p:txBody>
      </p:sp>
      <p:pic>
        <p:nvPicPr>
          <p:cNvPr id="53252" name="Picture 5" descr="wan3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838200"/>
            <a:ext cx="4422775"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7086600" y="914400"/>
            <a:ext cx="1676400" cy="830263"/>
          </a:xfrm>
          <a:prstGeom prst="rect">
            <a:avLst/>
          </a:prstGeom>
          <a:solidFill>
            <a:srgbClr val="800000"/>
          </a:solidFill>
          <a:ln w="25400">
            <a:solidFill>
              <a:srgbClr val="FF0000"/>
            </a:solidFill>
          </a:ln>
        </p:spPr>
        <p:txBody>
          <a:bodyPr>
            <a:spAutoFit/>
          </a:bodyPr>
          <a:lstStyle/>
          <a:p>
            <a:pPr>
              <a:defRPr/>
            </a:pPr>
            <a:r>
              <a:rPr lang="en-US" dirty="0">
                <a:latin typeface="Arial" charset="0"/>
              </a:rPr>
              <a:t>Frame Relay</a:t>
            </a:r>
          </a:p>
        </p:txBody>
      </p:sp>
    </p:spTree>
    <p:extLst>
      <p:ext uri="{BB962C8B-B14F-4D97-AF65-F5344CB8AC3E}">
        <p14:creationId xmlns:p14="http://schemas.microsoft.com/office/powerpoint/2010/main" val="14882111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4572000"/>
            <a:ext cx="8839200" cy="1905000"/>
          </a:xfrm>
        </p:spPr>
        <p:txBody>
          <a:bodyPr/>
          <a:lstStyle/>
          <a:p>
            <a:pPr marL="342900" lvl="1" indent="-342900">
              <a:buFont typeface="Tahoma" pitchFamily="34" charset="0"/>
              <a:buChar char="•"/>
              <a:defRPr/>
            </a:pPr>
            <a:r>
              <a:rPr lang="en-US" dirty="0" smtClean="0">
                <a:solidFill>
                  <a:srgbClr val="FF0000"/>
                </a:solidFill>
                <a:cs typeface="Arial" charset="0"/>
              </a:rPr>
              <a:t>Asynchronous Transfer Mode (ATM):</a:t>
            </a:r>
          </a:p>
          <a:p>
            <a:pPr marL="798512" lvl="2" indent="-342900">
              <a:buFont typeface="Tahoma" pitchFamily="34" charset="0"/>
              <a:buChar char="•"/>
              <a:defRPr/>
            </a:pPr>
            <a:r>
              <a:rPr lang="en-US" dirty="0" smtClean="0">
                <a:cs typeface="Arial" charset="0"/>
              </a:rPr>
              <a:t>ATM technology is capable of transferring voice, video, and data </a:t>
            </a:r>
            <a:r>
              <a:rPr lang="en-US" dirty="0" smtClean="0">
                <a:solidFill>
                  <a:srgbClr val="FF0000"/>
                </a:solidFill>
                <a:cs typeface="Arial" charset="0"/>
              </a:rPr>
              <a:t>simultaneously </a:t>
            </a:r>
            <a:r>
              <a:rPr lang="en-US" dirty="0" smtClean="0">
                <a:cs typeface="Arial" charset="0"/>
              </a:rPr>
              <a:t>through private and public networks. </a:t>
            </a:r>
          </a:p>
          <a:p>
            <a:pPr marL="798512" lvl="2" indent="-342900">
              <a:buFont typeface="Tahoma" pitchFamily="34" charset="0"/>
              <a:buChar char="•"/>
              <a:defRPr/>
            </a:pPr>
            <a:r>
              <a:rPr lang="en-US" dirty="0" smtClean="0">
                <a:cs typeface="Arial" charset="0"/>
              </a:rPr>
              <a:t>It is built on a </a:t>
            </a:r>
            <a:r>
              <a:rPr lang="en-US" dirty="0" smtClean="0">
                <a:solidFill>
                  <a:srgbClr val="FF0000"/>
                </a:solidFill>
                <a:cs typeface="Arial" charset="0"/>
              </a:rPr>
              <a:t>cell-based</a:t>
            </a:r>
            <a:r>
              <a:rPr lang="en-US" dirty="0" smtClean="0">
                <a:cs typeface="Arial" charset="0"/>
              </a:rPr>
              <a:t> architecture. </a:t>
            </a:r>
          </a:p>
          <a:p>
            <a:pPr marL="798512" lvl="2" indent="-342900">
              <a:buFont typeface="Tahoma" pitchFamily="34" charset="0"/>
              <a:buChar char="•"/>
              <a:defRPr/>
            </a:pPr>
            <a:endParaRPr lang="en-US" dirty="0" smtClean="0">
              <a:solidFill>
                <a:srgbClr val="FFFF00"/>
              </a:solidFill>
              <a:cs typeface="Arial" charset="0"/>
            </a:endParaRPr>
          </a:p>
          <a:p>
            <a:pPr marL="342900" lvl="1" indent="-342900">
              <a:buFont typeface="Tahoma" pitchFamily="34" charset="0"/>
              <a:buChar char="•"/>
              <a:defRPr/>
            </a:pPr>
            <a:endParaRPr lang="en-US" dirty="0" smtClean="0">
              <a:solidFill>
                <a:srgbClr val="FFFF00"/>
              </a:solidFill>
              <a:cs typeface="Arial" charset="0"/>
            </a:endParaRP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Packet-Switched Connection Options</a:t>
            </a:r>
            <a:endParaRPr lang="en-US" dirty="0"/>
          </a:p>
        </p:txBody>
      </p:sp>
      <p:pic>
        <p:nvPicPr>
          <p:cNvPr id="54276" name="Picture 7" descr="wan3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90600"/>
            <a:ext cx="6502400" cy="362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733800" y="914400"/>
            <a:ext cx="1676400" cy="461963"/>
          </a:xfrm>
          <a:prstGeom prst="rect">
            <a:avLst/>
          </a:prstGeom>
          <a:solidFill>
            <a:srgbClr val="800000"/>
          </a:solidFill>
          <a:ln w="25400">
            <a:solidFill>
              <a:srgbClr val="FF0000"/>
            </a:solidFill>
          </a:ln>
        </p:spPr>
        <p:txBody>
          <a:bodyPr>
            <a:spAutoFit/>
          </a:bodyPr>
          <a:lstStyle/>
          <a:p>
            <a:pPr>
              <a:defRPr/>
            </a:pPr>
            <a:r>
              <a:rPr lang="en-US" dirty="0">
                <a:latin typeface="Arial" charset="0"/>
              </a:rPr>
              <a:t>ATM</a:t>
            </a:r>
          </a:p>
        </p:txBody>
      </p:sp>
    </p:spTree>
    <p:extLst>
      <p:ext uri="{BB962C8B-B14F-4D97-AF65-F5344CB8AC3E}">
        <p14:creationId xmlns:p14="http://schemas.microsoft.com/office/powerpoint/2010/main" val="40046817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4572000"/>
            <a:ext cx="8839200" cy="1905000"/>
          </a:xfrm>
        </p:spPr>
        <p:txBody>
          <a:bodyPr/>
          <a:lstStyle/>
          <a:p>
            <a:pPr marL="342900" lvl="1" indent="-342900">
              <a:buFont typeface="Tahoma" pitchFamily="34" charset="0"/>
              <a:buChar char="•"/>
              <a:defRPr/>
            </a:pPr>
            <a:r>
              <a:rPr lang="en-US" dirty="0" smtClean="0">
                <a:solidFill>
                  <a:srgbClr val="FF0000"/>
                </a:solidFill>
                <a:cs typeface="Arial" charset="0"/>
              </a:rPr>
              <a:t>Asynchronous Transfer Mode (ATM):</a:t>
            </a:r>
          </a:p>
          <a:p>
            <a:pPr marL="798512" lvl="2" indent="-342900">
              <a:buFont typeface="Tahoma" pitchFamily="34" charset="0"/>
              <a:buChar char="•"/>
              <a:defRPr/>
            </a:pPr>
            <a:r>
              <a:rPr lang="en-US" dirty="0" smtClean="0">
                <a:cs typeface="Arial" charset="0"/>
              </a:rPr>
              <a:t>ATM cells are always a </a:t>
            </a:r>
            <a:r>
              <a:rPr lang="en-US" dirty="0" smtClean="0">
                <a:solidFill>
                  <a:srgbClr val="FF0000"/>
                </a:solidFill>
                <a:cs typeface="Arial" charset="0"/>
              </a:rPr>
              <a:t>fixed length of 53 bytes</a:t>
            </a:r>
            <a:r>
              <a:rPr lang="en-US" dirty="0" smtClean="0">
                <a:cs typeface="Arial" charset="0"/>
              </a:rPr>
              <a:t>. </a:t>
            </a:r>
          </a:p>
          <a:p>
            <a:pPr marL="1198562" lvl="3" indent="-342900">
              <a:buFont typeface="Tahoma" pitchFamily="34" charset="0"/>
              <a:buChar char="•"/>
              <a:defRPr/>
            </a:pPr>
            <a:r>
              <a:rPr lang="en-US" dirty="0" smtClean="0">
                <a:cs typeface="Arial" charset="0"/>
              </a:rPr>
              <a:t>5 byte ATM header.</a:t>
            </a:r>
          </a:p>
          <a:p>
            <a:pPr marL="1198562" lvl="3" indent="-342900">
              <a:buFont typeface="Tahoma" pitchFamily="34" charset="0"/>
              <a:buChar char="•"/>
              <a:defRPr/>
            </a:pPr>
            <a:r>
              <a:rPr lang="en-US" dirty="0" smtClean="0">
                <a:cs typeface="Arial" charset="0"/>
              </a:rPr>
              <a:t>48 bytes of ATM payload. </a:t>
            </a:r>
          </a:p>
          <a:p>
            <a:pPr marL="798512" lvl="2" indent="-342900">
              <a:buFont typeface="Tahoma" pitchFamily="34" charset="0"/>
              <a:buChar char="•"/>
              <a:defRPr/>
            </a:pPr>
            <a:endParaRPr lang="en-US" dirty="0" smtClean="0">
              <a:solidFill>
                <a:srgbClr val="FFFF00"/>
              </a:solidFill>
              <a:cs typeface="Arial" charset="0"/>
            </a:endParaRPr>
          </a:p>
          <a:p>
            <a:pPr marL="342900" lvl="1" indent="-342900">
              <a:buFont typeface="Tahoma" pitchFamily="34" charset="0"/>
              <a:buChar char="•"/>
              <a:defRPr/>
            </a:pPr>
            <a:endParaRPr lang="en-US" dirty="0" smtClean="0">
              <a:solidFill>
                <a:srgbClr val="FFFF00"/>
              </a:solidFill>
              <a:cs typeface="Arial" charset="0"/>
            </a:endParaRP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Packet-Switched Connection Options</a:t>
            </a:r>
            <a:endParaRPr lang="en-US" dirty="0"/>
          </a:p>
        </p:txBody>
      </p:sp>
      <p:pic>
        <p:nvPicPr>
          <p:cNvPr id="55300" name="Picture 7" descr="wan3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90600"/>
            <a:ext cx="6502400" cy="362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733800" y="914400"/>
            <a:ext cx="1676400" cy="461963"/>
          </a:xfrm>
          <a:prstGeom prst="rect">
            <a:avLst/>
          </a:prstGeom>
          <a:solidFill>
            <a:srgbClr val="800000"/>
          </a:solidFill>
          <a:ln w="25400">
            <a:solidFill>
              <a:srgbClr val="FF0000"/>
            </a:solidFill>
          </a:ln>
        </p:spPr>
        <p:txBody>
          <a:bodyPr>
            <a:spAutoFit/>
          </a:bodyPr>
          <a:lstStyle/>
          <a:p>
            <a:pPr>
              <a:defRPr/>
            </a:pPr>
            <a:r>
              <a:rPr lang="en-US" dirty="0">
                <a:latin typeface="Arial" charset="0"/>
              </a:rPr>
              <a:t>ATM</a:t>
            </a:r>
          </a:p>
        </p:txBody>
      </p:sp>
    </p:spTree>
    <p:extLst>
      <p:ext uri="{BB962C8B-B14F-4D97-AF65-F5344CB8AC3E}">
        <p14:creationId xmlns:p14="http://schemas.microsoft.com/office/powerpoint/2010/main" val="6591449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4572000"/>
            <a:ext cx="8839200" cy="1905000"/>
          </a:xfrm>
        </p:spPr>
        <p:txBody>
          <a:bodyPr>
            <a:normAutofit fontScale="92500" lnSpcReduction="10000"/>
          </a:bodyPr>
          <a:lstStyle/>
          <a:p>
            <a:pPr marL="342900" lvl="1" indent="-342900">
              <a:buFont typeface="Tahoma" pitchFamily="34" charset="0"/>
              <a:buChar char="•"/>
              <a:defRPr/>
            </a:pPr>
            <a:r>
              <a:rPr lang="en-US" dirty="0" smtClean="0">
                <a:solidFill>
                  <a:srgbClr val="FF0000"/>
                </a:solidFill>
                <a:cs typeface="Arial" charset="0"/>
              </a:rPr>
              <a:t>Asynchronous Transfer Mode (ATM):</a:t>
            </a:r>
          </a:p>
          <a:p>
            <a:pPr marL="798512" lvl="2" indent="-342900">
              <a:buFont typeface="Tahoma" pitchFamily="34" charset="0"/>
              <a:buChar char="•"/>
              <a:defRPr/>
            </a:pPr>
            <a:r>
              <a:rPr lang="en-US" dirty="0" smtClean="0">
                <a:cs typeface="Arial" charset="0"/>
              </a:rPr>
              <a:t>The ATM cell is less efficient than the bigger frames and packets of Frame Relay and X.25. </a:t>
            </a:r>
          </a:p>
          <a:p>
            <a:pPr marL="798512" lvl="2" indent="-342900">
              <a:buFont typeface="Tahoma" pitchFamily="34" charset="0"/>
              <a:buChar char="•"/>
              <a:defRPr/>
            </a:pPr>
            <a:r>
              <a:rPr lang="en-US" dirty="0" smtClean="0">
                <a:cs typeface="Arial" charset="0"/>
              </a:rPr>
              <a:t>Needs almost 20 percent greater bandwidth than Frame Relay to carry the same amount of data.</a:t>
            </a:r>
            <a:endParaRPr lang="en-US" dirty="0" smtClean="0">
              <a:solidFill>
                <a:srgbClr val="FFFF00"/>
              </a:solidFill>
              <a:cs typeface="Arial" charset="0"/>
            </a:endParaRP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Packet-Switched Connection Options</a:t>
            </a:r>
            <a:endParaRPr lang="en-US" dirty="0"/>
          </a:p>
        </p:txBody>
      </p:sp>
      <p:pic>
        <p:nvPicPr>
          <p:cNvPr id="56324" name="Picture 7" descr="wan3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90600"/>
            <a:ext cx="6502400" cy="362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733800" y="914400"/>
            <a:ext cx="1676400" cy="461963"/>
          </a:xfrm>
          <a:prstGeom prst="rect">
            <a:avLst/>
          </a:prstGeom>
          <a:solidFill>
            <a:srgbClr val="800000"/>
          </a:solidFill>
          <a:ln w="25400">
            <a:solidFill>
              <a:srgbClr val="FF0000"/>
            </a:solidFill>
          </a:ln>
        </p:spPr>
        <p:txBody>
          <a:bodyPr>
            <a:spAutoFit/>
          </a:bodyPr>
          <a:lstStyle/>
          <a:p>
            <a:pPr>
              <a:defRPr/>
            </a:pPr>
            <a:r>
              <a:rPr lang="en-US" dirty="0">
                <a:latin typeface="Arial" charset="0"/>
              </a:rPr>
              <a:t>ATM</a:t>
            </a:r>
          </a:p>
        </p:txBody>
      </p:sp>
    </p:spTree>
    <p:extLst>
      <p:ext uri="{BB962C8B-B14F-4D97-AF65-F5344CB8AC3E}">
        <p14:creationId xmlns:p14="http://schemas.microsoft.com/office/powerpoint/2010/main" val="31698029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4800600"/>
            <a:ext cx="8839200" cy="1905000"/>
          </a:xfrm>
        </p:spPr>
        <p:txBody>
          <a:bodyPr/>
          <a:lstStyle/>
          <a:p>
            <a:pPr marL="342900" lvl="1" indent="-342900">
              <a:buFont typeface="Tahoma" pitchFamily="34" charset="0"/>
              <a:buChar char="•"/>
              <a:defRPr/>
            </a:pPr>
            <a:r>
              <a:rPr lang="en-US" dirty="0" smtClean="0">
                <a:solidFill>
                  <a:srgbClr val="FF0000"/>
                </a:solidFill>
                <a:cs typeface="Arial" charset="0"/>
              </a:rPr>
              <a:t>Asynchronous Transfer Mode (ATM):</a:t>
            </a:r>
          </a:p>
          <a:p>
            <a:pPr marL="798512" lvl="2" indent="-342900">
              <a:buFont typeface="Tahoma" pitchFamily="34" charset="0"/>
              <a:buChar char="•"/>
              <a:defRPr/>
            </a:pPr>
            <a:r>
              <a:rPr lang="en-US" dirty="0" smtClean="0">
                <a:cs typeface="Arial" charset="0"/>
              </a:rPr>
              <a:t>ATM was designed to be </a:t>
            </a:r>
            <a:r>
              <a:rPr lang="en-US" dirty="0" smtClean="0">
                <a:solidFill>
                  <a:srgbClr val="FF0000"/>
                </a:solidFill>
                <a:cs typeface="Arial" charset="0"/>
              </a:rPr>
              <a:t>extremely scalable</a:t>
            </a:r>
            <a:r>
              <a:rPr lang="en-US" dirty="0" smtClean="0">
                <a:cs typeface="Arial" charset="0"/>
              </a:rPr>
              <a:t> and can support link speeds of (622 Mb/s) and higher. </a:t>
            </a: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Packet-Switched Connection Options</a:t>
            </a:r>
            <a:endParaRPr lang="en-US" dirty="0"/>
          </a:p>
        </p:txBody>
      </p:sp>
      <p:pic>
        <p:nvPicPr>
          <p:cNvPr id="57348" name="Picture 7" descr="wan3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90600"/>
            <a:ext cx="6502400" cy="362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733800" y="914400"/>
            <a:ext cx="1676400" cy="461963"/>
          </a:xfrm>
          <a:prstGeom prst="rect">
            <a:avLst/>
          </a:prstGeom>
          <a:solidFill>
            <a:srgbClr val="800000"/>
          </a:solidFill>
          <a:ln w="25400">
            <a:solidFill>
              <a:srgbClr val="FF0000"/>
            </a:solidFill>
          </a:ln>
        </p:spPr>
        <p:txBody>
          <a:bodyPr>
            <a:spAutoFit/>
          </a:bodyPr>
          <a:lstStyle/>
          <a:p>
            <a:pPr>
              <a:defRPr/>
            </a:pPr>
            <a:r>
              <a:rPr lang="en-US" dirty="0">
                <a:latin typeface="Arial" charset="0"/>
              </a:rPr>
              <a:t>ATM</a:t>
            </a:r>
          </a:p>
        </p:txBody>
      </p:sp>
    </p:spTree>
    <p:extLst>
      <p:ext uri="{BB962C8B-B14F-4D97-AF65-F5344CB8AC3E}">
        <p14:creationId xmlns:p14="http://schemas.microsoft.com/office/powerpoint/2010/main" val="15487021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type="body" sz="half" idx="1"/>
          </p:nvPr>
        </p:nvSpPr>
        <p:spPr>
          <a:xfrm>
            <a:off x="152400" y="1676400"/>
            <a:ext cx="8839200" cy="5257800"/>
          </a:xfrm>
        </p:spPr>
        <p:txBody>
          <a:bodyPr>
            <a:normAutofit fontScale="92500" lnSpcReduction="20000"/>
          </a:bodyPr>
          <a:lstStyle/>
          <a:p>
            <a:pPr marL="342900" lvl="1" indent="-342900">
              <a:buFont typeface="Tahoma" pitchFamily="34" charset="0"/>
              <a:buChar char="•"/>
              <a:defRPr/>
            </a:pPr>
            <a:r>
              <a:rPr lang="en-US" dirty="0" smtClean="0">
                <a:solidFill>
                  <a:srgbClr val="FF0000"/>
                </a:solidFill>
              </a:rPr>
              <a:t>Public:</a:t>
            </a:r>
            <a:r>
              <a:rPr lang="en-US" dirty="0" smtClean="0"/>
              <a:t/>
            </a:r>
            <a:br>
              <a:rPr lang="en-US" dirty="0" smtClean="0"/>
            </a:br>
            <a:r>
              <a:rPr lang="en-US" dirty="0" smtClean="0"/>
              <a:t>Public connections</a:t>
            </a:r>
            <a:br>
              <a:rPr lang="en-US" dirty="0" smtClean="0"/>
            </a:br>
            <a:r>
              <a:rPr lang="en-US" dirty="0" smtClean="0"/>
              <a:t>use the global</a:t>
            </a:r>
            <a:br>
              <a:rPr lang="en-US" dirty="0" smtClean="0"/>
            </a:br>
            <a:r>
              <a:rPr lang="en-US" dirty="0" smtClean="0"/>
              <a:t>Internet infrastructure. </a:t>
            </a:r>
          </a:p>
          <a:p>
            <a:pPr>
              <a:defRPr/>
            </a:pPr>
            <a:r>
              <a:rPr lang="en-US" dirty="0" smtClean="0"/>
              <a:t>Until the development</a:t>
            </a:r>
            <a:br>
              <a:rPr lang="en-US" dirty="0" smtClean="0"/>
            </a:br>
            <a:r>
              <a:rPr lang="en-US" dirty="0" smtClean="0"/>
              <a:t>of VPN technology,</a:t>
            </a:r>
            <a:br>
              <a:rPr lang="en-US" dirty="0" smtClean="0"/>
            </a:br>
            <a:r>
              <a:rPr lang="en-US" dirty="0" smtClean="0"/>
              <a:t>the Internet was not</a:t>
            </a:r>
            <a:br>
              <a:rPr lang="en-US" dirty="0" smtClean="0"/>
            </a:br>
            <a:r>
              <a:rPr lang="en-US" dirty="0" smtClean="0"/>
              <a:t>a viable connection</a:t>
            </a:r>
            <a:br>
              <a:rPr lang="en-US" dirty="0" smtClean="0"/>
            </a:br>
            <a:r>
              <a:rPr lang="en-US" dirty="0" smtClean="0"/>
              <a:t>option.  Security</a:t>
            </a:r>
            <a:br>
              <a:rPr lang="en-US" dirty="0" smtClean="0"/>
            </a:br>
            <a:r>
              <a:rPr lang="en-US" dirty="0" smtClean="0"/>
              <a:t>issues prevented its use.</a:t>
            </a:r>
          </a:p>
          <a:p>
            <a:pPr>
              <a:defRPr/>
            </a:pPr>
            <a:r>
              <a:rPr lang="en-US" dirty="0" smtClean="0"/>
              <a:t>The Internet is now an inexpensive and secure option for connecting to tele-workers and remote offices where performance guarantees are not critical.</a:t>
            </a:r>
          </a:p>
          <a:p>
            <a:pPr lvl="1">
              <a:defRPr/>
            </a:pPr>
            <a:r>
              <a:rPr lang="en-US" dirty="0" smtClean="0">
                <a:solidFill>
                  <a:srgbClr val="FF0000"/>
                </a:solidFill>
                <a:cs typeface="Arial" charset="0"/>
              </a:rPr>
              <a:t>DSL, Cable Broadband Wireless</a:t>
            </a:r>
          </a:p>
        </p:txBody>
      </p:sp>
      <p:sp>
        <p:nvSpPr>
          <p:cNvPr id="648194" name="Rectangle 2"/>
          <p:cNvSpPr>
            <a:spLocks noGrp="1" noChangeArrowheads="1"/>
          </p:cNvSpPr>
          <p:nvPr>
            <p:ph type="title"/>
          </p:nvPr>
        </p:nvSpPr>
        <p:spPr/>
        <p:txBody>
          <a:bodyPr>
            <a:normAutofit fontScale="90000"/>
          </a:bodyPr>
          <a:lstStyle/>
          <a:p>
            <a:pPr algn="ctr">
              <a:defRPr/>
            </a:pPr>
            <a:r>
              <a:rPr lang="en-US" dirty="0" smtClean="0"/>
              <a:t>WAN Link Connection Options</a:t>
            </a:r>
            <a:endParaRPr lang="en-US" dirty="0"/>
          </a:p>
        </p:txBody>
      </p:sp>
      <p:pic>
        <p:nvPicPr>
          <p:cNvPr id="44036" name="Picture 4" descr="wan25.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1219200"/>
            <a:ext cx="4905375" cy="344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bwMode="auto">
          <a:xfrm>
            <a:off x="7924800" y="1905000"/>
            <a:ext cx="1143000" cy="304800"/>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lstStyle/>
          <a:p>
            <a:pPr>
              <a:defRPr/>
            </a:pPr>
            <a:endParaRPr lang="en-US">
              <a:latin typeface="Arial" charset="0"/>
            </a:endParaRPr>
          </a:p>
        </p:txBody>
      </p:sp>
      <p:sp>
        <p:nvSpPr>
          <p:cNvPr id="7" name="Rectangle 6"/>
          <p:cNvSpPr/>
          <p:nvPr/>
        </p:nvSpPr>
        <p:spPr bwMode="auto">
          <a:xfrm>
            <a:off x="7848600" y="2514600"/>
            <a:ext cx="1219200" cy="2057400"/>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lstStyle/>
          <a:p>
            <a:pPr>
              <a:defRPr/>
            </a:pPr>
            <a:endParaRPr lang="en-US">
              <a:latin typeface="Arial" charset="0"/>
            </a:endParaRPr>
          </a:p>
        </p:txBody>
      </p:sp>
    </p:spTree>
    <p:extLst>
      <p:ext uri="{BB962C8B-B14F-4D97-AF65-F5344CB8AC3E}">
        <p14:creationId xmlns:p14="http://schemas.microsoft.com/office/powerpoint/2010/main" val="23138974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WAN Switching Concepts</a:t>
            </a:r>
            <a:endParaRPr lang="en-US" dirty="0"/>
          </a:p>
        </p:txBody>
      </p:sp>
      <p:sp>
        <p:nvSpPr>
          <p:cNvPr id="3" name="Content Placeholder 2"/>
          <p:cNvSpPr>
            <a:spLocks noGrp="1"/>
          </p:cNvSpPr>
          <p:nvPr>
            <p:ph idx="1"/>
          </p:nvPr>
        </p:nvSpPr>
        <p:spPr/>
        <p:txBody>
          <a:bodyPr/>
          <a:lstStyle/>
          <a:p>
            <a:pPr>
              <a:defRPr/>
            </a:pPr>
            <a:r>
              <a:rPr lang="en-US" sz="2800" dirty="0" smtClean="0">
                <a:cs typeface="Arial" charset="0"/>
              </a:rPr>
              <a:t>WAN </a:t>
            </a:r>
            <a:r>
              <a:rPr lang="en-US" sz="2800" dirty="0">
                <a:cs typeface="Arial" charset="0"/>
              </a:rPr>
              <a:t>switched networks fall into two categories:</a:t>
            </a:r>
          </a:p>
          <a:p>
            <a:pPr lvl="1">
              <a:defRPr/>
            </a:pPr>
            <a:r>
              <a:rPr lang="en-US" dirty="0">
                <a:cs typeface="Arial" charset="0"/>
              </a:rPr>
              <a:t>Circuit switched.</a:t>
            </a:r>
          </a:p>
          <a:p>
            <a:pPr lvl="2">
              <a:defRPr/>
            </a:pPr>
            <a:r>
              <a:rPr lang="en-US" sz="2800" dirty="0" smtClean="0">
                <a:cs typeface="Arial" charset="0"/>
              </a:rPr>
              <a:t>PSTN, </a:t>
            </a:r>
            <a:r>
              <a:rPr lang="en-US" sz="2800" dirty="0">
                <a:cs typeface="Arial" charset="0"/>
              </a:rPr>
              <a:t>ISDN</a:t>
            </a:r>
          </a:p>
          <a:p>
            <a:pPr lvl="1">
              <a:defRPr/>
            </a:pPr>
            <a:r>
              <a:rPr lang="en-US" dirty="0">
                <a:cs typeface="Arial" charset="0"/>
              </a:rPr>
              <a:t>Packet switched.</a:t>
            </a:r>
          </a:p>
          <a:p>
            <a:pPr lvl="2">
              <a:defRPr/>
            </a:pPr>
            <a:r>
              <a:rPr lang="en-US" sz="2800" dirty="0">
                <a:cs typeface="Arial" charset="0"/>
              </a:rPr>
              <a:t>Frame Relay, ATM, X.25</a:t>
            </a:r>
          </a:p>
          <a:p>
            <a:endParaRPr lang="en-US" dirty="0"/>
          </a:p>
        </p:txBody>
      </p:sp>
    </p:spTree>
    <p:extLst>
      <p:ext uri="{BB962C8B-B14F-4D97-AF65-F5344CB8AC3E}">
        <p14:creationId xmlns:p14="http://schemas.microsoft.com/office/powerpoint/2010/main" val="7469280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Circuit Switching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 circuit-switched network is one that establishes a dedicated circuit (or channel) between nodes and terminals before the users may communicate. </a:t>
            </a:r>
          </a:p>
          <a:p>
            <a:r>
              <a:rPr lang="en-US" dirty="0" smtClean="0"/>
              <a:t>As an example, when a subscriber makes a telephone call, the dialed number is used to set switches in the exchanges along the call’s route so that a continuous circuit exists from the caller to the called party. </a:t>
            </a:r>
          </a:p>
          <a:p>
            <a:r>
              <a:rPr lang="en-US" dirty="0" smtClean="0"/>
              <a:t>Because of the switching operation used to establish the circuit</a:t>
            </a:r>
            <a:r>
              <a:rPr lang="en-US" b="1" dirty="0" smtClean="0"/>
              <a:t>, the telephone system is called a circuit-switched network</a:t>
            </a:r>
            <a:r>
              <a:rPr lang="en-US" dirty="0" smtClean="0"/>
              <a:t>. </a:t>
            </a:r>
          </a:p>
          <a:p>
            <a:r>
              <a:rPr lang="en-US" dirty="0" smtClean="0"/>
              <a:t>If the telephones are replaced with modems, the switched circuit can carry computer data.</a:t>
            </a:r>
            <a:endParaRPr lang="en-US" dirty="0"/>
          </a:p>
        </p:txBody>
      </p:sp>
    </p:spTree>
    <p:extLst>
      <p:ext uri="{BB962C8B-B14F-4D97-AF65-F5344CB8AC3E}">
        <p14:creationId xmlns:p14="http://schemas.microsoft.com/office/powerpoint/2010/main" val="24380481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Circuit Switching</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447800"/>
            <a:ext cx="7010400"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926714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Packet Switching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 contrast to circuit switching, packet switching splits traffic data into packets that are routed over a shared network. </a:t>
            </a:r>
          </a:p>
          <a:p>
            <a:r>
              <a:rPr lang="en-US" dirty="0" smtClean="0"/>
              <a:t>Packet-switching networks do not require a circuit to be established, and they allow many pairs of nodes to communicate over the same channel. </a:t>
            </a:r>
          </a:p>
          <a:p>
            <a:r>
              <a:rPr lang="en-US" dirty="0" smtClean="0"/>
              <a:t>The switches in a packet-switched network determine which link the packet must be sent on next from the addressing information in each packet. </a:t>
            </a:r>
            <a:endParaRPr lang="en-US" dirty="0"/>
          </a:p>
        </p:txBody>
      </p:sp>
    </p:spTree>
    <p:extLst>
      <p:ext uri="{BB962C8B-B14F-4D97-AF65-F5344CB8AC3E}">
        <p14:creationId xmlns:p14="http://schemas.microsoft.com/office/powerpoint/2010/main" val="41295867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Packet Switching cont’d</a:t>
            </a:r>
            <a:endParaRPr lang="en-US" dirty="0"/>
          </a:p>
        </p:txBody>
      </p:sp>
      <p:sp>
        <p:nvSpPr>
          <p:cNvPr id="3" name="Content Placeholder 2"/>
          <p:cNvSpPr>
            <a:spLocks noGrp="1"/>
          </p:cNvSpPr>
          <p:nvPr>
            <p:ph idx="1"/>
          </p:nvPr>
        </p:nvSpPr>
        <p:spPr>
          <a:xfrm>
            <a:off x="457200" y="1447800"/>
            <a:ext cx="8229600" cy="5105400"/>
          </a:xfrm>
        </p:spPr>
        <p:txBody>
          <a:bodyPr>
            <a:normAutofit fontScale="70000" lnSpcReduction="20000"/>
          </a:bodyPr>
          <a:lstStyle/>
          <a:p>
            <a:r>
              <a:rPr lang="en-US" dirty="0" smtClean="0"/>
              <a:t>There are two approaches to this link determination: </a:t>
            </a:r>
          </a:p>
          <a:p>
            <a:pPr>
              <a:buFont typeface="Wingdings" panose="05000000000000000000" pitchFamily="2" charset="2"/>
              <a:buChar char="q"/>
            </a:pPr>
            <a:r>
              <a:rPr lang="en-US" b="1" dirty="0" smtClean="0"/>
              <a:t>Connectionless systems</a:t>
            </a:r>
            <a:r>
              <a:rPr lang="en-US" dirty="0" smtClean="0"/>
              <a:t>, such as the Internet, carry full addressing information in each packet. Each switch must evaluate the address to determine where to send the packet. </a:t>
            </a:r>
          </a:p>
          <a:p>
            <a:pPr>
              <a:buFont typeface="Wingdings" panose="05000000000000000000" pitchFamily="2" charset="2"/>
              <a:buChar char="q"/>
            </a:pPr>
            <a:r>
              <a:rPr lang="en-US" b="1" dirty="0" smtClean="0"/>
              <a:t>Connection-oriented systems</a:t>
            </a:r>
            <a:r>
              <a:rPr lang="en-US" dirty="0" smtClean="0"/>
              <a:t> predetermine a packet’s route, and each packet only has to carry an identifier. In the case of Frame Relay, these are called Data Link Connection Identifiers (DLCI). </a:t>
            </a:r>
          </a:p>
          <a:p>
            <a:r>
              <a:rPr lang="en-US" dirty="0" smtClean="0"/>
              <a:t>The switch determines the onward route by looking up the identifier in tables held in memory. The set of entries in the tables identifies a particular route or circuit through the system. If this circuit exists only while a packet travels through it, it is called a virtual circuit (VC). </a:t>
            </a:r>
          </a:p>
          <a:p>
            <a:r>
              <a:rPr lang="en-US" dirty="0" smtClean="0"/>
              <a:t>A virtual circuit is a logical circuit between two network devices to help ensure reliable communications.</a:t>
            </a:r>
          </a:p>
          <a:p>
            <a:endParaRPr lang="en-US" dirty="0"/>
          </a:p>
        </p:txBody>
      </p:sp>
    </p:spTree>
    <p:extLst>
      <p:ext uri="{BB962C8B-B14F-4D97-AF65-F5344CB8AC3E}">
        <p14:creationId xmlns:p14="http://schemas.microsoft.com/office/powerpoint/2010/main" val="41985519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Packet Switching cont’d</a:t>
            </a:r>
            <a:endParaRPr 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447800"/>
            <a:ext cx="8077200"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79800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WAN Technology Concepts</a:t>
            </a:r>
            <a:endParaRPr lang="en-US" dirty="0"/>
          </a:p>
        </p:txBody>
      </p:sp>
      <p:sp>
        <p:nvSpPr>
          <p:cNvPr id="3" name="Content Placeholder 2"/>
          <p:cNvSpPr>
            <a:spLocks noGrp="1"/>
          </p:cNvSpPr>
          <p:nvPr>
            <p:ph idx="1"/>
          </p:nvPr>
        </p:nvSpPr>
        <p:spPr/>
        <p:txBody>
          <a:bodyPr/>
          <a:lstStyle/>
          <a:p>
            <a:r>
              <a:rPr lang="en-US" dirty="0"/>
              <a:t>As described in relation to the OSI reference model, WAN operations focus primarily </a:t>
            </a:r>
            <a:r>
              <a:rPr lang="en-US" dirty="0" smtClean="0"/>
              <a:t>on Layer </a:t>
            </a:r>
            <a:r>
              <a:rPr lang="en-US" dirty="0"/>
              <a:t>1 and Layer 2</a:t>
            </a:r>
          </a:p>
        </p:txBody>
      </p:sp>
    </p:spTree>
    <p:extLst>
      <p:ext uri="{BB962C8B-B14F-4D97-AF65-F5344CB8AC3E}">
        <p14:creationId xmlns:p14="http://schemas.microsoft.com/office/powerpoint/2010/main" val="301494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OSI and WAN Services</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0365" y="1484661"/>
            <a:ext cx="7883271" cy="5220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6602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normAutofit fontScale="77500" lnSpcReduction="20000"/>
          </a:bodyPr>
          <a:lstStyle/>
          <a:p>
            <a:r>
              <a:rPr lang="en-US" dirty="0"/>
              <a:t>T</a:t>
            </a:r>
            <a:r>
              <a:rPr lang="en-US" dirty="0" smtClean="0"/>
              <a:t>he </a:t>
            </a:r>
            <a:r>
              <a:rPr lang="en-US" dirty="0"/>
              <a:t>physical layer (OSI Layer 1) protocols describe how </a:t>
            </a:r>
            <a:r>
              <a:rPr lang="en-US" dirty="0" smtClean="0"/>
              <a:t>to provide </a:t>
            </a:r>
            <a:r>
              <a:rPr lang="en-US" dirty="0"/>
              <a:t>electrical, mechanical, operational, and functional connections to the services of </a:t>
            </a:r>
            <a:r>
              <a:rPr lang="en-US" dirty="0" smtClean="0"/>
              <a:t>a communications </a:t>
            </a:r>
            <a:r>
              <a:rPr lang="en-US" dirty="0"/>
              <a:t>service provider.</a:t>
            </a:r>
          </a:p>
          <a:p>
            <a:r>
              <a:rPr lang="en-US" dirty="0"/>
              <a:t>The data link layer (OSI Layer 2) protocols define how data is encapsulated for </a:t>
            </a:r>
            <a:r>
              <a:rPr lang="en-US" dirty="0" smtClean="0"/>
              <a:t>transmission toward </a:t>
            </a:r>
            <a:r>
              <a:rPr lang="en-US" dirty="0"/>
              <a:t>a remote location and the mechanisms for transferring the resulting frames. </a:t>
            </a:r>
            <a:endParaRPr lang="en-US" dirty="0" smtClean="0"/>
          </a:p>
          <a:p>
            <a:r>
              <a:rPr lang="en-US" dirty="0" smtClean="0"/>
              <a:t>A</a:t>
            </a:r>
            <a:r>
              <a:rPr lang="en-US" dirty="0"/>
              <a:t> </a:t>
            </a:r>
            <a:r>
              <a:rPr lang="en-US" dirty="0" smtClean="0"/>
              <a:t>variety </a:t>
            </a:r>
            <a:r>
              <a:rPr lang="en-US" dirty="0"/>
              <a:t>of technologies are used, such as </a:t>
            </a:r>
            <a:r>
              <a:rPr lang="en-US" b="1" i="1" dirty="0"/>
              <a:t>Frame Relay </a:t>
            </a:r>
            <a:r>
              <a:rPr lang="en-US" dirty="0"/>
              <a:t>and </a:t>
            </a:r>
            <a:r>
              <a:rPr lang="en-US" b="1" i="1" dirty="0"/>
              <a:t>Asynchronous Transfer </a:t>
            </a:r>
            <a:r>
              <a:rPr lang="en-US" b="1" i="1" dirty="0" smtClean="0"/>
              <a:t>Mode (ATM</a:t>
            </a:r>
            <a:r>
              <a:rPr lang="en-US" b="1" i="1" dirty="0"/>
              <a:t>)</a:t>
            </a:r>
            <a:r>
              <a:rPr lang="en-US" dirty="0"/>
              <a:t>. </a:t>
            </a:r>
            <a:endParaRPr lang="en-US" dirty="0" smtClean="0"/>
          </a:p>
          <a:p>
            <a:r>
              <a:rPr lang="en-US" dirty="0" smtClean="0"/>
              <a:t>Some </a:t>
            </a:r>
            <a:r>
              <a:rPr lang="en-US" dirty="0"/>
              <a:t>of these protocols use the same basic framing mechanism, </a:t>
            </a:r>
            <a:r>
              <a:rPr lang="en-US" b="1" i="1" dirty="0"/>
              <a:t>High-Level </a:t>
            </a:r>
            <a:r>
              <a:rPr lang="en-US" b="1" i="1" dirty="0" smtClean="0"/>
              <a:t>Data Link </a:t>
            </a:r>
            <a:r>
              <a:rPr lang="en-US" b="1" i="1" dirty="0"/>
              <a:t>Control (HDLC)</a:t>
            </a:r>
            <a:r>
              <a:rPr lang="en-US" dirty="0"/>
              <a:t>, an ISO standard, or one of its subsets or variants.</a:t>
            </a:r>
          </a:p>
        </p:txBody>
      </p:sp>
    </p:spTree>
    <p:extLst>
      <p:ext uri="{BB962C8B-B14F-4D97-AF65-F5344CB8AC3E}">
        <p14:creationId xmlns:p14="http://schemas.microsoft.com/office/powerpoint/2010/main" val="475610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WAN data-link protocols</a:t>
            </a:r>
          </a:p>
        </p:txBody>
      </p:sp>
      <p:sp>
        <p:nvSpPr>
          <p:cNvPr id="3" name="Content Placeholder 2"/>
          <p:cNvSpPr>
            <a:spLocks noGrp="1"/>
          </p:cNvSpPr>
          <p:nvPr>
            <p:ph idx="1"/>
          </p:nvPr>
        </p:nvSpPr>
        <p:spPr/>
        <p:txBody>
          <a:bodyPr/>
          <a:lstStyle/>
          <a:p>
            <a:r>
              <a:rPr lang="en-US" dirty="0"/>
              <a:t>The most common WAN data-link protocols are as follows:</a:t>
            </a:r>
          </a:p>
          <a:p>
            <a:pPr lvl="2"/>
            <a:r>
              <a:rPr lang="en-US" sz="3200" dirty="0"/>
              <a:t>Frame Relay</a:t>
            </a:r>
          </a:p>
          <a:p>
            <a:pPr lvl="2"/>
            <a:r>
              <a:rPr lang="en-US" sz="3200" dirty="0" smtClean="0"/>
              <a:t>ATM</a:t>
            </a:r>
          </a:p>
          <a:p>
            <a:pPr lvl="2"/>
            <a:r>
              <a:rPr lang="en-US" sz="3200" dirty="0" smtClean="0"/>
              <a:t>X.25</a:t>
            </a:r>
          </a:p>
          <a:p>
            <a:pPr lvl="2"/>
            <a:r>
              <a:rPr lang="en-US" sz="3200" dirty="0" smtClean="0"/>
              <a:t>HDLC</a:t>
            </a:r>
            <a:endParaRPr lang="en-US" sz="3200" dirty="0"/>
          </a:p>
          <a:p>
            <a:pPr lvl="2"/>
            <a:r>
              <a:rPr lang="en-US" sz="3200" i="1" dirty="0" smtClean="0"/>
              <a:t>Point-to-Point </a:t>
            </a:r>
            <a:r>
              <a:rPr lang="en-US" sz="3200" i="1" dirty="0"/>
              <a:t>Protocol (PPP</a:t>
            </a:r>
            <a:r>
              <a:rPr lang="en-US" sz="3200" i="1" dirty="0" smtClean="0"/>
              <a:t>)</a:t>
            </a:r>
            <a:endParaRPr lang="en-US" sz="3200" i="1" dirty="0"/>
          </a:p>
        </p:txBody>
      </p:sp>
    </p:spTree>
    <p:extLst>
      <p:ext uri="{BB962C8B-B14F-4D97-AF65-F5344CB8AC3E}">
        <p14:creationId xmlns:p14="http://schemas.microsoft.com/office/powerpoint/2010/main" val="1180001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Packet-Switched Connection Options</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a:t>
            </a:r>
            <a:r>
              <a:rPr lang="en-US" dirty="0"/>
              <a:t>most common packet-switching technologies used in today’s enterprise WANs </a:t>
            </a:r>
            <a:r>
              <a:rPr lang="en-US" dirty="0" smtClean="0"/>
              <a:t>include legacy </a:t>
            </a:r>
            <a:r>
              <a:rPr lang="en-US" dirty="0"/>
              <a:t>X.25, </a:t>
            </a:r>
            <a:r>
              <a:rPr lang="en-US" b="1" dirty="0"/>
              <a:t>Frame Relay, and ATM</a:t>
            </a:r>
            <a:r>
              <a:rPr lang="en-US" dirty="0"/>
              <a:t>, as described </a:t>
            </a:r>
            <a:r>
              <a:rPr lang="en-US" dirty="0" smtClean="0"/>
              <a:t>in the following slides.</a:t>
            </a:r>
          </a:p>
          <a:p>
            <a:endParaRPr lang="en-US" dirty="0"/>
          </a:p>
          <a:p>
            <a:r>
              <a:rPr lang="en-US" dirty="0"/>
              <a:t>X.25 is a legacy network-layer protocol that </a:t>
            </a:r>
            <a:r>
              <a:rPr lang="en-US" dirty="0" smtClean="0"/>
              <a:t>provides  subscribers </a:t>
            </a:r>
            <a:r>
              <a:rPr lang="en-US" dirty="0"/>
              <a:t>with a network address. </a:t>
            </a:r>
            <a:endParaRPr lang="en-US" dirty="0" smtClean="0"/>
          </a:p>
          <a:p>
            <a:r>
              <a:rPr lang="en-US" dirty="0" smtClean="0"/>
              <a:t>Virtual </a:t>
            </a:r>
            <a:r>
              <a:rPr lang="en-US" dirty="0"/>
              <a:t>circuits can be established through the </a:t>
            </a:r>
            <a:r>
              <a:rPr lang="en-US" dirty="0" smtClean="0"/>
              <a:t>network with </a:t>
            </a:r>
            <a:r>
              <a:rPr lang="en-US" dirty="0"/>
              <a:t>call request packets to the target address.</a:t>
            </a:r>
          </a:p>
        </p:txBody>
      </p:sp>
    </p:spTree>
    <p:extLst>
      <p:ext uri="{BB962C8B-B14F-4D97-AF65-F5344CB8AC3E}">
        <p14:creationId xmlns:p14="http://schemas.microsoft.com/office/powerpoint/2010/main" val="3788318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rtl="0">
              <a:spcBef>
                <a:spcPct val="0"/>
              </a:spcBef>
            </a:pPr>
            <a:r>
              <a:rPr lang="en-US" sz="4000" dirty="0" smtClean="0"/>
              <a:t>Frame Relay</a:t>
            </a:r>
            <a:endParaRPr lang="en-US" sz="4000" dirty="0"/>
          </a:p>
        </p:txBody>
      </p:sp>
      <p:sp>
        <p:nvSpPr>
          <p:cNvPr id="3" name="Content Placeholder 2"/>
          <p:cNvSpPr>
            <a:spLocks noGrp="1"/>
          </p:cNvSpPr>
          <p:nvPr>
            <p:ph idx="1"/>
          </p:nvPr>
        </p:nvSpPr>
        <p:spPr/>
        <p:txBody>
          <a:bodyPr>
            <a:normAutofit fontScale="92500"/>
          </a:bodyPr>
          <a:lstStyle/>
          <a:p>
            <a:pPr lvl="0"/>
            <a:r>
              <a:rPr lang="en-US" dirty="0"/>
              <a:t>A Data Link Layer (layer 2) protocol which uses packet-switching connection to implement no error or flow control</a:t>
            </a:r>
          </a:p>
          <a:p>
            <a:pPr lvl="0"/>
            <a:r>
              <a:rPr lang="en-US" dirty="0"/>
              <a:t>The simplified handling of frames leads to reduced latency, and measures taken to avoid frame buildup at intermediate switches help reduce jitter.</a:t>
            </a:r>
          </a:p>
          <a:p>
            <a:pPr lvl="0"/>
            <a:r>
              <a:rPr lang="en-US" dirty="0" smtClean="0"/>
              <a:t>Frame </a:t>
            </a:r>
            <a:r>
              <a:rPr lang="en-US" dirty="0"/>
              <a:t>Relay offers data rates up to 4 Mbps, with some providers offering even higher rates.</a:t>
            </a:r>
          </a:p>
          <a:p>
            <a:endParaRPr lang="en-US" dirty="0"/>
          </a:p>
        </p:txBody>
      </p:sp>
    </p:spTree>
    <p:extLst>
      <p:ext uri="{BB962C8B-B14F-4D97-AF65-F5344CB8AC3E}">
        <p14:creationId xmlns:p14="http://schemas.microsoft.com/office/powerpoint/2010/main" val="2771961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 </a:t>
            </a:r>
            <a:r>
              <a:rPr lang="en-US" dirty="0" smtClean="0"/>
              <a:t>Relay cont’d</a:t>
            </a:r>
            <a:endParaRPr lang="en-US" dirty="0"/>
          </a:p>
        </p:txBody>
      </p:sp>
      <p:sp>
        <p:nvSpPr>
          <p:cNvPr id="3" name="Content Placeholder 2"/>
          <p:cNvSpPr>
            <a:spLocks noGrp="1"/>
          </p:cNvSpPr>
          <p:nvPr>
            <p:ph idx="1"/>
          </p:nvPr>
        </p:nvSpPr>
        <p:spPr/>
        <p:txBody>
          <a:bodyPr>
            <a:normAutofit/>
          </a:bodyPr>
          <a:lstStyle/>
          <a:p>
            <a:r>
              <a:rPr lang="en-US" dirty="0"/>
              <a:t>Frame Relay provides permanent, shared, medium-bandwidth connectivity that carries </a:t>
            </a:r>
            <a:r>
              <a:rPr lang="en-US" dirty="0" smtClean="0"/>
              <a:t>both voice </a:t>
            </a:r>
            <a:r>
              <a:rPr lang="en-US" dirty="0"/>
              <a:t>and data traffic. </a:t>
            </a:r>
            <a:endParaRPr lang="en-US" dirty="0" smtClean="0"/>
          </a:p>
          <a:p>
            <a:r>
              <a:rPr lang="en-US" dirty="0" smtClean="0"/>
              <a:t>Frame </a:t>
            </a:r>
            <a:r>
              <a:rPr lang="en-US" dirty="0"/>
              <a:t>Relay is ideal for connecting enterprise LANs</a:t>
            </a:r>
            <a:r>
              <a:rPr lang="en-US" dirty="0" smtClean="0"/>
              <a:t>.</a:t>
            </a:r>
          </a:p>
          <a:p>
            <a:r>
              <a:rPr lang="en-US" dirty="0"/>
              <a:t>The </a:t>
            </a:r>
            <a:r>
              <a:rPr lang="en-US" dirty="0" smtClean="0"/>
              <a:t>short-leased line </a:t>
            </a:r>
            <a:r>
              <a:rPr lang="en-US" dirty="0"/>
              <a:t>to the Frame Relay network edge allows cost-effective connections between </a:t>
            </a:r>
            <a:r>
              <a:rPr lang="en-US" dirty="0" smtClean="0"/>
              <a:t>widely scattered </a:t>
            </a:r>
            <a:r>
              <a:rPr lang="en-US" dirty="0"/>
              <a:t>LANs.</a:t>
            </a:r>
          </a:p>
        </p:txBody>
      </p:sp>
    </p:spTree>
    <p:extLst>
      <p:ext uri="{BB962C8B-B14F-4D97-AF65-F5344CB8AC3E}">
        <p14:creationId xmlns:p14="http://schemas.microsoft.com/office/powerpoint/2010/main" val="1978425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 Relay </a:t>
            </a:r>
            <a:r>
              <a:rPr lang="en-US" dirty="0" smtClean="0"/>
              <a:t>network</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8823" y="1484661"/>
            <a:ext cx="5866353" cy="5220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6293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Asynchronous Transfer Mode (ATM)</a:t>
            </a:r>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r>
              <a:rPr lang="en-US" dirty="0"/>
              <a:t>Asynchronous Transfer Mode (ATM) technology is a Data Link Layer (layer 2) protocol which uses packet-switching connection to transfer voice, video, and data through private and public networks </a:t>
            </a:r>
            <a:endParaRPr lang="en-US" dirty="0" smtClean="0"/>
          </a:p>
          <a:p>
            <a:r>
              <a:rPr lang="en-US" dirty="0" smtClean="0"/>
              <a:t>It </a:t>
            </a:r>
            <a:r>
              <a:rPr lang="en-US" dirty="0"/>
              <a:t>is built on a </a:t>
            </a:r>
            <a:r>
              <a:rPr lang="en-US" dirty="0" smtClean="0"/>
              <a:t>cell-based</a:t>
            </a:r>
            <a:r>
              <a:rPr lang="en-US" dirty="0"/>
              <a:t> </a:t>
            </a:r>
            <a:r>
              <a:rPr lang="en-US" dirty="0" smtClean="0"/>
              <a:t>architecture </a:t>
            </a:r>
            <a:r>
              <a:rPr lang="en-US" dirty="0"/>
              <a:t>rather than on a frame-based architecture. </a:t>
            </a:r>
            <a:endParaRPr lang="en-US" dirty="0" smtClean="0"/>
          </a:p>
          <a:p>
            <a:r>
              <a:rPr lang="en-US" dirty="0" smtClean="0"/>
              <a:t>ATM </a:t>
            </a:r>
            <a:r>
              <a:rPr lang="en-US" dirty="0"/>
              <a:t>cells are always a </a:t>
            </a:r>
            <a:r>
              <a:rPr lang="en-US" dirty="0" smtClean="0"/>
              <a:t>fixed length </a:t>
            </a:r>
            <a:r>
              <a:rPr lang="en-US" dirty="0"/>
              <a:t>of 53 bytes. </a:t>
            </a:r>
            <a:endParaRPr lang="en-US" dirty="0" smtClean="0"/>
          </a:p>
          <a:p>
            <a:r>
              <a:rPr lang="en-US" dirty="0" smtClean="0"/>
              <a:t>The </a:t>
            </a:r>
            <a:r>
              <a:rPr lang="en-US" dirty="0"/>
              <a:t>ATM cell contains a 5-byte ATM header followed by 48 bytes </a:t>
            </a:r>
            <a:r>
              <a:rPr lang="en-US" dirty="0" smtClean="0"/>
              <a:t>of ATM </a:t>
            </a:r>
            <a:r>
              <a:rPr lang="en-US" dirty="0"/>
              <a:t>payload. </a:t>
            </a:r>
            <a:endParaRPr lang="en-US" dirty="0" smtClean="0"/>
          </a:p>
          <a:p>
            <a:r>
              <a:rPr lang="en-US" dirty="0" smtClean="0"/>
              <a:t>Small</a:t>
            </a:r>
            <a:r>
              <a:rPr lang="en-US" dirty="0"/>
              <a:t>, fixed-length cells are well suited for carrying voice and video </a:t>
            </a:r>
            <a:r>
              <a:rPr lang="en-US" dirty="0" smtClean="0"/>
              <a:t>traffic, because </a:t>
            </a:r>
            <a:r>
              <a:rPr lang="en-US" dirty="0"/>
              <a:t>this traffic is intolerant of delay. </a:t>
            </a:r>
            <a:endParaRPr lang="en-US" dirty="0" smtClean="0"/>
          </a:p>
          <a:p>
            <a:r>
              <a:rPr lang="en-US" dirty="0" smtClean="0"/>
              <a:t>Video </a:t>
            </a:r>
            <a:r>
              <a:rPr lang="en-US" dirty="0"/>
              <a:t>and voice traffic do not have to wait for </a:t>
            </a:r>
            <a:r>
              <a:rPr lang="en-US" dirty="0" smtClean="0"/>
              <a:t>a larger </a:t>
            </a:r>
            <a:r>
              <a:rPr lang="en-US" dirty="0"/>
              <a:t>data packet to be transmitted.</a:t>
            </a:r>
          </a:p>
        </p:txBody>
      </p:sp>
    </p:spTree>
    <p:extLst>
      <p:ext uri="{BB962C8B-B14F-4D97-AF65-F5344CB8AC3E}">
        <p14:creationId xmlns:p14="http://schemas.microsoft.com/office/powerpoint/2010/main" val="17189037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Asynchronous Transfer Mode (ATM</a:t>
            </a:r>
            <a:r>
              <a:rPr lang="en-US" dirty="0" smtClean="0"/>
              <a:t>) cont’d</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r>
              <a:rPr lang="en-US" dirty="0"/>
              <a:t>The 53-byte ATM </a:t>
            </a:r>
            <a:r>
              <a:rPr lang="en-US" b="1" i="1" dirty="0"/>
              <a:t>cell </a:t>
            </a:r>
            <a:r>
              <a:rPr lang="en-US" dirty="0"/>
              <a:t>is less efficient than the bigger frames and packets of Frame </a:t>
            </a:r>
            <a:r>
              <a:rPr lang="en-US" dirty="0" smtClean="0"/>
              <a:t>Relay and </a:t>
            </a:r>
            <a:r>
              <a:rPr lang="en-US" dirty="0"/>
              <a:t>X.25. </a:t>
            </a:r>
            <a:endParaRPr lang="en-US" dirty="0" smtClean="0"/>
          </a:p>
          <a:p>
            <a:r>
              <a:rPr lang="en-US" dirty="0" smtClean="0"/>
              <a:t>Furthermore</a:t>
            </a:r>
            <a:r>
              <a:rPr lang="en-US" dirty="0"/>
              <a:t>, the ATM cell has at least 5 bytes of overhead for each 48-byte payload.</a:t>
            </a:r>
          </a:p>
          <a:p>
            <a:r>
              <a:rPr lang="en-US" dirty="0"/>
              <a:t>When the cell is carrying segmented network layer packets, the overhead is </a:t>
            </a:r>
            <a:r>
              <a:rPr lang="en-US" dirty="0" smtClean="0"/>
              <a:t>higher, because </a:t>
            </a:r>
            <a:r>
              <a:rPr lang="en-US" dirty="0"/>
              <a:t>the ATM switch must be able to reassemble the packets at the destination. </a:t>
            </a:r>
            <a:endParaRPr lang="en-US" dirty="0" smtClean="0"/>
          </a:p>
          <a:p>
            <a:r>
              <a:rPr lang="en-US" dirty="0" smtClean="0"/>
              <a:t>A typical ATM </a:t>
            </a:r>
            <a:r>
              <a:rPr lang="en-US" dirty="0"/>
              <a:t>line needs almost 20 percent more bandwidth than Frame Relay to carry the </a:t>
            </a:r>
            <a:r>
              <a:rPr lang="en-US" dirty="0" smtClean="0"/>
              <a:t>same volume </a:t>
            </a:r>
            <a:r>
              <a:rPr lang="en-US" dirty="0"/>
              <a:t>of network layer data.</a:t>
            </a:r>
          </a:p>
        </p:txBody>
      </p:sp>
    </p:spTree>
    <p:extLst>
      <p:ext uri="{BB962C8B-B14F-4D97-AF65-F5344CB8AC3E}">
        <p14:creationId xmlns:p14="http://schemas.microsoft.com/office/powerpoint/2010/main" val="16744248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ATM Network</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0271" y="1589584"/>
            <a:ext cx="7823456" cy="4811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1038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VPN Technology</a:t>
            </a:r>
          </a:p>
        </p:txBody>
      </p:sp>
      <p:sp>
        <p:nvSpPr>
          <p:cNvPr id="3" name="Content Placeholder 2"/>
          <p:cNvSpPr>
            <a:spLocks noGrp="1"/>
          </p:cNvSpPr>
          <p:nvPr>
            <p:ph idx="1"/>
          </p:nvPr>
        </p:nvSpPr>
        <p:spPr>
          <a:xfrm>
            <a:off x="457200" y="1305385"/>
            <a:ext cx="8229600" cy="5476415"/>
          </a:xfrm>
        </p:spPr>
        <p:txBody>
          <a:bodyPr>
            <a:normAutofit fontScale="85000" lnSpcReduction="20000"/>
          </a:bodyPr>
          <a:lstStyle/>
          <a:p>
            <a:r>
              <a:rPr lang="en-US" dirty="0" smtClean="0"/>
              <a:t>Security </a:t>
            </a:r>
            <a:r>
              <a:rPr lang="en-US" dirty="0"/>
              <a:t>risks are incurred when a teleworker or remote office uses broadband services </a:t>
            </a:r>
            <a:r>
              <a:rPr lang="en-US" dirty="0" smtClean="0"/>
              <a:t>to access </a:t>
            </a:r>
            <a:r>
              <a:rPr lang="en-US" dirty="0"/>
              <a:t>the corporate WAN over the Internet. </a:t>
            </a:r>
            <a:endParaRPr lang="en-US" dirty="0" smtClean="0"/>
          </a:p>
          <a:p>
            <a:r>
              <a:rPr lang="en-US" dirty="0" smtClean="0"/>
              <a:t>To </a:t>
            </a:r>
            <a:r>
              <a:rPr lang="en-US" dirty="0"/>
              <a:t>address security concerns, broadband </a:t>
            </a:r>
            <a:r>
              <a:rPr lang="en-US" dirty="0" smtClean="0"/>
              <a:t>services provide </a:t>
            </a:r>
            <a:r>
              <a:rPr lang="en-US" dirty="0"/>
              <a:t>capabilities for using Virtual Private Network (VPN) connections to a </a:t>
            </a:r>
            <a:r>
              <a:rPr lang="en-US" dirty="0" smtClean="0"/>
              <a:t>VPN server</a:t>
            </a:r>
            <a:r>
              <a:rPr lang="en-US" dirty="0"/>
              <a:t>, which typically is located at the corporate site.</a:t>
            </a:r>
          </a:p>
          <a:p>
            <a:r>
              <a:rPr lang="en-US" dirty="0"/>
              <a:t>A VPN is an encrypted connection between private networks over a public network such </a:t>
            </a:r>
            <a:r>
              <a:rPr lang="en-US" dirty="0" smtClean="0"/>
              <a:t>as the </a:t>
            </a:r>
            <a:r>
              <a:rPr lang="en-US" dirty="0"/>
              <a:t>Internet. </a:t>
            </a:r>
            <a:endParaRPr lang="en-US" dirty="0" smtClean="0"/>
          </a:p>
          <a:p>
            <a:r>
              <a:rPr lang="en-US" dirty="0" smtClean="0"/>
              <a:t>Instead </a:t>
            </a:r>
            <a:r>
              <a:rPr lang="en-US" dirty="0"/>
              <a:t>of using a dedicated Layer 2 connection such as a leased line, a </a:t>
            </a:r>
            <a:r>
              <a:rPr lang="en-US" dirty="0" smtClean="0"/>
              <a:t>VPN uses </a:t>
            </a:r>
            <a:r>
              <a:rPr lang="en-US" dirty="0"/>
              <a:t>virtual connections called VPN tunnels, which are routed through the Internet from </a:t>
            </a:r>
            <a:r>
              <a:rPr lang="en-US" dirty="0" smtClean="0"/>
              <a:t>the company’s </a:t>
            </a:r>
            <a:r>
              <a:rPr lang="en-US" dirty="0"/>
              <a:t>private network to the remote site or employee host</a:t>
            </a:r>
            <a:r>
              <a:rPr lang="en-US" dirty="0" smtClean="0"/>
              <a:t>.</a:t>
            </a:r>
            <a:endParaRPr lang="en-US" dirty="0"/>
          </a:p>
        </p:txBody>
      </p:sp>
    </p:spTree>
    <p:extLst>
      <p:ext uri="{BB962C8B-B14F-4D97-AF65-F5344CB8AC3E}">
        <p14:creationId xmlns:p14="http://schemas.microsoft.com/office/powerpoint/2010/main" val="2058221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VPN Benefits</a:t>
            </a:r>
          </a:p>
        </p:txBody>
      </p:sp>
      <p:sp>
        <p:nvSpPr>
          <p:cNvPr id="3" name="Content Placeholder 2"/>
          <p:cNvSpPr>
            <a:spLocks noGrp="1"/>
          </p:cNvSpPr>
          <p:nvPr>
            <p:ph idx="1"/>
          </p:nvPr>
        </p:nvSpPr>
        <p:spPr>
          <a:xfrm>
            <a:off x="457200" y="1124974"/>
            <a:ext cx="8229600" cy="5476415"/>
          </a:xfrm>
        </p:spPr>
        <p:txBody>
          <a:bodyPr>
            <a:normAutofit/>
          </a:bodyPr>
          <a:lstStyle/>
          <a:p>
            <a:r>
              <a:rPr lang="en-US" dirty="0" smtClean="0"/>
              <a:t>Benefits </a:t>
            </a:r>
            <a:r>
              <a:rPr lang="en-US" dirty="0"/>
              <a:t>of VPN include the following:</a:t>
            </a:r>
          </a:p>
          <a:p>
            <a:r>
              <a:rPr lang="en-US" b="1" dirty="0" smtClean="0"/>
              <a:t>Cost savings</a:t>
            </a:r>
            <a:endParaRPr lang="en-US" dirty="0"/>
          </a:p>
          <a:p>
            <a:pPr lvl="1"/>
            <a:r>
              <a:rPr lang="en-US" dirty="0" smtClean="0"/>
              <a:t>VPNs </a:t>
            </a:r>
            <a:r>
              <a:rPr lang="en-US" dirty="0"/>
              <a:t>enable organizations to use the global Internet to connect </a:t>
            </a:r>
            <a:r>
              <a:rPr lang="en-US" dirty="0" smtClean="0"/>
              <a:t>remote offices </a:t>
            </a:r>
            <a:r>
              <a:rPr lang="en-US" dirty="0"/>
              <a:t>and remote users to the main corporate site, thus eliminating expensive </a:t>
            </a:r>
            <a:r>
              <a:rPr lang="en-US" dirty="0" smtClean="0"/>
              <a:t>dedicated WAN </a:t>
            </a:r>
            <a:r>
              <a:rPr lang="en-US" dirty="0"/>
              <a:t>links and modem banks.</a:t>
            </a:r>
          </a:p>
          <a:p>
            <a:r>
              <a:rPr lang="en-US" b="1" dirty="0" smtClean="0"/>
              <a:t>Security</a:t>
            </a:r>
            <a:endParaRPr lang="en-US" dirty="0"/>
          </a:p>
          <a:p>
            <a:pPr lvl="1"/>
            <a:r>
              <a:rPr lang="en-US" dirty="0" smtClean="0"/>
              <a:t>VPNs </a:t>
            </a:r>
            <a:r>
              <a:rPr lang="en-US" dirty="0"/>
              <a:t>provide the highest level of security by using advanced encryption </a:t>
            </a:r>
            <a:r>
              <a:rPr lang="en-US" dirty="0" smtClean="0"/>
              <a:t>and authentication </a:t>
            </a:r>
            <a:r>
              <a:rPr lang="en-US" dirty="0"/>
              <a:t>protocols that protect data from unauthorized access.</a:t>
            </a:r>
          </a:p>
          <a:p>
            <a:endParaRPr lang="en-US" dirty="0"/>
          </a:p>
        </p:txBody>
      </p:sp>
    </p:spTree>
    <p:extLst>
      <p:ext uri="{BB962C8B-B14F-4D97-AF65-F5344CB8AC3E}">
        <p14:creationId xmlns:p14="http://schemas.microsoft.com/office/powerpoint/2010/main" val="33546923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VPN </a:t>
            </a:r>
            <a:r>
              <a:rPr lang="en-US" dirty="0" smtClean="0"/>
              <a:t>Benefits cont’d</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Scalability</a:t>
            </a:r>
            <a:r>
              <a:rPr lang="en-US" dirty="0" smtClean="0"/>
              <a:t> </a:t>
            </a:r>
          </a:p>
          <a:p>
            <a:pPr lvl="1"/>
            <a:r>
              <a:rPr lang="en-US" dirty="0" smtClean="0"/>
              <a:t>Because </a:t>
            </a:r>
            <a:r>
              <a:rPr lang="en-US" dirty="0"/>
              <a:t>VPNs use the Internet infrastructure within ISPs and devices, it </a:t>
            </a:r>
            <a:r>
              <a:rPr lang="en-US" dirty="0" smtClean="0"/>
              <a:t>is easy </a:t>
            </a:r>
            <a:r>
              <a:rPr lang="en-US" dirty="0"/>
              <a:t>to add new users. Corporations can add large amounts of capacity without </a:t>
            </a:r>
            <a:r>
              <a:rPr lang="en-US" dirty="0" smtClean="0"/>
              <a:t>adding significant </a:t>
            </a:r>
            <a:r>
              <a:rPr lang="en-US" dirty="0"/>
              <a:t>infrastructure.</a:t>
            </a:r>
          </a:p>
          <a:p>
            <a:r>
              <a:rPr lang="en-US" b="1" dirty="0" smtClean="0"/>
              <a:t>Compatibility </a:t>
            </a:r>
            <a:r>
              <a:rPr lang="en-US" b="1" dirty="0"/>
              <a:t>with broadband technology</a:t>
            </a:r>
            <a:r>
              <a:rPr lang="en-US" dirty="0"/>
              <a:t>: </a:t>
            </a:r>
            <a:endParaRPr lang="en-US" dirty="0" smtClean="0"/>
          </a:p>
          <a:p>
            <a:pPr lvl="1"/>
            <a:r>
              <a:rPr lang="en-US" dirty="0" smtClean="0"/>
              <a:t>VPN </a:t>
            </a:r>
            <a:r>
              <a:rPr lang="en-US" dirty="0"/>
              <a:t>technology is supported by </a:t>
            </a:r>
            <a:r>
              <a:rPr lang="en-US" dirty="0" smtClean="0"/>
              <a:t>broadband service </a:t>
            </a:r>
            <a:r>
              <a:rPr lang="en-US" dirty="0"/>
              <a:t>providers such as DSL and cable, so mobile workers and </a:t>
            </a:r>
            <a:r>
              <a:rPr lang="en-US" dirty="0" smtClean="0"/>
              <a:t>telecommuters can </a:t>
            </a:r>
            <a:r>
              <a:rPr lang="en-US" dirty="0"/>
              <a:t>take advantage of their home high-speed Internet service to access their </a:t>
            </a:r>
            <a:r>
              <a:rPr lang="en-US" dirty="0" smtClean="0"/>
              <a:t>corporate networks</a:t>
            </a:r>
            <a:r>
              <a:rPr lang="en-US" dirty="0"/>
              <a:t>. Business-grade, high-speed broadband connections can also provide a </a:t>
            </a:r>
            <a:r>
              <a:rPr lang="en-US" dirty="0" smtClean="0"/>
              <a:t>cost effective solution </a:t>
            </a:r>
            <a:r>
              <a:rPr lang="en-US" dirty="0"/>
              <a:t>for connecting remote offices.</a:t>
            </a:r>
          </a:p>
        </p:txBody>
      </p:sp>
    </p:spTree>
    <p:extLst>
      <p:ext uri="{BB962C8B-B14F-4D97-AF65-F5344CB8AC3E}">
        <p14:creationId xmlns:p14="http://schemas.microsoft.com/office/powerpoint/2010/main" val="3083220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VPN Access</a:t>
            </a:r>
          </a:p>
        </p:txBody>
      </p:sp>
      <p:sp>
        <p:nvSpPr>
          <p:cNvPr id="3" name="Content Placeholder 2"/>
          <p:cNvSpPr>
            <a:spLocks noGrp="1"/>
          </p:cNvSpPr>
          <p:nvPr>
            <p:ph idx="1"/>
          </p:nvPr>
        </p:nvSpPr>
        <p:spPr/>
        <p:txBody>
          <a:bodyPr>
            <a:normAutofit/>
          </a:bodyPr>
          <a:lstStyle/>
          <a:p>
            <a:r>
              <a:rPr lang="en-US" dirty="0" smtClean="0"/>
              <a:t>Two </a:t>
            </a:r>
            <a:r>
              <a:rPr lang="en-US" dirty="0"/>
              <a:t>types of VPN access exist</a:t>
            </a:r>
            <a:r>
              <a:rPr lang="en-US" dirty="0" smtClean="0"/>
              <a:t>:</a:t>
            </a:r>
          </a:p>
          <a:p>
            <a:pPr lvl="1"/>
            <a:r>
              <a:rPr lang="en-US" dirty="0"/>
              <a:t>Site-to-site </a:t>
            </a:r>
            <a:r>
              <a:rPr lang="en-US" dirty="0" smtClean="0"/>
              <a:t>VPNs</a:t>
            </a:r>
          </a:p>
          <a:p>
            <a:pPr lvl="1"/>
            <a:r>
              <a:rPr lang="en-US" dirty="0"/>
              <a:t>Remote-access VPNs</a:t>
            </a:r>
            <a:endParaRPr lang="en-US" dirty="0" smtClean="0"/>
          </a:p>
          <a:p>
            <a:pPr lvl="1"/>
            <a:endParaRPr lang="en-US" dirty="0"/>
          </a:p>
        </p:txBody>
      </p:sp>
    </p:spTree>
    <p:extLst>
      <p:ext uri="{BB962C8B-B14F-4D97-AF65-F5344CB8AC3E}">
        <p14:creationId xmlns:p14="http://schemas.microsoft.com/office/powerpoint/2010/main" val="1491017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Site-to-site VPNs</a:t>
            </a:r>
            <a:r>
              <a:rPr lang="en-US" dirty="0"/>
              <a:t>:</a:t>
            </a:r>
          </a:p>
        </p:txBody>
      </p:sp>
      <p:sp>
        <p:nvSpPr>
          <p:cNvPr id="3" name="Content Placeholder 2"/>
          <p:cNvSpPr>
            <a:spLocks noGrp="1"/>
          </p:cNvSpPr>
          <p:nvPr>
            <p:ph idx="1"/>
          </p:nvPr>
        </p:nvSpPr>
        <p:spPr/>
        <p:txBody>
          <a:bodyPr>
            <a:normAutofit fontScale="92500" lnSpcReduction="10000"/>
          </a:bodyPr>
          <a:lstStyle/>
          <a:p>
            <a:r>
              <a:rPr lang="en-US" dirty="0" smtClean="0"/>
              <a:t>Site-to-site </a:t>
            </a:r>
            <a:r>
              <a:rPr lang="en-US" dirty="0"/>
              <a:t>VPNs connect entire networks to each other. </a:t>
            </a:r>
          </a:p>
          <a:p>
            <a:r>
              <a:rPr lang="en-US" dirty="0"/>
              <a:t>For example, they can connect a branch office network to a company headquarters network</a:t>
            </a:r>
          </a:p>
          <a:p>
            <a:r>
              <a:rPr lang="en-US" dirty="0"/>
              <a:t>Each site is equipped with a VPN gateway, such as a router, </a:t>
            </a:r>
            <a:r>
              <a:rPr lang="en-US" b="1" i="1" dirty="0"/>
              <a:t>firewall</a:t>
            </a:r>
            <a:r>
              <a:rPr lang="en-US" dirty="0"/>
              <a:t>, VPN concentrator, or security appliance. </a:t>
            </a:r>
          </a:p>
          <a:p>
            <a:r>
              <a:rPr lang="en-US" dirty="0"/>
              <a:t>In the figure below, a remote branch office uses a site-to-site VPN to connect with the corporate head office.</a:t>
            </a:r>
          </a:p>
          <a:p>
            <a:endParaRPr lang="en-US" dirty="0"/>
          </a:p>
        </p:txBody>
      </p:sp>
    </p:spTree>
    <p:extLst>
      <p:ext uri="{BB962C8B-B14F-4D97-AF65-F5344CB8AC3E}">
        <p14:creationId xmlns:p14="http://schemas.microsoft.com/office/powerpoint/2010/main" val="1524270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Site-to-site </a:t>
            </a:r>
            <a:r>
              <a:rPr lang="en-US" dirty="0" smtClean="0"/>
              <a:t>VPNs cont’d</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 y="1482623"/>
            <a:ext cx="8887121" cy="53753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56268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Remote-access VPNs</a:t>
            </a:r>
            <a:endParaRPr lang="en-US" dirty="0"/>
          </a:p>
        </p:txBody>
      </p:sp>
      <p:sp>
        <p:nvSpPr>
          <p:cNvPr id="3" name="Content Placeholder 2"/>
          <p:cNvSpPr>
            <a:spLocks noGrp="1"/>
          </p:cNvSpPr>
          <p:nvPr>
            <p:ph idx="1"/>
          </p:nvPr>
        </p:nvSpPr>
        <p:spPr/>
        <p:txBody>
          <a:bodyPr/>
          <a:lstStyle/>
          <a:p>
            <a:r>
              <a:rPr lang="en-US" dirty="0" smtClean="0"/>
              <a:t>Remote-access </a:t>
            </a:r>
            <a:r>
              <a:rPr lang="en-US" dirty="0"/>
              <a:t>VPNs enable individual hosts, such as telecommuters, mobile users, and extranet consumers, to access a company network securely over the Internet, as shown in </a:t>
            </a:r>
            <a:r>
              <a:rPr lang="en-US" dirty="0" smtClean="0"/>
              <a:t>the Figure below. </a:t>
            </a:r>
          </a:p>
          <a:p>
            <a:r>
              <a:rPr lang="en-US" dirty="0" smtClean="0"/>
              <a:t>Each </a:t>
            </a:r>
            <a:r>
              <a:rPr lang="en-US" dirty="0"/>
              <a:t>host typically has VPN client software loaded or uses a web-based client.</a:t>
            </a:r>
          </a:p>
          <a:p>
            <a:endParaRPr lang="en-US" dirty="0"/>
          </a:p>
        </p:txBody>
      </p:sp>
    </p:spTree>
    <p:extLst>
      <p:ext uri="{BB962C8B-B14F-4D97-AF65-F5344CB8AC3E}">
        <p14:creationId xmlns:p14="http://schemas.microsoft.com/office/powerpoint/2010/main" val="702049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Remote-access </a:t>
            </a:r>
            <a:r>
              <a:rPr lang="en-US" b="1" dirty="0" smtClean="0"/>
              <a:t>VPNs cont’d</a:t>
            </a:r>
            <a:endParaRPr 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486" y="1503235"/>
            <a:ext cx="8229029" cy="5278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99136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9400" y="2438400"/>
            <a:ext cx="3428999" cy="3386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74364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TotalTime>
  <Words>2276</Words>
  <Application>Microsoft Office PowerPoint</Application>
  <PresentationFormat>On-screen Show (4:3)</PresentationFormat>
  <Paragraphs>248</Paragraphs>
  <Slides>46</Slides>
  <Notes>9</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Computer networks (NET-225)</vt:lpstr>
      <vt:lpstr>Introduction </vt:lpstr>
      <vt:lpstr>What is a WAN? </vt:lpstr>
      <vt:lpstr>What is a WAN? Cont’d</vt:lpstr>
      <vt:lpstr>The Evolving Enterprise</vt:lpstr>
      <vt:lpstr>The Evolving Network Model</vt:lpstr>
      <vt:lpstr>WAN Services</vt:lpstr>
      <vt:lpstr>WAN Connection Options</vt:lpstr>
      <vt:lpstr>WAN Link Connection Options</vt:lpstr>
      <vt:lpstr>Dedicated Connection Link Options</vt:lpstr>
      <vt:lpstr>WAN Link Connection Options</vt:lpstr>
      <vt:lpstr>Circuit-Switched Link Options</vt:lpstr>
      <vt:lpstr>Circuit-Switched Link Options</vt:lpstr>
      <vt:lpstr>Packet-Switched Connection Options</vt:lpstr>
      <vt:lpstr>Packet-Switched Connection Options</vt:lpstr>
      <vt:lpstr>Packet-Switched Connection Options</vt:lpstr>
      <vt:lpstr>Packet-Switched Connection Options</vt:lpstr>
      <vt:lpstr>Packet-Switched Connection Options</vt:lpstr>
      <vt:lpstr>Packet-Switched Connection Options</vt:lpstr>
      <vt:lpstr>WAN Link Connection Options</vt:lpstr>
      <vt:lpstr>WAN Switching Concepts</vt:lpstr>
      <vt:lpstr>Circuit Switching </vt:lpstr>
      <vt:lpstr>Circuit Switching</vt:lpstr>
      <vt:lpstr>Packet Switching </vt:lpstr>
      <vt:lpstr>Packet Switching cont’d</vt:lpstr>
      <vt:lpstr>Packet Switching cont’d</vt:lpstr>
      <vt:lpstr>WAN Technology Concepts</vt:lpstr>
      <vt:lpstr>OSI and WAN Services</vt:lpstr>
      <vt:lpstr>Cont’d</vt:lpstr>
      <vt:lpstr>WAN data-link protocols</vt:lpstr>
      <vt:lpstr>Packet-Switched Connection Options </vt:lpstr>
      <vt:lpstr>Frame Relay</vt:lpstr>
      <vt:lpstr>Frame Relay cont’d</vt:lpstr>
      <vt:lpstr>Frame Relay network</vt:lpstr>
      <vt:lpstr>Asynchronous Transfer Mode (ATM)</vt:lpstr>
      <vt:lpstr>Asynchronous Transfer Mode (ATM) cont’d</vt:lpstr>
      <vt:lpstr>ATM Network</vt:lpstr>
      <vt:lpstr>VPN Technology</vt:lpstr>
      <vt:lpstr>VPN Benefits</vt:lpstr>
      <vt:lpstr>VPN Benefits cont’d</vt:lpstr>
      <vt:lpstr>Types of VPN Access</vt:lpstr>
      <vt:lpstr>Site-to-site VPNs:</vt:lpstr>
      <vt:lpstr>Site-to-site VPNs cont’d</vt:lpstr>
      <vt:lpstr>Remote-access VPNs</vt:lpstr>
      <vt:lpstr>Remote-access VPNs cont’d</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(NET-225)</dc:title>
  <dc:creator>Kho</dc:creator>
  <cp:lastModifiedBy>KHO</cp:lastModifiedBy>
  <cp:revision>90</cp:revision>
  <dcterms:created xsi:type="dcterms:W3CDTF">2020-03-14T07:22:09Z</dcterms:created>
  <dcterms:modified xsi:type="dcterms:W3CDTF">2023-06-22T09:38:38Z</dcterms:modified>
</cp:coreProperties>
</file>