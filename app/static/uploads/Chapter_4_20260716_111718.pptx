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70" r:id="rId7"/>
    <p:sldId id="271" r:id="rId8"/>
    <p:sldId id="272" r:id="rId9"/>
    <p:sldId id="273" r:id="rId10"/>
    <p:sldId id="274" r:id="rId11"/>
    <p:sldId id="275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" userId="4f7f8c90-a39d-40d1-b291-c9051fb4b0f9" providerId="ADAL" clId="{A16E85E1-C011-4F1B-BFBA-2C4AD677BD19}"/>
    <pc:docChg chg="custSel delSld modSld">
      <pc:chgData name="Paul" userId="4f7f8c90-a39d-40d1-b291-c9051fb4b0f9" providerId="ADAL" clId="{A16E85E1-C011-4F1B-BFBA-2C4AD677BD19}" dt="2026-02-23T17:34:32.891" v="13" actId="5793"/>
      <pc:docMkLst>
        <pc:docMk/>
      </pc:docMkLst>
      <pc:sldChg chg="del">
        <pc:chgData name="Paul" userId="4f7f8c90-a39d-40d1-b291-c9051fb4b0f9" providerId="ADAL" clId="{A16E85E1-C011-4F1B-BFBA-2C4AD677BD19}" dt="2026-02-23T17:33:24.619" v="12" actId="47"/>
        <pc:sldMkLst>
          <pc:docMk/>
          <pc:sldMk cId="446193653" sldId="256"/>
        </pc:sldMkLst>
      </pc:sldChg>
      <pc:sldChg chg="modSp mod">
        <pc:chgData name="Paul" userId="4f7f8c90-a39d-40d1-b291-c9051fb4b0f9" providerId="ADAL" clId="{A16E85E1-C011-4F1B-BFBA-2C4AD677BD19}" dt="2026-02-23T17:34:32.891" v="13" actId="5793"/>
        <pc:sldMkLst>
          <pc:docMk/>
          <pc:sldMk cId="1515797552" sldId="257"/>
        </pc:sldMkLst>
        <pc:spChg chg="mod">
          <ac:chgData name="Paul" userId="4f7f8c90-a39d-40d1-b291-c9051fb4b0f9" providerId="ADAL" clId="{A16E85E1-C011-4F1B-BFBA-2C4AD677BD19}" dt="2026-02-23T17:34:32.891" v="13" actId="5793"/>
          <ac:spMkLst>
            <pc:docMk/>
            <pc:sldMk cId="1515797552" sldId="257"/>
            <ac:spMk id="3" creationId="{FAA32006-B3EE-F142-8972-49E2FD072248}"/>
          </ac:spMkLst>
        </pc:spChg>
      </pc:sldChg>
      <pc:sldChg chg="modSp mod">
        <pc:chgData name="Paul" userId="4f7f8c90-a39d-40d1-b291-c9051fb4b0f9" providerId="ADAL" clId="{A16E85E1-C011-4F1B-BFBA-2C4AD677BD19}" dt="2026-02-23T16:50:54.759" v="1" actId="113"/>
        <pc:sldMkLst>
          <pc:docMk/>
          <pc:sldMk cId="1092601012" sldId="273"/>
        </pc:sldMkLst>
        <pc:spChg chg="mod">
          <ac:chgData name="Paul" userId="4f7f8c90-a39d-40d1-b291-c9051fb4b0f9" providerId="ADAL" clId="{A16E85E1-C011-4F1B-BFBA-2C4AD677BD19}" dt="2026-02-23T16:50:54.759" v="1" actId="113"/>
          <ac:spMkLst>
            <pc:docMk/>
            <pc:sldMk cId="1092601012" sldId="273"/>
            <ac:spMk id="3" creationId="{A8E635A7-8EA7-29F6-CCCD-C6CA6F02F97E}"/>
          </ac:spMkLst>
        </pc:spChg>
      </pc:sldChg>
      <pc:sldChg chg="modSp mod">
        <pc:chgData name="Paul" userId="4f7f8c90-a39d-40d1-b291-c9051fb4b0f9" providerId="ADAL" clId="{A16E85E1-C011-4F1B-BFBA-2C4AD677BD19}" dt="2026-02-23T16:57:02.276" v="4" actId="6549"/>
        <pc:sldMkLst>
          <pc:docMk/>
          <pc:sldMk cId="654062485" sldId="277"/>
        </pc:sldMkLst>
        <pc:spChg chg="mod">
          <ac:chgData name="Paul" userId="4f7f8c90-a39d-40d1-b291-c9051fb4b0f9" providerId="ADAL" clId="{A16E85E1-C011-4F1B-BFBA-2C4AD677BD19}" dt="2026-02-23T16:57:02.276" v="4" actId="6549"/>
          <ac:spMkLst>
            <pc:docMk/>
            <pc:sldMk cId="654062485" sldId="277"/>
            <ac:spMk id="3" creationId="{6F859515-AC69-FFF4-6DA2-0E399D0E0F5C}"/>
          </ac:spMkLst>
        </pc:spChg>
      </pc:sldChg>
      <pc:sldChg chg="modSp mod">
        <pc:chgData name="Paul" userId="4f7f8c90-a39d-40d1-b291-c9051fb4b0f9" providerId="ADAL" clId="{A16E85E1-C011-4F1B-BFBA-2C4AD677BD19}" dt="2026-02-23T17:21:01.993" v="11" actId="20577"/>
        <pc:sldMkLst>
          <pc:docMk/>
          <pc:sldMk cId="628214078" sldId="285"/>
        </pc:sldMkLst>
        <pc:spChg chg="mod">
          <ac:chgData name="Paul" userId="4f7f8c90-a39d-40d1-b291-c9051fb4b0f9" providerId="ADAL" clId="{A16E85E1-C011-4F1B-BFBA-2C4AD677BD19}" dt="2026-02-23T17:21:01.993" v="11" actId="20577"/>
          <ac:spMkLst>
            <pc:docMk/>
            <pc:sldMk cId="628214078" sldId="285"/>
            <ac:spMk id="3" creationId="{17E9366D-71C6-D4AE-19BB-C3DE3F807FF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2DB72-4462-A1A5-51A0-C0CA65C9C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6A908-73AE-364A-488B-424A7A0F7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B18C8-5D24-B678-327C-8AF8D68DF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A3EF-ED7B-4569-B59A-374B9A6BC7C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7E380-0AF6-937B-D146-4E523DB4D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E8DE7-C173-C121-A4FF-7D73913E2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6159-D05F-4238-BC5E-9FEFB043A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416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5E00F-DF34-641D-FC9E-56385C94E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5A7D3-A81F-1D0B-AD2C-C0B92C50F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D772F-6DBC-9D8B-B26A-8AF213EEC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A3EF-ED7B-4569-B59A-374B9A6BC7C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DA489-AB9B-0C6B-10F1-6DB3CCD48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A9B1D-9589-4075-2455-EFB9D8905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6159-D05F-4238-BC5E-9FEFB043A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812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7D173-7031-4681-0C3B-EA45E1A30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AF30E-75DB-D922-F85E-15B888819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321A7-4729-A4F3-84A3-698F71A63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A3EF-ED7B-4569-B59A-374B9A6BC7C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8D076-BAC0-1AEA-D916-9F4914E3B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1787C-37F5-3767-9044-7E708A1E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6159-D05F-4238-BC5E-9FEFB043A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03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5F75B-5BA4-27FB-7103-A0B273708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91470-18DF-0DD8-CADD-325BF150D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0ACA38-E194-B8F9-5E1F-AF4C3A6FA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A03078-C4B8-F251-4A0B-B36822C7F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A3EF-ED7B-4569-B59A-374B9A6BC7C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1CD78-15E1-E93B-0545-C0C29D084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946E7-1176-30AA-C53E-39FDAE0B9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6159-D05F-4238-BC5E-9FEFB043A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3051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62924-4B53-A200-6B74-16582B19D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937F1-9B73-9319-E431-6E2D1433F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95EA59-6E3B-FB5E-35A0-995448C8D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D8D6B8-A3BA-CA5C-2CE3-37700030BF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75ACBA-7A4B-9C3E-73A7-AB287DE2A8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29282D-4B73-EB84-FB34-9B1DC58F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A3EF-ED7B-4569-B59A-374B9A6BC7C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4D2DA2-24D0-B282-BF16-953EC0E57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47AA68-4F15-A37A-46AF-74751587A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6159-D05F-4238-BC5E-9FEFB043A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62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5089D-C175-77F9-DD18-A495542E2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63BF9-3E7F-12CB-422C-903CA4965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A3EF-ED7B-4569-B59A-374B9A6BC7C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7C75D-372A-6590-DF2E-9237C7801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5CDD76-41FD-8BDC-4C94-54A6B3A95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6159-D05F-4238-BC5E-9FEFB043A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82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0FF9B7-DF87-4B81-06D0-030818DC3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A3EF-ED7B-4569-B59A-374B9A6BC7C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F74FC-44E7-E410-471B-79BB851C4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B31F7-544D-8F43-3A43-B1F6907F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6159-D05F-4238-BC5E-9FEFB043A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92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22B9-AC90-6E6C-4996-6718F1FDE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FD5D6-BFE1-ABFD-9A73-C1985408D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44BFB6-A599-B5D9-5EA6-9EA07E2B8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9372D-0AE4-6B7E-D62C-40DFB23B4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A3EF-ED7B-4569-B59A-374B9A6BC7C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7149E-2487-3674-E670-B45FBEE0E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951BB-D1D1-B900-BB63-F7B95E28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6159-D05F-4238-BC5E-9FEFB043A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571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286C6-44DB-0E46-0ACA-FB7D2BB3A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84CCE-8A53-3D65-7D3F-F1D03102C0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D753B-C8D6-276B-2279-A89A51639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FB516-F5C9-4E8E-CE5D-5C5732D36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A3EF-ED7B-4569-B59A-374B9A6BC7C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FC229-DC38-6B0A-77DF-0FAE4B95B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447CF-9212-A1B3-9B40-17E05BF6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6159-D05F-4238-BC5E-9FEFB043A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6018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3F486-FF61-F5FB-F26E-E6669E978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76EF87-EA17-BD50-899E-A9A2FDDDC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32EA5-86BF-F2EF-4767-98AC05A82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A3EF-ED7B-4569-B59A-374B9A6BC7C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4320C-58BA-B6A6-F4A9-207977C88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DDDB1-7BFD-00B0-8C86-E871D97E4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6159-D05F-4238-BC5E-9FEFB043A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628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E8E308-24B8-8030-3143-8D603D2724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8B1AFE-3A6E-27B6-CA46-B75039A95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77D32-CA4F-447C-B0CA-F29CD58FA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A3EF-ED7B-4569-B59A-374B9A6BC7C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0097F-8459-DD41-53D5-CD2581802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CB0A5-C5FB-8640-F6A9-5601394FB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6159-D05F-4238-BC5E-9FEFB043A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84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1D523D-A99C-29C3-C73C-754C822D7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8CE46-3F38-8296-7A7C-F10E13CC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C1614-D900-4CAE-3B5A-7809F7DE20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AA3EF-ED7B-4569-B59A-374B9A6BC7C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8DD10-6A49-E2E7-3BEA-0A4D1376A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1D317-9B2D-A156-A85A-AA11C8DA59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06159-D05F-4238-BC5E-9FEFB043A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629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A7A39-843C-AC95-8FF0-2263618CD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COMPARING MEANS &amp; INFERENTIAL STATISTICS USING SPSS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32006-B3EE-F142-8972-49E2FD072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COMPARING MEANS OF SIMILAR VARIABLE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b="1" dirty="0"/>
              <a:t>Overview of Variables</a:t>
            </a:r>
          </a:p>
          <a:p>
            <a:pPr marL="0" indent="0">
              <a:buNone/>
            </a:pPr>
            <a:r>
              <a:rPr lang="en-GB" b="1" dirty="0"/>
              <a:t>Similar variables</a:t>
            </a:r>
            <a:r>
              <a:rPr lang="en-GB" dirty="0"/>
              <a:t> are measurements collected under:</a:t>
            </a:r>
          </a:p>
          <a:p>
            <a:r>
              <a:rPr lang="en-GB" dirty="0"/>
              <a:t>Different groups</a:t>
            </a:r>
          </a:p>
          <a:p>
            <a:r>
              <a:rPr lang="en-GB" dirty="0"/>
              <a:t>Different times</a:t>
            </a:r>
          </a:p>
          <a:p>
            <a:r>
              <a:rPr lang="en-GB" dirty="0"/>
              <a:t>Different conditions</a:t>
            </a:r>
          </a:p>
          <a:p>
            <a:pPr marL="0" indent="0">
              <a:buNone/>
            </a:pPr>
            <a:r>
              <a:rPr lang="en-GB" b="1" dirty="0"/>
              <a:t>Examples:</a:t>
            </a:r>
          </a:p>
          <a:p>
            <a:r>
              <a:rPr lang="en-GB" dirty="0"/>
              <a:t>Test scores of students in </a:t>
            </a:r>
            <a:r>
              <a:rPr lang="en-GB" b="1" dirty="0"/>
              <a:t>three classes</a:t>
            </a:r>
            <a:endParaRPr lang="en-GB" dirty="0"/>
          </a:p>
          <a:p>
            <a:r>
              <a:rPr lang="en-GB" dirty="0"/>
              <a:t>Monthly </a:t>
            </a:r>
            <a:r>
              <a:rPr lang="en-GB" b="1" dirty="0"/>
              <a:t>water consumption</a:t>
            </a:r>
            <a:r>
              <a:rPr lang="en-GB" dirty="0"/>
              <a:t> across districts</a:t>
            </a:r>
          </a:p>
          <a:p>
            <a:r>
              <a:rPr lang="en-GB" dirty="0"/>
              <a:t>Crop yield under </a:t>
            </a:r>
            <a:r>
              <a:rPr lang="en-GB" b="1" dirty="0"/>
              <a:t>different fertilizer types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5797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BF5FF-D120-5094-99AF-279A9F8BC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Dataset (Used Throughout 16.5)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B6E90-47A2-47B8-1439-1A3AD3639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058900-88CD-1E9C-67FA-9A2D0770A9D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172494"/>
          <a:ext cx="10515600" cy="3657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2848467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750585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736436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Student_ID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Test_Score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860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117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634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33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550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888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817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398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980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692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0129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7D408-CACF-C9BE-23E6-4DD378D54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Variable Types in SPSS: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36076-0250-4D35-E094-BFF29771A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6833"/>
          </a:xfrm>
        </p:spPr>
        <p:txBody>
          <a:bodyPr>
            <a:normAutofit fontScale="92500" lnSpcReduction="20000"/>
          </a:bodyPr>
          <a:lstStyle/>
          <a:p>
            <a:r>
              <a:rPr lang="en-GB" sz="2300" dirty="0" err="1"/>
              <a:t>Student_ID</a:t>
            </a:r>
            <a:r>
              <a:rPr lang="en-GB" sz="2300" dirty="0"/>
              <a:t> → Numeric (Nominal)</a:t>
            </a:r>
          </a:p>
          <a:p>
            <a:r>
              <a:rPr lang="en-GB" sz="2300" dirty="0"/>
              <a:t>Class → String (Nominal)</a:t>
            </a:r>
          </a:p>
          <a:p>
            <a:r>
              <a:rPr lang="en-GB" sz="2300" dirty="0" err="1"/>
              <a:t>Test_Score</a:t>
            </a:r>
            <a:r>
              <a:rPr lang="en-GB" sz="2300" dirty="0"/>
              <a:t> → Numeric (Scale)</a:t>
            </a:r>
          </a:p>
          <a:p>
            <a:pPr marL="0" indent="0">
              <a:buNone/>
            </a:pPr>
            <a:r>
              <a:rPr lang="en-GB" b="1" dirty="0"/>
              <a:t>Entering Data in SPSS</a:t>
            </a:r>
          </a:p>
          <a:p>
            <a:r>
              <a:rPr lang="en-GB" b="1" dirty="0"/>
              <a:t>Step-by-step:</a:t>
            </a:r>
            <a:endParaRPr lang="en-GB" dirty="0"/>
          </a:p>
          <a:p>
            <a:r>
              <a:rPr lang="en-GB" dirty="0"/>
              <a:t>Open SPSS</a:t>
            </a:r>
          </a:p>
          <a:p>
            <a:r>
              <a:rPr lang="en-GB" dirty="0"/>
              <a:t>Go to </a:t>
            </a:r>
            <a:r>
              <a:rPr lang="en-GB" b="1" dirty="0"/>
              <a:t>Variable View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Define:</a:t>
            </a:r>
          </a:p>
          <a:p>
            <a:pPr lvl="1"/>
            <a:r>
              <a:rPr lang="en-GB" dirty="0"/>
              <a:t>Class → Measure: </a:t>
            </a:r>
            <a:r>
              <a:rPr lang="en-GB" i="1" dirty="0"/>
              <a:t>Nominal</a:t>
            </a:r>
            <a:endParaRPr lang="en-GB" dirty="0"/>
          </a:p>
          <a:p>
            <a:pPr lvl="1"/>
            <a:r>
              <a:rPr lang="en-GB" dirty="0" err="1"/>
              <a:t>Test_Score</a:t>
            </a:r>
            <a:r>
              <a:rPr lang="en-GB" dirty="0"/>
              <a:t> → Measure: </a:t>
            </a:r>
            <a:r>
              <a:rPr lang="en-GB" i="1" dirty="0"/>
              <a:t>Scale</a:t>
            </a:r>
            <a:endParaRPr lang="en-GB" dirty="0"/>
          </a:p>
          <a:p>
            <a:r>
              <a:rPr lang="en-GB" dirty="0"/>
              <a:t>Switch to </a:t>
            </a:r>
            <a:r>
              <a:rPr lang="en-GB" b="1" dirty="0"/>
              <a:t>Data View</a:t>
            </a:r>
            <a:endParaRPr lang="en-GB" dirty="0"/>
          </a:p>
          <a:p>
            <a:r>
              <a:rPr lang="en-GB" dirty="0"/>
              <a:t>Enter the data row by row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6740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E37E4-8FAA-6455-8F07-1363BD20A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Distributions – Why It Matters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74841-BA47-FAE3-D72A-8AADC1701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Before comparing means, we check:</a:t>
            </a:r>
          </a:p>
          <a:p>
            <a:r>
              <a:rPr lang="en-GB" dirty="0"/>
              <a:t>Shape of data</a:t>
            </a:r>
          </a:p>
          <a:p>
            <a:r>
              <a:rPr lang="en-GB" dirty="0"/>
              <a:t>Spread (variation)</a:t>
            </a:r>
          </a:p>
          <a:p>
            <a:r>
              <a:rPr lang="en-GB" dirty="0"/>
              <a:t>Presence of outliers</a:t>
            </a:r>
          </a:p>
          <a:p>
            <a:pPr marL="0" indent="0">
              <a:buNone/>
            </a:pPr>
            <a:r>
              <a:rPr lang="en-GB" b="1" dirty="0"/>
              <a:t>This helps us:</a:t>
            </a:r>
          </a:p>
          <a:p>
            <a:r>
              <a:rPr lang="en-GB" dirty="0"/>
              <a:t>Choose the right test</a:t>
            </a:r>
          </a:p>
          <a:p>
            <a:r>
              <a:rPr lang="en-GB" dirty="0"/>
              <a:t>Avoid misleading conclusions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4809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30B1-3835-00C8-46C5-261865D4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25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Comparing Distributions Using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F201E-24CE-5219-FDDE-6DEF2B44B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2680"/>
            <a:ext cx="10515600" cy="5835192"/>
          </a:xfrm>
        </p:spPr>
        <p:txBody>
          <a:bodyPr/>
          <a:lstStyle/>
          <a:p>
            <a:pPr marL="0" indent="0">
              <a:buNone/>
            </a:pPr>
            <a:r>
              <a:rPr lang="en-GB" sz="2300" b="1" dirty="0"/>
              <a:t>Common SPSS Graphs:</a:t>
            </a:r>
          </a:p>
          <a:p>
            <a:r>
              <a:rPr lang="en-GB" sz="2300" dirty="0"/>
              <a:t>Histograms</a:t>
            </a:r>
          </a:p>
          <a:p>
            <a:r>
              <a:rPr lang="en-GB" sz="2300" dirty="0"/>
              <a:t>Boxplots</a:t>
            </a:r>
          </a:p>
          <a:p>
            <a:pPr marL="0" indent="0">
              <a:buNone/>
            </a:pPr>
            <a:r>
              <a:rPr lang="en-GB" sz="2300" dirty="0">
                <a:solidFill>
                  <a:srgbClr val="EE0000"/>
                </a:solidFill>
              </a:rPr>
              <a:t>Creating Histograms in SPSS</a:t>
            </a:r>
          </a:p>
          <a:p>
            <a:pPr>
              <a:buNone/>
            </a:pPr>
            <a:r>
              <a:rPr lang="en-GB" sz="2300" b="1" dirty="0"/>
              <a:t>Steps:</a:t>
            </a:r>
            <a:endParaRPr lang="en-GB" sz="2300" dirty="0"/>
          </a:p>
          <a:p>
            <a:pPr>
              <a:buFont typeface="+mj-lt"/>
              <a:buAutoNum type="arabicPeriod"/>
            </a:pPr>
            <a:r>
              <a:rPr lang="en-GB" sz="2300" b="1" dirty="0"/>
              <a:t>Graphs → Legacy Dialogs → Histogram</a:t>
            </a:r>
          </a:p>
          <a:p>
            <a:pPr>
              <a:buFont typeface="+mj-lt"/>
              <a:buAutoNum type="arabicPeriod"/>
            </a:pPr>
            <a:r>
              <a:rPr lang="en-GB" sz="2300" dirty="0"/>
              <a:t>Move </a:t>
            </a:r>
            <a:r>
              <a:rPr lang="en-GB" sz="2300" b="1" dirty="0" err="1"/>
              <a:t>Test_Score</a:t>
            </a:r>
            <a:r>
              <a:rPr lang="en-GB" sz="2300" dirty="0"/>
              <a:t> to Variable box</a:t>
            </a:r>
          </a:p>
          <a:p>
            <a:pPr>
              <a:buFont typeface="+mj-lt"/>
              <a:buAutoNum type="arabicPeriod"/>
            </a:pPr>
            <a:r>
              <a:rPr lang="en-GB" sz="2300" dirty="0"/>
              <a:t>Click </a:t>
            </a:r>
            <a:r>
              <a:rPr lang="en-GB" sz="2300" b="1" dirty="0"/>
              <a:t>OK</a:t>
            </a:r>
            <a:endParaRPr lang="en-GB" sz="2300" dirty="0"/>
          </a:p>
          <a:p>
            <a:pPr>
              <a:buNone/>
            </a:pPr>
            <a:r>
              <a:rPr lang="en-GB" sz="2300" b="1" dirty="0"/>
              <a:t>Interpretation:</a:t>
            </a:r>
            <a:endParaRPr lang="en-GB" sz="23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Is the distribution symmetrical?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Any extreme values?</a:t>
            </a:r>
          </a:p>
          <a:p>
            <a:pPr marL="0" indent="0">
              <a:buNone/>
            </a:pPr>
            <a:endParaRPr lang="en-GB" dirty="0">
              <a:solidFill>
                <a:srgbClr val="E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7500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21399-9A06-18AD-0693-5B824846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271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Example Dataset (Enter in SPSS)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A0B7E-F2AB-2B3D-1B33-C351CB44D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7840"/>
            <a:ext cx="10515600" cy="585404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Open </a:t>
            </a:r>
            <a:r>
              <a:rPr lang="en-GB" b="1" dirty="0"/>
              <a:t>SPSS → Variable View</a:t>
            </a:r>
            <a:r>
              <a:rPr lang="en-GB" dirty="0"/>
              <a:t>, then define the variables like this:</a:t>
            </a:r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1DF91B-842B-10E1-8987-0118FCA77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750530"/>
              </p:ext>
            </p:extLst>
          </p:nvPr>
        </p:nvGraphicFramePr>
        <p:xfrm>
          <a:off x="960748" y="1554567"/>
          <a:ext cx="10515600" cy="21031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3253364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7752667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055354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8383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Variable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Label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Measure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430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Numeric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Student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Nominal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95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Gender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Numeric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Gender (1=Male, 2=Female)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Nominal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07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TestScore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Numeric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Statistics Test Score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987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StudyHours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Numeric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Hours Studied per Week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158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1283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141AB-61CE-B812-7E40-78F4A057D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397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Data Set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771D8B-39C7-B89C-CCE9-FD9269CFAF0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89614"/>
          <a:ext cx="10515600" cy="40233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26363248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258935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001030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381197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Gender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TestScore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StudyHours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683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911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185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374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568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585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9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370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517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676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216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0171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55917-7FBF-AF28-8DFA-28560C5B4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787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Histogram in SPSS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B81E3-B172-84C5-CDB2-6AE073E37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7839"/>
            <a:ext cx="10515600" cy="5319124"/>
          </a:xfrm>
        </p:spPr>
        <p:txBody>
          <a:bodyPr/>
          <a:lstStyle/>
          <a:p>
            <a:pPr marL="0" indent="0">
              <a:buNone/>
            </a:pPr>
            <a:r>
              <a:rPr lang="en-GB" sz="2300" b="1" dirty="0"/>
              <a:t>Purpose</a:t>
            </a:r>
          </a:p>
          <a:p>
            <a:r>
              <a:rPr lang="en-GB" sz="2300" dirty="0"/>
              <a:t>A </a:t>
            </a:r>
            <a:r>
              <a:rPr lang="en-GB" sz="2300" b="1" dirty="0"/>
              <a:t>histogram</a:t>
            </a:r>
            <a:r>
              <a:rPr lang="en-GB" sz="2300" dirty="0"/>
              <a:t> shows the </a:t>
            </a:r>
            <a:r>
              <a:rPr lang="en-GB" sz="2300" b="1" dirty="0"/>
              <a:t>distribution</a:t>
            </a:r>
            <a:r>
              <a:rPr lang="en-GB" sz="2300" dirty="0"/>
              <a:t> of a continuous variable (shape, </a:t>
            </a:r>
            <a:r>
              <a:rPr lang="en-GB" sz="2300" dirty="0" err="1"/>
              <a:t>center</a:t>
            </a:r>
            <a:r>
              <a:rPr lang="en-GB" sz="2300" dirty="0"/>
              <a:t>, spread).</a:t>
            </a:r>
          </a:p>
          <a:p>
            <a:pPr marL="0" indent="0">
              <a:buNone/>
            </a:pPr>
            <a:r>
              <a:rPr lang="en-GB" sz="2300" b="1" dirty="0"/>
              <a:t>Steps (Histogram of Test Scores)</a:t>
            </a:r>
          </a:p>
          <a:p>
            <a:r>
              <a:rPr lang="en-GB" sz="2300" dirty="0"/>
              <a:t>Go to </a:t>
            </a:r>
            <a:r>
              <a:rPr lang="en-GB" sz="2300" b="1" dirty="0"/>
              <a:t>Graphs → Legacy Dialogs → Histogram</a:t>
            </a:r>
            <a:endParaRPr lang="en-GB" sz="2300" dirty="0"/>
          </a:p>
          <a:p>
            <a:r>
              <a:rPr lang="en-GB" sz="2300" dirty="0"/>
              <a:t>Move </a:t>
            </a:r>
            <a:r>
              <a:rPr lang="en-GB" sz="2300" b="1" dirty="0" err="1"/>
              <a:t>TestScore</a:t>
            </a:r>
            <a:r>
              <a:rPr lang="en-GB" sz="2300" dirty="0"/>
              <a:t> to the </a:t>
            </a:r>
            <a:r>
              <a:rPr lang="en-GB" sz="2300" i="1" dirty="0"/>
              <a:t>Variable</a:t>
            </a:r>
            <a:r>
              <a:rPr lang="en-GB" sz="2300" dirty="0"/>
              <a:t> box</a:t>
            </a:r>
          </a:p>
          <a:p>
            <a:r>
              <a:rPr lang="en-GB" sz="2300" dirty="0"/>
              <a:t> Tick </a:t>
            </a:r>
            <a:r>
              <a:rPr lang="en-GB" sz="2300" b="1" dirty="0"/>
              <a:t>Display normal curve</a:t>
            </a:r>
            <a:endParaRPr lang="en-GB" sz="2300" dirty="0"/>
          </a:p>
          <a:p>
            <a:r>
              <a:rPr lang="en-GB" sz="2300" dirty="0"/>
              <a:t>Click </a:t>
            </a:r>
            <a:r>
              <a:rPr lang="en-GB" sz="2300" b="1" dirty="0"/>
              <a:t>OK</a:t>
            </a:r>
            <a:endParaRPr lang="en-GB" sz="2300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6784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C9356-F2AA-C1DD-8E61-96488580A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Interpretation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635A7-8EA7-29F6-CCCD-C6CA6F02F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Bars show how scores are distributed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Normal curve helps check </a:t>
            </a:r>
            <a:r>
              <a:rPr lang="en-GB" b="1" dirty="0"/>
              <a:t>normality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Look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Outliers</a:t>
            </a:r>
          </a:p>
          <a:p>
            <a:pPr>
              <a:buNone/>
            </a:pPr>
            <a:r>
              <a:rPr lang="en-GB" dirty="0"/>
              <a:t> </a:t>
            </a:r>
            <a:r>
              <a:rPr lang="en-GB" b="1" i="1" dirty="0"/>
              <a:t>Example conclusion:</a:t>
            </a:r>
            <a:endParaRPr lang="en-GB" b="1" dirty="0"/>
          </a:p>
          <a:p>
            <a:pPr>
              <a:buNone/>
            </a:pPr>
            <a:r>
              <a:rPr lang="en-GB" dirty="0"/>
              <a:t>The test scores appear approximately normally distributed, with most students scoring between 50 and 70.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2601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5F5EC-ADEF-1158-C8F5-78EC5247E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5007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Boxplot in SPSS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279D0-A0BE-E3F9-92DF-EAFB338BD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6120"/>
            <a:ext cx="10515600" cy="5290843"/>
          </a:xfrm>
        </p:spPr>
        <p:txBody>
          <a:bodyPr/>
          <a:lstStyle/>
          <a:p>
            <a:pPr marL="0" indent="0">
              <a:buNone/>
            </a:pPr>
            <a:r>
              <a:rPr lang="en-GB" sz="2300" b="1" dirty="0"/>
              <a:t>Purpose</a:t>
            </a:r>
          </a:p>
          <a:p>
            <a:r>
              <a:rPr lang="en-GB" sz="2300" dirty="0"/>
              <a:t>A </a:t>
            </a:r>
            <a:r>
              <a:rPr lang="en-GB" sz="2300" b="1" dirty="0"/>
              <a:t>boxplot</a:t>
            </a:r>
            <a:r>
              <a:rPr lang="en-GB" sz="2300" dirty="0"/>
              <a:t> compares distributions and highlights </a:t>
            </a:r>
            <a:r>
              <a:rPr lang="en-GB" sz="2300" b="1" dirty="0"/>
              <a:t>median, spread, and outliers</a:t>
            </a:r>
            <a:r>
              <a:rPr lang="en-GB" sz="2300" dirty="0"/>
              <a:t>.</a:t>
            </a:r>
          </a:p>
          <a:p>
            <a:pPr marL="0" indent="0">
              <a:buNone/>
            </a:pPr>
            <a:r>
              <a:rPr lang="en-GB" sz="2300" b="1" dirty="0"/>
              <a:t>Steps (Boxplot of </a:t>
            </a:r>
            <a:r>
              <a:rPr lang="en-GB" sz="2300" b="1" dirty="0" err="1"/>
              <a:t>TestScore</a:t>
            </a:r>
            <a:r>
              <a:rPr lang="en-GB" sz="2300" b="1" dirty="0"/>
              <a:t> by Gender)</a:t>
            </a:r>
          </a:p>
          <a:p>
            <a:r>
              <a:rPr lang="en-GB" sz="2300" dirty="0"/>
              <a:t>Go to </a:t>
            </a:r>
            <a:r>
              <a:rPr lang="en-GB" sz="2300" b="1" dirty="0"/>
              <a:t>Graphs → Legacy Dialogs → Boxplot</a:t>
            </a:r>
            <a:endParaRPr lang="en-GB" sz="2300" dirty="0"/>
          </a:p>
          <a:p>
            <a:r>
              <a:rPr lang="en-GB" sz="2300" dirty="0"/>
              <a:t>Select </a:t>
            </a:r>
            <a:r>
              <a:rPr lang="en-GB" sz="2300" b="1" dirty="0"/>
              <a:t>Simple</a:t>
            </a:r>
            <a:endParaRPr lang="en-GB" sz="2300" dirty="0"/>
          </a:p>
          <a:p>
            <a:r>
              <a:rPr lang="en-GB" sz="2300" dirty="0"/>
              <a:t>Choose </a:t>
            </a:r>
            <a:r>
              <a:rPr lang="en-GB" sz="2300" b="1" dirty="0"/>
              <a:t>Summaries for groups of cases</a:t>
            </a:r>
            <a:endParaRPr lang="en-GB" sz="2300" dirty="0"/>
          </a:p>
          <a:p>
            <a:r>
              <a:rPr lang="en-GB" sz="2300" dirty="0"/>
              <a:t>Click </a:t>
            </a:r>
            <a:r>
              <a:rPr lang="en-GB" sz="2300" b="1" dirty="0"/>
              <a:t>Define</a:t>
            </a:r>
            <a:endParaRPr lang="en-GB" sz="2300" dirty="0"/>
          </a:p>
          <a:p>
            <a:r>
              <a:rPr lang="en-GB" sz="2300" dirty="0"/>
              <a:t>Move </a:t>
            </a:r>
            <a:r>
              <a:rPr lang="en-GB" sz="2300" b="1" dirty="0" err="1"/>
              <a:t>TestScore</a:t>
            </a:r>
            <a:r>
              <a:rPr lang="en-GB" sz="2300" dirty="0"/>
              <a:t> to </a:t>
            </a:r>
            <a:r>
              <a:rPr lang="en-GB" sz="2300" i="1" dirty="0"/>
              <a:t>Variable</a:t>
            </a:r>
            <a:endParaRPr lang="en-GB" sz="2300" dirty="0"/>
          </a:p>
          <a:p>
            <a:r>
              <a:rPr lang="en-GB" sz="2300" dirty="0"/>
              <a:t>Move </a:t>
            </a:r>
            <a:r>
              <a:rPr lang="en-GB" sz="2300" b="1" dirty="0"/>
              <a:t>Gender</a:t>
            </a:r>
            <a:r>
              <a:rPr lang="en-GB" sz="2300" dirty="0"/>
              <a:t> to </a:t>
            </a:r>
            <a:r>
              <a:rPr lang="en-GB" sz="2300" i="1" dirty="0"/>
              <a:t>Category Axis</a:t>
            </a:r>
            <a:endParaRPr lang="en-GB" sz="2300" dirty="0"/>
          </a:p>
          <a:p>
            <a:r>
              <a:rPr lang="en-GB" sz="2300" dirty="0"/>
              <a:t>Click </a:t>
            </a:r>
            <a:r>
              <a:rPr lang="en-GB" sz="2300" b="1" dirty="0"/>
              <a:t>OK</a:t>
            </a:r>
            <a:endParaRPr lang="en-GB" sz="2300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0138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A808E-DE55-61EE-935D-C89772152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Interpretation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48684-E5BC-1CEE-9328-A491ED5B0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Middle line → </a:t>
            </a:r>
            <a:r>
              <a:rPr lang="en-GB" b="1" dirty="0"/>
              <a:t>Median</a:t>
            </a:r>
            <a:endParaRPr lang="en-GB" dirty="0"/>
          </a:p>
          <a:p>
            <a:r>
              <a:rPr lang="en-GB" dirty="0"/>
              <a:t>Box → </a:t>
            </a:r>
            <a:r>
              <a:rPr lang="en-GB" b="1" dirty="0"/>
              <a:t>Interquartile Range (IQR)</a:t>
            </a:r>
            <a:endParaRPr lang="en-GB" dirty="0"/>
          </a:p>
          <a:p>
            <a:r>
              <a:rPr lang="en-GB" dirty="0"/>
              <a:t>Whiskers → Spread</a:t>
            </a:r>
          </a:p>
          <a:p>
            <a:r>
              <a:rPr lang="en-GB" dirty="0"/>
              <a:t>Circles/asterisks → </a:t>
            </a:r>
            <a:r>
              <a:rPr lang="en-GB" b="1" dirty="0"/>
              <a:t>Outliers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i="1" dirty="0"/>
              <a:t>Example conclusion:</a:t>
            </a:r>
            <a:endParaRPr lang="en-GB" dirty="0"/>
          </a:p>
          <a:p>
            <a:r>
              <a:rPr lang="en-GB" dirty="0"/>
              <a:t>Female students show a higher median test score compared to male students, with less variability.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5624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B24EA-E760-BB5B-4E1E-7259F0590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443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Creating Boxplots by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CAC73-3218-3D81-63D4-A0BE21774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560"/>
            <a:ext cx="10515600" cy="534740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GB" b="1" dirty="0"/>
              <a:t>Steps:</a:t>
            </a:r>
            <a:endParaRPr lang="en-GB" dirty="0"/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GB" b="1" dirty="0"/>
              <a:t>Graphs → Legacy Dialogs → Boxplot</a:t>
            </a:r>
          </a:p>
          <a:p>
            <a:pPr>
              <a:buFont typeface="+mj-lt"/>
              <a:buAutoNum type="arabicPeriod"/>
            </a:pPr>
            <a:r>
              <a:rPr lang="en-GB" dirty="0"/>
              <a:t>Select </a:t>
            </a:r>
            <a:r>
              <a:rPr lang="en-GB" b="1" dirty="0"/>
              <a:t>Summaries for groups of cases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Define: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Variable → </a:t>
            </a:r>
            <a:r>
              <a:rPr lang="en-GB" dirty="0" err="1"/>
              <a:t>Test_Score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Category Axis → Class</a:t>
            </a:r>
          </a:p>
          <a:p>
            <a:pPr>
              <a:buFont typeface="+mj-lt"/>
              <a:buAutoNum type="arabicPeriod"/>
            </a:pPr>
            <a:r>
              <a:rPr lang="en-GB" dirty="0"/>
              <a:t>Click </a:t>
            </a:r>
            <a:r>
              <a:rPr lang="en-GB" b="1" dirty="0"/>
              <a:t>OK</a:t>
            </a:r>
            <a:endParaRPr lang="en-GB" dirty="0"/>
          </a:p>
          <a:p>
            <a:pPr>
              <a:buNone/>
            </a:pPr>
            <a:r>
              <a:rPr lang="en-GB" b="1" dirty="0"/>
              <a:t>What to Observe: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Median differences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Spread of scores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Outliers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4846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C26D9-3E35-5CF5-B0BF-75A9083E4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583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Descriptive Statistics by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34AFF-F305-6EC1-E048-3E6771784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962"/>
            <a:ext cx="10515600" cy="564665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sz="2400" b="1" dirty="0"/>
              <a:t>Purpose</a:t>
            </a:r>
          </a:p>
          <a:p>
            <a:pPr marL="0" indent="0">
              <a:buNone/>
            </a:pPr>
            <a:r>
              <a:rPr lang="en-GB" sz="2400" b="1" dirty="0"/>
              <a:t>Descriptive statistics by groups</a:t>
            </a:r>
            <a:r>
              <a:rPr lang="en-GB" sz="2400" dirty="0"/>
              <a:t> help you compare:</a:t>
            </a:r>
          </a:p>
          <a:p>
            <a:r>
              <a:rPr lang="en-GB" sz="2400" dirty="0"/>
              <a:t>Mean</a:t>
            </a:r>
          </a:p>
          <a:p>
            <a:r>
              <a:rPr lang="en-GB" sz="2400" dirty="0"/>
              <a:t>Median</a:t>
            </a:r>
          </a:p>
          <a:p>
            <a:r>
              <a:rPr lang="en-GB" sz="2400" dirty="0"/>
              <a:t>Standard deviation</a:t>
            </a:r>
          </a:p>
          <a:p>
            <a:r>
              <a:rPr lang="en-GB" sz="2400" dirty="0"/>
              <a:t>Minimum &amp; maximum</a:t>
            </a:r>
          </a:p>
          <a:p>
            <a:r>
              <a:rPr lang="en-GB" sz="2400" dirty="0"/>
              <a:t>across different categories (e.g. </a:t>
            </a:r>
            <a:r>
              <a:rPr lang="en-GB" sz="2400" b="1" dirty="0"/>
              <a:t>Male vs Female</a:t>
            </a:r>
            <a:r>
              <a:rPr lang="en-GB" sz="2400" dirty="0"/>
              <a:t>).</a:t>
            </a:r>
          </a:p>
          <a:p>
            <a:pPr marL="0" indent="0">
              <a:buNone/>
            </a:pPr>
            <a:r>
              <a:rPr lang="en-GB" sz="2300" b="1" dirty="0"/>
              <a:t>Steps:</a:t>
            </a:r>
            <a:endParaRPr lang="en-GB" sz="2300" dirty="0"/>
          </a:p>
          <a:p>
            <a:r>
              <a:rPr lang="en-GB" sz="2300" dirty="0" err="1"/>
              <a:t>Analyze</a:t>
            </a:r>
            <a:r>
              <a:rPr lang="en-GB" sz="2300" dirty="0"/>
              <a:t> → Compare Means → Means</a:t>
            </a:r>
          </a:p>
          <a:p>
            <a:r>
              <a:rPr lang="en-GB" sz="2300" dirty="0"/>
              <a:t>Dependent List → </a:t>
            </a:r>
            <a:r>
              <a:rPr lang="en-GB" sz="2300" dirty="0" err="1"/>
              <a:t>Test_Score</a:t>
            </a:r>
            <a:endParaRPr lang="en-GB" sz="2300" dirty="0"/>
          </a:p>
          <a:p>
            <a:r>
              <a:rPr lang="en-GB" sz="2300" dirty="0"/>
              <a:t>Independent List → Class</a:t>
            </a:r>
          </a:p>
          <a:p>
            <a:r>
              <a:rPr lang="en-GB" sz="2300" dirty="0"/>
              <a:t>Click </a:t>
            </a:r>
            <a:r>
              <a:rPr lang="en-GB" sz="2300" b="1" dirty="0"/>
              <a:t>OK</a:t>
            </a:r>
            <a:endParaRPr lang="en-GB" sz="2300" dirty="0"/>
          </a:p>
          <a:p>
            <a:pPr marL="0" indent="0">
              <a:buNone/>
            </a:pPr>
            <a:r>
              <a:rPr lang="en-GB" sz="2300" b="1" dirty="0"/>
              <a:t>Interpretation of Descriptive Output</a:t>
            </a:r>
          </a:p>
          <a:p>
            <a:r>
              <a:rPr lang="en-GB" sz="2300" dirty="0"/>
              <a:t>Mean </a:t>
            </a:r>
            <a:r>
              <a:rPr lang="en-GB" sz="2300" dirty="0" err="1"/>
              <a:t>Test_Score</a:t>
            </a:r>
            <a:r>
              <a:rPr lang="en-GB" sz="2300" dirty="0"/>
              <a:t> for each class</a:t>
            </a:r>
          </a:p>
          <a:p>
            <a:r>
              <a:rPr lang="en-GB" sz="2300" dirty="0"/>
              <a:t>Compare:</a:t>
            </a:r>
          </a:p>
          <a:p>
            <a:pPr lvl="1"/>
            <a:r>
              <a:rPr lang="en-GB" dirty="0"/>
              <a:t>Highest mean</a:t>
            </a:r>
          </a:p>
          <a:p>
            <a:pPr lvl="1"/>
            <a:r>
              <a:rPr lang="en-GB" dirty="0"/>
              <a:t>Lowest mean</a:t>
            </a:r>
          </a:p>
          <a:p>
            <a:pPr lvl="1"/>
            <a:r>
              <a:rPr lang="en-GB" dirty="0"/>
              <a:t>Variability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2753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EFAAB-8105-D3E0-07DC-CE66DF848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Analysis of Variance (ANOVA) – Overview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39BD9-310E-8900-56BF-8328F4EB7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28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300" b="1" dirty="0"/>
              <a:t>ANOVA</a:t>
            </a:r>
            <a:r>
              <a:rPr lang="en-GB" sz="2300" dirty="0"/>
              <a:t> tests whether:</a:t>
            </a:r>
          </a:p>
          <a:p>
            <a:r>
              <a:rPr lang="en-GB" sz="2300" dirty="0"/>
              <a:t>The means of </a:t>
            </a:r>
            <a:r>
              <a:rPr lang="en-GB" sz="2300" b="1" dirty="0"/>
              <a:t>three or more groups</a:t>
            </a:r>
            <a:r>
              <a:rPr lang="en-GB" sz="2300" dirty="0"/>
              <a:t> are statistically different.</a:t>
            </a:r>
          </a:p>
          <a:p>
            <a:pPr marL="0" indent="0">
              <a:buNone/>
            </a:pPr>
            <a:r>
              <a:rPr lang="en-GB" sz="2300" dirty="0"/>
              <a:t>Used when:</a:t>
            </a:r>
          </a:p>
          <a:p>
            <a:r>
              <a:rPr lang="en-GB" sz="2300" dirty="0"/>
              <a:t>One dependent variable (Scale)</a:t>
            </a:r>
          </a:p>
          <a:p>
            <a:r>
              <a:rPr lang="en-GB" sz="2300" dirty="0"/>
              <a:t>One independent variable (Categorical, ≥ 3 groups)</a:t>
            </a:r>
          </a:p>
          <a:p>
            <a:pPr marL="0" indent="0">
              <a:buNone/>
            </a:pPr>
            <a:r>
              <a:rPr lang="en-GB" sz="2300" b="1" dirty="0"/>
              <a:t>ANOVA Assumptions</a:t>
            </a:r>
          </a:p>
          <a:p>
            <a:r>
              <a:rPr lang="en-GB" sz="2300" dirty="0"/>
              <a:t>Independence of observations</a:t>
            </a:r>
          </a:p>
          <a:p>
            <a:r>
              <a:rPr lang="en-GB" sz="2300" dirty="0"/>
              <a:t>Normality</a:t>
            </a:r>
          </a:p>
          <a:p>
            <a:r>
              <a:rPr lang="en-GB" sz="2300" dirty="0"/>
              <a:t>Homogeneity of variances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424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EC3C6-9C38-E16A-53A5-1CEA9C28B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730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ANOVA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B07E7-EDEB-98A7-E1F7-ACD280DC1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2426"/>
            <a:ext cx="10515600" cy="5394537"/>
          </a:xfrm>
        </p:spPr>
        <p:txBody>
          <a:bodyPr/>
          <a:lstStyle/>
          <a:p>
            <a:r>
              <a:rPr lang="en-GB" sz="2300" dirty="0"/>
              <a:t>Analysis of Variance (ANOVA) is used to compare the means of three or more groups.</a:t>
            </a:r>
          </a:p>
          <a:p>
            <a:r>
              <a:rPr lang="en-GB" sz="2300" dirty="0"/>
              <a:t> For the results of ANOVA to be valid and reliable, the following key assumptions must be met:</a:t>
            </a:r>
          </a:p>
          <a:p>
            <a:pPr marL="0" indent="0">
              <a:buNone/>
            </a:pPr>
            <a:r>
              <a:rPr lang="en-GB" sz="2300" b="1" dirty="0"/>
              <a:t>What ANOVA Does:</a:t>
            </a:r>
          </a:p>
          <a:p>
            <a:r>
              <a:rPr lang="en-GB" sz="2300" dirty="0"/>
              <a:t>ANOVA tests whether </a:t>
            </a:r>
            <a:r>
              <a:rPr lang="en-GB" sz="2300" b="1" dirty="0"/>
              <a:t>the mean of a continuous variable</a:t>
            </a:r>
            <a:r>
              <a:rPr lang="en-GB" sz="2300" dirty="0"/>
              <a:t> differs across </a:t>
            </a:r>
            <a:r>
              <a:rPr lang="en-GB" sz="2300" b="1" dirty="0"/>
              <a:t>three or more groups</a:t>
            </a:r>
            <a:r>
              <a:rPr lang="en-GB" sz="2300" dirty="0"/>
              <a:t>.</a:t>
            </a:r>
          </a:p>
          <a:p>
            <a:r>
              <a:rPr lang="en-GB" sz="2300" dirty="0"/>
              <a:t>Example question:</a:t>
            </a:r>
            <a:br>
              <a:rPr lang="en-GB" sz="2300" dirty="0"/>
            </a:br>
            <a:r>
              <a:rPr lang="en-GB" sz="2300" b="1" dirty="0"/>
              <a:t>Does teaching method affect students’ test scores?</a:t>
            </a:r>
            <a:endParaRPr lang="en-GB" sz="2300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0573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13190-9E66-3C1B-F6B6-09FD11F91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Example Dataset for ANOVA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8BBD74-9084-3920-2C72-F5F7B4A3A7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1752240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113049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220143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092169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Variable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Label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Measure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517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StudentID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Numeric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Student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Nominal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75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TeachingMethod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Numeric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Teaching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Nominal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166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TestScore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Numeric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Test Score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333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173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1EF7D-B615-0A4A-2A05-E33DDF164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271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ANOVA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42A5B-7E4B-5853-00B7-2E2D751FA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Value Labels for </a:t>
            </a:r>
            <a:r>
              <a:rPr lang="en-GB" b="1" dirty="0" err="1"/>
              <a:t>TeachingMethod</a:t>
            </a:r>
            <a:endParaRPr lang="en-GB" dirty="0"/>
          </a:p>
          <a:p>
            <a:r>
              <a:rPr lang="en-GB" dirty="0"/>
              <a:t>1 = Lecture</a:t>
            </a:r>
          </a:p>
          <a:p>
            <a:r>
              <a:rPr lang="en-GB" dirty="0"/>
              <a:t>2 = Group Discussion</a:t>
            </a:r>
          </a:p>
          <a:p>
            <a:r>
              <a:rPr lang="en-GB" dirty="0"/>
              <a:t>3 = Online Learning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8442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B9F29-269C-1520-D3BE-2613510D5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55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Dataset ANOVA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2AB86E-9B95-816B-802F-9CEACC2ABC2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84424" y="1825627"/>
          <a:ext cx="9623151" cy="4351334"/>
        </p:xfrm>
        <a:graphic>
          <a:graphicData uri="http://schemas.openxmlformats.org/drawingml/2006/table">
            <a:tbl>
              <a:tblPr/>
              <a:tblGrid>
                <a:gridCol w="3207717">
                  <a:extLst>
                    <a:ext uri="{9D8B030D-6E8A-4147-A177-3AD203B41FA5}">
                      <a16:colId xmlns:a16="http://schemas.microsoft.com/office/drawing/2014/main" val="520655708"/>
                    </a:ext>
                  </a:extLst>
                </a:gridCol>
                <a:gridCol w="3207717">
                  <a:extLst>
                    <a:ext uri="{9D8B030D-6E8A-4147-A177-3AD203B41FA5}">
                      <a16:colId xmlns:a16="http://schemas.microsoft.com/office/drawing/2014/main" val="1363758737"/>
                    </a:ext>
                  </a:extLst>
                </a:gridCol>
                <a:gridCol w="3207717">
                  <a:extLst>
                    <a:ext uri="{9D8B030D-6E8A-4147-A177-3AD203B41FA5}">
                      <a16:colId xmlns:a16="http://schemas.microsoft.com/office/drawing/2014/main" val="1390956002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StudentID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TeachingMethod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TestScore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40837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1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1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55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13645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1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58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41264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3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1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60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48997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4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1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62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19509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65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08836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6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68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92355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7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70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2477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8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72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59481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9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3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50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05867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10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3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52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64067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11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3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54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86530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12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3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56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360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332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9E059-C3A2-8129-5C0D-241B0FCF3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Research Hypotheses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91D1A-2551-2E47-1B28-A8B40D641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H₀ (Null hypothesis):</a:t>
            </a:r>
            <a:br>
              <a:rPr lang="en-GB" dirty="0"/>
            </a:br>
            <a:r>
              <a:rPr lang="en-GB" dirty="0"/>
              <a:t>There is no significant difference in mean test scores among the three teaching methods.</a:t>
            </a:r>
          </a:p>
          <a:p>
            <a:r>
              <a:rPr lang="en-GB" b="1" dirty="0"/>
              <a:t>H₁ (Alternative hypothesis):</a:t>
            </a:r>
            <a:br>
              <a:rPr lang="en-GB" dirty="0"/>
            </a:br>
            <a:r>
              <a:rPr lang="en-GB" dirty="0"/>
              <a:t>At least one teaching method has a different mean test score.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89602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0889A-5731-1743-B96E-F8E54E6F6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583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Running One-Way ANOVA in SPSS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59515-AC69-FFF4-6DA2-0E399D0E0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1790"/>
            <a:ext cx="10515600" cy="50551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Step-by-Step</a:t>
            </a:r>
          </a:p>
          <a:p>
            <a:r>
              <a:rPr lang="en-GB" dirty="0"/>
              <a:t>Go to </a:t>
            </a:r>
            <a:r>
              <a:rPr lang="en-GB" b="1" dirty="0" err="1"/>
              <a:t>Analyze</a:t>
            </a:r>
            <a:r>
              <a:rPr lang="en-GB" b="1" dirty="0"/>
              <a:t> → Compare Means → One-Way ANOVA</a:t>
            </a:r>
            <a:endParaRPr lang="en-GB" dirty="0"/>
          </a:p>
          <a:p>
            <a:r>
              <a:rPr lang="en-GB" dirty="0"/>
              <a:t>Move </a:t>
            </a:r>
            <a:r>
              <a:rPr lang="en-GB" b="1" dirty="0" err="1"/>
              <a:t>TestScore</a:t>
            </a:r>
            <a:r>
              <a:rPr lang="en-GB" dirty="0"/>
              <a:t> to </a:t>
            </a:r>
            <a:r>
              <a:rPr lang="en-GB" b="1" dirty="0"/>
              <a:t>Dependent List</a:t>
            </a:r>
            <a:endParaRPr lang="en-GB" dirty="0"/>
          </a:p>
          <a:p>
            <a:r>
              <a:rPr lang="en-GB" dirty="0"/>
              <a:t>Move </a:t>
            </a:r>
            <a:r>
              <a:rPr lang="en-GB" b="1" dirty="0" err="1"/>
              <a:t>TeachingMethod</a:t>
            </a:r>
            <a:r>
              <a:rPr lang="en-GB" dirty="0"/>
              <a:t> to </a:t>
            </a:r>
            <a:r>
              <a:rPr lang="en-GB" b="1" dirty="0"/>
              <a:t>Factor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Click </a:t>
            </a:r>
            <a:r>
              <a:rPr lang="en-GB" b="1" dirty="0"/>
              <a:t>Options…</a:t>
            </a:r>
            <a:endParaRPr lang="en-GB" dirty="0"/>
          </a:p>
          <a:p>
            <a:pPr lvl="1"/>
            <a:r>
              <a:rPr lang="en-GB" dirty="0"/>
              <a:t>Descriptive</a:t>
            </a:r>
          </a:p>
          <a:p>
            <a:pPr lvl="1"/>
            <a:r>
              <a:rPr lang="en-GB" dirty="0"/>
              <a:t>Homogeneity of variance test</a:t>
            </a:r>
          </a:p>
          <a:p>
            <a:r>
              <a:rPr lang="en-GB" dirty="0"/>
              <a:t>Click </a:t>
            </a:r>
            <a:r>
              <a:rPr lang="en-GB" b="1" dirty="0"/>
              <a:t>Continue</a:t>
            </a:r>
            <a:endParaRPr lang="en-GB" dirty="0"/>
          </a:p>
          <a:p>
            <a:r>
              <a:rPr lang="en-GB" dirty="0"/>
              <a:t>Click </a:t>
            </a:r>
            <a:r>
              <a:rPr lang="en-GB" b="1" dirty="0"/>
              <a:t>OK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4062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D9CF9-40C5-4C26-13E2-10BAD773B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3287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Understanding the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B8263-3227-CA0D-4549-21D880AAE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8412"/>
            <a:ext cx="10515600" cy="5328551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Descriptives Table</a:t>
            </a:r>
          </a:p>
          <a:p>
            <a:pPr marL="0" indent="0">
              <a:buNone/>
            </a:pPr>
            <a:r>
              <a:rPr lang="en-GB" dirty="0"/>
              <a:t>Shows:</a:t>
            </a:r>
          </a:p>
          <a:p>
            <a:r>
              <a:rPr lang="en-GB" dirty="0"/>
              <a:t>Mean score per teaching method</a:t>
            </a:r>
          </a:p>
          <a:p>
            <a:r>
              <a:rPr lang="en-GB" dirty="0"/>
              <a:t>Standard deviation</a:t>
            </a:r>
          </a:p>
          <a:p>
            <a:pPr marL="0" indent="0">
              <a:buNone/>
            </a:pPr>
            <a:r>
              <a:rPr lang="en-GB" b="1" dirty="0"/>
              <a:t>Example insight:</a:t>
            </a:r>
          </a:p>
          <a:p>
            <a:r>
              <a:rPr lang="en-GB" dirty="0"/>
              <a:t>Group Discussion has the highest mean test score.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3696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C3A10-40F6-39EF-C632-9525A9552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of Homogeneity of Variances (Levene’s Test)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26A6E-3ADB-B81B-5EFA-CEA679F07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1612"/>
            <a:ext cx="10515600" cy="43513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Sig. &lt; 0.05</a:t>
            </a:r>
            <a:r>
              <a:rPr lang="en-GB" dirty="0"/>
              <a:t> → Significant difference exists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Sig. ≥ 0.05</a:t>
            </a:r>
            <a:r>
              <a:rPr lang="en-GB" dirty="0"/>
              <a:t> → No significant difference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None/>
            </a:pPr>
            <a:r>
              <a:rPr lang="en-GB" dirty="0"/>
              <a:t> Conclusion:</a:t>
            </a:r>
          </a:p>
          <a:p>
            <a:pPr>
              <a:buNone/>
            </a:pPr>
            <a:r>
              <a:rPr lang="en-GB" dirty="0"/>
              <a:t>There is a statistically significant difference in mean test scores among the teaching methods.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D880D9-F81B-076D-4E70-627153295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518669"/>
              </p:ext>
            </p:extLst>
          </p:nvPr>
        </p:nvGraphicFramePr>
        <p:xfrm>
          <a:off x="1007883" y="3063240"/>
          <a:ext cx="10515600" cy="7315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60921292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77093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219372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Sig.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57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Between Groups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15.32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787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97571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06595-710D-9FF8-DE69-AD192CD78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583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ANOVA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BA1BD-DC72-1BC9-1722-7E367D131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one-way ANOVA was conducted to determine whether teaching method affects test scores. Results showed a statistically significant difference in mean test scores among the three teaching methods, F(2,9) = 15.32, p &lt; 0.05. Post-hoc Tukey tests indicated that students taught using group discussion performed significantly better than those taught through lectures and online learning.</a:t>
            </a:r>
          </a:p>
        </p:txBody>
      </p:sp>
    </p:spTree>
    <p:extLst>
      <p:ext uri="{BB962C8B-B14F-4D97-AF65-F5344CB8AC3E}">
        <p14:creationId xmlns:p14="http://schemas.microsoft.com/office/powerpoint/2010/main" val="2820644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F36F9-92FB-B8F5-8C49-254758160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When to Use ANOVA vs t-Test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AF6A602-95A1-510D-B53F-CEF9DE9BCE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63650"/>
              </p:ext>
            </p:extLst>
          </p:nvPr>
        </p:nvGraphicFramePr>
        <p:xfrm>
          <a:off x="602530" y="1577932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4334931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097440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Situation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875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 groups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Independent t-test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051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3+ groups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One-Way ANOVA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117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Same participants measured repeatedly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Repeated Measures ANOVA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149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3767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79E3A-64DC-10EB-9600-1311AD06B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812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Simple Explanation of ANOVA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A0349-0632-BF10-0B5B-1173A8EEF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3254"/>
            <a:ext cx="10515600" cy="585404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1. Sum of Squares (SS)</a:t>
            </a:r>
          </a:p>
          <a:p>
            <a:pPr marL="0" indent="0">
              <a:buNone/>
            </a:pPr>
            <a:r>
              <a:rPr lang="en-GB" b="1" dirty="0"/>
              <a:t>What it means:</a:t>
            </a:r>
            <a:endParaRPr lang="en-GB" dirty="0"/>
          </a:p>
          <a:p>
            <a:r>
              <a:rPr lang="en-GB" dirty="0"/>
              <a:t>Sum of Squares measures how much variation (differences) exists in the data.</a:t>
            </a:r>
          </a:p>
          <a:p>
            <a:pPr marL="0" indent="0">
              <a:buNone/>
            </a:pPr>
            <a:r>
              <a:rPr lang="en-GB" b="1" dirty="0"/>
              <a:t>In simple terms:</a:t>
            </a:r>
          </a:p>
          <a:p>
            <a:r>
              <a:rPr lang="en-GB" dirty="0"/>
              <a:t>It shows how far the scores are spread out.</a:t>
            </a:r>
          </a:p>
          <a:p>
            <a:pPr marL="0" indent="0">
              <a:buNone/>
            </a:pPr>
            <a:r>
              <a:rPr lang="en-GB" b="1" dirty="0"/>
              <a:t>In ANOVA we have:</a:t>
            </a:r>
          </a:p>
          <a:p>
            <a:r>
              <a:rPr lang="en-GB" b="1" dirty="0"/>
              <a:t>Between Groups SS</a:t>
            </a:r>
            <a:endParaRPr lang="en-GB" dirty="0"/>
          </a:p>
          <a:p>
            <a:r>
              <a:rPr lang="en-GB" dirty="0"/>
              <a:t>Shows differences </a:t>
            </a:r>
            <a:r>
              <a:rPr lang="en-GB" b="1" dirty="0"/>
              <a:t>between the group averages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b="1" dirty="0"/>
              <a:t>Example explanation:</a:t>
            </a:r>
          </a:p>
          <a:p>
            <a:r>
              <a:rPr lang="en-GB" dirty="0"/>
              <a:t>How different the groups are from each other.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95780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8271D-7B42-1822-28B0-53C5100EB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3543"/>
          </a:xfrm>
        </p:spPr>
        <p:txBody>
          <a:bodyPr>
            <a:normAutofit fontScale="90000"/>
          </a:bodyPr>
          <a:lstStyle/>
          <a:p>
            <a:pPr algn="ctr"/>
            <a:br>
              <a:rPr lang="en-GB" b="1" dirty="0"/>
            </a:br>
            <a:r>
              <a:rPr lang="en-GB" b="1" dirty="0"/>
              <a:t>Sum of Squares (SS)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A4FE7-5F37-51FB-323F-BD8F5460A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8668"/>
            <a:ext cx="10515600" cy="5849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Within Groups SS</a:t>
            </a:r>
            <a:endParaRPr lang="en-GB" dirty="0"/>
          </a:p>
          <a:p>
            <a:r>
              <a:rPr lang="en-GB" dirty="0"/>
              <a:t>Shows differences </a:t>
            </a:r>
            <a:r>
              <a:rPr lang="en-GB" b="1" dirty="0"/>
              <a:t>inside each group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b="1" dirty="0"/>
              <a:t>Example explanation:</a:t>
            </a:r>
          </a:p>
          <a:p>
            <a:r>
              <a:rPr lang="en-GB" dirty="0"/>
              <a:t>How students in the same group differ from each other.</a:t>
            </a:r>
          </a:p>
          <a:p>
            <a:pPr marL="0" indent="0">
              <a:buNone/>
            </a:pPr>
            <a:r>
              <a:rPr lang="en-GB" b="1" dirty="0"/>
              <a:t>From your table:</a:t>
            </a:r>
          </a:p>
          <a:p>
            <a:r>
              <a:rPr lang="en-GB" dirty="0"/>
              <a:t>Between Groups SS = </a:t>
            </a:r>
            <a:r>
              <a:rPr lang="en-GB" b="1" dirty="0"/>
              <a:t>508.167</a:t>
            </a:r>
            <a:endParaRPr lang="en-GB" dirty="0"/>
          </a:p>
          <a:p>
            <a:r>
              <a:rPr lang="en-GB" dirty="0"/>
              <a:t>Within Groups SS = </a:t>
            </a:r>
            <a:r>
              <a:rPr lang="en-GB" b="1" dirty="0"/>
              <a:t>73.500</a:t>
            </a:r>
            <a:endParaRPr lang="en-GB" dirty="0"/>
          </a:p>
          <a:p>
            <a:pPr marL="0" indent="0">
              <a:buNone/>
            </a:pPr>
            <a:r>
              <a:rPr lang="en-GB" b="1" dirty="0"/>
              <a:t>Meaning:</a:t>
            </a:r>
          </a:p>
          <a:p>
            <a:r>
              <a:rPr lang="en-GB" dirty="0"/>
              <a:t>Most of the variation is coming from differences between the groups.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0797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0AAE8-3DA3-594C-F920-86F74A648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182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Degrees of Freedom (</a:t>
            </a:r>
            <a:r>
              <a:rPr lang="en-GB" dirty="0" err="1"/>
              <a:t>df</a:t>
            </a:r>
            <a:r>
              <a:rPr lang="en-GB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35D1F-D2AF-8A1C-AA63-BE54EBB56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3254"/>
            <a:ext cx="10515600" cy="5759777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What it means:</a:t>
            </a:r>
            <a:endParaRPr lang="en-GB" dirty="0"/>
          </a:p>
          <a:p>
            <a:r>
              <a:rPr lang="en-GB" dirty="0"/>
              <a:t>Degrees of freedom represent the number of values that are free to vary.</a:t>
            </a:r>
          </a:p>
          <a:p>
            <a:pPr marL="0" indent="0">
              <a:buNone/>
            </a:pPr>
            <a:r>
              <a:rPr lang="en-GB" b="1" dirty="0"/>
              <a:t>Simple explanation:</a:t>
            </a:r>
          </a:p>
          <a:p>
            <a:r>
              <a:rPr lang="en-GB" dirty="0"/>
              <a:t>It is based on the number of groups and number of observations.</a:t>
            </a:r>
          </a:p>
          <a:p>
            <a:pPr marL="0" indent="0">
              <a:buNone/>
            </a:pPr>
            <a:r>
              <a:rPr lang="en-GB" b="1" dirty="0"/>
              <a:t>In ANOVA:</a:t>
            </a:r>
          </a:p>
          <a:p>
            <a:r>
              <a:rPr lang="en-GB" b="1" dirty="0"/>
              <a:t>Between Groups </a:t>
            </a:r>
            <a:r>
              <a:rPr lang="en-GB" b="1" dirty="0" err="1"/>
              <a:t>df</a:t>
            </a:r>
            <a:br>
              <a:rPr lang="en-GB" dirty="0"/>
            </a:br>
            <a:r>
              <a:rPr lang="en-GB" dirty="0"/>
              <a:t>Formula:</a:t>
            </a:r>
            <a:br>
              <a:rPr lang="en-GB" dirty="0"/>
            </a:br>
            <a:r>
              <a:rPr lang="en-GB" dirty="0" err="1"/>
              <a:t>df</a:t>
            </a:r>
            <a:r>
              <a:rPr lang="en-GB" dirty="0"/>
              <a:t> = number of groups − 1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62828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54A72-5998-9354-BDDF-D439A6239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730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Within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9366D-71C6-D4AE-19BB-C3DE3F807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2426"/>
            <a:ext cx="10515600" cy="5929459"/>
          </a:xfrm>
        </p:spPr>
        <p:txBody>
          <a:bodyPr/>
          <a:lstStyle/>
          <a:p>
            <a:r>
              <a:rPr lang="en-GB" dirty="0"/>
              <a:t>In our output:</a:t>
            </a:r>
            <a:br>
              <a:rPr lang="en-GB" dirty="0"/>
            </a:br>
            <a:r>
              <a:rPr lang="en-GB" dirty="0" err="1"/>
              <a:t>df</a:t>
            </a:r>
            <a:r>
              <a:rPr lang="en-GB" dirty="0"/>
              <a:t> = </a:t>
            </a:r>
            <a:r>
              <a:rPr lang="en-GB" b="1" dirty="0"/>
              <a:t>2</a:t>
            </a:r>
            <a:br>
              <a:rPr lang="en-GB" dirty="0"/>
            </a:br>
            <a:r>
              <a:rPr lang="en-GB" dirty="0"/>
              <a:t>This means:</a:t>
            </a:r>
          </a:p>
          <a:p>
            <a:pPr marL="0" indent="0">
              <a:buNone/>
            </a:pPr>
            <a:r>
              <a:rPr lang="en-GB" dirty="0"/>
              <a:t>There were </a:t>
            </a:r>
            <a:r>
              <a:rPr lang="en-GB" b="1" dirty="0"/>
              <a:t>3 groups</a:t>
            </a:r>
            <a:r>
              <a:rPr lang="en-GB" dirty="0"/>
              <a:t>.</a:t>
            </a:r>
          </a:p>
          <a:p>
            <a:r>
              <a:rPr lang="en-GB" b="1" dirty="0"/>
              <a:t>Within Groups </a:t>
            </a:r>
            <a:r>
              <a:rPr lang="en-GB" b="1" dirty="0" err="1"/>
              <a:t>df</a:t>
            </a:r>
            <a:br>
              <a:rPr lang="en-GB" dirty="0"/>
            </a:br>
            <a:r>
              <a:rPr lang="en-GB" dirty="0"/>
              <a:t>Formula:</a:t>
            </a:r>
            <a:br>
              <a:rPr lang="en-GB" dirty="0"/>
            </a:br>
            <a:r>
              <a:rPr lang="en-GB" dirty="0" err="1"/>
              <a:t>df</a:t>
            </a:r>
            <a:r>
              <a:rPr lang="en-GB" dirty="0"/>
              <a:t> = total observations − number of groups</a:t>
            </a:r>
          </a:p>
          <a:p>
            <a:r>
              <a:rPr lang="en-GB" dirty="0"/>
              <a:t>In our output:</a:t>
            </a:r>
            <a:br>
              <a:rPr lang="en-GB" dirty="0"/>
            </a:br>
            <a:r>
              <a:rPr lang="en-GB" dirty="0" err="1"/>
              <a:t>df</a:t>
            </a:r>
            <a:r>
              <a:rPr lang="en-GB" dirty="0"/>
              <a:t> = </a:t>
            </a:r>
            <a:r>
              <a:rPr lang="en-GB" b="1" dirty="0"/>
              <a:t>9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82140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A23D4-5D0C-DAA4-ABB2-A481B4B5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3287"/>
          </a:xfrm>
        </p:spPr>
        <p:txBody>
          <a:bodyPr>
            <a:normAutofit fontScale="90000"/>
          </a:bodyPr>
          <a:lstStyle/>
          <a:p>
            <a:pPr algn="ctr"/>
            <a:br>
              <a:rPr lang="en-GB" b="1" dirty="0"/>
            </a:br>
            <a:r>
              <a:rPr lang="en-GB" b="1" dirty="0"/>
              <a:t>Mean Square (MS)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273D7-1F17-ECC4-CE36-96009BDDD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8412"/>
            <a:ext cx="10515600" cy="58728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300" b="1" dirty="0"/>
              <a:t>What it means:</a:t>
            </a:r>
            <a:endParaRPr lang="en-GB" sz="2300" dirty="0"/>
          </a:p>
          <a:p>
            <a:r>
              <a:rPr lang="en-GB" sz="2300" dirty="0"/>
              <a:t>Mean Square is the average variation.</a:t>
            </a:r>
          </a:p>
          <a:p>
            <a:pPr marL="0" indent="0">
              <a:buNone/>
            </a:pPr>
            <a:r>
              <a:rPr lang="en-GB" sz="2300" b="1" dirty="0"/>
              <a:t>Formula:</a:t>
            </a:r>
            <a:br>
              <a:rPr lang="en-GB" sz="2300" dirty="0"/>
            </a:br>
            <a:r>
              <a:rPr lang="en-GB" sz="2300" dirty="0"/>
              <a:t>Mean Square = Sum of Squares ÷ </a:t>
            </a:r>
            <a:r>
              <a:rPr lang="en-GB" sz="2300" dirty="0" err="1"/>
              <a:t>df</a:t>
            </a:r>
            <a:endParaRPr lang="en-GB" sz="2300" dirty="0"/>
          </a:p>
          <a:p>
            <a:pPr marL="0" indent="0">
              <a:buNone/>
            </a:pPr>
            <a:r>
              <a:rPr lang="en-GB" sz="2300" b="1" dirty="0"/>
              <a:t>Example from your table:</a:t>
            </a:r>
          </a:p>
          <a:p>
            <a:r>
              <a:rPr lang="en-GB" sz="2300" dirty="0"/>
              <a:t>Between Groups:</a:t>
            </a:r>
            <a:br>
              <a:rPr lang="en-GB" sz="2300" dirty="0"/>
            </a:br>
            <a:r>
              <a:rPr lang="en-GB" sz="2300" dirty="0"/>
              <a:t>254.083 = 508.167 ÷ 2</a:t>
            </a:r>
          </a:p>
          <a:p>
            <a:r>
              <a:rPr lang="en-GB" sz="2300" dirty="0"/>
              <a:t>Within Groups:</a:t>
            </a:r>
            <a:br>
              <a:rPr lang="en-GB" sz="2300" dirty="0"/>
            </a:br>
            <a:r>
              <a:rPr lang="en-GB" sz="2300" dirty="0"/>
              <a:t>8.167 = 73.500 ÷ 9</a:t>
            </a:r>
          </a:p>
          <a:p>
            <a:pPr marL="0" indent="0">
              <a:buNone/>
            </a:pPr>
            <a:r>
              <a:rPr lang="en-GB" b="1" dirty="0"/>
              <a:t>Simple explanation:</a:t>
            </a:r>
          </a:p>
          <a:p>
            <a:r>
              <a:rPr lang="en-GB" sz="2300" dirty="0"/>
              <a:t>Mean Square helps us compare variation between groups and within groups.</a:t>
            </a:r>
          </a:p>
          <a:p>
            <a:r>
              <a:rPr lang="en-GB" sz="2300" dirty="0"/>
              <a:t>This is what we use to calculate the </a:t>
            </a:r>
            <a:r>
              <a:rPr lang="en-GB" sz="2300" b="1" dirty="0"/>
              <a:t>F-value</a:t>
            </a:r>
            <a:r>
              <a:rPr lang="en-GB" sz="2300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9393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3147</TotalTime>
  <Words>1387</Words>
  <Application>Microsoft Office PowerPoint</Application>
  <PresentationFormat>Widescreen</PresentationFormat>
  <Paragraphs>372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COMPARING MEANS &amp; INFERENTIAL STATISTICS USING SPSS</vt:lpstr>
      <vt:lpstr>Example Dataset (Used Throughout 16.5) </vt:lpstr>
      <vt:lpstr>Variable Types in SPSS: </vt:lpstr>
      <vt:lpstr>Comparing Distributions – Why It Matters </vt:lpstr>
      <vt:lpstr>Comparing Distributions Using Graphs</vt:lpstr>
      <vt:lpstr>Example Dataset (Enter in SPSS)</vt:lpstr>
      <vt:lpstr>Data Set</vt:lpstr>
      <vt:lpstr>Histogram in SPSS</vt:lpstr>
      <vt:lpstr>Interpretation </vt:lpstr>
      <vt:lpstr>Boxplot in SPSS</vt:lpstr>
      <vt:lpstr>Interpretation </vt:lpstr>
      <vt:lpstr>Creating Boxplots by Group</vt:lpstr>
      <vt:lpstr>Descriptive Statistics by Group</vt:lpstr>
      <vt:lpstr>Analysis of Variance (ANOVA) – Overview </vt:lpstr>
      <vt:lpstr>ANOVA</vt:lpstr>
      <vt:lpstr>Example Dataset for ANOVA</vt:lpstr>
      <vt:lpstr>ANOVA</vt:lpstr>
      <vt:lpstr>Dataset ANOVA</vt:lpstr>
      <vt:lpstr>Research Hypotheses </vt:lpstr>
      <vt:lpstr>Running One-Way ANOVA in SPSS</vt:lpstr>
      <vt:lpstr>Understanding the Output</vt:lpstr>
      <vt:lpstr>Test of Homogeneity of Variances (Levene’s Test)</vt:lpstr>
      <vt:lpstr>ANOVA</vt:lpstr>
      <vt:lpstr>When to Use ANOVA vs t-Test</vt:lpstr>
      <vt:lpstr>Simple Explanation of ANOVA Terms</vt:lpstr>
      <vt:lpstr> Sum of Squares (SS) </vt:lpstr>
      <vt:lpstr>Degrees of Freedom (df)</vt:lpstr>
      <vt:lpstr>Within Groups</vt:lpstr>
      <vt:lpstr> Mean Square (MS)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</dc:creator>
  <cp:lastModifiedBy>Paul</cp:lastModifiedBy>
  <cp:revision>8</cp:revision>
  <dcterms:created xsi:type="dcterms:W3CDTF">2026-02-09T16:35:10Z</dcterms:created>
  <dcterms:modified xsi:type="dcterms:W3CDTF">2026-02-23T18:30:49Z</dcterms:modified>
</cp:coreProperties>
</file>