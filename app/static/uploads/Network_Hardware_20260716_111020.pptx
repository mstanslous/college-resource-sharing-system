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78" r:id="rId4"/>
    <p:sldId id="258" r:id="rId5"/>
    <p:sldId id="276" r:id="rId6"/>
    <p:sldId id="277" r:id="rId7"/>
    <p:sldId id="259" r:id="rId8"/>
    <p:sldId id="260" r:id="rId9"/>
    <p:sldId id="269" r:id="rId10"/>
    <p:sldId id="270" r:id="rId11"/>
    <p:sldId id="271" r:id="rId12"/>
    <p:sldId id="272" r:id="rId13"/>
    <p:sldId id="273" r:id="rId14"/>
    <p:sldId id="261" r:id="rId15"/>
    <p:sldId id="262" r:id="rId16"/>
    <p:sldId id="274" r:id="rId17"/>
    <p:sldId id="275" r:id="rId18"/>
    <p:sldId id="263" r:id="rId19"/>
    <p:sldId id="265" r:id="rId20"/>
    <p:sldId id="266" r:id="rId21"/>
    <p:sldId id="267" r:id="rId22"/>
    <p:sldId id="268" r:id="rId23"/>
    <p:sldId id="264" r:id="rId24"/>
    <p:sldId id="282" r:id="rId25"/>
    <p:sldId id="279" r:id="rId26"/>
    <p:sldId id="280" r:id="rId27"/>
    <p:sldId id="281" r:id="rId28"/>
    <p:sldId id="28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53" autoAdjust="0"/>
    <p:restoredTop sz="94660"/>
  </p:normalViewPr>
  <p:slideViewPr>
    <p:cSldViewPr>
      <p:cViewPr varScale="1">
        <p:scale>
          <a:sx n="63" d="100"/>
          <a:sy n="63" d="100"/>
        </p:scale>
        <p:origin x="1388"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310329-05AF-4583-A78E-CBE3F9B5CDB4}" type="datetimeFigureOut">
              <a:rPr lang="en-US" smtClean="0"/>
              <a:t>25-May-26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530E9A-977D-4F4D-8D5C-A3B9F93C456E}" type="slidenum">
              <a:rPr lang="en-US" smtClean="0"/>
              <a:t>‹#›</a:t>
            </a:fld>
            <a:endParaRPr lang="en-US"/>
          </a:p>
        </p:txBody>
      </p:sp>
    </p:spTree>
    <p:extLst>
      <p:ext uri="{BB962C8B-B14F-4D97-AF65-F5344CB8AC3E}">
        <p14:creationId xmlns:p14="http://schemas.microsoft.com/office/powerpoint/2010/main" val="1220473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530E9A-977D-4F4D-8D5C-A3B9F93C456E}" type="slidenum">
              <a:rPr lang="en-US" smtClean="0"/>
              <a:t>2</a:t>
            </a:fld>
            <a:endParaRPr lang="en-US"/>
          </a:p>
        </p:txBody>
      </p:sp>
    </p:spTree>
    <p:extLst>
      <p:ext uri="{BB962C8B-B14F-4D97-AF65-F5344CB8AC3E}">
        <p14:creationId xmlns:p14="http://schemas.microsoft.com/office/powerpoint/2010/main" val="1773523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530E9A-977D-4F4D-8D5C-A3B9F93C456E}" type="slidenum">
              <a:rPr lang="en-US" smtClean="0"/>
              <a:t>15</a:t>
            </a:fld>
            <a:endParaRPr lang="en-US"/>
          </a:p>
        </p:txBody>
      </p:sp>
    </p:spTree>
    <p:extLst>
      <p:ext uri="{BB962C8B-B14F-4D97-AF65-F5344CB8AC3E}">
        <p14:creationId xmlns:p14="http://schemas.microsoft.com/office/powerpoint/2010/main" val="367845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 network device that connects computers with different protocols. AKA </a:t>
            </a:r>
            <a:r>
              <a:rPr lang="en-GB" smtClean="0"/>
              <a:t>protocol converter</a:t>
            </a:r>
            <a:endParaRPr lang="en-GB" dirty="0"/>
          </a:p>
        </p:txBody>
      </p:sp>
      <p:sp>
        <p:nvSpPr>
          <p:cNvPr id="4" name="Slide Number Placeholder 3"/>
          <p:cNvSpPr>
            <a:spLocks noGrp="1"/>
          </p:cNvSpPr>
          <p:nvPr>
            <p:ph type="sldNum" sz="quarter" idx="10"/>
          </p:nvPr>
        </p:nvSpPr>
        <p:spPr/>
        <p:txBody>
          <a:bodyPr/>
          <a:lstStyle/>
          <a:p>
            <a:fld id="{24530E9A-977D-4F4D-8D5C-A3B9F93C456E}" type="slidenum">
              <a:rPr lang="en-US" smtClean="0"/>
              <a:t>24</a:t>
            </a:fld>
            <a:endParaRPr lang="en-US"/>
          </a:p>
        </p:txBody>
      </p:sp>
    </p:spTree>
    <p:extLst>
      <p:ext uri="{BB962C8B-B14F-4D97-AF65-F5344CB8AC3E}">
        <p14:creationId xmlns:p14="http://schemas.microsoft.com/office/powerpoint/2010/main" val="3926721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DEFDA36-7856-4234-ADF1-8AEFC8C7C11D}"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184293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EFDA36-7856-4234-ADF1-8AEFC8C7C11D}"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3725332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EFDA36-7856-4234-ADF1-8AEFC8C7C11D}"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3643536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DEFDA36-7856-4234-ADF1-8AEFC8C7C11D}" type="datetimeFigureOut">
              <a:rPr lang="en-US" smtClean="0"/>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1481269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DEFDA36-7856-4234-ADF1-8AEFC8C7C11D}" type="datetimeFigureOut">
              <a:rPr lang="en-US" smtClean="0"/>
              <a:t>25-May-26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635105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DEFDA36-7856-4234-ADF1-8AEFC8C7C11D}" type="datetimeFigureOut">
              <a:rPr lang="en-US" smtClean="0"/>
              <a:t>25-May-26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2245656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EFDA36-7856-4234-ADF1-8AEFC8C7C11D}" type="datetimeFigureOut">
              <a:rPr lang="en-US" smtClean="0"/>
              <a:t>25-May-26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1038891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EFDA36-7856-4234-ADF1-8AEFC8C7C11D}" type="datetimeFigureOut">
              <a:rPr lang="en-US" smtClean="0"/>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1627553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EFDA36-7856-4234-ADF1-8AEFC8C7C11D}" type="datetimeFigureOut">
              <a:rPr lang="en-US" smtClean="0"/>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2654478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EFDA36-7856-4234-ADF1-8AEFC8C7C11D}"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1904381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EFDA36-7856-4234-ADF1-8AEFC8C7C11D}" type="datetimeFigureOut">
              <a:rPr lang="en-US" smtClean="0"/>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0B0801-E6ED-4A7E-B1AE-8B7E5BEF7154}" type="slidenum">
              <a:rPr lang="en-US" smtClean="0"/>
              <a:t>‹#›</a:t>
            </a:fld>
            <a:endParaRPr lang="en-US"/>
          </a:p>
        </p:txBody>
      </p:sp>
    </p:spTree>
    <p:extLst>
      <p:ext uri="{BB962C8B-B14F-4D97-AF65-F5344CB8AC3E}">
        <p14:creationId xmlns:p14="http://schemas.microsoft.com/office/powerpoint/2010/main" val="40603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EFDA36-7856-4234-ADF1-8AEFC8C7C11D}" type="datetimeFigureOut">
              <a:rPr lang="en-US" smtClean="0"/>
              <a:t>25-May-26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0B0801-E6ED-4A7E-B1AE-8B7E5BEF7154}" type="slidenum">
              <a:rPr lang="en-US" smtClean="0"/>
              <a:t>‹#›</a:t>
            </a:fld>
            <a:endParaRPr lang="en-US"/>
          </a:p>
        </p:txBody>
      </p:sp>
    </p:spTree>
    <p:extLst>
      <p:ext uri="{BB962C8B-B14F-4D97-AF65-F5344CB8AC3E}">
        <p14:creationId xmlns:p14="http://schemas.microsoft.com/office/powerpoint/2010/main" val="29897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CON</a:t>
            </a:r>
            <a:r>
              <a:rPr lang="en-US" smtClean="0"/>
              <a:t>-225</a:t>
            </a:r>
            <a:endParaRPr lang="en-US" dirty="0"/>
          </a:p>
        </p:txBody>
      </p:sp>
      <p:sp>
        <p:nvSpPr>
          <p:cNvPr id="3" name="Subtitle 2"/>
          <p:cNvSpPr>
            <a:spLocks noGrp="1"/>
          </p:cNvSpPr>
          <p:nvPr>
            <p:ph type="subTitle" idx="1"/>
          </p:nvPr>
        </p:nvSpPr>
        <p:spPr/>
        <p:txBody>
          <a:bodyPr/>
          <a:lstStyle/>
          <a:p>
            <a:r>
              <a:rPr lang="en-US" dirty="0"/>
              <a:t>Networking </a:t>
            </a:r>
            <a:r>
              <a:rPr lang="en-US" dirty="0" smtClean="0"/>
              <a:t>hardware</a:t>
            </a:r>
            <a:endParaRPr lang="en-US" dirty="0"/>
          </a:p>
        </p:txBody>
      </p:sp>
    </p:spTree>
    <p:extLst>
      <p:ext uri="{BB962C8B-B14F-4D97-AF65-F5344CB8AC3E}">
        <p14:creationId xmlns:p14="http://schemas.microsoft.com/office/powerpoint/2010/main" val="7941297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Different networking </a:t>
            </a:r>
            <a:r>
              <a:rPr lang="en-US" dirty="0" smtClean="0"/>
              <a:t>devices/hardware</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r>
              <a:rPr lang="en-US" dirty="0"/>
              <a:t>Different networking devices have different roles to play in a computer network. </a:t>
            </a:r>
            <a:endParaRPr lang="en-US" dirty="0" smtClean="0"/>
          </a:p>
          <a:p>
            <a:r>
              <a:rPr lang="en-US" dirty="0" smtClean="0"/>
              <a:t>These </a:t>
            </a:r>
            <a:r>
              <a:rPr lang="en-US" dirty="0"/>
              <a:t>network devices also work at different segments of a computer network performing different </a:t>
            </a:r>
            <a:r>
              <a:rPr lang="en-US" dirty="0" smtClean="0"/>
              <a:t>works.</a:t>
            </a:r>
          </a:p>
          <a:p>
            <a:r>
              <a:rPr lang="en-US" dirty="0" smtClean="0"/>
              <a:t>We’ll talk </a:t>
            </a:r>
            <a:r>
              <a:rPr lang="en-US" dirty="0"/>
              <a:t>about different networking devices like a switch, router, hub, bridge etc</a:t>
            </a:r>
            <a:r>
              <a:rPr lang="en-US" dirty="0" smtClean="0"/>
              <a:t>.</a:t>
            </a:r>
          </a:p>
          <a:p>
            <a:r>
              <a:rPr lang="en-US" cap="all" dirty="0"/>
              <a:t>C</a:t>
            </a:r>
            <a:r>
              <a:rPr lang="en-US" dirty="0"/>
              <a:t>omputer networking devices are known by different names such </a:t>
            </a:r>
            <a:r>
              <a:rPr lang="en-US" b="1" dirty="0"/>
              <a:t>as networking devices, networking hardware, network equipment</a:t>
            </a:r>
            <a:r>
              <a:rPr lang="en-US" dirty="0"/>
              <a:t> etc. </a:t>
            </a:r>
            <a:endParaRPr lang="en-US" dirty="0" smtClean="0"/>
          </a:p>
          <a:p>
            <a:r>
              <a:rPr lang="en-US" dirty="0" smtClean="0"/>
              <a:t>However</a:t>
            </a:r>
            <a:r>
              <a:rPr lang="en-US" dirty="0"/>
              <a:t>, all of the names mean the same but have got different purposes. </a:t>
            </a:r>
          </a:p>
        </p:txBody>
      </p:sp>
    </p:spTree>
    <p:extLst>
      <p:ext uri="{BB962C8B-B14F-4D97-AF65-F5344CB8AC3E}">
        <p14:creationId xmlns:p14="http://schemas.microsoft.com/office/powerpoint/2010/main" val="23854258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normAutofit fontScale="92500" lnSpcReduction="20000"/>
          </a:bodyPr>
          <a:lstStyle/>
          <a:p>
            <a:r>
              <a:rPr lang="en-US" dirty="0"/>
              <a:t>Network hardware is the individual components of a network system that are responsible for transmitting data and facilitating the operations of a computer </a:t>
            </a:r>
            <a:r>
              <a:rPr lang="en-US" dirty="0" smtClean="0"/>
              <a:t>network</a:t>
            </a:r>
          </a:p>
          <a:p>
            <a:r>
              <a:rPr lang="en-US" dirty="0"/>
              <a:t>Although a network contains many hardware components, there are several basic categories that make up the complete operations of a </a:t>
            </a:r>
            <a:r>
              <a:rPr lang="en-US" b="1" dirty="0"/>
              <a:t>network </a:t>
            </a:r>
            <a:r>
              <a:rPr lang="en-US" b="1" dirty="0" smtClean="0"/>
              <a:t>system</a:t>
            </a:r>
            <a:r>
              <a:rPr lang="en-US" dirty="0" smtClean="0"/>
              <a:t> </a:t>
            </a:r>
          </a:p>
          <a:p>
            <a:r>
              <a:rPr lang="en-US" dirty="0" smtClean="0"/>
              <a:t>Here </a:t>
            </a:r>
            <a:r>
              <a:rPr lang="en-US" dirty="0"/>
              <a:t>are some of the different categories and how they contribute as a whole to the overall functioning of a network system.</a:t>
            </a:r>
          </a:p>
        </p:txBody>
      </p:sp>
    </p:spTree>
    <p:extLst>
      <p:ext uri="{BB962C8B-B14F-4D97-AF65-F5344CB8AC3E}">
        <p14:creationId xmlns:p14="http://schemas.microsoft.com/office/powerpoint/2010/main" val="38861342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Network Hub:</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Network </a:t>
            </a:r>
            <a:r>
              <a:rPr lang="en-US" dirty="0"/>
              <a:t>Hub is a networking device which is used to connect multiple network hosts. </a:t>
            </a:r>
            <a:endParaRPr lang="en-US" dirty="0" smtClean="0"/>
          </a:p>
          <a:p>
            <a:r>
              <a:rPr lang="en-US" dirty="0" smtClean="0"/>
              <a:t>A </a:t>
            </a:r>
            <a:r>
              <a:rPr lang="en-US" dirty="0"/>
              <a:t>network hub is also used to do data transfer. The data is transferred in terms of packets on a computer network. So when a host sends a data packet to a network hub, the hub copies the data packet to all of its ports connected to. </a:t>
            </a:r>
            <a:endParaRPr lang="en-US" dirty="0" smtClean="0"/>
          </a:p>
          <a:p>
            <a:r>
              <a:rPr lang="en-US" dirty="0" smtClean="0"/>
              <a:t>Like </a:t>
            </a:r>
            <a:r>
              <a:rPr lang="en-US" dirty="0"/>
              <a:t>this, all the ports know about the data and the port for whom the packet is intended, claims the packet.</a:t>
            </a:r>
          </a:p>
          <a:p>
            <a:r>
              <a:rPr lang="en-US" dirty="0"/>
              <a:t>However, because of its working mechanism, a hub is not so secure and safe. Moreover, copying the data packets on all the interfaces or ports makes it slower and more congested which led to the use of network switch.</a:t>
            </a:r>
          </a:p>
          <a:p>
            <a:endParaRPr lang="en-US" dirty="0"/>
          </a:p>
        </p:txBody>
      </p:sp>
    </p:spTree>
    <p:extLst>
      <p:ext uri="{BB962C8B-B14F-4D97-AF65-F5344CB8AC3E}">
        <p14:creationId xmlns:p14="http://schemas.microsoft.com/office/powerpoint/2010/main" val="27782635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normAutofit fontScale="92500"/>
          </a:bodyPr>
          <a:lstStyle/>
          <a:p>
            <a:r>
              <a:rPr lang="en-US" dirty="0"/>
              <a:t>There are two types of HUB</a:t>
            </a:r>
          </a:p>
          <a:p>
            <a:r>
              <a:rPr lang="en-US" b="1" dirty="0"/>
              <a:t>Passive HUB:-</a:t>
            </a:r>
            <a:r>
              <a:rPr lang="en-US" dirty="0"/>
              <a:t> It forwards the data signal from all ports except the port on which signal arrived. It doesn’t interfere in data signal.</a:t>
            </a:r>
          </a:p>
          <a:p>
            <a:r>
              <a:rPr lang="en-US" b="1" dirty="0"/>
              <a:t>Active HUB:-</a:t>
            </a:r>
            <a:r>
              <a:rPr lang="en-US" dirty="0"/>
              <a:t> It also forwards the data signal from all ports except the port on which signal arrived. But before forwarding, it improves the quality of data signal by amplifying it. Due to this added features active HUB is also known as </a:t>
            </a:r>
            <a:r>
              <a:rPr lang="en-US" b="1" dirty="0"/>
              <a:t>repeaters</a:t>
            </a:r>
            <a:r>
              <a:rPr lang="en-US" dirty="0"/>
              <a:t>.</a:t>
            </a:r>
          </a:p>
          <a:p>
            <a:endParaRPr lang="en-US" dirty="0"/>
          </a:p>
        </p:txBody>
      </p:sp>
    </p:spTree>
    <p:extLst>
      <p:ext uri="{BB962C8B-B14F-4D97-AF65-F5344CB8AC3E}">
        <p14:creationId xmlns:p14="http://schemas.microsoft.com/office/powerpoint/2010/main" val="20323443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04988"/>
            <a:ext cx="5719763" cy="4062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660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Network Switch</a:t>
            </a:r>
            <a:br>
              <a:rPr lang="en-US" dirty="0" smtClean="0"/>
            </a:br>
            <a:endParaRPr lang="en-US" dirty="0"/>
          </a:p>
        </p:txBody>
      </p:sp>
      <p:sp>
        <p:nvSpPr>
          <p:cNvPr id="3" name="Content Placeholder 2"/>
          <p:cNvSpPr>
            <a:spLocks noGrp="1"/>
          </p:cNvSpPr>
          <p:nvPr>
            <p:ph idx="1"/>
          </p:nvPr>
        </p:nvSpPr>
        <p:spPr/>
        <p:txBody>
          <a:bodyPr/>
          <a:lstStyle/>
          <a:p>
            <a:r>
              <a:rPr lang="en-US" dirty="0" smtClean="0"/>
              <a:t>Like </a:t>
            </a:r>
            <a:r>
              <a:rPr lang="en-US" dirty="0"/>
              <a:t>a hub, a switch also works at the layer of LAN (Local Area Network) but you can say that a switch is more intelligent than a hub. </a:t>
            </a:r>
            <a:endParaRPr lang="en-US" dirty="0" smtClean="0"/>
          </a:p>
          <a:p>
            <a:r>
              <a:rPr lang="en-US" dirty="0" smtClean="0"/>
              <a:t>While </a:t>
            </a:r>
            <a:r>
              <a:rPr lang="en-US" dirty="0"/>
              <a:t>hub just does the work of data forwarding, a switch does ‘filter and forwarding’ which is a more intelligent way of dealing with the data packets.</a:t>
            </a:r>
          </a:p>
          <a:p>
            <a:endParaRPr lang="en-US" dirty="0"/>
          </a:p>
        </p:txBody>
      </p:sp>
    </p:spTree>
    <p:extLst>
      <p:ext uri="{BB962C8B-B14F-4D97-AF65-F5344CB8AC3E}">
        <p14:creationId xmlns:p14="http://schemas.microsoft.com/office/powerpoint/2010/main" val="7999050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 </a:t>
            </a:r>
            <a:endParaRPr lang="en-US" dirty="0"/>
          </a:p>
        </p:txBody>
      </p:sp>
      <p:sp>
        <p:nvSpPr>
          <p:cNvPr id="3" name="Content Placeholder 2"/>
          <p:cNvSpPr>
            <a:spLocks noGrp="1"/>
          </p:cNvSpPr>
          <p:nvPr>
            <p:ph idx="1"/>
          </p:nvPr>
        </p:nvSpPr>
        <p:spPr/>
        <p:txBody>
          <a:bodyPr>
            <a:normAutofit fontScale="92500"/>
          </a:bodyPr>
          <a:lstStyle/>
          <a:p>
            <a:r>
              <a:rPr lang="en-US" dirty="0"/>
              <a:t>So, when a packet is received at one of the interfaces of the switch, it filters the packet and sends only to the interface of the intended receiver. </a:t>
            </a:r>
            <a:endParaRPr lang="en-US" dirty="0" smtClean="0"/>
          </a:p>
          <a:p>
            <a:r>
              <a:rPr lang="en-US" dirty="0" smtClean="0"/>
              <a:t>For </a:t>
            </a:r>
            <a:r>
              <a:rPr lang="en-US" dirty="0"/>
              <a:t>this purpose, a switch also maintains a CAM (Content Addressable Memory) table and has its own system configuration and memory. </a:t>
            </a:r>
            <a:endParaRPr lang="en-US" dirty="0" smtClean="0"/>
          </a:p>
          <a:p>
            <a:r>
              <a:rPr lang="en-US" dirty="0" smtClean="0"/>
              <a:t>CAM </a:t>
            </a:r>
            <a:r>
              <a:rPr lang="en-US" dirty="0"/>
              <a:t>table is also called as forwarding table or forwarding information base (FIB).</a:t>
            </a:r>
          </a:p>
        </p:txBody>
      </p:sp>
    </p:spTree>
    <p:extLst>
      <p:ext uri="{BB962C8B-B14F-4D97-AF65-F5344CB8AC3E}">
        <p14:creationId xmlns:p14="http://schemas.microsoft.com/office/powerpoint/2010/main" val="22656347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8" y="1404938"/>
            <a:ext cx="7743825" cy="43100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70059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Switches support three methods of switching.</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Store </a:t>
            </a:r>
            <a:r>
              <a:rPr lang="en-US" dirty="0"/>
              <a:t>and Forward</a:t>
            </a:r>
          </a:p>
          <a:p>
            <a:r>
              <a:rPr lang="en-US" dirty="0"/>
              <a:t>Cut and Through</a:t>
            </a:r>
          </a:p>
          <a:p>
            <a:r>
              <a:rPr lang="en-US" dirty="0"/>
              <a:t>Fragment Free</a:t>
            </a:r>
          </a:p>
          <a:p>
            <a:endParaRPr lang="en-US" dirty="0"/>
          </a:p>
        </p:txBody>
      </p:sp>
    </p:spTree>
    <p:extLst>
      <p:ext uri="{BB962C8B-B14F-4D97-AF65-F5344CB8AC3E}">
        <p14:creationId xmlns:p14="http://schemas.microsoft.com/office/powerpoint/2010/main" val="38183464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Store and Forward</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This is the basic mode of switching. </a:t>
            </a:r>
          </a:p>
          <a:p>
            <a:r>
              <a:rPr lang="en-US" dirty="0" smtClean="0"/>
              <a:t>In this mode, the Switch buffers entire frame into the memory and run FCS (Frame Check Sequence) to ensure that frame is valid and not corrupted. </a:t>
            </a:r>
          </a:p>
          <a:p>
            <a:r>
              <a:rPr lang="en-US" dirty="0" smtClean="0"/>
              <a:t>A frame less than 64 bytes and higher than 1518 bytes is invalid. Only valid frames are processed and all invalid frames are automatically dropped. </a:t>
            </a:r>
          </a:p>
          <a:p>
            <a:r>
              <a:rPr lang="en-US" dirty="0" smtClean="0"/>
              <a:t>Among these three methods, this method has highest latency. </a:t>
            </a:r>
          </a:p>
          <a:p>
            <a:r>
              <a:rPr lang="en-US" dirty="0" smtClean="0"/>
              <a:t>Latency is the time taken by device in passing frame from it.</a:t>
            </a:r>
          </a:p>
          <a:p>
            <a:endParaRPr lang="en-US" dirty="0"/>
          </a:p>
        </p:txBody>
      </p:sp>
    </p:spTree>
    <p:extLst>
      <p:ext uri="{BB962C8B-B14F-4D97-AF65-F5344CB8AC3E}">
        <p14:creationId xmlns:p14="http://schemas.microsoft.com/office/powerpoint/2010/main" val="31069094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Cut and Through</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This has lowest latency. In this method, Switch only reads first six bytes from frame after the preamble. </a:t>
            </a:r>
          </a:p>
          <a:p>
            <a:r>
              <a:rPr lang="en-US" dirty="0" smtClean="0"/>
              <a:t>These six bytes are the destination address of frame. This is the fastest method of switching. </a:t>
            </a:r>
          </a:p>
          <a:p>
            <a:r>
              <a:rPr lang="en-US" dirty="0" smtClean="0"/>
              <a:t>This method also processes invalid frames. </a:t>
            </a:r>
          </a:p>
          <a:p>
            <a:r>
              <a:rPr lang="en-US" dirty="0" smtClean="0"/>
              <a:t>Only advantage of this method is speed.</a:t>
            </a:r>
          </a:p>
        </p:txBody>
      </p:sp>
    </p:spTree>
    <p:extLst>
      <p:ext uri="{BB962C8B-B14F-4D97-AF65-F5344CB8AC3E}">
        <p14:creationId xmlns:p14="http://schemas.microsoft.com/office/powerpoint/2010/main" val="1846170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Fragment Free</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This is a hybrid version of </a:t>
            </a:r>
            <a:r>
              <a:rPr lang="en-US" b="1" dirty="0" smtClean="0"/>
              <a:t>Store and Forward</a:t>
            </a:r>
            <a:r>
              <a:rPr lang="en-US" dirty="0" smtClean="0"/>
              <a:t> method and </a:t>
            </a:r>
            <a:r>
              <a:rPr lang="en-US" b="1" dirty="0" smtClean="0"/>
              <a:t>Cut and Through</a:t>
            </a:r>
            <a:r>
              <a:rPr lang="en-US" dirty="0" smtClean="0"/>
              <a:t> method.</a:t>
            </a:r>
          </a:p>
          <a:p>
            <a:r>
              <a:rPr lang="en-US" dirty="0" smtClean="0"/>
              <a:t>It takes goodies from both methods and makes a perfect method for switching. </a:t>
            </a:r>
          </a:p>
          <a:p>
            <a:r>
              <a:rPr lang="en-US" dirty="0" smtClean="0"/>
              <a:t>It checks first 64 bytes of frame for error. It processes only those frames that have first 64bytes valid. </a:t>
            </a:r>
          </a:p>
          <a:p>
            <a:r>
              <a:rPr lang="en-US" dirty="0" smtClean="0"/>
              <a:t>Any frame less than 64 bytes is known as runt. </a:t>
            </a:r>
          </a:p>
          <a:p>
            <a:r>
              <a:rPr lang="en-US" dirty="0" smtClean="0"/>
              <a:t>Runt is an invalid frame type. </a:t>
            </a:r>
          </a:p>
          <a:p>
            <a:r>
              <a:rPr lang="en-US" dirty="0" smtClean="0"/>
              <a:t>This method filters runt while maintaining the speed.</a:t>
            </a:r>
          </a:p>
          <a:p>
            <a:endParaRPr lang="en-US" dirty="0" smtClean="0"/>
          </a:p>
          <a:p>
            <a:endParaRPr lang="en-US" dirty="0"/>
          </a:p>
        </p:txBody>
      </p:sp>
    </p:spTree>
    <p:extLst>
      <p:ext uri="{BB962C8B-B14F-4D97-AF65-F5344CB8AC3E}">
        <p14:creationId xmlns:p14="http://schemas.microsoft.com/office/powerpoint/2010/main" val="25519408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Modem</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a:t>
            </a:r>
            <a:r>
              <a:rPr lang="en-US" dirty="0"/>
              <a:t>Modem is somewhat a more interesting network device in our daily life. So if you have noticed around, you get an internet connection through a wire (there are different types of wires) to your house. This wire is used to carry our internet data outside to the internet world.</a:t>
            </a:r>
          </a:p>
          <a:p>
            <a:r>
              <a:rPr lang="en-US" dirty="0"/>
              <a:t>However, our computer generates binary data or digital data in forms of 1s and 0s and on the other hand, a wire carries an analog signal and that’s where a modem comes in.</a:t>
            </a:r>
          </a:p>
          <a:p>
            <a:r>
              <a:rPr lang="en-US" dirty="0"/>
              <a:t>A modem stands for (</a:t>
            </a:r>
            <a:r>
              <a:rPr lang="en-US" b="1" dirty="0" smtClean="0"/>
              <a:t>Mo</a:t>
            </a:r>
            <a:r>
              <a:rPr lang="en-US" dirty="0" smtClean="0"/>
              <a:t>dulator + </a:t>
            </a:r>
            <a:r>
              <a:rPr lang="en-US" b="1" dirty="0" smtClean="0"/>
              <a:t>De</a:t>
            </a:r>
            <a:r>
              <a:rPr lang="en-US" dirty="0" smtClean="0"/>
              <a:t>modulator</a:t>
            </a:r>
            <a:r>
              <a:rPr lang="en-US" dirty="0"/>
              <a:t>). </a:t>
            </a:r>
            <a:endParaRPr lang="en-US" dirty="0" smtClean="0"/>
          </a:p>
          <a:p>
            <a:r>
              <a:rPr lang="en-US" dirty="0" smtClean="0"/>
              <a:t>That </a:t>
            </a:r>
            <a:r>
              <a:rPr lang="en-US" dirty="0"/>
              <a:t>means it modulates and demodulates the signal between the digital data of a computer and the analog signal of a telephone line.</a:t>
            </a:r>
          </a:p>
          <a:p>
            <a:endParaRPr lang="en-US" dirty="0"/>
          </a:p>
        </p:txBody>
      </p:sp>
    </p:spTree>
    <p:extLst>
      <p:ext uri="{BB962C8B-B14F-4D97-AF65-F5344CB8AC3E}">
        <p14:creationId xmlns:p14="http://schemas.microsoft.com/office/powerpoint/2010/main" val="18779598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Network Router</a:t>
            </a:r>
            <a:br>
              <a:rPr lang="en-US" dirty="0" smtClean="0"/>
            </a:br>
            <a:endParaRPr lang="en-US" dirty="0"/>
          </a:p>
        </p:txBody>
      </p:sp>
      <p:sp>
        <p:nvSpPr>
          <p:cNvPr id="3" name="Content Placeholder 2"/>
          <p:cNvSpPr>
            <a:spLocks noGrp="1"/>
          </p:cNvSpPr>
          <p:nvPr>
            <p:ph idx="1"/>
          </p:nvPr>
        </p:nvSpPr>
        <p:spPr/>
        <p:txBody>
          <a:bodyPr/>
          <a:lstStyle/>
          <a:p>
            <a:r>
              <a:rPr lang="en-US" dirty="0" smtClean="0"/>
              <a:t>A </a:t>
            </a:r>
            <a:r>
              <a:rPr lang="en-US" dirty="0"/>
              <a:t>router is a network device which is responsible for routing traffic from one to another network. </a:t>
            </a:r>
            <a:endParaRPr lang="en-US" dirty="0" smtClean="0"/>
          </a:p>
          <a:p>
            <a:r>
              <a:rPr lang="en-US" dirty="0" smtClean="0"/>
              <a:t>These </a:t>
            </a:r>
            <a:r>
              <a:rPr lang="en-US" dirty="0"/>
              <a:t>two networks could be a private company network to a public network. </a:t>
            </a:r>
            <a:endParaRPr lang="en-US" dirty="0" smtClean="0"/>
          </a:p>
          <a:p>
            <a:r>
              <a:rPr lang="en-US" dirty="0" smtClean="0"/>
              <a:t>You </a:t>
            </a:r>
            <a:r>
              <a:rPr lang="en-US" dirty="0"/>
              <a:t>can think of a router as a traffic police who directs different network traffic to different directions.</a:t>
            </a:r>
          </a:p>
          <a:p>
            <a:endParaRPr lang="en-US" dirty="0"/>
          </a:p>
        </p:txBody>
      </p:sp>
    </p:spTree>
    <p:extLst>
      <p:ext uri="{BB962C8B-B14F-4D97-AF65-F5344CB8AC3E}">
        <p14:creationId xmlns:p14="http://schemas.microsoft.com/office/powerpoint/2010/main" val="1413693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976438"/>
            <a:ext cx="4343401" cy="3890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1" y="2133600"/>
            <a:ext cx="3809999"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65378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Basically routers are used :-</a:t>
            </a:r>
            <a:br>
              <a:rPr lang="en-US" dirty="0" smtClean="0"/>
            </a:br>
            <a:endParaRPr lang="en-US" dirty="0"/>
          </a:p>
        </p:txBody>
      </p:sp>
      <p:sp>
        <p:nvSpPr>
          <p:cNvPr id="3" name="Content Placeholder 2"/>
          <p:cNvSpPr>
            <a:spLocks noGrp="1"/>
          </p:cNvSpPr>
          <p:nvPr>
            <p:ph idx="1"/>
          </p:nvPr>
        </p:nvSpPr>
        <p:spPr/>
        <p:txBody>
          <a:bodyPr>
            <a:normAutofit fontScale="47500" lnSpcReduction="20000"/>
          </a:bodyPr>
          <a:lstStyle/>
          <a:p>
            <a:pPr>
              <a:buFont typeface="Wingdings" panose="05000000000000000000" pitchFamily="2" charset="2"/>
              <a:buChar char="q"/>
            </a:pPr>
            <a:r>
              <a:rPr lang="en-US" sz="4800" dirty="0" smtClean="0"/>
              <a:t>To </a:t>
            </a:r>
            <a:r>
              <a:rPr lang="en-US" sz="4800" dirty="0"/>
              <a:t>connect different network segments.</a:t>
            </a:r>
          </a:p>
          <a:p>
            <a:pPr>
              <a:buFont typeface="Wingdings" panose="05000000000000000000" pitchFamily="2" charset="2"/>
              <a:buChar char="q"/>
            </a:pPr>
            <a:r>
              <a:rPr lang="en-US" sz="4800" dirty="0"/>
              <a:t>To connect different network protocols such as IP and IPX.</a:t>
            </a:r>
          </a:p>
          <a:p>
            <a:pPr>
              <a:buFont typeface="Wingdings" panose="05000000000000000000" pitchFamily="2" charset="2"/>
              <a:buChar char="q"/>
            </a:pPr>
            <a:r>
              <a:rPr lang="en-US" sz="4800" dirty="0"/>
              <a:t>To connect several smaller networks into a large network (known as internetwork)</a:t>
            </a:r>
          </a:p>
          <a:p>
            <a:pPr>
              <a:buFont typeface="Wingdings" panose="05000000000000000000" pitchFamily="2" charset="2"/>
              <a:buChar char="q"/>
            </a:pPr>
            <a:r>
              <a:rPr lang="en-US" sz="4800" dirty="0"/>
              <a:t>To break a large network in smaller networks (Known as subnet usually created to improve the performance or manageability)</a:t>
            </a:r>
          </a:p>
          <a:p>
            <a:pPr>
              <a:buFont typeface="Wingdings" panose="05000000000000000000" pitchFamily="2" charset="2"/>
              <a:buChar char="q"/>
            </a:pPr>
            <a:r>
              <a:rPr lang="en-US" sz="4800" dirty="0"/>
              <a:t>To connect two different media types such as UTP and fiber optical.</a:t>
            </a:r>
          </a:p>
          <a:p>
            <a:pPr>
              <a:buFont typeface="Wingdings" panose="05000000000000000000" pitchFamily="2" charset="2"/>
              <a:buChar char="q"/>
            </a:pPr>
            <a:r>
              <a:rPr lang="en-US" sz="4800" dirty="0"/>
              <a:t>To connect two different network architectures such as token ring and Ethernet.</a:t>
            </a:r>
          </a:p>
          <a:p>
            <a:pPr>
              <a:buFont typeface="Wingdings" panose="05000000000000000000" pitchFamily="2" charset="2"/>
              <a:buChar char="q"/>
            </a:pPr>
            <a:r>
              <a:rPr lang="en-US" sz="4800" dirty="0"/>
              <a:t>To connect LAN network with Telco company’s office (Known as DTE device).</a:t>
            </a:r>
          </a:p>
          <a:p>
            <a:pPr>
              <a:buFont typeface="Wingdings" panose="05000000000000000000" pitchFamily="2" charset="2"/>
              <a:buChar char="q"/>
            </a:pPr>
            <a:r>
              <a:rPr lang="en-US" sz="4800" dirty="0"/>
              <a:t>To access DSL services (known as DSL Router).</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35461578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Bridge</a:t>
            </a:r>
            <a:br>
              <a:rPr lang="en-US" dirty="0" smtClean="0"/>
            </a:br>
            <a:endParaRPr lang="en-US" dirty="0"/>
          </a:p>
        </p:txBody>
      </p:sp>
      <p:sp>
        <p:nvSpPr>
          <p:cNvPr id="3" name="Content Placeholder 2"/>
          <p:cNvSpPr>
            <a:spLocks noGrp="1"/>
          </p:cNvSpPr>
          <p:nvPr>
            <p:ph idx="1"/>
          </p:nvPr>
        </p:nvSpPr>
        <p:spPr/>
        <p:txBody>
          <a:bodyPr/>
          <a:lstStyle/>
          <a:p>
            <a:r>
              <a:rPr lang="en-US" dirty="0" smtClean="0"/>
              <a:t>If </a:t>
            </a:r>
            <a:r>
              <a:rPr lang="en-US" dirty="0"/>
              <a:t>a router connects two different types of networks, then a bridge connects two </a:t>
            </a:r>
            <a:r>
              <a:rPr lang="en-US" dirty="0" smtClean="0"/>
              <a:t>subnet-works </a:t>
            </a:r>
            <a:r>
              <a:rPr lang="en-US" dirty="0"/>
              <a:t>as a part of the same network. </a:t>
            </a:r>
            <a:endParaRPr lang="en-US" dirty="0" smtClean="0"/>
          </a:p>
          <a:p>
            <a:r>
              <a:rPr lang="en-US" dirty="0" smtClean="0"/>
              <a:t>You </a:t>
            </a:r>
            <a:r>
              <a:rPr lang="en-US" dirty="0"/>
              <a:t>can think of two different labs or two different floors connected by a bridge.</a:t>
            </a:r>
          </a:p>
          <a:p>
            <a:endParaRPr lang="en-US" dirty="0"/>
          </a:p>
        </p:txBody>
      </p:sp>
    </p:spTree>
    <p:extLst>
      <p:ext uri="{BB962C8B-B14F-4D97-AF65-F5344CB8AC3E}">
        <p14:creationId xmlns:p14="http://schemas.microsoft.com/office/powerpoint/2010/main" val="25867367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38338"/>
            <a:ext cx="7010400" cy="4233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32873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bridges</a:t>
            </a:r>
            <a:br>
              <a:rPr lang="en-US" dirty="0" smtClean="0"/>
            </a:br>
            <a:endParaRPr lang="en-US" dirty="0"/>
          </a:p>
        </p:txBody>
      </p:sp>
      <p:sp>
        <p:nvSpPr>
          <p:cNvPr id="3" name="Content Placeholder 2"/>
          <p:cNvSpPr>
            <a:spLocks noGrp="1"/>
          </p:cNvSpPr>
          <p:nvPr>
            <p:ph idx="1"/>
          </p:nvPr>
        </p:nvSpPr>
        <p:spPr/>
        <p:txBody>
          <a:bodyPr/>
          <a:lstStyle/>
          <a:p>
            <a:r>
              <a:rPr lang="en-US" b="1" dirty="0" smtClean="0"/>
              <a:t>Local </a:t>
            </a:r>
            <a:r>
              <a:rPr lang="en-US" b="1" dirty="0"/>
              <a:t>Bridge :-</a:t>
            </a:r>
            <a:r>
              <a:rPr lang="en-US" dirty="0"/>
              <a:t> This bridge connects two LAN segments directly. In Ethernet Implementation it is known as Transparent bridge. In Token Ring network it is called Source-Routed bridge.</a:t>
            </a:r>
          </a:p>
          <a:p>
            <a:r>
              <a:rPr lang="en-US" dirty="0" smtClean="0"/>
              <a:t/>
            </a:r>
            <a:br>
              <a:rPr lang="en-US" dirty="0" smtClean="0"/>
            </a:b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810000"/>
            <a:ext cx="7772400" cy="2285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82687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b="1" dirty="0"/>
              <a:t>Remote Bridge :-</a:t>
            </a:r>
            <a:r>
              <a:rPr lang="en-US" dirty="0"/>
              <a:t> This bridge connects with </a:t>
            </a:r>
            <a:r>
              <a:rPr lang="en-US" dirty="0" smtClean="0"/>
              <a:t>another bridge </a:t>
            </a:r>
            <a:r>
              <a:rPr lang="en-US" dirty="0"/>
              <a:t>over the WAN link</a:t>
            </a:r>
            <a:r>
              <a:rPr lang="en-US" dirty="0" smtClean="0"/>
              <a:t>.</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819400"/>
            <a:ext cx="7391400"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41438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b="1" dirty="0"/>
              <a:t>Wireless Bridge :-</a:t>
            </a:r>
            <a:r>
              <a:rPr lang="en-US" dirty="0"/>
              <a:t> This bridge connects with another </a:t>
            </a:r>
            <a:r>
              <a:rPr lang="en-US" dirty="0" smtClean="0"/>
              <a:t>bridge </a:t>
            </a:r>
            <a:r>
              <a:rPr lang="en-US" dirty="0"/>
              <a:t>without wiring between them</a:t>
            </a:r>
            <a:r>
              <a:rPr lang="en-US" dirty="0" smtClean="0"/>
              <a:t>.</a:t>
            </a:r>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236" y="3048000"/>
            <a:ext cx="7239000" cy="2162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94254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Repeater</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a:t>
            </a:r>
            <a:r>
              <a:rPr lang="en-US" dirty="0"/>
              <a:t>repeater is an electronic device that amplifies the signal it receives. </a:t>
            </a:r>
            <a:endParaRPr lang="en-US" dirty="0" smtClean="0"/>
          </a:p>
          <a:p>
            <a:r>
              <a:rPr lang="en-US" dirty="0" smtClean="0"/>
              <a:t>In </a:t>
            </a:r>
            <a:r>
              <a:rPr lang="en-US" dirty="0"/>
              <a:t>other terms, you can think of repeater as a device which receives a signal and retransmits it at a higher level or higher power so that the signal can cover longer distances.</a:t>
            </a:r>
          </a:p>
          <a:p>
            <a:r>
              <a:rPr lang="en-US" dirty="0"/>
              <a:t>For example, inside a college campus, the hostels might be far away from the main college where the ISP line comes </a:t>
            </a:r>
            <a:r>
              <a:rPr lang="en-US" dirty="0" smtClean="0"/>
              <a:t>in.</a:t>
            </a:r>
          </a:p>
          <a:p>
            <a:r>
              <a:rPr lang="en-US" dirty="0" smtClean="0"/>
              <a:t>If </a:t>
            </a:r>
            <a:r>
              <a:rPr lang="en-US" dirty="0"/>
              <a:t>the college authority wants to pull a wire in between the hostels and main campus, they will have to use repeaters if the distance is much because different types of cables have limitations in terms of the distances they can carry the data for.</a:t>
            </a:r>
          </a:p>
          <a:p>
            <a:endParaRPr lang="en-US" dirty="0"/>
          </a:p>
        </p:txBody>
      </p:sp>
    </p:spTree>
    <p:extLst>
      <p:ext uri="{BB962C8B-B14F-4D97-AF65-F5344CB8AC3E}">
        <p14:creationId xmlns:p14="http://schemas.microsoft.com/office/powerpoint/2010/main" val="25613700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Gateway</a:t>
            </a:r>
            <a:endParaRPr lang="en-GB" dirty="0"/>
          </a:p>
        </p:txBody>
      </p:sp>
      <p:sp>
        <p:nvSpPr>
          <p:cNvPr id="3" name="Content Placeholder 2"/>
          <p:cNvSpPr>
            <a:spLocks noGrp="1"/>
          </p:cNvSpPr>
          <p:nvPr>
            <p:ph idx="1"/>
          </p:nvPr>
        </p:nvSpPr>
        <p:spPr/>
        <p:txBody>
          <a:bodyPr>
            <a:normAutofit/>
          </a:bodyPr>
          <a:lstStyle/>
          <a:p>
            <a:r>
              <a:rPr lang="en-GB" dirty="0" smtClean="0"/>
              <a:t>The </a:t>
            </a:r>
            <a:r>
              <a:rPr lang="en-GB" dirty="0"/>
              <a:t>general name for a </a:t>
            </a:r>
            <a:r>
              <a:rPr lang="en-GB" dirty="0" smtClean="0"/>
              <a:t>machine that </a:t>
            </a:r>
            <a:r>
              <a:rPr lang="en-GB" dirty="0"/>
              <a:t>makes a connection between </a:t>
            </a:r>
            <a:r>
              <a:rPr lang="en-GB"/>
              <a:t>two </a:t>
            </a:r>
            <a:r>
              <a:rPr lang="en-GB" smtClean="0"/>
              <a:t>or more </a:t>
            </a:r>
            <a:r>
              <a:rPr lang="en-GB" dirty="0"/>
              <a:t>networks and </a:t>
            </a:r>
            <a:r>
              <a:rPr lang="en-GB" dirty="0" smtClean="0"/>
              <a:t>provides the </a:t>
            </a:r>
            <a:r>
              <a:rPr lang="en-GB" dirty="0"/>
              <a:t>necessary translation, both in terms of </a:t>
            </a:r>
            <a:r>
              <a:rPr lang="en-GB" dirty="0" smtClean="0"/>
              <a:t>hardware and </a:t>
            </a:r>
            <a:r>
              <a:rPr lang="en-GB" dirty="0"/>
              <a:t>software, is </a:t>
            </a:r>
            <a:r>
              <a:rPr lang="en-GB" dirty="0" smtClean="0"/>
              <a:t>a gateway</a:t>
            </a:r>
            <a:r>
              <a:rPr lang="en-GB" dirty="0"/>
              <a:t>. </a:t>
            </a:r>
            <a:endParaRPr lang="en-GB" dirty="0" smtClean="0"/>
          </a:p>
          <a:p>
            <a:r>
              <a:rPr lang="en-GB" dirty="0" smtClean="0"/>
              <a:t>Gateways </a:t>
            </a:r>
            <a:r>
              <a:rPr lang="en-GB" dirty="0"/>
              <a:t>are distinguished by the layer at </a:t>
            </a:r>
            <a:r>
              <a:rPr lang="en-GB" dirty="0" smtClean="0"/>
              <a:t>which they </a:t>
            </a:r>
            <a:r>
              <a:rPr lang="en-GB" dirty="0"/>
              <a:t>operate in the protocol hierarchy.</a:t>
            </a:r>
          </a:p>
        </p:txBody>
      </p:sp>
    </p:spTree>
    <p:extLst>
      <p:ext uri="{BB962C8B-B14F-4D97-AF65-F5344CB8AC3E}">
        <p14:creationId xmlns:p14="http://schemas.microsoft.com/office/powerpoint/2010/main" val="2407219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Network Interface </a:t>
            </a:r>
            <a:r>
              <a:rPr lang="en-US" b="1" dirty="0" smtClean="0"/>
              <a:t>Card</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Network </a:t>
            </a:r>
            <a:r>
              <a:rPr lang="en-US" dirty="0"/>
              <a:t>interface cards are used to connect each computer to the network so they can communicate with the network router to receive information packets. </a:t>
            </a:r>
            <a:endParaRPr lang="en-US" dirty="0" smtClean="0"/>
          </a:p>
          <a:p>
            <a:r>
              <a:rPr lang="en-US" dirty="0" smtClean="0"/>
              <a:t>The </a:t>
            </a:r>
            <a:r>
              <a:rPr lang="en-US" dirty="0"/>
              <a:t>interface cards determine the infrastructure of a local area network (LAN) and allow all of the computers to connect to the network. </a:t>
            </a:r>
            <a:endParaRPr lang="en-US" dirty="0" smtClean="0"/>
          </a:p>
          <a:p>
            <a:r>
              <a:rPr lang="en-US" dirty="0" smtClean="0"/>
              <a:t>There </a:t>
            </a:r>
            <a:r>
              <a:rPr lang="en-US" dirty="0"/>
              <a:t>are many different types of network interface cards that perform different functions within the network which include Ethernet cards and wireless network interface cards</a:t>
            </a:r>
          </a:p>
        </p:txBody>
      </p:sp>
    </p:spTree>
    <p:extLst>
      <p:ext uri="{BB962C8B-B14F-4D97-AF65-F5344CB8AC3E}">
        <p14:creationId xmlns:p14="http://schemas.microsoft.com/office/powerpoint/2010/main" val="33001134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Network Cables</a:t>
            </a:r>
            <a:br>
              <a:rPr lang="en-US" b="1" dirty="0"/>
            </a:br>
            <a:endParaRPr lang="en-US" dirty="0"/>
          </a:p>
        </p:txBody>
      </p:sp>
      <p:sp>
        <p:nvSpPr>
          <p:cNvPr id="3" name="Content Placeholder 2"/>
          <p:cNvSpPr>
            <a:spLocks noGrp="1"/>
          </p:cNvSpPr>
          <p:nvPr>
            <p:ph idx="1"/>
          </p:nvPr>
        </p:nvSpPr>
        <p:spPr/>
        <p:txBody>
          <a:bodyPr/>
          <a:lstStyle/>
          <a:p>
            <a:r>
              <a:rPr lang="en-US" dirty="0" smtClean="0"/>
              <a:t>Network </a:t>
            </a:r>
            <a:r>
              <a:rPr lang="en-US" dirty="0"/>
              <a:t>cables are the transmission media to transfer data from one device to another. </a:t>
            </a:r>
            <a:endParaRPr lang="en-US" dirty="0" smtClean="0"/>
          </a:p>
          <a:p>
            <a:r>
              <a:rPr lang="en-US" dirty="0" smtClean="0"/>
              <a:t>A </a:t>
            </a:r>
            <a:r>
              <a:rPr lang="en-US" dirty="0"/>
              <a:t>commonly used network cable is </a:t>
            </a:r>
            <a:r>
              <a:rPr lang="en-US"/>
              <a:t>category </a:t>
            </a:r>
            <a:r>
              <a:rPr lang="en-US" smtClean="0"/>
              <a:t>6cable </a:t>
            </a:r>
            <a:r>
              <a:rPr lang="en-US" dirty="0"/>
              <a:t>with RJ – 45 connector, as shown in the image below</a:t>
            </a:r>
            <a:r>
              <a:rPr lang="en-US" dirty="0" smtClean="0"/>
              <a:t>:</a:t>
            </a:r>
          </a:p>
          <a:p>
            <a:endParaRPr lang="en-US" dirty="0"/>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3886200"/>
            <a:ext cx="3674485"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584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352800"/>
            <a:ext cx="8229600" cy="1143000"/>
          </a:xfrm>
        </p:spPr>
        <p:txBody>
          <a:bodyPr/>
          <a:lstStyle/>
          <a:p>
            <a:r>
              <a:rPr lang="en-GB" dirty="0" smtClean="0">
                <a:latin typeface="Forte" pitchFamily="66" charset="0"/>
              </a:rPr>
              <a:t>To be continued..</a:t>
            </a:r>
            <a:endParaRPr lang="en-GB" dirty="0">
              <a:latin typeface="Forte" pitchFamily="66" charset="0"/>
            </a:endParaRPr>
          </a:p>
        </p:txBody>
      </p:sp>
    </p:spTree>
    <p:extLst>
      <p:ext uri="{BB962C8B-B14F-4D97-AF65-F5344CB8AC3E}">
        <p14:creationId xmlns:p14="http://schemas.microsoft.com/office/powerpoint/2010/main" val="11635683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9400" y="2438400"/>
            <a:ext cx="3428999" cy="3386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19688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669</TotalTime>
  <Words>1157</Words>
  <Application>Microsoft Office PowerPoint</Application>
  <PresentationFormat>On-screen Show (4:3)</PresentationFormat>
  <Paragraphs>103</Paragraphs>
  <Slides>28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Forte</vt:lpstr>
      <vt:lpstr>Wingdings</vt:lpstr>
      <vt:lpstr>Office Theme</vt:lpstr>
      <vt:lpstr>CON-225</vt:lpstr>
      <vt:lpstr>Different networking devices/hardware </vt:lpstr>
      <vt:lpstr>Cont’d</vt:lpstr>
      <vt:lpstr>Network Hub: </vt:lpstr>
      <vt:lpstr>Cont’d</vt:lpstr>
      <vt:lpstr>Cont’d</vt:lpstr>
      <vt:lpstr>Network Switch </vt:lpstr>
      <vt:lpstr>Cont’d </vt:lpstr>
      <vt:lpstr>Cont’d</vt:lpstr>
      <vt:lpstr>Switches support three methods of switching. </vt:lpstr>
      <vt:lpstr>Store and Forward </vt:lpstr>
      <vt:lpstr>Cut and Through </vt:lpstr>
      <vt:lpstr>Fragment Free </vt:lpstr>
      <vt:lpstr>Modem </vt:lpstr>
      <vt:lpstr>Network Router </vt:lpstr>
      <vt:lpstr>Cont’d</vt:lpstr>
      <vt:lpstr>Basically routers are used :- </vt:lpstr>
      <vt:lpstr>Bridge </vt:lpstr>
      <vt:lpstr>Cont’d</vt:lpstr>
      <vt:lpstr>Types of bridges </vt:lpstr>
      <vt:lpstr>Cont’d</vt:lpstr>
      <vt:lpstr>Cont’d</vt:lpstr>
      <vt:lpstr>Repeater </vt:lpstr>
      <vt:lpstr>Gateway</vt:lpstr>
      <vt:lpstr>Network Interface Card</vt:lpstr>
      <vt:lpstr>Network Cables </vt:lpstr>
      <vt:lpstr>To be continued..</vt:lpstr>
      <vt:lpstr>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Networking Devices</dc:title>
  <dc:creator>kho</dc:creator>
  <cp:lastModifiedBy>Gerko</cp:lastModifiedBy>
  <cp:revision>43</cp:revision>
  <dcterms:created xsi:type="dcterms:W3CDTF">2018-04-19T15:02:32Z</dcterms:created>
  <dcterms:modified xsi:type="dcterms:W3CDTF">2026-05-25T09:33:00Z</dcterms:modified>
</cp:coreProperties>
</file>