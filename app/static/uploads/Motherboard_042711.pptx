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5" r:id="rId5"/>
    <p:sldId id="259" r:id="rId6"/>
    <p:sldId id="307" r:id="rId7"/>
    <p:sldId id="286" r:id="rId8"/>
    <p:sldId id="287" r:id="rId9"/>
    <p:sldId id="288" r:id="rId10"/>
    <p:sldId id="289" r:id="rId11"/>
    <p:sldId id="308" r:id="rId12"/>
    <p:sldId id="290" r:id="rId13"/>
    <p:sldId id="291" r:id="rId14"/>
    <p:sldId id="292" r:id="rId15"/>
    <p:sldId id="293" r:id="rId16"/>
    <p:sldId id="294" r:id="rId17"/>
    <p:sldId id="295" r:id="rId18"/>
    <p:sldId id="296" r:id="rId19"/>
    <p:sldId id="260" r:id="rId20"/>
    <p:sldId id="261" r:id="rId21"/>
    <p:sldId id="262" r:id="rId22"/>
    <p:sldId id="263" r:id="rId23"/>
    <p:sldId id="264" r:id="rId24"/>
    <p:sldId id="265" r:id="rId25"/>
    <p:sldId id="266" r:id="rId26"/>
    <p:sldId id="267" r:id="rId27"/>
    <p:sldId id="268" r:id="rId28"/>
    <p:sldId id="269" r:id="rId29"/>
    <p:sldId id="30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97" r:id="rId46"/>
    <p:sldId id="298" r:id="rId47"/>
    <p:sldId id="299" r:id="rId48"/>
    <p:sldId id="300" r:id="rId49"/>
    <p:sldId id="301" r:id="rId50"/>
    <p:sldId id="302" r:id="rId51"/>
    <p:sldId id="303" r:id="rId52"/>
    <p:sldId id="304" r:id="rId53"/>
    <p:sldId id="305" r:id="rId54"/>
    <p:sldId id="30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320"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slide" Target="slides/slide53.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presProps" Target="presProp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7336AAE-F02A-438F-817F-18B4CBA689DB}" type="datetimeFigureOut">
              <a:rPr lang="en-GB" smtClean="0"/>
              <a:t>16/06/2025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319603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7336AAE-F02A-438F-817F-18B4CBA689DB}" type="datetimeFigureOut">
              <a:rPr lang="en-GB" smtClean="0"/>
              <a:t>16/06/2025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611755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336AAE-F02A-438F-817F-18B4CBA689DB}" type="datetimeFigureOut">
              <a:rPr lang="en-GB" smtClean="0"/>
              <a:t>16/06/2025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228554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27336AAE-F02A-438F-817F-18B4CBA689DB}" type="datetimeFigureOut">
              <a:rPr lang="en-GB" smtClean="0"/>
              <a:t>16/06/2025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47450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7336AAE-F02A-438F-817F-18B4CBA689DB}" type="datetimeFigureOut">
              <a:rPr lang="en-GB" smtClean="0"/>
              <a:t>16/06/2025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2718581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7336AAE-F02A-438F-817F-18B4CBA689DB}" type="datetimeFigureOut">
              <a:rPr lang="en-GB" smtClean="0"/>
              <a:t>16/06/2025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53527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336AAE-F02A-438F-817F-18B4CBA689DB}" type="datetimeFigureOut">
              <a:rPr lang="en-GB" smtClean="0"/>
              <a:t>16/06/2025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323547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336AAE-F02A-438F-817F-18B4CBA689DB}" type="datetimeFigureOut">
              <a:rPr lang="en-GB" smtClean="0"/>
              <a:t>16/06/2025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965132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336AAE-F02A-438F-817F-18B4CBA689DB}" type="datetimeFigureOut">
              <a:rPr lang="en-GB" smtClean="0"/>
              <a:t>16/06/2025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180239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7336AAE-F02A-438F-817F-18B4CBA689DB}" type="datetimeFigureOut">
              <a:rPr lang="en-GB" smtClean="0"/>
              <a:t>16/06/2025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3416661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7336AAE-F02A-438F-817F-18B4CBA689DB}" type="datetimeFigureOut">
              <a:rPr lang="en-GB" smtClean="0"/>
              <a:t>16/06/2025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EB39D9-4FC5-453F-8E55-681A1959B6FA}" type="slidenum">
              <a:rPr lang="en-GB" smtClean="0"/>
              <a:t>‹#›</a:t>
            </a:fld>
            <a:endParaRPr lang="en-GB"/>
          </a:p>
        </p:txBody>
      </p:sp>
    </p:spTree>
    <p:extLst>
      <p:ext uri="{BB962C8B-B14F-4D97-AF65-F5344CB8AC3E}">
        <p14:creationId xmlns:p14="http://schemas.microsoft.com/office/powerpoint/2010/main" val="894867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336AAE-F02A-438F-817F-18B4CBA689DB}" type="datetimeFigureOut">
              <a:rPr lang="en-GB" smtClean="0"/>
              <a:t>16/06/2025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B39D9-4FC5-453F-8E55-681A1959B6FA}" type="slidenum">
              <a:rPr lang="en-GB" smtClean="0"/>
              <a:t>‹#›</a:t>
            </a:fld>
            <a:endParaRPr lang="en-GB"/>
          </a:p>
        </p:txBody>
      </p:sp>
    </p:spTree>
    <p:extLst>
      <p:ext uri="{BB962C8B-B14F-4D97-AF65-F5344CB8AC3E}">
        <p14:creationId xmlns:p14="http://schemas.microsoft.com/office/powerpoint/2010/main" val="2868341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Motherboard </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978734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A motherboard is the most complicated component in a computer. When you put together a computer from parts, generally you start with deciding on which processor and motherboard you will use.</a:t>
            </a:r>
          </a:p>
          <a:p>
            <a:pPr algn="just"/>
            <a:r>
              <a:rPr lang="en-US" dirty="0">
                <a:latin typeface="Times New Roman" pitchFamily="18" charset="0"/>
                <a:cs typeface="Times New Roman" pitchFamily="18" charset="0"/>
              </a:rPr>
              <a:t> Everything else follows those decisions.</a:t>
            </a:r>
            <a:r>
              <a:rPr lang="en-US" dirty="0"/>
              <a:t> </a:t>
            </a:r>
            <a:br>
              <a:rPr lang="en-US" dirty="0"/>
            </a:br>
            <a:endParaRPr lang="en-GB" dirty="0"/>
          </a:p>
        </p:txBody>
      </p:sp>
    </p:spTree>
    <p:extLst>
      <p:ext uri="{BB962C8B-B14F-4D97-AF65-F5344CB8AC3E}">
        <p14:creationId xmlns:p14="http://schemas.microsoft.com/office/powerpoint/2010/main" val="2883630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If you were shopping for a motherboard for a gaming system, you’d have to compare many features among numerous boards.</a:t>
            </a:r>
          </a:p>
        </p:txBody>
      </p:sp>
    </p:spTree>
    <p:extLst>
      <p:ext uri="{BB962C8B-B14F-4D97-AF65-F5344CB8AC3E}">
        <p14:creationId xmlns:p14="http://schemas.microsoft.com/office/powerpoint/2010/main" val="2618870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 of motherboard </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Generally, you’d need to pay attention to form factor, processor sockets, chipsets, buses and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number of bus slots, and other connectors, slots, and ports.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a:p>
            <a:endParaRPr lang="en-GB" dirty="0"/>
          </a:p>
        </p:txBody>
      </p:sp>
    </p:spTree>
    <p:extLst>
      <p:ext uri="{BB962C8B-B14F-4D97-AF65-F5344CB8AC3E}">
        <p14:creationId xmlns:p14="http://schemas.microsoft.com/office/powerpoint/2010/main" val="3434642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Motherboard form factor</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When you put together a new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or replace components in an existing system, the motherboard, power supply, and case must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 be compatible. </a:t>
            </a:r>
          </a:p>
          <a:p>
            <a:pPr algn="just"/>
            <a:r>
              <a:rPr lang="en-US" dirty="0">
                <a:latin typeface="Times New Roman" panose="02020603050405020304" pitchFamily="18" charset="0"/>
                <a:cs typeface="Times New Roman" panose="02020603050405020304" pitchFamily="18" charset="0"/>
              </a:rPr>
              <a:t>The standards that describe the size, shape, and major features of these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components so that they work together are called </a:t>
            </a:r>
            <a:r>
              <a:rPr lang="en-US" b="1" dirty="0">
                <a:latin typeface="Times New Roman" panose="02020603050405020304" pitchFamily="18" charset="0"/>
                <a:cs typeface="Times New Roman" panose="02020603050405020304" pitchFamily="18" charset="0"/>
              </a:rPr>
              <a:t>form factors</a:t>
            </a:r>
            <a:r>
              <a:rPr lang="en-US" dirty="0">
                <a:latin typeface="Times New Roman" panose="02020603050405020304" pitchFamily="18" charset="0"/>
                <a:cs typeface="Times New Roman" panose="02020603050405020304" pitchFamily="18" charset="0"/>
              </a:rPr>
              <a:t>. </a:t>
            </a:r>
            <a:br>
              <a:rPr lang="en-US" dirty="0"/>
            </a:br>
            <a:endParaRPr lang="en-US" dirty="0">
              <a:latin typeface="Times New Roman" pitchFamily="18" charset="0"/>
              <a:cs typeface="Times New Roman" pitchFamily="18" charset="0"/>
            </a:endParaRPr>
          </a:p>
          <a:p>
            <a:pPr algn="just"/>
            <a:br>
              <a:rPr lang="en-US" dirty="0"/>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314689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motherboard form factor determines the size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of the board and its features that make it compatible with power supplies, cases,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processors, and expansion cards. </a:t>
            </a:r>
          </a:p>
          <a:p>
            <a:pPr algn="just"/>
            <a:r>
              <a:rPr lang="en-US" dirty="0">
                <a:latin typeface="Times New Roman" pitchFamily="18" charset="0"/>
                <a:cs typeface="Times New Roman" pitchFamily="18" charset="0"/>
              </a:rPr>
              <a:t>The  size is also referred to as form factor. Form factor shows the type of </a:t>
            </a:r>
            <a:r>
              <a:rPr lang="en-US" dirty="0" err="1">
                <a:latin typeface="Times New Roman" pitchFamily="18" charset="0"/>
                <a:cs typeface="Times New Roman" pitchFamily="18" charset="0"/>
              </a:rPr>
              <a:t>board,power</a:t>
            </a:r>
            <a:r>
              <a:rPr lang="en-US" dirty="0">
                <a:latin typeface="Times New Roman" pitchFamily="18" charset="0"/>
                <a:cs typeface="Times New Roman" pitchFamily="18" charset="0"/>
              </a:rPr>
              <a:t> supply, number of ports</a:t>
            </a:r>
            <a:endParaRPr lang="en-GB" dirty="0"/>
          </a:p>
        </p:txBody>
      </p:sp>
    </p:spTree>
    <p:extLst>
      <p:ext uri="{BB962C8B-B14F-4D97-AF65-F5344CB8AC3E}">
        <p14:creationId xmlns:p14="http://schemas.microsoft.com/office/powerpoint/2010/main" val="1231090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When you are deciding which form factor to use, the motherboard drives the decision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because it determines what the system can do. </a:t>
            </a:r>
          </a:p>
          <a:p>
            <a:pPr algn="just"/>
            <a:r>
              <a:rPr lang="en-US" dirty="0">
                <a:latin typeface="Times New Roman" panose="02020603050405020304" pitchFamily="18" charset="0"/>
                <a:cs typeface="Times New Roman" panose="02020603050405020304" pitchFamily="18" charset="0"/>
              </a:rPr>
              <a:t>After you’ve decided to use a certain form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factor for the motherboard, you must use the same form factor for the case and power supply. </a:t>
            </a:r>
          </a:p>
          <a:p>
            <a:pPr algn="just"/>
            <a:r>
              <a:rPr lang="en-US" dirty="0">
                <a:latin typeface="Times New Roman" panose="02020603050405020304" pitchFamily="18" charset="0"/>
                <a:cs typeface="Times New Roman" panose="02020603050405020304" pitchFamily="18" charset="0"/>
              </a:rPr>
              <a:t>Using a matching form factor for the motherboard, power supply, and case assures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you that: </a:t>
            </a:r>
            <a:br>
              <a:rPr lang="en-US" dirty="0"/>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352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The motherboard fits in the case.</a:t>
            </a:r>
          </a:p>
          <a:p>
            <a:pPr algn="just"/>
            <a:r>
              <a:rPr lang="en-US" dirty="0">
                <a:latin typeface="Times New Roman" panose="02020603050405020304" pitchFamily="18" charset="0"/>
                <a:cs typeface="Times New Roman" panose="02020603050405020304" pitchFamily="18" charset="0"/>
              </a:rPr>
              <a:t>The power supply cords to the motherboard provide the correct voltage, and the connectors match the connections on the board.</a:t>
            </a:r>
          </a:p>
          <a:p>
            <a:pPr algn="just"/>
            <a:r>
              <a:rPr lang="en-US" dirty="0">
                <a:latin typeface="Times New Roman" panose="02020603050405020304" pitchFamily="18" charset="0"/>
                <a:cs typeface="Times New Roman" panose="02020603050405020304" pitchFamily="18" charset="0"/>
              </a:rPr>
              <a:t>The holes in the motherboard align with the holes in the case for anchoring the board to the case.</a:t>
            </a:r>
          </a:p>
          <a:p>
            <a:pPr algn="just"/>
            <a:r>
              <a:rPr lang="en-US" dirty="0">
                <a:latin typeface="Times New Roman" panose="02020603050405020304" pitchFamily="18" charset="0"/>
                <a:cs typeface="Times New Roman" panose="02020603050405020304" pitchFamily="18" charset="0"/>
              </a:rPr>
              <a:t>Holes in the case align with ports coming off the motherboard.</a:t>
            </a:r>
          </a:p>
          <a:p>
            <a:pPr algn="just"/>
            <a:r>
              <a:rPr lang="en-US" dirty="0">
                <a:latin typeface="Times New Roman" panose="02020603050405020304" pitchFamily="18" charset="0"/>
                <a:cs typeface="Times New Roman" panose="02020603050405020304" pitchFamily="18" charset="0"/>
              </a:rPr>
              <a:t>For some form factors, wires for switches and lights on the front of the case match up with connections on the motherboard.</a:t>
            </a:r>
          </a:p>
          <a:p>
            <a:pPr algn="just"/>
            <a:r>
              <a:rPr lang="en-US" dirty="0">
                <a:latin typeface="Times New Roman" panose="02020603050405020304" pitchFamily="18" charset="0"/>
                <a:cs typeface="Times New Roman" panose="02020603050405020304" pitchFamily="18" charset="0"/>
              </a:rPr>
              <a:t>The holes in the power supply align with holes in the case for anchoring the power supply to the case. </a:t>
            </a:r>
            <a:br>
              <a:rPr 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852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FORM FACTOR</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When selecting a computer case, motherboard, and power supply, choose a design that fits its intended use. </a:t>
            </a:r>
            <a:br>
              <a:rPr 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8488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pPr algn="just"/>
            <a:r>
              <a:rPr lang="en-US" b="1" dirty="0"/>
              <a:t>ATX FORM FACTOR</a:t>
            </a:r>
            <a:br>
              <a:rPr lang="en-US" b="1" dirty="0"/>
            </a:br>
            <a:r>
              <a:rPr lang="en-US" b="1" dirty="0">
                <a:latin typeface="Times New Roman" panose="02020603050405020304" pitchFamily="18" charset="0"/>
                <a:cs typeface="Times New Roman" panose="02020603050405020304" pitchFamily="18" charset="0"/>
              </a:rPr>
              <a:t>ATX (Advanced Technology Extended) </a:t>
            </a:r>
            <a:r>
              <a:rPr lang="en-US" dirty="0">
                <a:latin typeface="Times New Roman" panose="02020603050405020304" pitchFamily="18" charset="0"/>
                <a:cs typeface="Times New Roman" panose="02020603050405020304" pitchFamily="18" charset="0"/>
              </a:rPr>
              <a:t>is the most commonly used form factor today. </a:t>
            </a:r>
          </a:p>
          <a:p>
            <a:pPr algn="just"/>
            <a:r>
              <a:rPr lang="en-US" dirty="0">
                <a:latin typeface="Times New Roman" panose="02020603050405020304" pitchFamily="18" charset="0"/>
                <a:cs typeface="Times New Roman" panose="02020603050405020304" pitchFamily="18" charset="0"/>
              </a:rPr>
              <a:t>It is an open, nonproprietary industry specification originally developed by Intel in 1995, and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has undergone several revisions since then.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The CPU and memory slots sit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beside expansion slots so that full-length expansion cards don’t bump into the CPU 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memory modules. </a:t>
            </a:r>
          </a:p>
          <a:p>
            <a:pPr algn="just"/>
            <a:br>
              <a:rPr 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15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original ATX form factor had case fans blowing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air into the case but early revisions to the form factor had fans blowing air out of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p>
          <a:p>
            <a:pPr algn="just"/>
            <a:r>
              <a:rPr lang="en-US" dirty="0">
                <a:latin typeface="Times New Roman" panose="02020603050405020304" pitchFamily="18" charset="0"/>
                <a:cs typeface="Times New Roman" panose="02020603050405020304" pitchFamily="18" charset="0"/>
              </a:rPr>
              <a:t>Blowing air out of the case does a better job of keeping the system cool</a:t>
            </a:r>
            <a:endParaRPr lang="en-GB" dirty="0"/>
          </a:p>
        </p:txBody>
      </p:sp>
    </p:spTree>
    <p:extLst>
      <p:ext uri="{BB962C8B-B14F-4D97-AF65-F5344CB8AC3E}">
        <p14:creationId xmlns:p14="http://schemas.microsoft.com/office/powerpoint/2010/main" val="346786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first ATX power supplies and motherboards used a single power connector called the </a:t>
            </a:r>
            <a:r>
              <a:rPr lang="en-US" b="1" dirty="0">
                <a:latin typeface="Times New Roman" panose="02020603050405020304" pitchFamily="18" charset="0"/>
                <a:cs typeface="Times New Roman" panose="02020603050405020304" pitchFamily="18" charset="0"/>
              </a:rPr>
              <a:t>P1 connector </a:t>
            </a:r>
            <a:r>
              <a:rPr lang="en-US" dirty="0">
                <a:latin typeface="Times New Roman" panose="02020603050405020304" pitchFamily="18" charset="0"/>
                <a:cs typeface="Times New Roman" panose="02020603050405020304" pitchFamily="18" charset="0"/>
              </a:rPr>
              <a:t>that had 20 pins </a:t>
            </a:r>
          </a:p>
          <a:p>
            <a:pPr algn="just"/>
            <a:r>
              <a:rPr lang="en-US" dirty="0">
                <a:latin typeface="Times New Roman" panose="02020603050405020304" pitchFamily="18" charset="0"/>
                <a:cs typeface="Times New Roman" panose="02020603050405020304" pitchFamily="18" charset="0"/>
              </a:rPr>
              <a:t>Another feature of an ATX motherboard is a </a:t>
            </a:r>
            <a:r>
              <a:rPr lang="en-US" b="1" dirty="0">
                <a:latin typeface="Times New Roman" panose="02020603050405020304" pitchFamily="18" charset="0"/>
                <a:cs typeface="Times New Roman" panose="02020603050405020304" pitchFamily="18" charset="0"/>
              </a:rPr>
              <a:t>soft switch</a:t>
            </a:r>
            <a:r>
              <a:rPr lang="en-US" dirty="0">
                <a:latin typeface="Times New Roman" panose="02020603050405020304" pitchFamily="18" charset="0"/>
                <a:cs typeface="Times New Roman" panose="02020603050405020304" pitchFamily="18" charset="0"/>
              </a:rPr>
              <a:t>, sometimes called the </a:t>
            </a:r>
            <a:r>
              <a:rPr lang="en-US" b="1" dirty="0">
                <a:latin typeface="Times New Roman" panose="02020603050405020304" pitchFamily="18" charset="0"/>
                <a:cs typeface="Times New Roman" panose="02020603050405020304" pitchFamily="18" charset="0"/>
              </a:rPr>
              <a:t>soft</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power </a:t>
            </a:r>
            <a:r>
              <a:rPr lang="en-US" dirty="0">
                <a:latin typeface="Times New Roman" panose="02020603050405020304" pitchFamily="18" charset="0"/>
                <a:cs typeface="Times New Roman" panose="02020603050405020304" pitchFamily="18" charset="0"/>
              </a:rPr>
              <a:t>feature. If an operating system supports the feature, it can turn off the power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 system after the shutdown procedure is done. </a:t>
            </a:r>
            <a:br>
              <a:rPr lang="en-US" dirty="0">
                <a:latin typeface="Times New Roman" panose="02020603050405020304" pitchFamily="18" charset="0"/>
                <a:cs typeface="Times New Roman" panose="02020603050405020304" pitchFamily="18" charset="0"/>
              </a:rPr>
            </a:br>
            <a:br>
              <a:rPr lang="en-US" dirty="0"/>
            </a:br>
            <a:endParaRPr lang="en-GB" dirty="0"/>
          </a:p>
        </p:txBody>
      </p:sp>
    </p:spTree>
    <p:extLst>
      <p:ext uri="{BB962C8B-B14F-4D97-AF65-F5344CB8AC3E}">
        <p14:creationId xmlns:p14="http://schemas.microsoft.com/office/powerpoint/2010/main" val="1536702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MICROATX FORM FACTOR</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MicroATX</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form factor is a major variation of ATX and addresses some technologies that have emerged since the original development of ATX. </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reduces the total cost of a system by reducing the number of expansion slots on the motherboard, reducing the power supplied to the board, and allowing for a smaller case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size.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motherboard will fit into a case that follows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ATX 2.1 or higher standard.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variation of the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is the Mini-ITX.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form factor is smaller than the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and designed for small systems such as a home theatre system. </a:t>
            </a:r>
            <a:br>
              <a:rPr lang="en-US" dirty="0"/>
            </a:br>
            <a:endParaRPr lang="en-GB" dirty="0"/>
          </a:p>
        </p:txBody>
      </p:sp>
    </p:spTree>
    <p:extLst>
      <p:ext uri="{BB962C8B-B14F-4D97-AF65-F5344CB8AC3E}">
        <p14:creationId xmlns:p14="http://schemas.microsoft.com/office/powerpoint/2010/main" val="3487668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pPr marL="0" indent="0" algn="just">
              <a:buNone/>
            </a:pPr>
            <a:r>
              <a:rPr lang="en-US" b="1" dirty="0"/>
              <a:t>FLEXATX FORM FACTOR</a:t>
            </a:r>
          </a:p>
          <a:p>
            <a:pPr algn="just">
              <a:buFont typeface="Wingdings" panose="05000000000000000000" pitchFamily="2" charset="2"/>
              <a:buChar char="Ø"/>
            </a:pPr>
            <a:r>
              <a:rPr lang="en-US" b="1" dirty="0" err="1">
                <a:latin typeface="Times New Roman" panose="02020603050405020304" pitchFamily="18" charset="0"/>
                <a:cs typeface="Times New Roman" panose="02020603050405020304" pitchFamily="18" charset="0"/>
              </a:rPr>
              <a:t>FlexATX</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a variation of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It allows for maximum flexibility (giving it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name </a:t>
            </a:r>
            <a:r>
              <a:rPr lang="en-US" dirty="0" err="1">
                <a:latin typeface="Times New Roman" panose="02020603050405020304" pitchFamily="18" charset="0"/>
                <a:cs typeface="Times New Roman" panose="02020603050405020304" pitchFamily="18" charset="0"/>
              </a:rPr>
              <a:t>FlexATX</a:t>
            </a:r>
            <a:r>
              <a:rPr lang="en-US" dirty="0">
                <a:latin typeface="Times New Roman" panose="02020603050405020304" pitchFamily="18" charset="0"/>
                <a:cs typeface="Times New Roman" panose="02020603050405020304" pitchFamily="18" charset="0"/>
              </a:rPr>
              <a:t>), and therefore can be a good choice for custom systems.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FlexATX</a:t>
            </a:r>
            <a:r>
              <a:rPr lang="en-US" dirty="0">
                <a:latin typeface="Times New Roman" panose="02020603050405020304" pitchFamily="18" charset="0"/>
                <a:cs typeface="Times New Roman" panose="02020603050405020304" pitchFamily="18" charset="0"/>
              </a:rPr>
              <a:t> motherboard can be up to 9" x 7.5".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motherboard costs less, has fewer features, and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is smaller than a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board. </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FlexATX</a:t>
            </a:r>
            <a:r>
              <a:rPr lang="en-US" dirty="0">
                <a:latin typeface="Times New Roman" panose="02020603050405020304" pitchFamily="18" charset="0"/>
                <a:cs typeface="Times New Roman" panose="02020603050405020304" pitchFamily="18" charset="0"/>
              </a:rPr>
              <a:t> is commonly used in </a:t>
            </a:r>
            <a:r>
              <a:rPr lang="en-US" dirty="0" err="1">
                <a:latin typeface="Times New Roman" panose="02020603050405020304" pitchFamily="18" charset="0"/>
                <a:cs typeface="Times New Roman" panose="02020603050405020304" pitchFamily="18" charset="0"/>
              </a:rPr>
              <a:t>slimline</a:t>
            </a:r>
            <a:r>
              <a:rPr lang="en-US" dirty="0">
                <a:latin typeface="Times New Roman" panose="02020603050405020304" pitchFamily="18" charset="0"/>
                <a:cs typeface="Times New Roman" panose="02020603050405020304" pitchFamily="18" charset="0"/>
              </a:rPr>
              <a:t> and all-in-one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cases, but can fit into any </a:t>
            </a:r>
            <a:r>
              <a:rPr lang="en-US" dirty="0" err="1">
                <a:latin typeface="Times New Roman" panose="02020603050405020304" pitchFamily="18" charset="0"/>
                <a:cs typeface="Times New Roman" panose="02020603050405020304" pitchFamily="18" charset="0"/>
              </a:rPr>
              <a:t>FlexATX</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MicroATX</a:t>
            </a:r>
            <a:r>
              <a:rPr lang="en-US" dirty="0">
                <a:latin typeface="Times New Roman" panose="02020603050405020304" pitchFamily="18" charset="0"/>
                <a:cs typeface="Times New Roman" panose="02020603050405020304" pitchFamily="18" charset="0"/>
              </a:rPr>
              <a:t>, or ATX case that follows the ATX 2.03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or higher standard. </a:t>
            </a:r>
            <a:br>
              <a:rPr 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89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dirty="0">
                <a:latin typeface="Times New Roman" panose="02020603050405020304" pitchFamily="18" charset="0"/>
                <a:cs typeface="Times New Roman" panose="02020603050405020304" pitchFamily="18" charset="0"/>
              </a:rPr>
              <a:t>BTX FORM FACTOR</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BTX (Balanced Technology Extended) </a:t>
            </a:r>
            <a:r>
              <a:rPr lang="en-US" dirty="0">
                <a:latin typeface="Times New Roman" panose="02020603050405020304" pitchFamily="18" charset="0"/>
                <a:cs typeface="Times New Roman" panose="02020603050405020304" pitchFamily="18" charset="0"/>
              </a:rPr>
              <a:t>form factor was designed by Intel in 2003 for flexibility and can be used by everything from large tower systems to those </a:t>
            </a:r>
            <a:r>
              <a:rPr lang="en-US" dirty="0" err="1">
                <a:latin typeface="Times New Roman" panose="02020603050405020304" pitchFamily="18" charset="0"/>
                <a:cs typeface="Times New Roman" panose="02020603050405020304" pitchFamily="18" charset="0"/>
              </a:rPr>
              <a:t>ultrasmall</a:t>
            </a:r>
            <a:r>
              <a:rPr lang="en-US" dirty="0">
                <a:latin typeface="Times New Roman" panose="02020603050405020304" pitchFamily="18" charset="0"/>
                <a:cs typeface="Times New Roman" panose="02020603050405020304" pitchFamily="18" charset="0"/>
              </a:rPr>
              <a:t> systems that sit under a monitor.</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BTX was designed to take full advantage of serial 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USB 2.0, and PCI Express technologies.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BTX form factor design focuses on reducing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heat with better airflow and improved fans and coolers. It also gives better structural support for the motherboard than does ATX.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930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BTX motherboards use a 24-pin power connector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that has the same </a:t>
            </a:r>
            <a:r>
              <a:rPr lang="en-US" dirty="0" err="1">
                <a:latin typeface="Times New Roman" panose="02020603050405020304" pitchFamily="18" charset="0"/>
                <a:cs typeface="Times New Roman" panose="02020603050405020304" pitchFamily="18" charset="0"/>
              </a:rPr>
              <a:t>pinout</a:t>
            </a:r>
            <a:r>
              <a:rPr lang="en-US" dirty="0">
                <a:latin typeface="Times New Roman" panose="02020603050405020304" pitchFamily="18" charset="0"/>
                <a:cs typeface="Times New Roman" panose="02020603050405020304" pitchFamily="18" charset="0"/>
              </a:rPr>
              <a:t> arrangement as the ATX 24-pin P1 connector.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BTX form factor can also use one or more auxiliary power connectors for the processor, fans, and lighting inside the case (for really cool-looking systems). Because the 24-pin connectors are the same, a BTX motherboard can use an ATX power supply </a:t>
            </a:r>
            <a:br>
              <a:rPr lang="en-US" dirty="0"/>
            </a:br>
            <a:endParaRPr lang="en-GB" dirty="0"/>
          </a:p>
        </p:txBody>
      </p:sp>
    </p:spTree>
    <p:extLst>
      <p:ext uri="{BB962C8B-B14F-4D97-AF65-F5344CB8AC3E}">
        <p14:creationId xmlns:p14="http://schemas.microsoft.com/office/powerpoint/2010/main" val="371636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10000"/>
          </a:bodyPr>
          <a:lstStyle/>
          <a:p>
            <a:pPr marL="0" indent="0" algn="just">
              <a:buNone/>
            </a:pPr>
            <a:r>
              <a:rPr lang="en-US" b="1" dirty="0">
                <a:latin typeface="Times New Roman" panose="02020603050405020304" pitchFamily="18" charset="0"/>
                <a:cs typeface="Times New Roman" panose="02020603050405020304" pitchFamily="18" charset="0"/>
              </a:rPr>
              <a:t>NLX FORM FACTOR</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NLX (New Low-profile Extended) </a:t>
            </a:r>
            <a:r>
              <a:rPr lang="en-US" dirty="0">
                <a:latin typeface="Times New Roman" panose="02020603050405020304" pitchFamily="18" charset="0"/>
                <a:cs typeface="Times New Roman" panose="02020603050405020304" pitchFamily="18" charset="0"/>
              </a:rPr>
              <a:t>form factor for low-end personal computer motherboards was developed by Intel in 1998 to improve on an older and similar form factor, called the LPX form factor.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these systems, the motherboard has only one expansion slot, in which a </a:t>
            </a:r>
            <a:r>
              <a:rPr lang="en-US" b="1" dirty="0">
                <a:latin typeface="Times New Roman" panose="02020603050405020304" pitchFamily="18" charset="0"/>
                <a:cs typeface="Times New Roman" panose="02020603050405020304" pitchFamily="18" charset="0"/>
              </a:rPr>
              <a:t>riser card </a:t>
            </a:r>
            <a:r>
              <a:rPr lang="en-US" dirty="0">
                <a:latin typeface="Times New Roman" panose="02020603050405020304" pitchFamily="18" charset="0"/>
                <a:cs typeface="Times New Roman" panose="02020603050405020304" pitchFamily="18" charset="0"/>
              </a:rPr>
              <a:t>(also called a </a:t>
            </a:r>
            <a:r>
              <a:rPr lang="en-US" b="1" dirty="0">
                <a:latin typeface="Times New Roman" panose="02020603050405020304" pitchFamily="18" charset="0"/>
                <a:cs typeface="Times New Roman" panose="02020603050405020304" pitchFamily="18" charset="0"/>
              </a:rPr>
              <a:t>bus riser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daughter card</a:t>
            </a:r>
            <a:r>
              <a:rPr lang="en-US" dirty="0">
                <a:latin typeface="Times New Roman" panose="02020603050405020304" pitchFamily="18" charset="0"/>
                <a:cs typeface="Times New Roman" panose="02020603050405020304" pitchFamily="18" charset="0"/>
              </a:rPr>
              <a:t>, or daughter board), is mounted.</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Expansion cards are mounted on the riser card, and the card also contains connectors for the floppy and hard drives.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337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riser card on an NLX motherboard is on the edge of the board,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which differs from the LPX motherboard that had the riser card near the center of the board.</a:t>
            </a:r>
          </a:p>
          <a:p>
            <a:pPr algn="just"/>
            <a:r>
              <a:rPr lang="en-US" dirty="0">
                <a:latin typeface="Times New Roman" panose="02020603050405020304" pitchFamily="18" charset="0"/>
                <a:cs typeface="Times New Roman" panose="02020603050405020304" pitchFamily="18" charset="0"/>
              </a:rPr>
              <a:t>The NLX standard applies only to motherboards; NLX motherboards are designed to use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ATX power supplies. </a:t>
            </a:r>
            <a:br>
              <a:rPr lang="en-US" dirty="0"/>
            </a:br>
            <a:endParaRPr lang="en-GB" dirty="0"/>
          </a:p>
        </p:txBody>
      </p:sp>
    </p:spTree>
    <p:extLst>
      <p:ext uri="{BB962C8B-B14F-4D97-AF65-F5344CB8AC3E}">
        <p14:creationId xmlns:p14="http://schemas.microsoft.com/office/powerpoint/2010/main" val="91430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Processor socket </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itchFamily="18" charset="0"/>
                <a:cs typeface="Times New Roman" pitchFamily="18" charset="0"/>
              </a:rPr>
              <a:t>Another important feature of a motherboard is the processor socket. </a:t>
            </a:r>
          </a:p>
          <a:p>
            <a:pPr algn="just"/>
            <a:r>
              <a:rPr lang="en-US" dirty="0">
                <a:latin typeface="Times New Roman" pitchFamily="18" charset="0"/>
                <a:cs typeface="Times New Roman" pitchFamily="18" charset="0"/>
              </a:rPr>
              <a:t>This socket and the chipset determine which processors a board can support. </a:t>
            </a:r>
          </a:p>
          <a:p>
            <a:pPr algn="just"/>
            <a:r>
              <a:rPr lang="en-US" dirty="0">
                <a:latin typeface="Times New Roman" pitchFamily="18" charset="0"/>
                <a:cs typeface="Times New Roman" pitchFamily="18" charset="0"/>
              </a:rPr>
              <a:t>A socket will hold either an Intel or AMD processor. </a:t>
            </a:r>
          </a:p>
          <a:p>
            <a:pPr algn="just"/>
            <a:r>
              <a:rPr lang="en-US" dirty="0">
                <a:latin typeface="Times New Roman" pitchFamily="18" charset="0"/>
                <a:cs typeface="Times New Roman" pitchFamily="18" charset="0"/>
              </a:rPr>
              <a:t>Some older processors were installed on the motherboard in a long narrow slot, but all processors sold today use sockets.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246056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itchFamily="18" charset="0"/>
                <a:cs typeface="Times New Roman" pitchFamily="18" charset="0"/>
              </a:rPr>
              <a:t>Earlier Pentiums used a </a:t>
            </a:r>
            <a:r>
              <a:rPr lang="en-US" b="1" dirty="0">
                <a:latin typeface="Times New Roman" pitchFamily="18" charset="0"/>
                <a:cs typeface="Times New Roman" pitchFamily="18" charset="0"/>
              </a:rPr>
              <a:t>pin grid array (PGA) </a:t>
            </a:r>
            <a:r>
              <a:rPr lang="en-US" dirty="0">
                <a:latin typeface="Times New Roman" pitchFamily="18" charset="0"/>
                <a:cs typeface="Times New Roman" pitchFamily="18" charset="0"/>
              </a:rPr>
              <a:t>socket, with pins aligned in uniform rows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around the socket. </a:t>
            </a:r>
          </a:p>
          <a:p>
            <a:pPr algn="just"/>
            <a:r>
              <a:rPr lang="en-US" dirty="0">
                <a:latin typeface="Times New Roman" pitchFamily="18" charset="0"/>
                <a:cs typeface="Times New Roman" pitchFamily="18" charset="0"/>
              </a:rPr>
              <a:t>Later sockets used a </a:t>
            </a:r>
            <a:r>
              <a:rPr lang="en-US" b="1" dirty="0">
                <a:latin typeface="Times New Roman" pitchFamily="18" charset="0"/>
                <a:cs typeface="Times New Roman" pitchFamily="18" charset="0"/>
              </a:rPr>
              <a:t>staggered pin grid array (SPGA)</a:t>
            </a:r>
            <a:r>
              <a:rPr lang="en-US" dirty="0">
                <a:latin typeface="Times New Roman" pitchFamily="18" charset="0"/>
                <a:cs typeface="Times New Roman" pitchFamily="18" charset="0"/>
              </a:rPr>
              <a:t>, with pins staggered over the socket to squeeze more pins into a small space. </a:t>
            </a:r>
          </a:p>
          <a:p>
            <a:pPr algn="just"/>
            <a:r>
              <a:rPr lang="en-US" dirty="0">
                <a:latin typeface="Times New Roman" pitchFamily="18" charset="0"/>
                <a:cs typeface="Times New Roman" pitchFamily="18" charset="0"/>
              </a:rPr>
              <a:t>Small pins can easily be bent as the processor is installed in the socket. </a:t>
            </a:r>
          </a:p>
          <a:p>
            <a:pPr algn="just"/>
            <a:r>
              <a:rPr lang="en-US" dirty="0">
                <a:latin typeface="Times New Roman" pitchFamily="18" charset="0"/>
                <a:cs typeface="Times New Roman" pitchFamily="18" charset="0"/>
              </a:rPr>
              <a:t>Later Intel sockets use a </a:t>
            </a:r>
            <a:r>
              <a:rPr lang="en-US" b="1" dirty="0">
                <a:latin typeface="Times New Roman" pitchFamily="18" charset="0"/>
                <a:cs typeface="Times New Roman" pitchFamily="18" charset="0"/>
              </a:rPr>
              <a:t>land grid array (LGA) </a:t>
            </a:r>
            <a:r>
              <a:rPr lang="en-US" dirty="0">
                <a:latin typeface="Times New Roman" pitchFamily="18" charset="0"/>
                <a:cs typeface="Times New Roman" pitchFamily="18" charset="0"/>
              </a:rPr>
              <a:t>that uses lands rather than pins. </a:t>
            </a:r>
            <a:br>
              <a:rPr lang="en-US" dirty="0"/>
            </a:br>
            <a:endParaRPr lang="en-GB" dirty="0"/>
          </a:p>
        </p:txBody>
      </p:sp>
    </p:spTree>
    <p:extLst>
      <p:ext uri="{BB962C8B-B14F-4D97-AF65-F5344CB8AC3E}">
        <p14:creationId xmlns:p14="http://schemas.microsoft.com/office/powerpoint/2010/main" val="2336068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latest Intel socket is the LGA1366 socket.</a:t>
            </a:r>
          </a:p>
          <a:p>
            <a:pPr algn="just"/>
            <a:r>
              <a:rPr lang="en-US" dirty="0">
                <a:latin typeface="Times New Roman" pitchFamily="18" charset="0"/>
                <a:cs typeface="Times New Roman" pitchFamily="18" charset="0"/>
              </a:rPr>
              <a:t>It’s called a land grid array socket, but the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lands in the socket are actually more like pins that connect with lands on the bottom of the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processor.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654648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PGA, SPGA, and LGA sockets are all square or nearly square. </a:t>
            </a:r>
          </a:p>
          <a:p>
            <a:pPr algn="just"/>
            <a:r>
              <a:rPr lang="en-US" dirty="0">
                <a:latin typeface="Times New Roman" pitchFamily="18" charset="0"/>
                <a:cs typeface="Times New Roman" pitchFamily="18" charset="0"/>
              </a:rPr>
              <a:t>So that even force is applied when inserting the processor in the socket, all current processor sockets have a lever on the side of the socket. </a:t>
            </a:r>
          </a:p>
          <a:p>
            <a:pPr algn="just"/>
            <a:r>
              <a:rPr lang="en-US" dirty="0">
                <a:latin typeface="Times New Roman" pitchFamily="18" charset="0"/>
                <a:cs typeface="Times New Roman" pitchFamily="18" charset="0"/>
              </a:rPr>
              <a:t>These sockets are called </a:t>
            </a:r>
            <a:r>
              <a:rPr lang="en-US" b="1" dirty="0">
                <a:latin typeface="Times New Roman" pitchFamily="18" charset="0"/>
                <a:cs typeface="Times New Roman" pitchFamily="18" charset="0"/>
              </a:rPr>
              <a:t>zero insertion force (ZIF) sockets</a:t>
            </a:r>
            <a:r>
              <a:rPr lang="en-US" dirty="0">
                <a:latin typeface="Times New Roman" pitchFamily="18" charset="0"/>
                <a:cs typeface="Times New Roman" pitchFamily="18" charset="0"/>
              </a:rPr>
              <a:t>, and this lever is used to lift the processor up and out of the socket. </a:t>
            </a:r>
          </a:p>
          <a:p>
            <a:pPr algn="just"/>
            <a:r>
              <a:rPr lang="en-US" dirty="0">
                <a:latin typeface="Times New Roman" pitchFamily="18" charset="0"/>
                <a:cs typeface="Times New Roman" pitchFamily="18" charset="0"/>
              </a:rPr>
              <a:t>Push the lever down and the processor moves into its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pin or land connectors with equal force over the entire housing.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53176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a:bodyPr>
          <a:lstStyle/>
          <a:p>
            <a:pPr algn="just"/>
            <a:r>
              <a:rPr lang="en-US" dirty="0">
                <a:latin typeface="Times New Roman" pitchFamily="18" charset="0"/>
                <a:cs typeface="Times New Roman" pitchFamily="18" charset="0"/>
              </a:rPr>
              <a:t>However, know that processors generally should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not be removed or replaced repeatedly because this can damage the delicate pins or socket holes.</a:t>
            </a:r>
          </a:p>
          <a:p>
            <a:pPr algn="just"/>
            <a:r>
              <a:rPr lang="en-US" dirty="0">
                <a:latin typeface="Times New Roman" pitchFamily="18" charset="0"/>
                <a:cs typeface="Times New Roman" pitchFamily="18" charset="0"/>
              </a:rPr>
              <a:t>AMD has chosen to use the PGA socket architecture for its desktop processors. </a:t>
            </a:r>
          </a:p>
          <a:p>
            <a:pPr algn="just"/>
            <a:r>
              <a:rPr lang="en-US" dirty="0">
                <a:latin typeface="Times New Roman" pitchFamily="18" charset="0"/>
                <a:cs typeface="Times New Roman" pitchFamily="18" charset="0"/>
              </a:rPr>
              <a:t>(Some of AMD’s server processors use Socket F,</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which is an LGA socket.)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23244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Chipset</a:t>
            </a: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chipset is a set of chips on the motherboard that collectively controls the memory, buses on the motherboard, and some peripherals.</a:t>
            </a:r>
          </a:p>
          <a:p>
            <a:pPr algn="just"/>
            <a:r>
              <a:rPr lang="en-US" dirty="0">
                <a:latin typeface="Times New Roman" pitchFamily="18" charset="0"/>
                <a:cs typeface="Times New Roman" pitchFamily="18" charset="0"/>
              </a:rPr>
              <a:t> A few motherboard manufacturers, such as Intel and AMD, make their own chipsets.</a:t>
            </a:r>
          </a:p>
          <a:p>
            <a:pPr algn="just"/>
            <a:r>
              <a:rPr lang="en-US" dirty="0">
                <a:latin typeface="Times New Roman" pitchFamily="18" charset="0"/>
                <a:cs typeface="Times New Roman" pitchFamily="18" charset="0"/>
              </a:rPr>
              <a:t> But other motherboard manufacturers use chipsets made by another manufacturer. </a:t>
            </a:r>
            <a:br>
              <a:rPr lang="en-US" dirty="0"/>
            </a:br>
            <a:endParaRPr lang="en-GB" dirty="0"/>
          </a:p>
        </p:txBody>
      </p:sp>
    </p:spTree>
    <p:extLst>
      <p:ext uri="{BB962C8B-B14F-4D97-AF65-F5344CB8AC3E}">
        <p14:creationId xmlns:p14="http://schemas.microsoft.com/office/powerpoint/2010/main" val="845418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major chipset manufacturers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are Intel (</a:t>
            </a:r>
            <a:r>
              <a:rPr lang="en-US" i="1" dirty="0">
                <a:latin typeface="Times New Roman" pitchFamily="18" charset="0"/>
                <a:cs typeface="Times New Roman" pitchFamily="18" charset="0"/>
              </a:rPr>
              <a:t>www.intel.com</a:t>
            </a:r>
            <a:r>
              <a:rPr lang="en-US" dirty="0">
                <a:latin typeface="Times New Roman" pitchFamily="18" charset="0"/>
                <a:cs typeface="Times New Roman" pitchFamily="18" charset="0"/>
              </a:rPr>
              <a:t>), AMD (</a:t>
            </a:r>
            <a:r>
              <a:rPr lang="en-US" i="1" dirty="0">
                <a:latin typeface="Times New Roman" pitchFamily="18" charset="0"/>
                <a:cs typeface="Times New Roman" pitchFamily="18" charset="0"/>
              </a:rPr>
              <a:t>www.amd.com</a:t>
            </a:r>
            <a:r>
              <a:rPr lang="en-US" dirty="0">
                <a:latin typeface="Times New Roman" pitchFamily="18" charset="0"/>
                <a:cs typeface="Times New Roman" pitchFamily="18" charset="0"/>
              </a:rPr>
              <a:t>), NVIDIA (</a:t>
            </a:r>
            <a:r>
              <a:rPr lang="en-US" i="1" dirty="0">
                <a:latin typeface="Times New Roman" pitchFamily="18" charset="0"/>
                <a:cs typeface="Times New Roman" pitchFamily="18" charset="0"/>
              </a:rPr>
              <a:t>www.nvidia.com</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SiS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www.sis.com</a:t>
            </a:r>
            <a:r>
              <a:rPr lang="en-US" dirty="0">
                <a:latin typeface="Times New Roman" pitchFamily="18" charset="0"/>
                <a:cs typeface="Times New Roman" pitchFamily="18" charset="0"/>
              </a:rPr>
              <a:t>), in that order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682675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more popular chipsets are listed here: </a:t>
            </a:r>
            <a:br>
              <a:rPr lang="en-US" dirty="0"/>
            </a:br>
            <a:endParaRPr lang="en-GB" dirty="0"/>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itchFamily="18" charset="0"/>
                <a:cs typeface="Times New Roman" pitchFamily="18" charset="0"/>
              </a:rPr>
              <a:t>High-performance chipsets</a:t>
            </a:r>
            <a:r>
              <a:rPr lang="en-US" dirty="0">
                <a:latin typeface="Times New Roman" pitchFamily="18" charset="0"/>
                <a:cs typeface="Times New Roman" pitchFamily="18" charset="0"/>
              </a:rPr>
              <a:t>. The X58 chipset supports the Intel LGA1366 socket, the Core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i7 processors, and PCI Express Version 2. </a:t>
            </a:r>
          </a:p>
          <a:p>
            <a:pPr algn="just"/>
            <a:r>
              <a:rPr lang="en-US" dirty="0">
                <a:latin typeface="Times New Roman" pitchFamily="18" charset="0"/>
                <a:cs typeface="Times New Roman" pitchFamily="18" charset="0"/>
              </a:rPr>
              <a:t>It can also support either SLI or </a:t>
            </a:r>
            <a:r>
              <a:rPr lang="en-US" dirty="0" err="1">
                <a:latin typeface="Times New Roman" pitchFamily="18" charset="0"/>
                <a:cs typeface="Times New Roman" pitchFamily="18" charset="0"/>
              </a:rPr>
              <a:t>CrossFire</a:t>
            </a:r>
            <a:r>
              <a:rPr lang="en-US" dirty="0">
                <a:latin typeface="Times New Roman" pitchFamily="18" charset="0"/>
                <a:cs typeface="Times New Roman" pitchFamily="18" charset="0"/>
              </a:rPr>
              <a:t> technologies. </a:t>
            </a:r>
          </a:p>
          <a:p>
            <a:pPr algn="just"/>
            <a:r>
              <a:rPr lang="en-US" dirty="0">
                <a:latin typeface="Times New Roman" pitchFamily="18" charset="0"/>
                <a:cs typeface="Times New Roman" pitchFamily="18" charset="0"/>
              </a:rPr>
              <a:t>(SLI and </a:t>
            </a:r>
            <a:r>
              <a:rPr lang="en-US" dirty="0" err="1">
                <a:latin typeface="Times New Roman" pitchFamily="18" charset="0"/>
                <a:cs typeface="Times New Roman" pitchFamily="18" charset="0"/>
              </a:rPr>
              <a:t>CrossFire</a:t>
            </a:r>
            <a:r>
              <a:rPr lang="en-US" dirty="0">
                <a:latin typeface="Times New Roman" pitchFamily="18" charset="0"/>
                <a:cs typeface="Times New Roman" pitchFamily="18" charset="0"/>
              </a:rPr>
              <a:t> are two competing technologies that allow for multiple video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cards installed in one system.)</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58512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X58 chipset does not control memory because the memory controller is embedded in the Core i7 processor.</a:t>
            </a:r>
          </a:p>
          <a:p>
            <a:pPr algn="just"/>
            <a:r>
              <a:rPr lang="en-US" dirty="0">
                <a:latin typeface="Times New Roman" pitchFamily="18" charset="0"/>
                <a:cs typeface="Times New Roman" pitchFamily="18" charset="0"/>
              </a:rPr>
              <a:t> The 975X Express chipset supports the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Pentium Extreme Edition processor, multiple video cards, and up to 8 GB of memory.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338293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a:latin typeface="Times New Roman" pitchFamily="18" charset="0"/>
                <a:cs typeface="Times New Roman" pitchFamily="18" charset="0"/>
              </a:rPr>
              <a:t>Mainstream desktop chipsets</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 The P45, P43, P35, G45, and G31 chipsets support Core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2 Quad and Core 2 Duo Intel processors. </a:t>
            </a:r>
          </a:p>
          <a:p>
            <a:pPr algn="just"/>
            <a:r>
              <a:rPr lang="en-US" dirty="0">
                <a:latin typeface="Times New Roman" pitchFamily="18" charset="0"/>
                <a:cs typeface="Times New Roman" pitchFamily="18" charset="0"/>
              </a:rPr>
              <a:t>P45, P43, and G45 can support up to 16 GB</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of DDR3 or DDR2 memory.</a:t>
            </a:r>
          </a:p>
          <a:p>
            <a:pPr algn="just"/>
            <a:r>
              <a:rPr lang="en-US" dirty="0">
                <a:latin typeface="Times New Roman" pitchFamily="18" charset="0"/>
                <a:cs typeface="Times New Roman" pitchFamily="18" charset="0"/>
              </a:rPr>
              <a:t> The P35 chipset supports up to 8 GB of DDR3 or DDR2 memory. </a:t>
            </a:r>
          </a:p>
          <a:p>
            <a:pPr algn="just"/>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88278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It also supports the Core 2 Extreme processor. The G31 chipset supports up to 4 GB of DDR2 memory. </a:t>
            </a:r>
          </a:p>
          <a:p>
            <a:pPr algn="just"/>
            <a:r>
              <a:rPr lang="en-US" dirty="0">
                <a:latin typeface="Times New Roman" pitchFamily="18" charset="0"/>
                <a:cs typeface="Times New Roman" pitchFamily="18" charset="0"/>
              </a:rPr>
              <a:t>The Q45 chipset uses DDR3 or DDR2 memory and supports the Core 2 Duo and Core 2 Quad processors. </a:t>
            </a:r>
          </a:p>
          <a:p>
            <a:pPr algn="just"/>
            <a:r>
              <a:rPr lang="en-US" dirty="0">
                <a:latin typeface="Times New Roman" pitchFamily="18" charset="0"/>
                <a:cs typeface="Times New Roman" pitchFamily="18" charset="0"/>
              </a:rPr>
              <a:t>All these chipsets use socket LGA775.</a:t>
            </a:r>
            <a:endParaRPr lang="en-GB" dirty="0"/>
          </a:p>
        </p:txBody>
      </p:sp>
    </p:spTree>
    <p:extLst>
      <p:ext uri="{BB962C8B-B14F-4D97-AF65-F5344CB8AC3E}">
        <p14:creationId xmlns:p14="http://schemas.microsoft.com/office/powerpoint/2010/main" val="981447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b="1" dirty="0">
                <a:latin typeface="Times New Roman" pitchFamily="18" charset="0"/>
                <a:cs typeface="Times New Roman" pitchFamily="18" charset="0"/>
              </a:rPr>
              <a:t>Value desktops</a:t>
            </a:r>
            <a:r>
              <a:rPr lang="en-US" dirty="0">
                <a:latin typeface="Times New Roman" pitchFamily="18" charset="0"/>
                <a:cs typeface="Times New Roman" pitchFamily="18" charset="0"/>
              </a:rPr>
              <a:t>. The 910GL, 845E, 845G, and 865G chipsets support the Pentium 4,</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Celeron, and Celeron D processors in low-end systems. </a:t>
            </a:r>
          </a:p>
          <a:p>
            <a:pPr algn="just"/>
            <a:r>
              <a:rPr lang="en-US" dirty="0">
                <a:latin typeface="Times New Roman" pitchFamily="18" charset="0"/>
                <a:cs typeface="Times New Roman" pitchFamily="18" charset="0"/>
              </a:rPr>
              <a:t>The 910GL chipset uses the LGA775 socket. The 845E, 845G, and 865G chipsets use the 478PGA socket. </a:t>
            </a:r>
          </a:p>
          <a:p>
            <a:pPr algn="just"/>
            <a:r>
              <a:rPr lang="en-US" dirty="0">
                <a:latin typeface="Times New Roman" pitchFamily="18" charset="0"/>
                <a:cs typeface="Times New Roman" pitchFamily="18" charset="0"/>
              </a:rPr>
              <a:t>All these chipsets use DDR memory.</a:t>
            </a:r>
            <a:r>
              <a:rPr lang="en-US" dirty="0"/>
              <a:t> </a:t>
            </a:r>
            <a:br>
              <a:rPr lang="en-US" dirty="0"/>
            </a:br>
            <a:endParaRPr lang="en-GB" dirty="0"/>
          </a:p>
        </p:txBody>
      </p:sp>
    </p:spTree>
    <p:extLst>
      <p:ext uri="{BB962C8B-B14F-4D97-AF65-F5344CB8AC3E}">
        <p14:creationId xmlns:p14="http://schemas.microsoft.com/office/powerpoint/2010/main" val="1006707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b="1" dirty="0">
                <a:latin typeface="Times New Roman" pitchFamily="18" charset="0"/>
                <a:cs typeface="Times New Roman" pitchFamily="18" charset="0"/>
              </a:rPr>
              <a:t>Older value desktops</a:t>
            </a:r>
            <a:r>
              <a:rPr lang="en-US" dirty="0">
                <a:latin typeface="Times New Roman" pitchFamily="18" charset="0"/>
                <a:cs typeface="Times New Roman" pitchFamily="18" charset="0"/>
              </a:rPr>
              <a:t>. The 845 and 845GL chipsets support the Pentium 4 or Celeron</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processors in a low-end system using the 478PGA socket. </a:t>
            </a:r>
          </a:p>
          <a:p>
            <a:pPr algn="just"/>
            <a:r>
              <a:rPr lang="en-US" dirty="0">
                <a:latin typeface="Times New Roman" pitchFamily="18" charset="0"/>
                <a:cs typeface="Times New Roman" pitchFamily="18" charset="0"/>
              </a:rPr>
              <a:t>They support up to 2 GB of DDR memory. </a:t>
            </a:r>
            <a:br>
              <a:rPr lang="en-US" dirty="0"/>
            </a:br>
            <a:endParaRPr lang="en-GB" dirty="0"/>
          </a:p>
        </p:txBody>
      </p:sp>
    </p:spTree>
    <p:extLst>
      <p:ext uri="{BB962C8B-B14F-4D97-AF65-F5344CB8AC3E}">
        <p14:creationId xmlns:p14="http://schemas.microsoft.com/office/powerpoint/2010/main" val="3702736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AMD purchased ATI Technologies, a maker of chipsets and graphics processors (called 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graphics processor unit or GPU), in 2006, which increased AMD chipset and GPU offerings.</a:t>
            </a:r>
          </a:p>
          <a:p>
            <a:pPr algn="just"/>
            <a:r>
              <a:rPr lang="en-US" dirty="0">
                <a:latin typeface="Times New Roman" pitchFamily="18" charset="0"/>
                <a:cs typeface="Times New Roman" pitchFamily="18" charset="0"/>
              </a:rPr>
              <a:t>Significant chipsets by AMD include the following: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131504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The AMD 7-series (AMD 790FX, 790X, 790GX, 780, and 770) chipsets are designed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with the gamer, hobbyist, and multimedia enthusiast in mind. They focus on good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graphics capabilities and support overclocking.</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880435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AMD 580X Crossfire chipset supports ATI </a:t>
            </a:r>
            <a:r>
              <a:rPr lang="en-US" dirty="0" err="1">
                <a:latin typeface="Times New Roman" pitchFamily="18" charset="0"/>
                <a:cs typeface="Times New Roman" pitchFamily="18" charset="0"/>
              </a:rPr>
              <a:t>CrossFire</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The AMD 780V chipset is designed for business needs.</a:t>
            </a:r>
          </a:p>
          <a:p>
            <a:pPr algn="just"/>
            <a:r>
              <a:rPr lang="en-US" dirty="0">
                <a:latin typeface="Times New Roman" pitchFamily="18" charset="0"/>
                <a:cs typeface="Times New Roman" pitchFamily="18" charset="0"/>
              </a:rPr>
              <a:t>The AMD 740G and 690 chipsets are designed for low-end, inexpensive systems. </a:t>
            </a:r>
            <a:br>
              <a:rPr lang="en-US" dirty="0"/>
            </a:br>
            <a:endParaRPr lang="en-GB" dirty="0"/>
          </a:p>
        </p:txBody>
      </p:sp>
    </p:spTree>
    <p:extLst>
      <p:ext uri="{BB962C8B-B14F-4D97-AF65-F5344CB8AC3E}">
        <p14:creationId xmlns:p14="http://schemas.microsoft.com/office/powerpoint/2010/main" val="2534918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Chipsets generate heat, but not as much heat as a processor generates.</a:t>
            </a:r>
          </a:p>
          <a:p>
            <a:pPr algn="just"/>
            <a:r>
              <a:rPr lang="en-US" dirty="0">
                <a:latin typeface="Times New Roman" pitchFamily="18" charset="0"/>
                <a:cs typeface="Times New Roman" pitchFamily="18" charset="0"/>
              </a:rPr>
              <a:t> Some chipsets today have a heat sink installed on top that is appropriate to keep the chipset cool.</a:t>
            </a:r>
          </a:p>
          <a:p>
            <a:pPr algn="just"/>
            <a:r>
              <a:rPr lang="en-US" dirty="0">
                <a:latin typeface="Times New Roman" pitchFamily="18" charset="0"/>
                <a:cs typeface="Times New Roman" pitchFamily="18" charset="0"/>
              </a:rPr>
              <a:t>These heat sinks are considered part of the motherboard and you should never have to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replace or install one. </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84282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However, some motherboards, such as the Intel DX58SO board, have an optional small fan that you can install on top of the North Bridge chipset to help keep it cool. </a:t>
            </a:r>
            <a:br>
              <a:rPr lang="en-US" dirty="0"/>
            </a:br>
            <a:endParaRPr lang="en-GB" dirty="0"/>
          </a:p>
        </p:txBody>
      </p:sp>
    </p:spTree>
    <p:extLst>
      <p:ext uri="{BB962C8B-B14F-4D97-AF65-F5344CB8AC3E}">
        <p14:creationId xmlns:p14="http://schemas.microsoft.com/office/powerpoint/2010/main" val="2299028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Buses and Expansion Slots</a:t>
            </a:r>
          </a:p>
        </p:txBody>
      </p:sp>
      <p:sp>
        <p:nvSpPr>
          <p:cNvPr id="3" name="Content Placeholder 2"/>
          <p:cNvSpPr>
            <a:spLocks noGrp="1"/>
          </p:cNvSpPr>
          <p:nvPr>
            <p:ph idx="1"/>
          </p:nvPr>
        </p:nvSpPr>
        <p:spPr/>
        <p:txBody>
          <a:bodyPr>
            <a:normAutofit fontScale="92500"/>
          </a:bodyPr>
          <a:lstStyle/>
          <a:p>
            <a:pPr algn="just"/>
            <a:r>
              <a:rPr lang="en-US" dirty="0">
                <a:latin typeface="Times New Roman" pitchFamily="18" charset="0"/>
                <a:cs typeface="Times New Roman" pitchFamily="18" charset="0"/>
              </a:rPr>
              <a:t>As cities grow, so do their transportation systems. </a:t>
            </a:r>
          </a:p>
          <a:p>
            <a:pPr algn="just"/>
            <a:r>
              <a:rPr lang="en-US" dirty="0">
                <a:latin typeface="Times New Roman" pitchFamily="18" charset="0"/>
                <a:cs typeface="Times New Roman" pitchFamily="18" charset="0"/>
              </a:rPr>
              <a:t>Small villages have only simple, two lane roads, but large cities have one-way streets, four-lane roads, and major freeways, each with their own set of traffic laws, including minimum and maximum speeds, access methods, and protocols. </a:t>
            </a:r>
          </a:p>
          <a:p>
            <a:pPr algn="just"/>
            <a:r>
              <a:rPr lang="en-US" dirty="0">
                <a:latin typeface="Times New Roman" pitchFamily="18" charset="0"/>
                <a:cs typeface="Times New Roman" pitchFamily="18" charset="0"/>
              </a:rPr>
              <a:t>As microcomputer systems have evolved, so too have their “transportation” systems</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747311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itchFamily="18" charset="0"/>
                <a:cs typeface="Times New Roman" pitchFamily="18" charset="0"/>
              </a:rPr>
              <a:t>The earliest PC had only a single simple bus. Today’s PCs have four or five buses, each with different speeds, access methods, and protocols. </a:t>
            </a:r>
          </a:p>
          <a:p>
            <a:pPr algn="just"/>
            <a:r>
              <a:rPr lang="en-US" dirty="0">
                <a:latin typeface="Times New Roman" pitchFamily="18" charset="0"/>
                <a:cs typeface="Times New Roman" pitchFamily="18" charset="0"/>
              </a:rPr>
              <a:t>As you have seen in previous chapters, backward compatibility dictates that older buses be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supported on a motherboard, even when faster, better buses exist. </a:t>
            </a:r>
          </a:p>
          <a:p>
            <a:pPr algn="just"/>
            <a:r>
              <a:rPr lang="en-US" dirty="0">
                <a:latin typeface="Times New Roman" pitchFamily="18" charset="0"/>
                <a:cs typeface="Times New Roman" pitchFamily="18" charset="0"/>
              </a:rPr>
              <a:t>All this makes for a maze of buses on a motherboard.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81631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Look on the bottom of the motherboard, and you see a maze of circuits that make up 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bus. </a:t>
            </a:r>
          </a:p>
          <a:p>
            <a:pPr algn="just"/>
            <a:r>
              <a:rPr lang="en-US" dirty="0">
                <a:latin typeface="Times New Roman" pitchFamily="18" charset="0"/>
                <a:cs typeface="Times New Roman" pitchFamily="18" charset="0"/>
              </a:rPr>
              <a:t>These embedded wires carry four kinds of cargo: </a:t>
            </a:r>
            <a:br>
              <a:rPr lang="en-US" dirty="0"/>
            </a:br>
            <a:endParaRPr lang="en-GB" dirty="0"/>
          </a:p>
        </p:txBody>
      </p:sp>
    </p:spTree>
    <p:extLst>
      <p:ext uri="{BB962C8B-B14F-4D97-AF65-F5344CB8AC3E}">
        <p14:creationId xmlns:p14="http://schemas.microsoft.com/office/powerpoint/2010/main" val="3228605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i="1" dirty="0">
                <a:latin typeface="Times New Roman" pitchFamily="18" charset="0"/>
                <a:cs typeface="Times New Roman" pitchFamily="18" charset="0"/>
              </a:rPr>
              <a:t>Electrical power</a:t>
            </a:r>
            <a:r>
              <a:rPr lang="en-US" dirty="0">
                <a:latin typeface="Times New Roman" pitchFamily="18" charset="0"/>
                <a:cs typeface="Times New Roman" pitchFamily="18" charset="0"/>
              </a:rPr>
              <a:t>. Chips on the motherboard require power to function. These chips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tap into a bus’s power lines and draw what they need.</a:t>
            </a:r>
          </a:p>
          <a:p>
            <a:pPr algn="just"/>
            <a:r>
              <a:rPr lang="en-US" i="1" dirty="0">
                <a:latin typeface="Times New Roman" pitchFamily="18" charset="0"/>
                <a:cs typeface="Times New Roman" pitchFamily="18" charset="0"/>
              </a:rPr>
              <a:t>Control signals</a:t>
            </a:r>
            <a:r>
              <a:rPr lang="en-US" dirty="0">
                <a:latin typeface="Times New Roman" pitchFamily="18" charset="0"/>
                <a:cs typeface="Times New Roman" pitchFamily="18" charset="0"/>
              </a:rPr>
              <a:t>. Some wires on a bus carry control signals that coordinate all the activity. </a:t>
            </a:r>
            <a:br>
              <a:rPr lang="en-US" dirty="0"/>
            </a:br>
            <a:endParaRPr lang="en-GB" dirty="0"/>
          </a:p>
        </p:txBody>
      </p:sp>
    </p:spTree>
    <p:extLst>
      <p:ext uri="{BB962C8B-B14F-4D97-AF65-F5344CB8AC3E}">
        <p14:creationId xmlns:p14="http://schemas.microsoft.com/office/powerpoint/2010/main" val="2714007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US" i="1" dirty="0">
                <a:latin typeface="Times New Roman" pitchFamily="18" charset="0"/>
                <a:cs typeface="Times New Roman" pitchFamily="18" charset="0"/>
              </a:rPr>
              <a:t>Memory addresses</a:t>
            </a:r>
            <a:r>
              <a:rPr lang="en-US" dirty="0">
                <a:latin typeface="Times New Roman" pitchFamily="18" charset="0"/>
                <a:cs typeface="Times New Roman" pitchFamily="18" charset="0"/>
              </a:rPr>
              <a:t>. Components pass memory addresses to one another, telling each other where to access data or instructions. The number of wires that make up the memory address lines of the bus determines how many bits can be used for a memory address. The number of wires thus limits the amount of memory the bus can address.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785480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US" i="1" dirty="0">
                <a:latin typeface="Times New Roman" pitchFamily="18" charset="0"/>
                <a:cs typeface="Times New Roman" pitchFamily="18" charset="0"/>
              </a:rPr>
              <a:t>Data</a:t>
            </a:r>
            <a:r>
              <a:rPr lang="en-US" dirty="0">
                <a:latin typeface="Times New Roman" pitchFamily="18" charset="0"/>
                <a:cs typeface="Times New Roman" pitchFamily="18" charset="0"/>
              </a:rPr>
              <a:t>. Data passes over a bus in a group of wires, just as memory addresses do. The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number of lines in the bus used to pass data determines how much data can be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passed in parallel at one time. The number of lines depends on the type of</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processor and determines the number of bits in the data path. (Remember that 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data path is the part of the bus on which the data is placed; it can be 8, 16, 32,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64, or more bits wide.)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8737753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PCI BUSES</a:t>
            </a:r>
            <a:endParaRPr lang="en-GB" dirty="0"/>
          </a:p>
        </p:txBody>
      </p:sp>
      <p:sp>
        <p:nvSpPr>
          <p:cNvPr id="3" name="Content Placeholder 2"/>
          <p:cNvSpPr>
            <a:spLocks noGrp="1"/>
          </p:cNvSpPr>
          <p:nvPr>
            <p:ph idx="1"/>
          </p:nvPr>
        </p:nvSpPr>
        <p:spPr/>
        <p:txBody>
          <a:bodyPr/>
          <a:lstStyle/>
          <a:p>
            <a:pPr algn="just"/>
            <a:r>
              <a:rPr lang="en-US" b="1" dirty="0">
                <a:latin typeface="Times New Roman" pitchFamily="18" charset="0"/>
                <a:cs typeface="Times New Roman" pitchFamily="18" charset="0"/>
              </a:rPr>
              <a:t>PCI (Peripheral Component Interconnect) </a:t>
            </a:r>
            <a:r>
              <a:rPr lang="en-US" dirty="0">
                <a:latin typeface="Times New Roman" pitchFamily="18" charset="0"/>
                <a:cs typeface="Times New Roman" pitchFamily="18" charset="0"/>
              </a:rPr>
              <a:t>buses have been improved several times; there are currently three major categories and within each category, several variations of PCI.</a:t>
            </a:r>
          </a:p>
          <a:p>
            <a:pPr algn="just"/>
            <a:r>
              <a:rPr lang="en-US" dirty="0">
                <a:latin typeface="Times New Roman" pitchFamily="18" charset="0"/>
                <a:cs typeface="Times New Roman" pitchFamily="18" charset="0"/>
              </a:rPr>
              <a:t>In the following sections, we discuss each category in turn. </a:t>
            </a:r>
            <a:br>
              <a:rPr lang="en-US" dirty="0">
                <a:latin typeface="Times New Roman" pitchFamily="18" charset="0"/>
                <a:cs typeface="Times New Roman" pitchFamily="18" charset="0"/>
              </a:rPr>
            </a:b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719900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ON-BOARD PORTS AND CONNECTORS</a:t>
            </a:r>
            <a:endParaRPr lang="en-GB"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In addition to expansion slots, a motherboard might also have several on-board ports and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internal connectors. </a:t>
            </a:r>
          </a:p>
          <a:p>
            <a:pPr algn="just"/>
            <a:r>
              <a:rPr lang="en-US" dirty="0">
                <a:latin typeface="Times New Roman" panose="02020603050405020304" pitchFamily="18" charset="0"/>
                <a:cs typeface="Times New Roman" panose="02020603050405020304" pitchFamily="18" charset="0"/>
              </a:rPr>
              <a:t>Ports coming directly off the motherboard are called </a:t>
            </a:r>
            <a:r>
              <a:rPr lang="en-US" b="1" dirty="0">
                <a:latin typeface="Times New Roman" panose="02020603050405020304" pitchFamily="18" charset="0"/>
                <a:cs typeface="Times New Roman" panose="02020603050405020304" pitchFamily="18" charset="0"/>
              </a:rPr>
              <a:t>on-board ports </a:t>
            </a:r>
            <a:r>
              <a:rPr lang="en-US" dirty="0">
                <a:latin typeface="Times New Roman" panose="02020603050405020304" pitchFamily="18" charset="0"/>
                <a:cs typeface="Times New Roman" panose="02020603050405020304" pitchFamily="18" charset="0"/>
              </a:rPr>
              <a:t>or integrated components.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496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Almost all motherboards have two or more USB ports and sound ports. </a:t>
            </a:r>
          </a:p>
          <a:p>
            <a:pPr algn="just"/>
            <a:r>
              <a:rPr lang="en-US" dirty="0">
                <a:latin typeface="Times New Roman" panose="02020603050405020304" pitchFamily="18" charset="0"/>
                <a:cs typeface="Times New Roman" panose="02020603050405020304" pitchFamily="18" charset="0"/>
              </a:rPr>
              <a:t>Boards might also offer a network port, modem port, FireWire (IEEE 1394) port, video port, keyboard port, mouse port, parallel port, serial port, one or more </a:t>
            </a:r>
            <a:r>
              <a:rPr lang="en-US" dirty="0" err="1">
                <a:latin typeface="Times New Roman" panose="02020603050405020304" pitchFamily="18" charset="0"/>
                <a:cs typeface="Times New Roman" panose="02020603050405020304" pitchFamily="18" charset="0"/>
              </a:rPr>
              <a:t>eSATA</a:t>
            </a:r>
            <a:r>
              <a:rPr lang="en-US" dirty="0">
                <a:latin typeface="Times New Roman" panose="02020603050405020304" pitchFamily="18" charset="0"/>
                <a:cs typeface="Times New Roman" panose="02020603050405020304" pitchFamily="18" charset="0"/>
              </a:rPr>
              <a:t> ports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external SATA hard drives), and a port for a wireless antenna </a:t>
            </a:r>
            <a:br>
              <a:rPr lang="en-US" dirty="0"/>
            </a:br>
            <a:endParaRPr lang="en-GB" dirty="0"/>
          </a:p>
        </p:txBody>
      </p:sp>
    </p:spTree>
    <p:extLst>
      <p:ext uri="{BB962C8B-B14F-4D97-AF65-F5344CB8AC3E}">
        <p14:creationId xmlns:p14="http://schemas.microsoft.com/office/powerpoint/2010/main" val="2343440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HARDWARE CONFIGURATION</a:t>
            </a: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Settings on the motherboard are used to enable or disable a connector or port, set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frequency of the CPU, system bus, or other buses, control security features, and control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what happens when the PC first boots.</a:t>
            </a:r>
          </a:p>
          <a:p>
            <a:pPr algn="just"/>
            <a:r>
              <a:rPr lang="en-US" dirty="0">
                <a:latin typeface="Times New Roman" panose="02020603050405020304" pitchFamily="18" charset="0"/>
                <a:cs typeface="Times New Roman" panose="02020603050405020304" pitchFamily="18" charset="0"/>
              </a:rPr>
              <a:t> In the past, configuring these and other motherboard settings was done in three different ways: DIP switches, jumpers, and CMOS RAM.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679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Storing configuration information by physically setting DIP switches or jumpers on the motherboard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or peripheral devices was extremely inconvenient, because it often required us to open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computer case to make a change. </a:t>
            </a:r>
          </a:p>
          <a:p>
            <a:pPr algn="just"/>
            <a:r>
              <a:rPr lang="en-US" dirty="0">
                <a:latin typeface="Times New Roman" panose="02020603050405020304" pitchFamily="18" charset="0"/>
                <a:cs typeface="Times New Roman" panose="02020603050405020304" pitchFamily="18" charset="0"/>
              </a:rPr>
              <a:t>A more convenient method is to hold configuration information in CMOS RAM, and today’s computers store almost all configuration data there. </a:t>
            </a:r>
          </a:p>
          <a:p>
            <a:pPr algn="just"/>
            <a:r>
              <a:rPr lang="en-US" dirty="0">
                <a:latin typeface="Times New Roman" panose="02020603050405020304" pitchFamily="18" charset="0"/>
                <a:cs typeface="Times New Roman" panose="02020603050405020304" pitchFamily="18" charset="0"/>
              </a:rPr>
              <a:t>A program in BIOS, called BIOS setup or CMOS setup, can easily make changes to the setup values stored in CMOS RAM. </a:t>
            </a:r>
            <a:br>
              <a:rPr lang="en-US" dirty="0"/>
            </a:br>
            <a:endParaRPr lang="en-GB" dirty="0"/>
          </a:p>
          <a:p>
            <a:endParaRPr lang="en-GB" dirty="0"/>
          </a:p>
        </p:txBody>
      </p:sp>
    </p:spTree>
    <p:extLst>
      <p:ext uri="{BB962C8B-B14F-4D97-AF65-F5344CB8AC3E}">
        <p14:creationId xmlns:p14="http://schemas.microsoft.com/office/powerpoint/2010/main" val="3054266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SETUP DATA STORED BY DIP SWITCHES</a:t>
            </a:r>
            <a:endParaRPr lang="en-GB" dirty="0"/>
          </a:p>
        </p:txBody>
      </p:sp>
      <p:sp>
        <p:nvSpPr>
          <p:cNvPr id="3" name="Content Placeholder 2"/>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Some older motherboards and expansion cards store setup data using a </a:t>
            </a:r>
            <a:r>
              <a:rPr lang="en-US" b="1" dirty="0">
                <a:latin typeface="Times New Roman" panose="02020603050405020304" pitchFamily="18" charset="0"/>
                <a:cs typeface="Times New Roman" panose="02020603050405020304" pitchFamily="18" charset="0"/>
              </a:rPr>
              <a:t>dual inline package</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(DIP) switch</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A DIP switch has an ON position and an OFF position. ON represents binary 1 and OFF represents binary 0. </a:t>
            </a:r>
          </a:p>
          <a:p>
            <a:pPr algn="just"/>
            <a:r>
              <a:rPr lang="en-US" dirty="0">
                <a:latin typeface="Times New Roman" panose="02020603050405020304" pitchFamily="18" charset="0"/>
                <a:cs typeface="Times New Roman" panose="02020603050405020304" pitchFamily="18" charset="0"/>
              </a:rPr>
              <a:t>If you add or remove equipment,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you can communicate that to the computer by changing a DIP switch setting. </a:t>
            </a:r>
          </a:p>
          <a:p>
            <a:pPr algn="just"/>
            <a:r>
              <a:rPr lang="en-US" dirty="0">
                <a:latin typeface="Times New Roman" panose="02020603050405020304" pitchFamily="18" charset="0"/>
                <a:cs typeface="Times New Roman" panose="02020603050405020304" pitchFamily="18" charset="0"/>
              </a:rPr>
              <a:t>When you change a DIP switch setting, use a pointed instrument such as a ballpoint pen to push the switch. </a:t>
            </a:r>
          </a:p>
          <a:p>
            <a:pPr algn="just"/>
            <a:r>
              <a:rPr lang="en-US" dirty="0">
                <a:latin typeface="Times New Roman" panose="02020603050405020304" pitchFamily="18" charset="0"/>
                <a:cs typeface="Times New Roman" panose="02020603050405020304" pitchFamily="18" charset="0"/>
              </a:rPr>
              <a:t>Don’t use a graphite pencil because graphite conducts electricity. In addition, pieces of graphite dropped into the switch can damage it.</a:t>
            </a:r>
            <a:r>
              <a:rPr lang="en-US" dirty="0"/>
              <a:t> </a:t>
            </a:r>
            <a:br>
              <a:rPr lang="en-US" dirty="0"/>
            </a:br>
            <a:endParaRPr lang="en-GB" dirty="0"/>
          </a:p>
        </p:txBody>
      </p:sp>
    </p:spTree>
    <p:extLst>
      <p:ext uri="{BB962C8B-B14F-4D97-AF65-F5344CB8AC3E}">
        <p14:creationId xmlns:p14="http://schemas.microsoft.com/office/powerpoint/2010/main" val="37319025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SETUP DATA STORED BY JUMPERS</a:t>
            </a:r>
            <a:endParaRPr lang="en-GB" dirty="0"/>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Older motherboards can also retain setup or installation information in different settings of</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jumpers on the board. </a:t>
            </a:r>
          </a:p>
          <a:p>
            <a:pPr algn="just"/>
            <a:r>
              <a:rPr lang="en-US" b="1" dirty="0">
                <a:latin typeface="Times New Roman" panose="02020603050405020304" pitchFamily="18" charset="0"/>
                <a:cs typeface="Times New Roman" panose="02020603050405020304" pitchFamily="18" charset="0"/>
              </a:rPr>
              <a:t>Jumpers </a:t>
            </a:r>
            <a:r>
              <a:rPr lang="en-US" dirty="0">
                <a:latin typeface="Times New Roman" panose="02020603050405020304" pitchFamily="18" charset="0"/>
                <a:cs typeface="Times New Roman" panose="02020603050405020304" pitchFamily="18" charset="0"/>
              </a:rPr>
              <a:t>are considered open or closed based on whether a jumper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cover is present on two small posts or metal pins that stick up off the motherboard. </a:t>
            </a:r>
          </a:p>
          <a:p>
            <a:pPr algn="just"/>
            <a:r>
              <a:rPr lang="en-US" dirty="0">
                <a:latin typeface="Times New Roman" panose="02020603050405020304" pitchFamily="18" charset="0"/>
                <a:cs typeface="Times New Roman" panose="02020603050405020304" pitchFamily="18" charset="0"/>
              </a:rPr>
              <a:t>On these older boards, a group of jumpers might be used to tell the system at what speed the CPU is running, or to turn a power-saving feature on or off </a:t>
            </a:r>
            <a:br>
              <a:rPr lang="en-US" dirty="0"/>
            </a:br>
            <a:endParaRPr lang="en-GB" dirty="0"/>
          </a:p>
        </p:txBody>
      </p:sp>
    </p:spTree>
    <p:extLst>
      <p:ext uri="{BB962C8B-B14F-4D97-AF65-F5344CB8AC3E}">
        <p14:creationId xmlns:p14="http://schemas.microsoft.com/office/powerpoint/2010/main" val="396355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Most motherboards today allow you to set a supervisor password or user password to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control access to the system. For example, you can set two passwords in BIOS setup: one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control access to BIOS setup (supervisor password) and the other to lock access to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computer (user password).</a:t>
            </a:r>
          </a:p>
          <a:p>
            <a:pPr algn="just"/>
            <a:r>
              <a:rPr lang="en-US" dirty="0">
                <a:latin typeface="Times New Roman" panose="02020603050405020304" pitchFamily="18" charset="0"/>
                <a:cs typeface="Times New Roman" panose="02020603050405020304" pitchFamily="18" charset="0"/>
              </a:rPr>
              <a:t> If both passwords are forgotten, you cannot use the computer </a:t>
            </a:r>
            <a:br>
              <a:rPr lang="en-US" dirty="0"/>
            </a:br>
            <a:endParaRPr lang="en-GB" dirty="0"/>
          </a:p>
        </p:txBody>
      </p:sp>
    </p:spTree>
    <p:extLst>
      <p:ext uri="{BB962C8B-B14F-4D97-AF65-F5344CB8AC3E}">
        <p14:creationId xmlns:p14="http://schemas.microsoft.com/office/powerpoint/2010/main" val="795012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However, jumpers can be set to clear both passwords. Also, BIOS firmware might need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updating to solve a problem with the motherboard or to use a new motherboard feature.</a:t>
            </a:r>
          </a:p>
          <a:p>
            <a:pPr algn="just"/>
            <a:r>
              <a:rPr lang="en-US" dirty="0">
                <a:latin typeface="Times New Roman" panose="02020603050405020304" pitchFamily="18" charset="0"/>
                <a:cs typeface="Times New Roman" panose="02020603050405020304" pitchFamily="18" charset="0"/>
              </a:rPr>
              <a:t>If updating BIOS fails, jumpers can be set to undo the update. </a:t>
            </a:r>
          </a:p>
          <a:p>
            <a:pPr algn="just"/>
            <a:r>
              <a:rPr lang="en-US" dirty="0">
                <a:latin typeface="Times New Roman" panose="02020603050405020304" pitchFamily="18" charset="0"/>
                <a:cs typeface="Times New Roman" panose="02020603050405020304" pitchFamily="18" charset="0"/>
              </a:rPr>
              <a:t>How to set and clear passwords, update BIOS </a:t>
            </a:r>
            <a:br>
              <a:rPr lang="en-US" dirty="0"/>
            </a:br>
            <a:endParaRPr lang="en-GB" dirty="0"/>
          </a:p>
        </p:txBody>
      </p:sp>
    </p:spTree>
    <p:extLst>
      <p:ext uri="{BB962C8B-B14F-4D97-AF65-F5344CB8AC3E}">
        <p14:creationId xmlns:p14="http://schemas.microsoft.com/office/powerpoint/2010/main" val="1918888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SETUP DATA STORED IN CMOS RAM</a:t>
            </a:r>
            <a:endParaRPr lang="en-GB"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Computers today store most configuration information in CMOS RAM, also called the </a:t>
            </a:r>
            <a:r>
              <a:rPr lang="en-US" dirty="0" err="1">
                <a:latin typeface="Times New Roman" panose="02020603050405020304" pitchFamily="18" charset="0"/>
                <a:cs typeface="Times New Roman" panose="02020603050405020304" pitchFamily="18" charset="0"/>
              </a:rPr>
              <a:t>realtime</a:t>
            </a:r>
            <a:r>
              <a:rPr lang="en-US" dirty="0">
                <a:latin typeface="Times New Roman" panose="02020603050405020304" pitchFamily="18" charset="0"/>
                <a:cs typeface="Times New Roman" panose="02020603050405020304" pitchFamily="18" charset="0"/>
              </a:rPr>
              <a:t> clock/non-volatile RAM (RTC/NVRAM) chip, which retains the data even when the computer is turned off. </a:t>
            </a:r>
          </a:p>
          <a:p>
            <a:pPr algn="just"/>
            <a:r>
              <a:rPr lang="en-US" dirty="0">
                <a:latin typeface="Times New Roman" panose="02020603050405020304" pitchFamily="18" charset="0"/>
                <a:cs typeface="Times New Roman" panose="02020603050405020304" pitchFamily="18" charset="0"/>
              </a:rPr>
              <a:t>Motherboard manuals should contain a list of all BIOS settings (also called CMOS settings), an explanation of their meanings, and their recommended values.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0352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When you purchase a motherboard or a computer, be sure the manual is included as a printed booklet or on CD. </a:t>
            </a:r>
          </a:p>
          <a:p>
            <a:pPr algn="just"/>
            <a:r>
              <a:rPr lang="en-US" dirty="0">
                <a:latin typeface="Times New Roman" panose="02020603050405020304" pitchFamily="18" charset="0"/>
                <a:cs typeface="Times New Roman" panose="02020603050405020304" pitchFamily="18" charset="0"/>
              </a:rPr>
              <a:t>If you don’t have the manual, you can sometimes go to the motherboard manufacturer’s Web site and download the information you need to understand the specific BIOS settings of your computer. </a:t>
            </a:r>
            <a:br>
              <a:rPr lang="en-US" dirty="0"/>
            </a:br>
            <a:endParaRPr lang="en-GB" dirty="0"/>
          </a:p>
        </p:txBody>
      </p:sp>
    </p:spTree>
    <p:extLst>
      <p:ext uri="{BB962C8B-B14F-4D97-AF65-F5344CB8AC3E}">
        <p14:creationId xmlns:p14="http://schemas.microsoft.com/office/powerpoint/2010/main" val="10353565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US" i="1" dirty="0">
                <a:latin typeface="Times New Roman" panose="02020603050405020304" pitchFamily="18" charset="0"/>
                <a:cs typeface="Times New Roman" panose="02020603050405020304" pitchFamily="18" charset="0"/>
              </a:rPr>
              <a:t>Battery Power to CMOS RAM</a:t>
            </a:r>
          </a:p>
          <a:p>
            <a:pPr algn="just"/>
            <a:r>
              <a:rPr lang="en-US" dirty="0">
                <a:latin typeface="Times New Roman" panose="02020603050405020304" pitchFamily="18" charset="0"/>
                <a:cs typeface="Times New Roman" panose="02020603050405020304" pitchFamily="18" charset="0"/>
              </a:rPr>
              <a:t>A small trickle of electricity from a nearby lithium coin-cell battery enables CMOS RAM to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hold configuration data, even while the main power to the computer is off. </a:t>
            </a:r>
          </a:p>
          <a:p>
            <a:pPr algn="just"/>
            <a:r>
              <a:rPr lang="en-US" dirty="0">
                <a:latin typeface="Times New Roman" panose="02020603050405020304" pitchFamily="18" charset="0"/>
                <a:cs typeface="Times New Roman" panose="02020603050405020304" pitchFamily="18" charset="0"/>
              </a:rPr>
              <a:t>If the </a:t>
            </a:r>
            <a:r>
              <a:rPr lang="en-US" b="1" dirty="0">
                <a:latin typeface="Times New Roman" panose="02020603050405020304" pitchFamily="18" charset="0"/>
                <a:cs typeface="Times New Roman" panose="02020603050405020304" pitchFamily="18" charset="0"/>
              </a:rPr>
              <a:t>CMOS battery </a:t>
            </a:r>
            <a:r>
              <a:rPr lang="en-US" dirty="0">
                <a:latin typeface="Times New Roman" panose="02020603050405020304" pitchFamily="18" charset="0"/>
                <a:cs typeface="Times New Roman" panose="02020603050405020304" pitchFamily="18" charset="0"/>
              </a:rPr>
              <a:t>is disconnected or fails, setup information is lost. </a:t>
            </a:r>
          </a:p>
          <a:p>
            <a:pPr algn="just"/>
            <a:r>
              <a:rPr lang="en-US" dirty="0">
                <a:latin typeface="Times New Roman" panose="02020603050405020304" pitchFamily="18" charset="0"/>
                <a:cs typeface="Times New Roman" panose="02020603050405020304" pitchFamily="18" charset="0"/>
              </a:rPr>
              <a:t>An indication that the battery is getting weak is that the system date and time are incorrect after power has been disconnected to the PC. </a:t>
            </a:r>
            <a:br>
              <a:rPr lang="en-US" dirty="0"/>
            </a:br>
            <a:endParaRPr lang="en-GB" dirty="0"/>
          </a:p>
        </p:txBody>
      </p:sp>
    </p:spTree>
    <p:extLst>
      <p:ext uri="{BB962C8B-B14F-4D97-AF65-F5344CB8AC3E}">
        <p14:creationId xmlns:p14="http://schemas.microsoft.com/office/powerpoint/2010/main" val="1156217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846</TotalTime>
  <Words>1671</Words>
  <Application>Microsoft Office PowerPoint</Application>
  <PresentationFormat>On-screen Show (4:3)</PresentationFormat>
  <Paragraphs>158</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Motherboard </vt:lpstr>
      <vt:lpstr>PowerPoint Presentation</vt:lpstr>
      <vt:lpstr>PowerPoint Presentation</vt:lpstr>
      <vt:lpstr>Features of motherboard </vt:lpstr>
      <vt:lpstr>Motherboard form factor</vt:lpstr>
      <vt:lpstr>PowerPoint Presentation</vt:lpstr>
      <vt:lpstr>PowerPoint Presentation</vt:lpstr>
      <vt:lpstr>PowerPoint Presentation</vt:lpstr>
      <vt:lpstr>TYPES OF FORM FACTOR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Processor socket </vt:lpstr>
      <vt:lpstr>PowerPoint Presentation</vt:lpstr>
      <vt:lpstr>PowerPoint Presentation</vt:lpstr>
      <vt:lpstr>PowerPoint Presentation</vt:lpstr>
      <vt:lpstr>PowerPoint Presentation</vt:lpstr>
      <vt:lpstr>Chipset</vt:lpstr>
      <vt:lpstr>PowerPoint Presentation</vt:lpstr>
      <vt:lpstr> more popular chipsets are listed here: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Buses and Expansion Slots</vt:lpstr>
      <vt:lpstr>PowerPoint Presentation</vt:lpstr>
      <vt:lpstr>PowerPoint Presentation</vt:lpstr>
      <vt:lpstr>PowerPoint Presentation</vt:lpstr>
      <vt:lpstr>PowerPoint Presentation</vt:lpstr>
      <vt:lpstr>PowerPoint Presentation</vt:lpstr>
      <vt:lpstr>THE PCI BUSES</vt:lpstr>
      <vt:lpstr>ON-BOARD PORTS AND CONNECTORS</vt:lpstr>
      <vt:lpstr>PowerPoint Presentation</vt:lpstr>
      <vt:lpstr>HARDWARE CONFIGURATION</vt:lpstr>
      <vt:lpstr>PowerPoint Presentation</vt:lpstr>
      <vt:lpstr>SETUP DATA STORED BY DIP SWITCHES</vt:lpstr>
      <vt:lpstr>SETUP DATA STORED BY JUMPERS</vt:lpstr>
      <vt:lpstr>PowerPoint Presentation</vt:lpstr>
      <vt:lpstr>PowerPoint Presentation</vt:lpstr>
      <vt:lpstr>SETUP DATA STORED IN CMOS RAM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Motherboard</dc:title>
  <dc:creator>Chifundo</dc:creator>
  <cp:lastModifiedBy>lester luhanga</cp:lastModifiedBy>
  <cp:revision>14</cp:revision>
  <dcterms:created xsi:type="dcterms:W3CDTF">2021-06-03T09:09:44Z</dcterms:created>
  <dcterms:modified xsi:type="dcterms:W3CDTF">2025-06-16T16:46:36Z</dcterms:modified>
</cp:coreProperties>
</file>