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3" r:id="rId10"/>
    <p:sldId id="264" r:id="rId11"/>
    <p:sldId id="265" r:id="rId12"/>
    <p:sldId id="266" r:id="rId13"/>
    <p:sldId id="267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F73AC-48D2-4A4F-A7F4-8A104C7C4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1D9D2F-B48F-49EF-AA80-5907D610A6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B892E-FBB9-457D-81FF-0D828E87D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A0A4-DD8A-4F2C-A3A4-945FD6961E10}" type="datetimeFigureOut">
              <a:rPr lang="en-GB" smtClean="0"/>
              <a:t>06/03/2026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0779A-296F-49B0-8584-1AF5A49F5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A191B-C990-4254-816F-28E52CD1F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739C2-5DEC-4BAF-BF23-1E90F08E62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4909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443D9-DC78-456E-AD7C-A8DB8FBB2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F427A-C9A6-47D8-B86C-926A84218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24A45-0600-46C4-AA09-7B9DDE346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A0A4-DD8A-4F2C-A3A4-945FD6961E10}" type="datetimeFigureOut">
              <a:rPr lang="en-GB" smtClean="0"/>
              <a:t>06/03/2026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A81CC-7340-4A20-9081-C11EA3C2F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E49FE-9940-4FBB-BF2E-835F83F9F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739C2-5DEC-4BAF-BF23-1E90F08E62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4994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A58C1-4DA6-476E-86EB-0A102873C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36E99-1FE9-4131-A8D7-3127F99E4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B4DCB-8655-48A6-907A-348EED514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A0A4-DD8A-4F2C-A3A4-945FD6961E10}" type="datetimeFigureOut">
              <a:rPr lang="en-GB" smtClean="0"/>
              <a:t>06/03/2026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7AD00-1F12-433D-AD9E-4EC6773C1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35E4D-B98D-4ED9-BD72-7C5DA94C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739C2-5DEC-4BAF-BF23-1E90F08E62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925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E8218-9598-4775-8D1C-408A2E7BF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C93B8-CCE5-439A-BE5E-8B0D8A9877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5E6F7-8842-43F2-8841-38BCF7D78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B2FBB-2789-4D14-A1C3-E87BF514D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A0A4-DD8A-4F2C-A3A4-945FD6961E10}" type="datetimeFigureOut">
              <a:rPr lang="en-GB" smtClean="0"/>
              <a:t>06/03/2026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5871B-E9FC-4A7F-BC77-9D6C48BC6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F1CAA2-FC60-4EFF-A506-76D37DE4B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739C2-5DEC-4BAF-BF23-1E90F08E62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2186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494ED-5A22-46A9-AC62-8760CEEF4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3B8AF0-03E2-4D05-AF3E-4B1F1B585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929286-D252-4269-A8C4-037DCC8CF8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841818-65C7-411E-BD6E-70F4FA1635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624436-27E4-4740-BDE8-3532F83045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6D864F-4387-4DE4-8F5E-25C954127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A0A4-DD8A-4F2C-A3A4-945FD6961E10}" type="datetimeFigureOut">
              <a:rPr lang="en-GB" smtClean="0"/>
              <a:t>06/03/2026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85DB0C-9A9C-42BA-B2D3-1E0FE66EB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2CFF25-640F-4A61-A5E7-2156F39FC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739C2-5DEC-4BAF-BF23-1E90F08E62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3315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760C5-C435-4D24-AC34-EB86A0101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AC50CD-CD2C-469B-8BDD-A3EC72DCA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A0A4-DD8A-4F2C-A3A4-945FD6961E10}" type="datetimeFigureOut">
              <a:rPr lang="en-GB" smtClean="0"/>
              <a:t>06/03/2026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7025E-DFA8-4D81-845E-1C44DB284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070016-B5D0-405A-9AA2-9DA801C72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739C2-5DEC-4BAF-BF23-1E90F08E62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2552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A5BDCD-FE17-4095-8828-2E8A6D2C5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A0A4-DD8A-4F2C-A3A4-945FD6961E10}" type="datetimeFigureOut">
              <a:rPr lang="en-GB" smtClean="0"/>
              <a:t>06/03/2026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2EE870-15A5-4CC7-912C-ACFD9F2DA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E40FD-BF74-4C75-AA76-83588CEA1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739C2-5DEC-4BAF-BF23-1E90F08E62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2758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8DB7C-6FC4-491A-9227-6E9BD3E1F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0A4AA-E4AB-43F1-ABBA-750EA4753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691710-C1CD-4BFA-BAD2-E596AB50E9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35DC9A-9D11-45C7-8D77-D7A8E7294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A0A4-DD8A-4F2C-A3A4-945FD6961E10}" type="datetimeFigureOut">
              <a:rPr lang="en-GB" smtClean="0"/>
              <a:t>06/03/2026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AEC93F-51E5-41C8-BE63-B6C3C70D3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D696A-62DF-4FB6-828C-B7E886EEF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739C2-5DEC-4BAF-BF23-1E90F08E62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3201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E8D3B-B7FA-48F8-BA84-C0F6FEEB4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121BB7-C747-433F-BB68-C61F4E1335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802E5D-6608-4837-8039-F7C265E82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F84267-715F-4F03-9153-D85794741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A0A4-DD8A-4F2C-A3A4-945FD6961E10}" type="datetimeFigureOut">
              <a:rPr lang="en-GB" smtClean="0"/>
              <a:t>06/03/2026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F4A53C-07DC-4010-B7D3-729246BB9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12020-0116-43D7-84C0-5360595C8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739C2-5DEC-4BAF-BF23-1E90F08E62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1220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03CC2-B165-40B3-8121-44A55333F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66F1F1-5810-4F19-9DAE-F2020C340E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D1B79-6443-488E-BAA5-25D042720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A0A4-DD8A-4F2C-A3A4-945FD6961E10}" type="datetimeFigureOut">
              <a:rPr lang="en-GB" smtClean="0"/>
              <a:t>06/03/2026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B53B7-2693-4763-B365-BBFAC63AD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35251-442C-4489-A376-0C6798FEF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739C2-5DEC-4BAF-BF23-1E90F08E62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2549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26BE41-5DA4-4770-B86B-0EB2852C7D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36364D-E100-4FC2-BC7E-453FE98DB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8075C-E413-49C0-813F-D098BD3C7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A0A4-DD8A-4F2C-A3A4-945FD6961E10}" type="datetimeFigureOut">
              <a:rPr lang="en-GB" smtClean="0"/>
              <a:t>06/03/2026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EE525-A2CB-41F3-8953-072D0B719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BB52D-741E-411F-8E96-BBAA09198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739C2-5DEC-4BAF-BF23-1E90F08E62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4192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6D344A-1FCF-40D7-9AE5-54E5AEED8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AFBA02-0EFF-414C-8848-645A52882C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66292-742B-45AF-92E8-D47E6BB2B8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FA0A4-DD8A-4F2C-A3A4-945FD6961E10}" type="datetimeFigureOut">
              <a:rPr lang="en-GB" smtClean="0"/>
              <a:t>06/03/2026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04C33-DE1E-4801-ACAE-819C9AFE90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04198-8663-4A8A-A31F-E2AAF0B4A6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0739C2-5DEC-4BAF-BF23-1E90F08E62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5923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F9F89-34D1-47F9-AD92-A94F4DA8F1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269070-1A9F-4EF3-8950-DEA86D3708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4506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2EEA9-46D3-4D2D-BAD9-A038238A5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2EF57E-3A60-429D-8600-D01F5A8A5E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81662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201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8BA5F-436D-465D-A5A4-480FB4674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pPr algn="ctr"/>
            <a:br>
              <a:rPr lang="en-GB" dirty="0"/>
            </a:br>
            <a:r>
              <a:rPr lang="en-GB" dirty="0"/>
              <a:t>One-Sample T-Test (SPSS)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CEF76-E50D-4A37-9741-6A6DEA230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Use a One-Sample T-Test when you want to compare: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Sample mean vs known population mean</a:t>
            </a:r>
          </a:p>
          <a:p>
            <a:pPr marL="0" indent="0">
              <a:buNone/>
            </a:pPr>
            <a:r>
              <a:rPr lang="en-GB" sz="2300" b="1" dirty="0"/>
              <a:t>Example research question:</a:t>
            </a:r>
          </a:p>
          <a:p>
            <a:r>
              <a:rPr lang="en-GB" sz="2300" dirty="0"/>
              <a:t>Do students in this class score differently from the national average score of 70?</a:t>
            </a:r>
          </a:p>
          <a:p>
            <a:pPr marL="0" indent="0">
              <a:buNone/>
            </a:pPr>
            <a:endParaRPr lang="en-GB" sz="2300" dirty="0"/>
          </a:p>
          <a:p>
            <a:pPr marL="0" indent="0">
              <a:buNone/>
            </a:pPr>
            <a:endParaRPr lang="en-GB" sz="2300" dirty="0"/>
          </a:p>
        </p:txBody>
      </p:sp>
    </p:spTree>
    <p:extLst>
      <p:ext uri="{BB962C8B-B14F-4D97-AF65-F5344CB8AC3E}">
        <p14:creationId xmlns:p14="http://schemas.microsoft.com/office/powerpoint/2010/main" val="2050165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26A5A-CEC1-403C-8257-6A7105622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Sample data (one sample T test)</a:t>
            </a:r>
            <a:br>
              <a:rPr lang="en-GB" dirty="0"/>
            </a:br>
            <a:r>
              <a:rPr lang="en-GB" dirty="0"/>
              <a:t>Population mean = </a:t>
            </a:r>
            <a:r>
              <a:rPr lang="en-GB" b="1" dirty="0"/>
              <a:t>70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6BA951A-3D08-4F51-9A0F-0DC3AEB082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4987113"/>
              </p:ext>
            </p:extLst>
          </p:nvPr>
        </p:nvGraphicFramePr>
        <p:xfrm>
          <a:off x="838200" y="1989614"/>
          <a:ext cx="10515600" cy="4667223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66879498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82701693"/>
                    </a:ext>
                  </a:extLst>
                </a:gridCol>
              </a:tblGrid>
              <a:tr h="424293">
                <a:tc>
                  <a:txBody>
                    <a:bodyPr/>
                    <a:lstStyle/>
                    <a:p>
                      <a:r>
                        <a:rPr lang="en-GB"/>
                        <a:t>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6398734"/>
                  </a:ext>
                </a:extLst>
              </a:tr>
              <a:tr h="424293"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7383950"/>
                  </a:ext>
                </a:extLst>
              </a:tr>
              <a:tr h="424293">
                <a:tc>
                  <a:txBody>
                    <a:bodyPr/>
                    <a:lstStyle/>
                    <a:p>
                      <a:r>
                        <a:rPr lang="en-GB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8371825"/>
                  </a:ext>
                </a:extLst>
              </a:tr>
              <a:tr h="424293">
                <a:tc>
                  <a:txBody>
                    <a:bodyPr/>
                    <a:lstStyle/>
                    <a:p>
                      <a:r>
                        <a:rPr lang="en-GB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5470670"/>
                  </a:ext>
                </a:extLst>
              </a:tr>
              <a:tr h="424293">
                <a:tc>
                  <a:txBody>
                    <a:bodyPr/>
                    <a:lstStyle/>
                    <a:p>
                      <a:r>
                        <a:rPr lang="en-GB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9842718"/>
                  </a:ext>
                </a:extLst>
              </a:tr>
              <a:tr h="424293">
                <a:tc>
                  <a:txBody>
                    <a:bodyPr/>
                    <a:lstStyle/>
                    <a:p>
                      <a:r>
                        <a:rPr lang="en-GB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980774"/>
                  </a:ext>
                </a:extLst>
              </a:tr>
              <a:tr h="424293">
                <a:tc>
                  <a:txBody>
                    <a:bodyPr/>
                    <a:lstStyle/>
                    <a:p>
                      <a:r>
                        <a:rPr lang="en-GB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6198252"/>
                  </a:ext>
                </a:extLst>
              </a:tr>
              <a:tr h="424293">
                <a:tc>
                  <a:txBody>
                    <a:bodyPr/>
                    <a:lstStyle/>
                    <a:p>
                      <a:r>
                        <a:rPr lang="en-GB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2462680"/>
                  </a:ext>
                </a:extLst>
              </a:tr>
              <a:tr h="424293">
                <a:tc>
                  <a:txBody>
                    <a:bodyPr/>
                    <a:lstStyle/>
                    <a:p>
                      <a:r>
                        <a:rPr lang="en-GB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6266772"/>
                  </a:ext>
                </a:extLst>
              </a:tr>
              <a:tr h="424293">
                <a:tc>
                  <a:txBody>
                    <a:bodyPr/>
                    <a:lstStyle/>
                    <a:p>
                      <a:r>
                        <a:rPr lang="en-GB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6808834"/>
                  </a:ext>
                </a:extLst>
              </a:tr>
              <a:tr h="424293">
                <a:tc>
                  <a:txBody>
                    <a:bodyPr/>
                    <a:lstStyle/>
                    <a:p>
                      <a:r>
                        <a:rPr lang="en-GB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0219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7332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222D4-6CD9-4E12-9C12-9C47D6F68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6707"/>
          </a:xfrm>
        </p:spPr>
        <p:txBody>
          <a:bodyPr>
            <a:normAutofit fontScale="90000"/>
          </a:bodyPr>
          <a:lstStyle/>
          <a:p>
            <a:pPr algn="ctr"/>
            <a:br>
              <a:rPr lang="en-GB" b="1" dirty="0"/>
            </a:br>
            <a:r>
              <a:rPr lang="en-GB" b="1" dirty="0"/>
              <a:t>SPSS Data Setup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87D05-23D7-440A-AE68-52BF62526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Variable View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Data View</a:t>
            </a:r>
          </a:p>
          <a:p>
            <a:r>
              <a:rPr lang="en-GB" dirty="0"/>
              <a:t>Enter the scores.</a:t>
            </a:r>
          </a:p>
          <a:p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07F0CF3-2FFB-400B-9C91-72004200EB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902550"/>
              </p:ext>
            </p:extLst>
          </p:nvPr>
        </p:nvGraphicFramePr>
        <p:xfrm>
          <a:off x="838200" y="2346230"/>
          <a:ext cx="10515600" cy="7315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38106693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8688830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354047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Measure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5583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Numeric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Scale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6154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0018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18D37-A27E-405E-8CEE-FDCB776B8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5267"/>
          </a:xfrm>
        </p:spPr>
        <p:txBody>
          <a:bodyPr>
            <a:normAutofit fontScale="90000"/>
          </a:bodyPr>
          <a:lstStyle/>
          <a:p>
            <a:pPr algn="ctr"/>
            <a:br>
              <a:rPr lang="en-GB" b="1" dirty="0"/>
            </a:br>
            <a:r>
              <a:rPr lang="en-GB" b="1" dirty="0"/>
              <a:t>SPSS Procedure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7EEA6-421D-4640-A7A9-E76676B02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err="1"/>
              <a:t>Analyze</a:t>
            </a:r>
            <a:endParaRPr lang="en-GB" dirty="0"/>
          </a:p>
          <a:p>
            <a:r>
              <a:rPr lang="en-GB" b="1" dirty="0"/>
              <a:t>Compare Means</a:t>
            </a:r>
            <a:endParaRPr lang="en-GB" dirty="0"/>
          </a:p>
          <a:p>
            <a:r>
              <a:rPr lang="en-GB" b="1" dirty="0"/>
              <a:t>One-Sample T Test</a:t>
            </a:r>
            <a:endParaRPr lang="en-GB" dirty="0"/>
          </a:p>
          <a:p>
            <a:r>
              <a:rPr lang="en-GB" dirty="0"/>
              <a:t>Move </a:t>
            </a:r>
            <a:r>
              <a:rPr lang="en-GB" b="1" dirty="0"/>
              <a:t>Score → Test Variable</a:t>
            </a:r>
            <a:endParaRPr lang="en-GB" dirty="0"/>
          </a:p>
          <a:p>
            <a:r>
              <a:rPr lang="en-GB" dirty="0"/>
              <a:t>Enter </a:t>
            </a:r>
            <a:r>
              <a:rPr lang="en-GB" b="1" dirty="0"/>
              <a:t>Test Value = 70</a:t>
            </a:r>
            <a:endParaRPr lang="en-GB" dirty="0"/>
          </a:p>
          <a:p>
            <a:r>
              <a:rPr lang="en-GB" dirty="0"/>
              <a:t>Click </a:t>
            </a:r>
            <a:r>
              <a:rPr lang="en-GB" b="1" dirty="0"/>
              <a:t>OK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1649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70AD8-499F-4EBD-A93C-2CABCDE61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Independent Samples T-Test (SPSS)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730DD-8E5B-4445-82D6-B0E35B0C8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When to Use It</a:t>
            </a:r>
          </a:p>
          <a:p>
            <a:r>
              <a:rPr lang="en-GB" dirty="0"/>
              <a:t>Use when comparing </a:t>
            </a:r>
            <a:r>
              <a:rPr lang="en-GB" b="1" dirty="0"/>
              <a:t>two different groups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Example:</a:t>
            </a:r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8DB3198-A144-4F3D-B539-417A5CE06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84379"/>
              </p:ext>
            </p:extLst>
          </p:nvPr>
        </p:nvGraphicFramePr>
        <p:xfrm>
          <a:off x="838200" y="3269774"/>
          <a:ext cx="10515600" cy="17678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98471909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376236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2300" b="1" dirty="0"/>
                        <a:t>Group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5017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300"/>
                        <a:t>Male vs Female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8027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300" dirty="0"/>
                        <a:t>Teaching Method A vs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8714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300" dirty="0"/>
                        <a:t>Urban vs Rural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6624218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3182C65-BB9E-4012-9AD4-5958DA7C7754}"/>
              </a:ext>
            </a:extLst>
          </p:cNvPr>
          <p:cNvSpPr/>
          <p:nvPr/>
        </p:nvSpPr>
        <p:spPr>
          <a:xfrm>
            <a:off x="917448" y="4993223"/>
            <a:ext cx="10722864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300" b="1" dirty="0"/>
              <a:t>Research question example:</a:t>
            </a:r>
          </a:p>
          <a:p>
            <a:r>
              <a:rPr lang="en-GB" sz="2300" dirty="0"/>
              <a:t>Do students taught using a new teaching method score higher than those using the traditional method?</a:t>
            </a:r>
          </a:p>
        </p:txBody>
      </p:sp>
    </p:spTree>
    <p:extLst>
      <p:ext uri="{BB962C8B-B14F-4D97-AF65-F5344CB8AC3E}">
        <p14:creationId xmlns:p14="http://schemas.microsoft.com/office/powerpoint/2010/main" val="4064576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74D2-CD80-4503-8645-83B89F9F7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GB" dirty="0"/>
            </a:br>
            <a:r>
              <a:rPr lang="en-GB" dirty="0"/>
              <a:t>Hypotheses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2AC5-2A3D-4A5D-9200-2EB9AD7CD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Null Hypothesis (H₀):</a:t>
            </a:r>
          </a:p>
          <a:p>
            <a:r>
              <a:rPr lang="en-GB" dirty="0"/>
              <a:t>There is no difference between the two group means. </a:t>
            </a:r>
          </a:p>
          <a:p>
            <a:pPr marL="0" indent="0">
              <a:buNone/>
            </a:pPr>
            <a:r>
              <a:rPr lang="en-GB" dirty="0"/>
              <a:t>​</a:t>
            </a:r>
            <a:r>
              <a:rPr lang="en-GB" b="1" dirty="0"/>
              <a:t>Alternative Hypothesis (H₁):</a:t>
            </a:r>
          </a:p>
          <a:p>
            <a:r>
              <a:rPr lang="en-GB" dirty="0"/>
              <a:t>There is a difference between the means. ​</a:t>
            </a:r>
          </a:p>
        </p:txBody>
      </p:sp>
    </p:spTree>
    <p:extLst>
      <p:ext uri="{BB962C8B-B14F-4D97-AF65-F5344CB8AC3E}">
        <p14:creationId xmlns:p14="http://schemas.microsoft.com/office/powerpoint/2010/main" val="2525075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724A7-AA73-42C4-BC42-9EBD4C798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5851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Example Dataset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3E50FE2-B12B-411B-9FB1-52AF7511E39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180749"/>
          <a:ext cx="10515600" cy="32918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45441541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7101289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96864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/>
                        <a:t>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1372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New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2702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New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5129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New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3143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New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0018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Traditional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9571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Traditional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2852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Traditional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4696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Traditional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4829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0440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4462F-04F2-4CAD-AE83-1F72B7137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SPSS Variable Setup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B2E30D8-DBD7-4DC4-971E-273742E69C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4239362"/>
              </p:ext>
            </p:extLst>
          </p:nvPr>
        </p:nvGraphicFramePr>
        <p:xfrm>
          <a:off x="691896" y="2017046"/>
          <a:ext cx="10515600" cy="10972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83193040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8729723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618911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Measure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4439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Numeric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Nominal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7706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Numeric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Scale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175656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7C449F3-154A-445E-AE30-2D6E8CC345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481907"/>
              </p:ext>
            </p:extLst>
          </p:nvPr>
        </p:nvGraphicFramePr>
        <p:xfrm>
          <a:off x="691896" y="3743675"/>
          <a:ext cx="10515600" cy="1097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4460197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54888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Label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769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New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914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Traditional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5676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8408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A2658-9C67-4775-AA91-A47AF79F3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SPSS Procedure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504F9-8C75-4F11-9D2C-37497D1CF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err="1"/>
              <a:t>Analyze</a:t>
            </a:r>
            <a:endParaRPr lang="en-GB" dirty="0"/>
          </a:p>
          <a:p>
            <a:r>
              <a:rPr lang="en-GB" dirty="0"/>
              <a:t>Compare Means</a:t>
            </a:r>
          </a:p>
          <a:p>
            <a:r>
              <a:rPr lang="en-GB" dirty="0"/>
              <a:t>Independent-Samples T Test</a:t>
            </a:r>
          </a:p>
          <a:p>
            <a:r>
              <a:rPr lang="en-GB" dirty="0"/>
              <a:t>Move Score → Test Variable</a:t>
            </a:r>
          </a:p>
          <a:p>
            <a:r>
              <a:rPr lang="en-GB" dirty="0"/>
              <a:t>Move Method → Grouping Variable</a:t>
            </a:r>
          </a:p>
          <a:p>
            <a:r>
              <a:rPr lang="en-GB" dirty="0"/>
              <a:t>Click Define Groups</a:t>
            </a:r>
          </a:p>
          <a:p>
            <a:r>
              <a:rPr lang="en-GB" dirty="0"/>
              <a:t>Group 1 = 1</a:t>
            </a:r>
          </a:p>
          <a:p>
            <a:r>
              <a:rPr lang="en-GB" dirty="0"/>
              <a:t>Group 2 = 2</a:t>
            </a:r>
          </a:p>
          <a:p>
            <a:r>
              <a:rPr lang="en-GB" dirty="0"/>
              <a:t>Click OK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9312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29FC6-5B34-4F89-8B6C-E90F07651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4411"/>
          </a:xfrm>
        </p:spPr>
        <p:txBody>
          <a:bodyPr>
            <a:normAutofit fontScale="90000"/>
          </a:bodyPr>
          <a:lstStyle/>
          <a:p>
            <a:pPr algn="ctr"/>
            <a:br>
              <a:rPr lang="en-GB" b="1" dirty="0"/>
            </a:br>
            <a:r>
              <a:rPr lang="en-GB" b="1" dirty="0"/>
              <a:t>Output Interpretation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73665-B3A0-48AE-B782-2974636EA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Focus on:</a:t>
            </a:r>
          </a:p>
          <a:p>
            <a:r>
              <a:rPr lang="en-GB" b="1" dirty="0" err="1"/>
              <a:t>Levene's</a:t>
            </a:r>
            <a:r>
              <a:rPr lang="en-GB" b="1" dirty="0"/>
              <a:t> Test</a:t>
            </a:r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dirty="0"/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D4C36B-0E44-4BE5-A33E-6BCEF2DE77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843172"/>
              </p:ext>
            </p:extLst>
          </p:nvPr>
        </p:nvGraphicFramePr>
        <p:xfrm>
          <a:off x="774192" y="4111022"/>
          <a:ext cx="10515600" cy="109728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42338476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/>
                        <a:t>Sig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386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/>
                        <a:t>&gt;0.05 = Equal variance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5279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/>
                        <a:t>&lt;0.05 = Not equal variance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262195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3636828-1833-4584-BC68-F0FF1CDCB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089373"/>
              </p:ext>
            </p:extLst>
          </p:nvPr>
        </p:nvGraphicFramePr>
        <p:xfrm>
          <a:off x="838200" y="2880360"/>
          <a:ext cx="10515600" cy="1097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44303488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955045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/>
                        <a:t>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1915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0.000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38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/>
                        <a:t>Sig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1.000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6526997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B4C021F5-8FEC-43AF-AC5B-140F7E2FD1DF}"/>
              </a:ext>
            </a:extLst>
          </p:cNvPr>
          <p:cNvSpPr/>
          <p:nvPr/>
        </p:nvSpPr>
        <p:spPr>
          <a:xfrm>
            <a:off x="774192" y="5387015"/>
            <a:ext cx="102900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1.000&gt;0.05 </a:t>
            </a:r>
          </a:p>
          <a:p>
            <a:r>
              <a:rPr lang="en-GB" dirty="0"/>
              <a:t> </a:t>
            </a:r>
            <a:r>
              <a:rPr lang="en-GB" b="1" dirty="0"/>
              <a:t>Variances are equal</a:t>
            </a:r>
            <a:endParaRPr lang="en-GB" dirty="0"/>
          </a:p>
          <a:p>
            <a:r>
              <a:rPr lang="en-GB" dirty="0"/>
              <a:t>Therefore we use the rule:</a:t>
            </a:r>
          </a:p>
          <a:p>
            <a:r>
              <a:rPr lang="en-GB" b="1" dirty="0"/>
              <a:t>Equal variances assumed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4918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E2A4C-70AA-4AA7-9414-AC1F87F22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6707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Output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C13560C-5EDC-46C9-9F76-E19F448C70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92446"/>
            <a:ext cx="9715500" cy="1857375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C8ABA10-4964-4971-97F7-F5A370BE76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324410"/>
              </p:ext>
            </p:extLst>
          </p:nvPr>
        </p:nvGraphicFramePr>
        <p:xfrm>
          <a:off x="838200" y="3809270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55770534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7833089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/>
                        <a:t>Statistic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523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5.136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0190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df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1642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Sig (p-value)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0.002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6985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Mean Difference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6829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6580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8F1ED-31E3-474C-B44A-600729236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9003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 err="1"/>
              <a:t>Intepretation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BD927-A320-459E-BC3F-89C0288DE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300" dirty="0"/>
              <a:t>Decision rule:</a:t>
            </a:r>
          </a:p>
          <a:p>
            <a:r>
              <a:rPr lang="en-GB" sz="2300" b="1" dirty="0"/>
              <a:t>p &lt; 0.05 → Significant</a:t>
            </a:r>
            <a:endParaRPr lang="en-GB" sz="2300" dirty="0"/>
          </a:p>
          <a:p>
            <a:r>
              <a:rPr lang="en-GB" sz="2300" b="1" dirty="0"/>
              <a:t>p &gt; 0.05 → Not significant</a:t>
            </a:r>
            <a:endParaRPr lang="en-GB" sz="2300" dirty="0"/>
          </a:p>
          <a:p>
            <a:pPr marL="0" indent="0">
              <a:buNone/>
            </a:pPr>
            <a:r>
              <a:rPr lang="en-GB" sz="2300" dirty="0"/>
              <a:t>Since:</a:t>
            </a:r>
          </a:p>
          <a:p>
            <a:r>
              <a:rPr lang="en-GB" sz="2300" dirty="0"/>
              <a:t>0.002&lt;0.050</a:t>
            </a:r>
          </a:p>
          <a:p>
            <a:r>
              <a:rPr lang="en-GB" sz="2300" b="1" dirty="0"/>
              <a:t>Statistically significant difference</a:t>
            </a:r>
            <a:endParaRPr lang="en-GB" sz="2300" dirty="0"/>
          </a:p>
          <a:p>
            <a:r>
              <a:rPr lang="en-GB" sz="2300" dirty="0"/>
              <a:t>There is a significant difference between the two groups.</a:t>
            </a:r>
          </a:p>
          <a:p>
            <a:r>
              <a:rPr lang="en-GB" sz="2300" dirty="0"/>
              <a:t>The mean difference = 10</a:t>
            </a:r>
          </a:p>
          <a:p>
            <a:r>
              <a:rPr lang="en-GB" sz="2300" b="1" dirty="0"/>
              <a:t>Meaning</a:t>
            </a:r>
            <a:r>
              <a:rPr lang="en-GB" sz="2300" dirty="0"/>
              <a:t>: One group scored 10 marks higher on average than the other group.</a:t>
            </a:r>
          </a:p>
        </p:txBody>
      </p:sp>
    </p:spTree>
    <p:extLst>
      <p:ext uri="{BB962C8B-B14F-4D97-AF65-F5344CB8AC3E}">
        <p14:creationId xmlns:p14="http://schemas.microsoft.com/office/powerpoint/2010/main" val="1376025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6D5E5-557F-44B7-B752-3B2047608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set for independent sample t test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CBF4850-D70B-48A0-BD76-4D0BBBF7300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355374"/>
          <a:ext cx="10515600" cy="32918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38523778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8084851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/>
                        <a:t>Teaching 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3208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Online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0638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Online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0215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Online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9677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Online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822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Physical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2428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Physical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3110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Physical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1408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Physical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7344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58270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9468F-23DF-4AEC-A5F3-AF0B2DA1E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4411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 err="1"/>
              <a:t>Intepretation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08ACCDE-57DC-40D0-98C6-DF582F55FA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74158"/>
            <a:ext cx="9715500" cy="18573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CCD403D-3A78-4B2A-A154-8658B634A62B}"/>
              </a:ext>
            </a:extLst>
          </p:cNvPr>
          <p:cNvSpPr/>
          <p:nvPr/>
        </p:nvSpPr>
        <p:spPr>
          <a:xfrm>
            <a:off x="838200" y="373409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/>
              <a:t>Group means:</a:t>
            </a:r>
          </a:p>
          <a:p>
            <a:r>
              <a:rPr lang="en-GB" dirty="0"/>
              <a:t>Online = </a:t>
            </a:r>
            <a:r>
              <a:rPr lang="en-GB" b="1" dirty="0"/>
              <a:t>62.5</a:t>
            </a:r>
            <a:br>
              <a:rPr lang="en-GB" dirty="0"/>
            </a:br>
            <a:r>
              <a:rPr lang="en-GB" dirty="0"/>
              <a:t>Physical = </a:t>
            </a:r>
            <a:r>
              <a:rPr lang="en-GB" b="1" dirty="0"/>
              <a:t>72.5</a:t>
            </a:r>
            <a:endParaRPr lang="en-GB" dirty="0"/>
          </a:p>
          <a:p>
            <a:r>
              <a:rPr lang="en-GB" dirty="0"/>
              <a:t>Difference = </a:t>
            </a:r>
            <a:r>
              <a:rPr lang="en-GB" b="1" dirty="0"/>
              <a:t>10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41217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E5E02-363E-42C3-86F5-A8B21DAD7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5267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Paired Samples T-Test (SPSS)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8E164-D35C-472A-B9E4-29FF884AE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0392"/>
            <a:ext cx="10515600" cy="5326571"/>
          </a:xfrm>
        </p:spPr>
        <p:txBody>
          <a:bodyPr/>
          <a:lstStyle/>
          <a:p>
            <a:r>
              <a:rPr lang="en-GB" sz="2300" b="1" dirty="0"/>
              <a:t>When to Use It</a:t>
            </a:r>
          </a:p>
          <a:p>
            <a:r>
              <a:rPr lang="en-GB" sz="2300" dirty="0"/>
              <a:t>Use when comparing </a:t>
            </a:r>
            <a:r>
              <a:rPr lang="en-GB" sz="2300" b="1" dirty="0"/>
              <a:t>the same participants twice</a:t>
            </a:r>
            <a:r>
              <a:rPr lang="en-GB" sz="2300" dirty="0"/>
              <a:t>.</a:t>
            </a:r>
          </a:p>
          <a:p>
            <a:pPr marL="0" indent="0">
              <a:buNone/>
            </a:pPr>
            <a:r>
              <a:rPr lang="en-GB" sz="2300" dirty="0"/>
              <a:t>Examples:</a:t>
            </a:r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80FE52-B4D0-4672-998D-E8521C4546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247604"/>
              </p:ext>
            </p:extLst>
          </p:nvPr>
        </p:nvGraphicFramePr>
        <p:xfrm>
          <a:off x="838200" y="2181638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54875042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698217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/>
                        <a:t>Before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After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7444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Pre-test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Post-test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4440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Weight before diet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Weight after diet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9983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Blood pressure before drug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After drug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3303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0119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5F0B9-8232-4F3B-AAD8-A7282253E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Example Dataset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5989783-5888-44DE-A57F-97B3FFE036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634123"/>
              </p:ext>
            </p:extLst>
          </p:nvPr>
        </p:nvGraphicFramePr>
        <p:xfrm>
          <a:off x="838200" y="1690688"/>
          <a:ext cx="10515600" cy="21945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3496362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1598851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868211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/>
                        <a:t>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Before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After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0213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0215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084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8172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496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844442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CB482D6-D116-4B84-95FF-D3B0BEF7A0BD}"/>
              </a:ext>
            </a:extLst>
          </p:cNvPr>
          <p:cNvSpPr/>
          <p:nvPr/>
        </p:nvSpPr>
        <p:spPr>
          <a:xfrm>
            <a:off x="679704" y="4175683"/>
            <a:ext cx="11280648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300" b="1" dirty="0"/>
              <a:t>Research question: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300" dirty="0"/>
              <a:t>Did the training program improve test scores?</a:t>
            </a:r>
          </a:p>
        </p:txBody>
      </p:sp>
    </p:spTree>
    <p:extLst>
      <p:ext uri="{BB962C8B-B14F-4D97-AF65-F5344CB8AC3E}">
        <p14:creationId xmlns:p14="http://schemas.microsoft.com/office/powerpoint/2010/main" val="68872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A76C5-762A-4D63-BFB6-B646F1045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251"/>
            <a:ext cx="10515600" cy="631571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SPSS Variable Setup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997420B-1D71-426A-9FA6-E43A5B5F88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9974448"/>
              </p:ext>
            </p:extLst>
          </p:nvPr>
        </p:nvGraphicFramePr>
        <p:xfrm>
          <a:off x="664464" y="1382967"/>
          <a:ext cx="10515600" cy="1097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04842819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849821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Measure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2046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Before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Scale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846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After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Scale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727206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0900DB7-5DE2-4F85-A1AF-133EB5F6E05E}"/>
              </a:ext>
            </a:extLst>
          </p:cNvPr>
          <p:cNvSpPr/>
          <p:nvPr/>
        </p:nvSpPr>
        <p:spPr>
          <a:xfrm>
            <a:off x="496824" y="3223592"/>
            <a:ext cx="778764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SPSS Procedure</a:t>
            </a:r>
          </a:p>
          <a:p>
            <a:pPr>
              <a:buFont typeface="+mj-lt"/>
              <a:buAutoNum type="arabicPeriod"/>
            </a:pPr>
            <a:r>
              <a:rPr lang="en-GB" dirty="0" err="1"/>
              <a:t>Analyze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Compare Means</a:t>
            </a:r>
          </a:p>
          <a:p>
            <a:pPr>
              <a:buFont typeface="+mj-lt"/>
              <a:buAutoNum type="arabicPeriod"/>
            </a:pPr>
            <a:r>
              <a:rPr lang="en-GB" dirty="0"/>
              <a:t>Paired-Samples T Test</a:t>
            </a:r>
          </a:p>
          <a:p>
            <a:pPr>
              <a:buFont typeface="+mj-lt"/>
              <a:buAutoNum type="arabicPeriod"/>
            </a:pPr>
            <a:r>
              <a:rPr lang="en-GB" dirty="0"/>
              <a:t>Move</a:t>
            </a:r>
          </a:p>
          <a:p>
            <a:r>
              <a:rPr lang="en-GB" dirty="0"/>
              <a:t>Before → Variable 1</a:t>
            </a:r>
            <a:br>
              <a:rPr lang="en-GB" dirty="0"/>
            </a:br>
            <a:r>
              <a:rPr lang="en-GB" dirty="0"/>
              <a:t>After → Variable 2</a:t>
            </a:r>
          </a:p>
          <a:p>
            <a:pPr>
              <a:buFont typeface="+mj-lt"/>
              <a:buAutoNum type="arabicPeriod" startAt="5"/>
            </a:pPr>
            <a:r>
              <a:rPr lang="en-GB" dirty="0"/>
              <a:t>Click </a:t>
            </a:r>
            <a:r>
              <a:rPr lang="en-GB" b="1" dirty="0"/>
              <a:t>OK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80317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5971D-5B0E-45B3-8F05-0E7F082A4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7835"/>
          </a:xfrm>
        </p:spPr>
        <p:txBody>
          <a:bodyPr>
            <a:normAutofit fontScale="90000"/>
          </a:bodyPr>
          <a:lstStyle/>
          <a:p>
            <a:pPr algn="ctr"/>
            <a:br>
              <a:rPr lang="en-GB" b="1" dirty="0"/>
            </a:br>
            <a:r>
              <a:rPr lang="en-GB" b="1" dirty="0"/>
              <a:t>Hypotheses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F6254-22FC-4B70-8A6A-3EBD15217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Null Hypothesis (H₀)</a:t>
            </a:r>
            <a:br>
              <a:rPr lang="en-GB" dirty="0"/>
            </a:br>
            <a:r>
              <a:rPr lang="en-GB" dirty="0"/>
              <a:t>There is </a:t>
            </a:r>
            <a:r>
              <a:rPr lang="en-GB" b="1" dirty="0"/>
              <a:t>no difference</a:t>
            </a:r>
            <a:r>
              <a:rPr lang="en-GB" dirty="0"/>
              <a:t> between the two measurements.</a:t>
            </a:r>
          </a:p>
          <a:p>
            <a:r>
              <a:rPr lang="en-GB" b="1" dirty="0"/>
              <a:t>Alternative Hypothesis (H₁)</a:t>
            </a:r>
            <a:br>
              <a:rPr lang="en-GB" dirty="0"/>
            </a:br>
            <a:r>
              <a:rPr lang="en-GB" dirty="0"/>
              <a:t>There </a:t>
            </a:r>
            <a:r>
              <a:rPr lang="en-GB" b="1" dirty="0"/>
              <a:t>is a difference</a:t>
            </a:r>
            <a:r>
              <a:rPr lang="en-GB" dirty="0"/>
              <a:t>.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1757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C9E7A-CC44-4BEA-B2DB-1406EF714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66979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Interpretation of Output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2AD3929-CEAB-4648-B6CC-9F1DD5D1F6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3799277"/>
              </p:ext>
            </p:extLst>
          </p:nvPr>
        </p:nvGraphicFramePr>
        <p:xfrm>
          <a:off x="1130808" y="980662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66233481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520545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/>
                        <a:t>Statistic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1536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Mean Difference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-10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3187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-7.071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0529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df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1521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p-value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197628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37091D41-62EF-422F-BA19-20D1A9A339AF}"/>
              </a:ext>
            </a:extLst>
          </p:cNvPr>
          <p:cNvSpPr/>
          <p:nvPr/>
        </p:nvSpPr>
        <p:spPr>
          <a:xfrm>
            <a:off x="838200" y="3244334"/>
            <a:ext cx="3674339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300" b="1" dirty="0"/>
              <a:t>Look at the Mean Difference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7F819D-2908-4138-A27B-CC79FC023A95}"/>
              </a:ext>
            </a:extLst>
          </p:cNvPr>
          <p:cNvSpPr/>
          <p:nvPr/>
        </p:nvSpPr>
        <p:spPr>
          <a:xfrm>
            <a:off x="838200" y="3734077"/>
            <a:ext cx="10893552" cy="2569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300" b="1" dirty="0"/>
              <a:t>Mean Difference</a:t>
            </a:r>
            <a:r>
              <a:rPr lang="en-GB" sz="2300" dirty="0"/>
              <a:t> = −10</a:t>
            </a:r>
          </a:p>
          <a:p>
            <a:endParaRPr lang="en-GB" sz="2300" dirty="0"/>
          </a:p>
          <a:p>
            <a:r>
              <a:rPr lang="en-GB" sz="2300" b="1" dirty="0"/>
              <a:t>Since the comparison is: </a:t>
            </a:r>
            <a:r>
              <a:rPr lang="en-GB" sz="2300" dirty="0"/>
              <a:t>Before – After</a:t>
            </a:r>
          </a:p>
          <a:p>
            <a:r>
              <a:rPr lang="en-GB" sz="2300" dirty="0"/>
              <a:t>60−70 = −10</a:t>
            </a:r>
          </a:p>
          <a:p>
            <a:endParaRPr lang="en-GB" sz="2300" dirty="0"/>
          </a:p>
          <a:p>
            <a:r>
              <a:rPr lang="en-GB" sz="2300" b="1" dirty="0"/>
              <a:t>Negative value means:</a:t>
            </a:r>
          </a:p>
          <a:p>
            <a:r>
              <a:rPr lang="en-GB" sz="2300" dirty="0"/>
              <a:t>Scores after the intervention are higher. So performance improved by 10 marks.</a:t>
            </a:r>
          </a:p>
        </p:txBody>
      </p:sp>
    </p:spTree>
    <p:extLst>
      <p:ext uri="{BB962C8B-B14F-4D97-AF65-F5344CB8AC3E}">
        <p14:creationId xmlns:p14="http://schemas.microsoft.com/office/powerpoint/2010/main" val="41012869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23371-B4D0-40AF-BC80-FE41BF39E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1843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Check the p-value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3081A-1E9E-454B-AB93-8AEF26747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6968"/>
            <a:ext cx="10515600" cy="528999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p=0.002</a:t>
            </a:r>
          </a:p>
          <a:p>
            <a:pPr marL="0" indent="0">
              <a:buNone/>
            </a:pPr>
            <a:r>
              <a:rPr lang="en-GB" dirty="0"/>
              <a:t>Decision rule:</a:t>
            </a:r>
          </a:p>
          <a:p>
            <a:r>
              <a:rPr lang="en-GB" b="1" dirty="0"/>
              <a:t>p &lt; 0.05 → Significant</a:t>
            </a:r>
            <a:endParaRPr lang="en-GB" dirty="0"/>
          </a:p>
          <a:p>
            <a:r>
              <a:rPr lang="en-GB" b="1" dirty="0"/>
              <a:t>p &gt; 0.05 → Not significant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Since:</a:t>
            </a:r>
          </a:p>
          <a:p>
            <a:r>
              <a:rPr lang="en-GB" dirty="0"/>
              <a:t>0.002&lt;0.050</a:t>
            </a:r>
          </a:p>
          <a:p>
            <a:r>
              <a:rPr lang="en-GB" dirty="0"/>
              <a:t> </a:t>
            </a:r>
            <a:r>
              <a:rPr lang="en-GB" b="1" dirty="0"/>
              <a:t>Statistically significant</a:t>
            </a:r>
            <a:endParaRPr lang="en-GB" dirty="0"/>
          </a:p>
          <a:p>
            <a:pPr marL="0" indent="0">
              <a:buNone/>
            </a:pPr>
            <a:r>
              <a:rPr lang="en-GB" b="1" dirty="0"/>
              <a:t>Conclusion:</a:t>
            </a:r>
          </a:p>
          <a:p>
            <a:pPr marL="0" indent="0">
              <a:buNone/>
            </a:pPr>
            <a:r>
              <a:rPr lang="en-GB" dirty="0"/>
              <a:t>We reject the null hypothesis.</a:t>
            </a:r>
          </a:p>
          <a:p>
            <a:pPr marL="0" indent="0">
              <a:buNone/>
            </a:pPr>
            <a:r>
              <a:rPr lang="en-GB" b="1" dirty="0"/>
              <a:t>Interpretation:</a:t>
            </a:r>
          </a:p>
          <a:p>
            <a:pPr marL="0" indent="0">
              <a:buNone/>
            </a:pPr>
            <a:r>
              <a:rPr lang="en-GB" dirty="0"/>
              <a:t>There is a statistically significant difference between scores before and after the intervention.</a:t>
            </a:r>
          </a:p>
        </p:txBody>
      </p:sp>
    </p:spTree>
    <p:extLst>
      <p:ext uri="{BB962C8B-B14F-4D97-AF65-F5344CB8AC3E}">
        <p14:creationId xmlns:p14="http://schemas.microsoft.com/office/powerpoint/2010/main" val="27642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666</Words>
  <Application>Microsoft Office PowerPoint</Application>
  <PresentationFormat>Widescreen</PresentationFormat>
  <Paragraphs>260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 One-Sample T-Test (SPSS) </vt:lpstr>
      <vt:lpstr>Sample data (one sample T test) Population mean = 70</vt:lpstr>
      <vt:lpstr> SPSS Data Setup </vt:lpstr>
      <vt:lpstr> SPSS Procedure </vt:lpstr>
      <vt:lpstr>Independent Samples T-Test (SPSS)</vt:lpstr>
      <vt:lpstr> Hypotheses </vt:lpstr>
      <vt:lpstr>Example Dataset</vt:lpstr>
      <vt:lpstr>SPSS Variable Setup</vt:lpstr>
      <vt:lpstr>SPSS Procedure </vt:lpstr>
      <vt:lpstr> Output Interpretation </vt:lpstr>
      <vt:lpstr>Output</vt:lpstr>
      <vt:lpstr>Intepretation</vt:lpstr>
      <vt:lpstr>Data set for independent sample t test</vt:lpstr>
      <vt:lpstr>Intepretation</vt:lpstr>
      <vt:lpstr>Paired Samples T-Test (SPSS)</vt:lpstr>
      <vt:lpstr>Example Dataset</vt:lpstr>
      <vt:lpstr>SPSS Variable Setup</vt:lpstr>
      <vt:lpstr> Hypotheses </vt:lpstr>
      <vt:lpstr>Interpretation of Output</vt:lpstr>
      <vt:lpstr>Check the p-value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8</cp:revision>
  <dcterms:created xsi:type="dcterms:W3CDTF">2026-03-06T14:17:34Z</dcterms:created>
  <dcterms:modified xsi:type="dcterms:W3CDTF">2026-03-06T15:14:14Z</dcterms:modified>
</cp:coreProperties>
</file>