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57" r:id="rId4"/>
    <p:sldId id="265" r:id="rId5"/>
    <p:sldId id="273" r:id="rId6"/>
    <p:sldId id="274" r:id="rId7"/>
    <p:sldId id="258" r:id="rId8"/>
    <p:sldId id="272" r:id="rId9"/>
    <p:sldId id="275" r:id="rId10"/>
    <p:sldId id="276" r:id="rId11"/>
    <p:sldId id="277" r:id="rId12"/>
    <p:sldId id="278" r:id="rId13"/>
    <p:sldId id="270" r:id="rId14"/>
    <p:sldId id="271" r:id="rId15"/>
    <p:sldId id="260" r:id="rId16"/>
    <p:sldId id="261" r:id="rId17"/>
    <p:sldId id="262" r:id="rId18"/>
    <p:sldId id="263" r:id="rId19"/>
    <p:sldId id="26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348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7048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5527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8303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71458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434949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0627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1488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17173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89284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13511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426764-8779-4B9D-898D-643500430539}" type="datetimeFigureOut">
              <a:rPr lang="en-GB" smtClean="0"/>
              <a:t>23/02/2026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256907-35A8-4606-97C0-AE1B32003A9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66220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CHI-SQUARE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10274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86626"/>
          </a:xfrm>
        </p:spPr>
        <p:txBody>
          <a:bodyPr/>
          <a:lstStyle/>
          <a:p>
            <a:pPr algn="ctr"/>
            <a:r>
              <a:rPr lang="en-GB" dirty="0"/>
              <a:t>CHI-SQUARE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251752"/>
            <a:ext cx="10515600" cy="5468644"/>
          </a:xfrm>
        </p:spPr>
        <p:txBody>
          <a:bodyPr>
            <a:normAutofit/>
          </a:bodyPr>
          <a:lstStyle/>
          <a:p>
            <a:r>
              <a:rPr lang="en-GB" sz="2300" dirty="0"/>
              <a:t>The </a:t>
            </a:r>
            <a:r>
              <a:rPr lang="en-GB" sz="2300" b="1" dirty="0"/>
              <a:t>Chi-Square test</a:t>
            </a:r>
            <a:r>
              <a:rPr lang="en-GB" sz="2300" dirty="0"/>
              <a:t> is a </a:t>
            </a:r>
            <a:r>
              <a:rPr lang="en-GB" sz="2300" b="1" dirty="0"/>
              <a:t>non-parametric statistical test</a:t>
            </a:r>
            <a:r>
              <a:rPr lang="en-GB" sz="2300" dirty="0"/>
              <a:t> used to check if there is a significant relationship between </a:t>
            </a:r>
            <a:r>
              <a:rPr lang="en-GB" sz="2300" b="1" dirty="0"/>
              <a:t>two categorical variables</a:t>
            </a:r>
            <a:r>
              <a:rPr lang="en-GB" sz="2300" dirty="0"/>
              <a:t> (e.g., gender &amp; voting preference, education level &amp; internet usage).</a:t>
            </a:r>
          </a:p>
          <a:p>
            <a:r>
              <a:rPr lang="en-GB" sz="2400" dirty="0"/>
              <a:t>It checks if the numbers we see in each category are different from what we would expect if the two things were not related.</a:t>
            </a:r>
          </a:p>
          <a:p>
            <a:pPr marL="0" indent="0">
              <a:buNone/>
            </a:pPr>
            <a:r>
              <a:rPr lang="en-GB" sz="2400" b="1" dirty="0"/>
              <a:t>Example:</a:t>
            </a:r>
            <a:br>
              <a:rPr lang="en-GB" sz="2400" dirty="0"/>
            </a:br>
            <a:r>
              <a:rPr lang="en-GB" sz="2400" dirty="0"/>
              <a:t>Imagine you want to know if boys and girls in your class have the same </a:t>
            </a:r>
            <a:r>
              <a:rPr lang="en-GB" sz="2400" dirty="0" err="1"/>
              <a:t>favorite</a:t>
            </a:r>
            <a:r>
              <a:rPr lang="en-GB" sz="2400" dirty="0"/>
              <a:t> fruit.</a:t>
            </a:r>
          </a:p>
          <a:p>
            <a:r>
              <a:rPr lang="en-GB" sz="2400" dirty="0"/>
              <a:t>You ask everyone, and the results are:</a:t>
            </a:r>
          </a:p>
          <a:p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1932364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1141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Scenario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76544"/>
            <a:ext cx="10515600" cy="52004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 Fruit    Gender  Count </a:t>
            </a:r>
          </a:p>
          <a:p>
            <a:pPr marL="0" indent="0">
              <a:buNone/>
            </a:pPr>
            <a:r>
              <a:rPr lang="en-GB" sz="2300" dirty="0"/>
              <a:t> Mango    Boys    8     </a:t>
            </a:r>
          </a:p>
          <a:p>
            <a:pPr marL="0" indent="0">
              <a:buNone/>
            </a:pPr>
            <a:r>
              <a:rPr lang="en-GB" sz="2300" dirty="0"/>
              <a:t> Mango    Girls   4     </a:t>
            </a:r>
          </a:p>
          <a:p>
            <a:pPr marL="0" indent="0">
              <a:buNone/>
            </a:pPr>
            <a:r>
              <a:rPr lang="en-GB" sz="2300" dirty="0"/>
              <a:t> Banana   Boys   3    </a:t>
            </a:r>
          </a:p>
          <a:p>
            <a:pPr marL="0" indent="0">
              <a:buNone/>
            </a:pPr>
            <a:r>
              <a:rPr lang="en-GB" sz="2300" dirty="0"/>
              <a:t> Banana   Girls   6    </a:t>
            </a:r>
          </a:p>
          <a:p>
            <a:pPr marL="0" indent="0">
              <a:buNone/>
            </a:pPr>
            <a:r>
              <a:rPr lang="en-GB" sz="2300" dirty="0"/>
              <a:t> Orange   Boys   5     </a:t>
            </a:r>
          </a:p>
          <a:p>
            <a:pPr marL="0" indent="0">
              <a:buNone/>
            </a:pPr>
            <a:r>
              <a:rPr lang="en-GB" sz="2300" dirty="0"/>
              <a:t> Orange   Girls   7     </a:t>
            </a:r>
          </a:p>
          <a:p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40075977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8052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CHI-SQUARE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If boys and girls </a:t>
            </a:r>
            <a:r>
              <a:rPr lang="en-GB" i="1" dirty="0"/>
              <a:t>had no difference</a:t>
            </a:r>
            <a:r>
              <a:rPr lang="en-GB" dirty="0"/>
              <a:t> in fruit preference, we would </a:t>
            </a:r>
            <a:r>
              <a:rPr lang="en-GB" b="1" dirty="0"/>
              <a:t>expect</a:t>
            </a:r>
            <a:r>
              <a:rPr lang="en-GB" dirty="0"/>
              <a:t> the numbers in each fruit column to be more balanced.</a:t>
            </a:r>
          </a:p>
          <a:p>
            <a:r>
              <a:rPr lang="en-GB" dirty="0"/>
              <a:t>A </a:t>
            </a:r>
            <a:r>
              <a:rPr lang="en-GB" b="1" dirty="0"/>
              <a:t>Chi-square test</a:t>
            </a:r>
            <a:r>
              <a:rPr lang="en-GB" dirty="0"/>
              <a:t> checks whether the differences we see (like more boys liking mango) are just due to chance or if they show a real relationship between </a:t>
            </a:r>
            <a:r>
              <a:rPr lang="en-GB" b="1" dirty="0"/>
              <a:t>gender</a:t>
            </a:r>
            <a:r>
              <a:rPr lang="en-GB" dirty="0"/>
              <a:t> and </a:t>
            </a:r>
            <a:r>
              <a:rPr lang="en-GB" b="1" dirty="0" err="1"/>
              <a:t>favorite</a:t>
            </a:r>
            <a:r>
              <a:rPr lang="en-GB" b="1" dirty="0"/>
              <a:t> fruit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75767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Observed frequencies in Chi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b="1" dirty="0"/>
              <a:t>What are observed frequencies?</a:t>
            </a:r>
            <a:endParaRPr lang="en-GB" dirty="0"/>
          </a:p>
          <a:p>
            <a:r>
              <a:rPr lang="en-GB" dirty="0"/>
              <a:t>They are the actual counts of people or things in each category — basically, what you </a:t>
            </a:r>
            <a:r>
              <a:rPr lang="en-GB" b="1" dirty="0"/>
              <a:t>see</a:t>
            </a:r>
            <a:r>
              <a:rPr lang="en-GB" dirty="0"/>
              <a:t> or </a:t>
            </a:r>
            <a:r>
              <a:rPr lang="en-GB" b="1" dirty="0"/>
              <a:t>count</a:t>
            </a:r>
            <a:r>
              <a:rPr lang="en-GB" dirty="0"/>
              <a:t> when you do a study or survey.</a:t>
            </a:r>
          </a:p>
          <a:p>
            <a:pPr marL="0" indent="0">
              <a:buNone/>
            </a:pPr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Imagine you ask 10 friends about their </a:t>
            </a:r>
            <a:r>
              <a:rPr lang="en-GB" dirty="0" err="1"/>
              <a:t>favorite</a:t>
            </a:r>
            <a:r>
              <a:rPr lang="en-GB" dirty="0"/>
              <a:t> fruit:</a:t>
            </a:r>
          </a:p>
          <a:p>
            <a:r>
              <a:rPr lang="en-GB" dirty="0"/>
              <a:t>4 say Mango</a:t>
            </a:r>
          </a:p>
          <a:p>
            <a:r>
              <a:rPr lang="en-GB" dirty="0"/>
              <a:t>3 say Banana</a:t>
            </a:r>
          </a:p>
          <a:p>
            <a:r>
              <a:rPr lang="en-GB" dirty="0"/>
              <a:t>3 say Orange</a:t>
            </a:r>
          </a:p>
          <a:p>
            <a:pPr marL="0" indent="0">
              <a:buNone/>
            </a:pPr>
            <a:r>
              <a:rPr lang="en-GB" dirty="0"/>
              <a:t>These numbers — 4, 3, and 3 — are the </a:t>
            </a:r>
            <a:r>
              <a:rPr lang="en-GB" b="1" dirty="0"/>
              <a:t>observed frequencies</a:t>
            </a:r>
            <a:r>
              <a:rPr lang="en-GB" dirty="0"/>
              <a:t> because they show how many people chose each fruit.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25420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Expected frequencies in Chi 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GB" b="1" dirty="0"/>
              <a:t>What are expected frequencies?</a:t>
            </a:r>
            <a:endParaRPr lang="en-GB" dirty="0"/>
          </a:p>
          <a:p>
            <a:r>
              <a:rPr lang="en-GB" dirty="0"/>
              <a:t>Expected frequencies are the numbers you </a:t>
            </a:r>
            <a:r>
              <a:rPr lang="en-GB" b="1" dirty="0"/>
              <a:t>would expect</a:t>
            </a:r>
            <a:r>
              <a:rPr lang="en-GB" dirty="0"/>
              <a:t> to see in each category if there were </a:t>
            </a:r>
            <a:r>
              <a:rPr lang="en-GB" b="1" dirty="0"/>
              <a:t>no real difference or relationship</a:t>
            </a:r>
            <a:r>
              <a:rPr lang="en-GB" dirty="0"/>
              <a:t> between the groups — basically, what you’d get by chance.</a:t>
            </a:r>
          </a:p>
          <a:p>
            <a:pPr marL="0" indent="0">
              <a:buNone/>
            </a:pPr>
            <a:r>
              <a:rPr lang="en-GB" b="1" dirty="0"/>
              <a:t>Example:</a:t>
            </a:r>
            <a:br>
              <a:rPr lang="en-GB" dirty="0"/>
            </a:br>
            <a:r>
              <a:rPr lang="en-GB" dirty="0"/>
              <a:t>Using the fruit example from before, if you asked 10 friends and thought everyone was equally likely to pick any fruit (Mango, Banana, or Orange), then:</a:t>
            </a:r>
          </a:p>
          <a:p>
            <a:r>
              <a:rPr lang="en-GB" dirty="0"/>
              <a:t>You would </a:t>
            </a:r>
            <a:r>
              <a:rPr lang="en-GB" b="1" dirty="0"/>
              <a:t>expect</a:t>
            </a:r>
            <a:r>
              <a:rPr lang="en-GB" dirty="0"/>
              <a:t> about 3 or 4 people to pick each fruit (since 10 ÷ 3 ≈ 3.3).</a:t>
            </a:r>
          </a:p>
          <a:p>
            <a:r>
              <a:rPr lang="en-GB" dirty="0"/>
              <a:t>If the actual observed numbers are very different from these expected numbers, it might mean there is a real preference for some fruits.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43246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3386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 err="1"/>
              <a:t>Analyze</a:t>
            </a:r>
            <a:r>
              <a:rPr lang="en-GB" dirty="0"/>
              <a:t> data (Chi-Square)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03649"/>
          </a:xfrm>
        </p:spPr>
        <p:txBody>
          <a:bodyPr/>
          <a:lstStyle/>
          <a:p>
            <a:pPr>
              <a:buFont typeface="+mj-lt"/>
              <a:buAutoNum type="arabicPeriod"/>
            </a:pPr>
            <a:r>
              <a:rPr lang="en-GB" sz="2300" b="1" dirty="0" err="1"/>
              <a:t>Analyze</a:t>
            </a:r>
            <a:r>
              <a:rPr lang="en-GB" sz="2300" b="1" dirty="0"/>
              <a:t> the Data</a:t>
            </a:r>
            <a:endParaRPr lang="en-GB" sz="2300" dirty="0"/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Go to </a:t>
            </a:r>
            <a:r>
              <a:rPr lang="en-GB" sz="2300" b="1" dirty="0" err="1"/>
              <a:t>Analyze</a:t>
            </a:r>
            <a:r>
              <a:rPr lang="en-GB" sz="2300" b="1" dirty="0"/>
              <a:t> → Descriptive Statistics → Crosstabs</a:t>
            </a:r>
            <a:r>
              <a:rPr lang="en-GB" sz="23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Put </a:t>
            </a:r>
            <a:r>
              <a:rPr lang="en-GB" sz="2300" b="1" dirty="0"/>
              <a:t>Fruit</a:t>
            </a:r>
            <a:r>
              <a:rPr lang="en-GB" sz="2300" dirty="0"/>
              <a:t> in the </a:t>
            </a:r>
            <a:r>
              <a:rPr lang="en-GB" sz="2300" i="1" dirty="0"/>
              <a:t>Rows</a:t>
            </a:r>
            <a:r>
              <a:rPr lang="en-GB" sz="2300" dirty="0"/>
              <a:t> box.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Put </a:t>
            </a:r>
            <a:r>
              <a:rPr lang="en-GB" sz="2300" b="1" dirty="0"/>
              <a:t>Gender</a:t>
            </a:r>
            <a:r>
              <a:rPr lang="en-GB" sz="2300" dirty="0"/>
              <a:t> in the </a:t>
            </a:r>
            <a:r>
              <a:rPr lang="en-GB" sz="2300" i="1" dirty="0"/>
              <a:t>Columns</a:t>
            </a:r>
            <a:r>
              <a:rPr lang="en-GB" sz="2300" dirty="0"/>
              <a:t> box.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Click </a:t>
            </a:r>
            <a:r>
              <a:rPr lang="en-GB" sz="2300" b="1" dirty="0"/>
              <a:t>Statistics…</a:t>
            </a:r>
            <a:r>
              <a:rPr lang="en-GB" sz="2300" dirty="0"/>
              <a:t> → tick </a:t>
            </a:r>
            <a:r>
              <a:rPr lang="en-GB" sz="2300" b="1" dirty="0"/>
              <a:t>Chi-square</a:t>
            </a:r>
            <a:r>
              <a:rPr lang="en-GB" sz="2300" dirty="0"/>
              <a:t> → </a:t>
            </a:r>
            <a:r>
              <a:rPr lang="en-GB" sz="2300" i="1" dirty="0"/>
              <a:t>Continue</a:t>
            </a:r>
            <a:r>
              <a:rPr lang="en-GB" sz="23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Click </a:t>
            </a:r>
            <a:r>
              <a:rPr lang="en-GB" sz="2300" b="1" dirty="0"/>
              <a:t>Cells…</a:t>
            </a:r>
            <a:r>
              <a:rPr lang="en-GB" sz="2300" dirty="0"/>
              <a:t> → under </a:t>
            </a:r>
            <a:r>
              <a:rPr lang="en-GB" sz="2300" i="1" dirty="0"/>
              <a:t>Counts</a:t>
            </a:r>
            <a:r>
              <a:rPr lang="en-GB" sz="2300" dirty="0"/>
              <a:t>, tick </a:t>
            </a:r>
            <a:r>
              <a:rPr lang="en-GB" sz="2300" b="1" dirty="0"/>
              <a:t>Observed</a:t>
            </a:r>
            <a:r>
              <a:rPr lang="en-GB" sz="2300" dirty="0"/>
              <a:t> and </a:t>
            </a:r>
            <a:r>
              <a:rPr lang="en-GB" sz="2300" b="1" dirty="0"/>
              <a:t>Expected</a:t>
            </a:r>
            <a:r>
              <a:rPr lang="en-GB" sz="2300" dirty="0"/>
              <a:t> → </a:t>
            </a:r>
            <a:r>
              <a:rPr lang="en-GB" sz="2300" i="1" dirty="0"/>
              <a:t>Continue</a:t>
            </a:r>
            <a:r>
              <a:rPr lang="en-GB" sz="23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2300" dirty="0"/>
              <a:t>Click </a:t>
            </a:r>
            <a:r>
              <a:rPr lang="en-GB" sz="2300" b="1" dirty="0"/>
              <a:t>OK</a:t>
            </a:r>
            <a:r>
              <a:rPr lang="en-GB" sz="2300" dirty="0"/>
              <a:t>.</a:t>
            </a:r>
          </a:p>
          <a:p>
            <a:r>
              <a:rPr lang="en-GB" sz="2400" b="1" dirty="0"/>
              <a:t>SPSS Output (Example)</a:t>
            </a:r>
          </a:p>
          <a:p>
            <a:r>
              <a:rPr lang="en-GB" sz="2400" b="1" dirty="0"/>
              <a:t>Chi-Square Tests</a:t>
            </a:r>
            <a:endParaRPr lang="en-GB" sz="2400" dirty="0"/>
          </a:p>
          <a:p>
            <a:pPr marL="0" indent="0">
              <a:buNone/>
            </a:pPr>
            <a:endParaRPr lang="en-GB" sz="2300" dirty="0"/>
          </a:p>
        </p:txBody>
      </p:sp>
    </p:spTree>
    <p:extLst>
      <p:ext uri="{BB962C8B-B14F-4D97-AF65-F5344CB8AC3E}">
        <p14:creationId xmlns:p14="http://schemas.microsoft.com/office/powerpoint/2010/main" val="2166052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49275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Interpretation</a:t>
            </a:r>
          </a:p>
        </p:txBody>
      </p:sp>
      <p:sp>
        <p:nvSpPr>
          <p:cNvPr id="9" name="Rectangle 1"/>
          <p:cNvSpPr>
            <a:spLocks noChangeArrowheads="1"/>
          </p:cNvSpPr>
          <p:nvPr/>
        </p:nvSpPr>
        <p:spPr bwMode="auto">
          <a:xfrm>
            <a:off x="-514905" y="-1997476"/>
            <a:ext cx="121920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116092224" rIns="0" bIns="87069168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1" i="0" u="none" strike="noStrike" cap="none" normalizeH="0" baseline="0">
                <a:ln>
                  <a:noFill/>
                </a:ln>
                <a:solidFill>
                  <a:srgbClr val="404040"/>
                </a:solidFill>
                <a:effectLst/>
                <a:latin typeface="quote-cjk-patch"/>
              </a:rPr>
              <a:t>Chi-Square Tests Table</a:t>
            </a:r>
            <a:endParaRPr kumimoji="0" lang="en-US" altLang="en-US" sz="1200" b="0" i="0" u="none" strike="noStrike" cap="none" normalizeH="0" baseline="0">
              <a:ln>
                <a:noFill/>
              </a:ln>
              <a:solidFill>
                <a:srgbClr val="404040"/>
              </a:solidFill>
              <a:effectLst/>
              <a:latin typeface="quote-cjk-patch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92819" y="3226279"/>
            <a:ext cx="1020636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i="0" dirty="0">
                <a:solidFill>
                  <a:srgbClr val="404040"/>
                </a:solidFill>
                <a:effectLst/>
                <a:latin typeface="quote-cjk-patch"/>
              </a:rPr>
              <a:t>Conclusion</a:t>
            </a:r>
            <a:endParaRPr lang="en-GB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04040"/>
                </a:solidFill>
                <a:effectLst/>
                <a:latin typeface="quote-cjk-patch"/>
              </a:rPr>
              <a:t>The </a:t>
            </a:r>
            <a:r>
              <a:rPr lang="en-GB" b="1" i="0" dirty="0">
                <a:solidFill>
                  <a:srgbClr val="404040"/>
                </a:solidFill>
                <a:effectLst/>
                <a:latin typeface="quote-cjk-patch"/>
              </a:rPr>
              <a:t>p-value (0.294) &gt; 0.05</a:t>
            </a:r>
            <a:r>
              <a:rPr lang="en-GB" b="0" i="0" dirty="0">
                <a:solidFill>
                  <a:srgbClr val="404040"/>
                </a:solidFill>
                <a:effectLst/>
                <a:latin typeface="quote-cjk-patch"/>
              </a:rPr>
              <a:t>, indicating t</a:t>
            </a:r>
            <a:r>
              <a:rPr lang="en-GB" dirty="0"/>
              <a:t>here is </a:t>
            </a:r>
            <a:r>
              <a:rPr lang="en-GB" b="1" dirty="0"/>
              <a:t>no significant association</a:t>
            </a:r>
            <a:r>
              <a:rPr lang="en-GB" dirty="0"/>
              <a:t> between gender and fruit preference in this dataset.</a:t>
            </a:r>
            <a:endParaRPr lang="en-GB" b="0" i="0" dirty="0">
              <a:solidFill>
                <a:srgbClr val="404040"/>
              </a:solidFill>
              <a:effectLst/>
              <a:latin typeface="quote-cjk-patch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404040"/>
                </a:solidFill>
                <a:effectLst/>
                <a:latin typeface="quote-cjk-patch"/>
              </a:rPr>
              <a:t>The differences in counts could be due to random variation rather than a real trend.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CA982F-37CB-C7A8-9D36-56AE4D3890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89910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276F3-08F3-6451-B247-E55E63CD8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6720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Case Processing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ACBE6-3DCA-8661-FD97-9CB7803AEB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NL" sz="2800" b="0" i="0" u="none" strike="noStrike" baseline="0" dirty="0">
                <a:solidFill>
                  <a:srgbClr val="000000"/>
                </a:solidFill>
                <a:latin typeface="Arial" panose="020B0604020202020204" pitchFamily="34" charset="0"/>
              </a:rPr>
              <a:t>	</a:t>
            </a:r>
          </a:p>
          <a:p>
            <a:endParaRPr lang="en-GB" sz="2800" b="0" i="0" u="none" strike="noStrike" baseline="0" dirty="0">
              <a:latin typeface="Times New Roman" panose="02020603050405020304" pitchFamily="18" charset="0"/>
            </a:endParaRP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E842599-3A12-1D6A-609E-856E82DD83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825625"/>
            <a:ext cx="6575063" cy="150924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D2CD66-0B0E-A8FD-3BFA-8D340A368520}"/>
              </a:ext>
            </a:extLst>
          </p:cNvPr>
          <p:cNvSpPr txBox="1"/>
          <p:nvPr/>
        </p:nvSpPr>
        <p:spPr>
          <a:xfrm>
            <a:off x="1004046" y="3779095"/>
            <a:ext cx="787997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Interpretation: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SPSS now counts </a:t>
            </a:r>
            <a:r>
              <a:rPr lang="en-GB" b="1" dirty="0"/>
              <a:t>all 33 students</a:t>
            </a:r>
            <a:r>
              <a:rPr lang="en-GB" dirty="0"/>
              <a:t> correctly (sum of </a:t>
            </a:r>
            <a:r>
              <a:rPr lang="en-GB" dirty="0">
                <a:latin typeface="Courier New" panose="02070309020205020404" pitchFamily="49" charset="0"/>
              </a:rPr>
              <a:t>Count</a:t>
            </a:r>
            <a:r>
              <a:rPr lang="en-GB" dirty="0"/>
              <a:t> column).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No missing data.</a:t>
            </a:r>
          </a:p>
        </p:txBody>
      </p:sp>
    </p:spTree>
    <p:extLst>
      <p:ext uri="{BB962C8B-B14F-4D97-AF65-F5344CB8AC3E}">
        <p14:creationId xmlns:p14="http://schemas.microsoft.com/office/powerpoint/2010/main" val="42276867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B6C68-2A7E-0900-E500-62787E32A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Crosstabulation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C4E9D15-8E8E-B3F6-B841-EAF4DB56E3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0930" y="1305485"/>
            <a:ext cx="5514976" cy="3071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383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D44439-019F-6FE1-F907-FF103C0D0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Chi-Square Test Table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33E49FC-91F3-9027-A955-CDBEAA45A05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227" y="1847850"/>
            <a:ext cx="5392831" cy="241948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FE73BAA-3574-DD97-2D3A-88F16A5874C1}"/>
              </a:ext>
            </a:extLst>
          </p:cNvPr>
          <p:cNvSpPr txBox="1"/>
          <p:nvPr/>
        </p:nvSpPr>
        <p:spPr>
          <a:xfrm>
            <a:off x="2088776" y="4509264"/>
            <a:ext cx="8319247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Degrees of freedom (</a:t>
            </a:r>
            <a:r>
              <a:rPr lang="en-GB" b="1" dirty="0" err="1"/>
              <a:t>df</a:t>
            </a:r>
            <a:r>
              <a:rPr lang="en-GB" b="1" dirty="0"/>
              <a:t>) = (Rows-1)*(Columns-1) = 2</a:t>
            </a:r>
            <a:endParaRPr lang="en-GB" dirty="0"/>
          </a:p>
          <a:p>
            <a:pPr>
              <a:buNone/>
            </a:pPr>
            <a:r>
              <a:rPr lang="en-GB" b="1" dirty="0"/>
              <a:t>Chi-square statistic ≈ 2.639</a:t>
            </a:r>
            <a:endParaRPr lang="en-GB" dirty="0"/>
          </a:p>
          <a:p>
            <a:pPr>
              <a:buNone/>
            </a:pPr>
            <a:r>
              <a:rPr lang="en-GB" b="1" dirty="0"/>
              <a:t>p-value ≈ 0.267 &gt; 0.05</a:t>
            </a:r>
            <a:r>
              <a:rPr lang="en-GB" dirty="0"/>
              <a:t> → fail to reject H₀</a:t>
            </a:r>
          </a:p>
        </p:txBody>
      </p:sp>
    </p:spTree>
    <p:extLst>
      <p:ext uri="{BB962C8B-B14F-4D97-AF65-F5344CB8AC3E}">
        <p14:creationId xmlns:p14="http://schemas.microsoft.com/office/powerpoint/2010/main" val="3373514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FDD9D-0759-AB85-10FA-A525CAECB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95487"/>
          </a:xfrm>
        </p:spPr>
        <p:txBody>
          <a:bodyPr>
            <a:normAutofit fontScale="90000"/>
          </a:bodyPr>
          <a:lstStyle/>
          <a:p>
            <a:pPr algn="ctr"/>
            <a:br>
              <a:rPr lang="en-GB" b="1" dirty="0"/>
            </a:br>
            <a:r>
              <a:rPr lang="en-GB" b="1" dirty="0"/>
              <a:t>Interpretation</a:t>
            </a:r>
            <a:br>
              <a:rPr lang="en-GB" b="1" dirty="0"/>
            </a:b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82ABB-874B-3C7A-0D4D-3AAA6D6CA7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2329"/>
            <a:ext cx="10515600" cy="5244634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Null Hypothesis (H₀):</a:t>
            </a:r>
            <a:r>
              <a:rPr lang="en-GB" dirty="0"/>
              <a:t> Fruit preference is independent of gender.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b="1" dirty="0"/>
              <a:t>Result:</a:t>
            </a:r>
            <a:r>
              <a:rPr lang="en-GB" dirty="0"/>
              <a:t> p = 0.267 → not statistically significant.</a:t>
            </a:r>
          </a:p>
          <a:p>
            <a:pPr marL="0" indent="0">
              <a:buNone/>
            </a:pPr>
            <a:r>
              <a:rPr lang="en-GB" b="1" dirty="0"/>
              <a:t>Conclusion: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There is </a:t>
            </a:r>
            <a:r>
              <a:rPr lang="en-GB" b="1" dirty="0"/>
              <a:t>no significant association</a:t>
            </a:r>
            <a:r>
              <a:rPr lang="en-GB" dirty="0"/>
              <a:t> between gender and fruit preference in this dataset.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17889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Two data entry methods for chi-square in SPSS: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sz="2300" b="1" dirty="0"/>
              <a:t>1. Weight Cases Method</a:t>
            </a:r>
          </a:p>
          <a:p>
            <a:r>
              <a:rPr lang="en-GB" sz="2300" dirty="0"/>
              <a:t>You enter </a:t>
            </a:r>
            <a:r>
              <a:rPr lang="en-GB" sz="2300" b="1" dirty="0"/>
              <a:t>one row per group</a:t>
            </a:r>
            <a:r>
              <a:rPr lang="en-GB" sz="2300" dirty="0"/>
              <a:t>, and include a column that tells SPSS </a:t>
            </a:r>
            <a:r>
              <a:rPr lang="en-GB" sz="2300" b="1" dirty="0"/>
              <a:t>how many times</a:t>
            </a:r>
            <a:r>
              <a:rPr lang="en-GB" sz="2300" dirty="0"/>
              <a:t> that group occurs.</a:t>
            </a:r>
          </a:p>
          <a:p>
            <a:r>
              <a:rPr lang="en-GB" sz="2300" b="1" dirty="0"/>
              <a:t>Example:</a:t>
            </a:r>
            <a:r>
              <a:rPr lang="en-GB" sz="2300" dirty="0"/>
              <a:t> Favourite fruit by gender</a:t>
            </a:r>
          </a:p>
          <a:p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8636769"/>
              </p:ext>
            </p:extLst>
          </p:nvPr>
        </p:nvGraphicFramePr>
        <p:xfrm>
          <a:off x="838200" y="3537880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6941116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5245974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66971223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Fruit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Gender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35228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03671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Mango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1099903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Banana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5429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Banana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2054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5031035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Orange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Female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81046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3653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Two data entry methods for chi-square in SPSS: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Above, each row summarizes a group, and the Count column tells SPSS how many people are in that group.</a:t>
            </a:r>
          </a:p>
          <a:p>
            <a:pPr marL="0" indent="0">
              <a:buNone/>
            </a:pPr>
            <a:r>
              <a:rPr lang="en-GB" sz="2300" dirty="0"/>
              <a:t>In SPSS, you then use Weight Cases by the Count variable.</a:t>
            </a:r>
          </a:p>
          <a:p>
            <a:pPr marL="0" indent="0">
              <a:buNone/>
            </a:pPr>
            <a:endParaRPr lang="en-GB" sz="23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83953075"/>
              </p:ext>
            </p:extLst>
          </p:nvPr>
        </p:nvGraphicFramePr>
        <p:xfrm>
          <a:off x="1018031" y="2979724"/>
          <a:ext cx="6607886" cy="4351334"/>
        </p:xfrm>
        <a:graphic>
          <a:graphicData uri="http://schemas.openxmlformats.org/drawingml/2006/table">
            <a:tbl>
              <a:tblPr/>
              <a:tblGrid>
                <a:gridCol w="3303943">
                  <a:extLst>
                    <a:ext uri="{9D8B030D-6E8A-4147-A177-3AD203B41FA5}">
                      <a16:colId xmlns:a16="http://schemas.microsoft.com/office/drawing/2014/main" val="2795477683"/>
                    </a:ext>
                  </a:extLst>
                </a:gridCol>
                <a:gridCol w="3303943">
                  <a:extLst>
                    <a:ext uri="{9D8B030D-6E8A-4147-A177-3AD203B41FA5}">
                      <a16:colId xmlns:a16="http://schemas.microsoft.com/office/drawing/2014/main" val="3907928307"/>
                    </a:ext>
                  </a:extLst>
                </a:gridCol>
              </a:tblGrid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Fruit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Gender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7827580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225807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4265799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3157652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3429197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430743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018547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8340133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2473584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3851902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8809287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4483296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Mango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56089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714804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797482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7869866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02453674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756897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Banana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5024729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250421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 dirty="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55108672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 dirty="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031636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2932765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83373070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82799776"/>
                  </a:ext>
                </a:extLst>
              </a:tr>
              <a:tr h="167359">
                <a:tc>
                  <a:txBody>
                    <a:bodyPr/>
                    <a:lstStyle/>
                    <a:p>
                      <a:r>
                        <a:rPr lang="en-GB" sz="800"/>
                        <a:t>Orange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sz="800" dirty="0"/>
                        <a:t>Female</a:t>
                      </a:r>
                    </a:p>
                  </a:txBody>
                  <a:tcPr marL="41840" marR="41840" marT="20920" marB="20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8740637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342113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Example Chi-Square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941034"/>
            <a:ext cx="10515600" cy="585038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/>
              <a:t>Transport Mode Choice by Employment Status</a:t>
            </a:r>
          </a:p>
          <a:p>
            <a:r>
              <a:rPr lang="en-GB" sz="2300" dirty="0"/>
              <a:t>A local survey of </a:t>
            </a:r>
            <a:r>
              <a:rPr lang="en-GB" sz="2300" b="1" dirty="0"/>
              <a:t>50 people</a:t>
            </a:r>
            <a:r>
              <a:rPr lang="en-GB" sz="2300" dirty="0"/>
              <a:t> was done to see if the mode of transport people use to get to work or school depends on whether they are </a:t>
            </a:r>
            <a:r>
              <a:rPr lang="en-GB" sz="2300" b="1" dirty="0"/>
              <a:t>employed</a:t>
            </a:r>
            <a:r>
              <a:rPr lang="en-GB" sz="2300" dirty="0"/>
              <a:t> or </a:t>
            </a:r>
            <a:r>
              <a:rPr lang="en-GB" sz="2300" b="1" dirty="0"/>
              <a:t>unemployed</a:t>
            </a:r>
            <a:r>
              <a:rPr lang="en-GB" dirty="0"/>
              <a:t>.</a:t>
            </a:r>
          </a:p>
          <a:p>
            <a:pPr marL="0" indent="0">
              <a:buNone/>
            </a:pP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1166718"/>
              </p:ext>
            </p:extLst>
          </p:nvPr>
        </p:nvGraphicFramePr>
        <p:xfrm>
          <a:off x="838200" y="2270148"/>
          <a:ext cx="10515600" cy="182880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22246970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279902620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86915609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3249665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Transport Mode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Employed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Unemployed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Total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6536831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Walking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80033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Bicycle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48103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Public Bus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41507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b="1"/>
                        <a:t>Total</a:t>
                      </a:r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955702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58508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Entering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b="1" dirty="0"/>
              <a:t>Step 1: Entering data into SPSS</a:t>
            </a:r>
          </a:p>
          <a:p>
            <a:pPr marL="0" indent="0">
              <a:buNone/>
            </a:pPr>
            <a:r>
              <a:rPr lang="en-GB" sz="2300" dirty="0"/>
              <a:t>Create three variables:</a:t>
            </a:r>
          </a:p>
          <a:p>
            <a:r>
              <a:rPr lang="en-GB" sz="2300" dirty="0"/>
              <a:t>Transport (1=Walking, 2=Bicycle, 3=Public Bus)</a:t>
            </a:r>
          </a:p>
          <a:p>
            <a:r>
              <a:rPr lang="en-GB" sz="2300" dirty="0"/>
              <a:t>Employment (1=Employed, 2=Unemployed)</a:t>
            </a:r>
          </a:p>
          <a:p>
            <a:r>
              <a:rPr lang="en-GB" sz="2300" dirty="0"/>
              <a:t>Count (the number of people for each combination)Enter this 6-row table:</a:t>
            </a:r>
          </a:p>
        </p:txBody>
      </p:sp>
    </p:spTree>
    <p:extLst>
      <p:ext uri="{BB962C8B-B14F-4D97-AF65-F5344CB8AC3E}">
        <p14:creationId xmlns:p14="http://schemas.microsoft.com/office/powerpoint/2010/main" val="36453325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6929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Actual data set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77118552"/>
              </p:ext>
            </p:extLst>
          </p:nvPr>
        </p:nvGraphicFramePr>
        <p:xfrm>
          <a:off x="749424" y="1185297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126609393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5410109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01120791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Transport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Employment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Count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2838914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23941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31390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501163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7198931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10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66688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35549093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9424" y="4192453"/>
            <a:ext cx="910479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Step 2: Weighting cases in SPSS</a:t>
            </a:r>
          </a:p>
          <a:p>
            <a:r>
              <a:rPr lang="en-GB" dirty="0"/>
              <a:t>(So SPSS knows to count the number of people per row.)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Click </a:t>
            </a:r>
            <a:r>
              <a:rPr lang="en-GB" b="1" dirty="0"/>
              <a:t>Data → Weight Cases → Weight cases by Count</a:t>
            </a:r>
            <a:r>
              <a:rPr lang="en-GB" dirty="0"/>
              <a:t> → OK.</a:t>
            </a:r>
          </a:p>
        </p:txBody>
      </p:sp>
    </p:spTree>
    <p:extLst>
      <p:ext uri="{BB962C8B-B14F-4D97-AF65-F5344CB8AC3E}">
        <p14:creationId xmlns:p14="http://schemas.microsoft.com/office/powerpoint/2010/main" val="1992960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Run Chi-Square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Step 3: Run Chi-square test</a:t>
            </a:r>
          </a:p>
          <a:p>
            <a:r>
              <a:rPr lang="en-GB" sz="2300" dirty="0" err="1"/>
              <a:t>Analyze</a:t>
            </a:r>
            <a:r>
              <a:rPr lang="en-GB" sz="2300" dirty="0"/>
              <a:t> → Descriptive Statistics → Crosstabs</a:t>
            </a:r>
          </a:p>
          <a:p>
            <a:r>
              <a:rPr lang="en-GB" sz="2300" dirty="0"/>
              <a:t>Put Transport in Rows, Employment in Columns</a:t>
            </a:r>
          </a:p>
          <a:p>
            <a:r>
              <a:rPr lang="en-GB" sz="2300" dirty="0"/>
              <a:t>Click Statistics → tick Chi-square → Continue</a:t>
            </a:r>
          </a:p>
          <a:p>
            <a:r>
              <a:rPr lang="en-GB" sz="2300" dirty="0"/>
              <a:t>Click Cells → tick Observed and Expected → Continue</a:t>
            </a:r>
          </a:p>
          <a:p>
            <a:r>
              <a:rPr lang="en-GB" sz="2300" dirty="0"/>
              <a:t>Click OK</a:t>
            </a:r>
          </a:p>
        </p:txBody>
      </p:sp>
    </p:spTree>
    <p:extLst>
      <p:ext uri="{BB962C8B-B14F-4D97-AF65-F5344CB8AC3E}">
        <p14:creationId xmlns:p14="http://schemas.microsoft.com/office/powerpoint/2010/main" val="1231987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75908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dirty="0"/>
              <a:t>SPSS Output &amp; Interpretation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20932"/>
            <a:ext cx="10515600" cy="515603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300" dirty="0"/>
              <a:t>Step 4: </a:t>
            </a:r>
            <a:r>
              <a:rPr lang="en-GB" sz="2300" b="1" dirty="0"/>
              <a:t>SPSS Output &amp; Interpretation</a:t>
            </a:r>
          </a:p>
          <a:p>
            <a:endParaRPr lang="en-GB" sz="23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581221"/>
              </p:ext>
            </p:extLst>
          </p:nvPr>
        </p:nvGraphicFramePr>
        <p:xfrm>
          <a:off x="749423" y="1751693"/>
          <a:ext cx="10515600" cy="14630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3086222816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802687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628070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7659265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/>
                        <a:t>Test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df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Asymp. Sig. (2-sided)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560381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Pearson Chi-Square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12.114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557469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Likelihood Ratio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15.838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 dirty="0"/>
                        <a:t>0.000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4498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GB"/>
                        <a:t>N of Valid Cases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GB"/>
                        <a:t>50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7912766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749423" y="3505292"/>
            <a:ext cx="10250010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Interpretation: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p-value = 0.002 &lt; 0.05 → </a:t>
            </a:r>
            <a:r>
              <a:rPr lang="en-GB" b="1" dirty="0"/>
              <a:t>There is a significant relationship between employment status and transport mode.</a:t>
            </a:r>
            <a:endParaRPr lang="en-GB" dirty="0"/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This means employed and unemployed people tend to use different transport methods.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For example, no unemployed people use public buses, while many employed people do.</a:t>
            </a:r>
          </a:p>
        </p:txBody>
      </p:sp>
    </p:spTree>
    <p:extLst>
      <p:ext uri="{BB962C8B-B14F-4D97-AF65-F5344CB8AC3E}">
        <p14:creationId xmlns:p14="http://schemas.microsoft.com/office/powerpoint/2010/main" val="148291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161</TotalTime>
  <Words>1052</Words>
  <Application>Microsoft Office PowerPoint</Application>
  <PresentationFormat>Widescreen</PresentationFormat>
  <Paragraphs>222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Courier New</vt:lpstr>
      <vt:lpstr>quote-cjk-patch</vt:lpstr>
      <vt:lpstr>Times New Roman</vt:lpstr>
      <vt:lpstr>Office Theme</vt:lpstr>
      <vt:lpstr>CHI-SQUARE</vt:lpstr>
      <vt:lpstr>CHI-SQUARE</vt:lpstr>
      <vt:lpstr>Scenario</vt:lpstr>
      <vt:lpstr>CHI-SQUARE</vt:lpstr>
      <vt:lpstr>Observed frequencies in Chi Square</vt:lpstr>
      <vt:lpstr>Expected frequencies in Chi Square</vt:lpstr>
      <vt:lpstr>Analyze data (Chi-Square)</vt:lpstr>
      <vt:lpstr>Interpretation</vt:lpstr>
      <vt:lpstr>Case Processing Summary</vt:lpstr>
      <vt:lpstr>Crosstabulation Table</vt:lpstr>
      <vt:lpstr>Chi-Square Test Table</vt:lpstr>
      <vt:lpstr> Interpretation </vt:lpstr>
      <vt:lpstr>Two data entry methods for chi-square in SPSS:</vt:lpstr>
      <vt:lpstr>Two data entry methods for chi-square in SPSS:</vt:lpstr>
      <vt:lpstr>Example Chi-Square</vt:lpstr>
      <vt:lpstr>Entering Data</vt:lpstr>
      <vt:lpstr>Actual data set</vt:lpstr>
      <vt:lpstr>Run Chi-Square</vt:lpstr>
      <vt:lpstr>SPSS Output &amp; Interpretation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Paul</cp:lastModifiedBy>
  <cp:revision>16</cp:revision>
  <dcterms:created xsi:type="dcterms:W3CDTF">2025-08-12T12:06:40Z</dcterms:created>
  <dcterms:modified xsi:type="dcterms:W3CDTF">2026-02-23T12:12:27Z</dcterms:modified>
</cp:coreProperties>
</file>