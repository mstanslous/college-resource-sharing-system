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91" r:id="rId9"/>
    <p:sldId id="290" r:id="rId10"/>
    <p:sldId id="263" r:id="rId11"/>
    <p:sldId id="264" r:id="rId12"/>
    <p:sldId id="265" r:id="rId13"/>
    <p:sldId id="266" r:id="rId14"/>
    <p:sldId id="267" r:id="rId15"/>
    <p:sldId id="281" r:id="rId16"/>
    <p:sldId id="282" r:id="rId17"/>
    <p:sldId id="268" r:id="rId18"/>
    <p:sldId id="269" r:id="rId19"/>
    <p:sldId id="270" r:id="rId20"/>
    <p:sldId id="271" r:id="rId21"/>
    <p:sldId id="272" r:id="rId22"/>
    <p:sldId id="273" r:id="rId23"/>
    <p:sldId id="274" r:id="rId24"/>
    <p:sldId id="275" r:id="rId25"/>
    <p:sldId id="276" r:id="rId26"/>
    <p:sldId id="284" r:id="rId27"/>
    <p:sldId id="277" r:id="rId28"/>
    <p:sldId id="279" r:id="rId29"/>
    <p:sldId id="278" r:id="rId30"/>
    <p:sldId id="280" r:id="rId31"/>
    <p:sldId id="283" r:id="rId32"/>
    <p:sldId id="285" r:id="rId33"/>
    <p:sldId id="286" r:id="rId34"/>
    <p:sldId id="287" r:id="rId35"/>
    <p:sldId id="288" r:id="rId36"/>
    <p:sldId id="289"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52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01480EF-4A1B-437F-8908-58A2F068718F}"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917531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1480EF-4A1B-437F-8908-58A2F068718F}"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1248160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01480EF-4A1B-437F-8908-58A2F068718F}"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2307152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01480EF-4A1B-437F-8908-58A2F068718F}"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8147272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01480EF-4A1B-437F-8908-58A2F068718F}" type="datetimeFigureOut">
              <a:rPr lang="en-US" smtClean="0"/>
              <a:t>9/14/2024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166311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01480EF-4A1B-437F-8908-58A2F068718F}" type="datetimeFigureOut">
              <a:rPr lang="en-US" smtClean="0"/>
              <a:t>9/14/2024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1047041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1480EF-4A1B-437F-8908-58A2F068718F}" type="datetimeFigureOut">
              <a:rPr lang="en-US" smtClean="0"/>
              <a:t>9/14/2024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4189491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1480EF-4A1B-437F-8908-58A2F068718F}"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161781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01480EF-4A1B-437F-8908-58A2F068718F}" type="datetimeFigureOut">
              <a:rPr lang="en-US" smtClean="0"/>
              <a:t>9/14/2024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3871518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1480EF-4A1B-437F-8908-58A2F068718F}"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22855793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01480EF-4A1B-437F-8908-58A2F068718F}" type="datetimeFigureOut">
              <a:rPr lang="en-US" smtClean="0"/>
              <a:t>9/14/2024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FD487-2CA2-4239-97C8-8491C7B383A8}" type="slidenum">
              <a:rPr lang="en-US" smtClean="0"/>
              <a:t>‹#›</a:t>
            </a:fld>
            <a:endParaRPr lang="en-US"/>
          </a:p>
        </p:txBody>
      </p:sp>
    </p:spTree>
    <p:extLst>
      <p:ext uri="{BB962C8B-B14F-4D97-AF65-F5344CB8AC3E}">
        <p14:creationId xmlns:p14="http://schemas.microsoft.com/office/powerpoint/2010/main" val="10678917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1480EF-4A1B-437F-8908-58A2F068718F}" type="datetimeFigureOut">
              <a:rPr lang="en-US" smtClean="0"/>
              <a:t>9/14/2024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FFD487-2CA2-4239-97C8-8491C7B383A8}" type="slidenum">
              <a:rPr lang="en-US" smtClean="0"/>
              <a:t>‹#›</a:t>
            </a:fld>
            <a:endParaRPr lang="en-US"/>
          </a:p>
        </p:txBody>
      </p:sp>
    </p:spTree>
    <p:extLst>
      <p:ext uri="{BB962C8B-B14F-4D97-AF65-F5344CB8AC3E}">
        <p14:creationId xmlns:p14="http://schemas.microsoft.com/office/powerpoint/2010/main" val="3980482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87575"/>
            <a:ext cx="7772400" cy="1470025"/>
          </a:xfrm>
        </p:spPr>
        <p:txBody>
          <a:bodyPr/>
          <a:lstStyle/>
          <a:p>
            <a:r>
              <a:rPr lang="en-US" dirty="0" smtClean="0">
                <a:latin typeface="Times New Roman" pitchFamily="18" charset="0"/>
                <a:cs typeface="Times New Roman" pitchFamily="18" charset="0"/>
              </a:rPr>
              <a:t>Wireless communication media</a:t>
            </a:r>
            <a:endParaRPr lang="en-US" dirty="0">
              <a:latin typeface="Times New Roman" pitchFamily="18" charset="0"/>
              <a:cs typeface="Times New Roman" pitchFamily="18" charset="0"/>
            </a:endParaRP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36167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Many users opt for wireless transmission media because it is more convenient than installing cables.</a:t>
            </a:r>
          </a:p>
          <a:p>
            <a:pPr algn="just">
              <a:buFont typeface="Wingdings" pitchFamily="2" charset="2"/>
              <a:buChar char="Ø"/>
            </a:pPr>
            <a:r>
              <a:rPr lang="en-US" dirty="0" smtClean="0">
                <a:latin typeface="Times New Roman" pitchFamily="18" charset="0"/>
                <a:cs typeface="Times New Roman" pitchFamily="18" charset="0"/>
              </a:rPr>
              <a:t>Businesses use wireless transmission media in locations where it is impossible to install cables cables.</a:t>
            </a:r>
          </a:p>
          <a:p>
            <a:pPr algn="just">
              <a:buFont typeface="Wingdings" pitchFamily="2" charset="2"/>
              <a:buChar char="Ø"/>
            </a:pPr>
            <a:r>
              <a:rPr lang="en-US" dirty="0" smtClean="0">
                <a:latin typeface="Times New Roman" pitchFamily="18" charset="0"/>
                <a:cs typeface="Times New Roman" pitchFamily="18" charset="0"/>
              </a:rPr>
              <a:t>Types of wireless transmission media used in communications include infrared, broadcast radio, cellular radio, microwave and satellites.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5514565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Infrared</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Infrared is a wireless transmission medium that sends signals using infrared light waves.</a:t>
            </a:r>
          </a:p>
          <a:p>
            <a:pPr algn="just">
              <a:buFont typeface="Wingdings" pitchFamily="2" charset="2"/>
              <a:buChar char="Ø"/>
            </a:pPr>
            <a:r>
              <a:rPr lang="en-US" dirty="0" smtClean="0">
                <a:latin typeface="Times New Roman" pitchFamily="18" charset="0"/>
                <a:cs typeface="Times New Roman" pitchFamily="18" charset="0"/>
              </a:rPr>
              <a:t>Mobile computers and devices such as mouse, printer, smart phone, TV remote controllers  have a port that enables the transfer of data from one device to another using infrared light waves.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15494807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smtClean="0">
                <a:latin typeface="Times New Roman" pitchFamily="18" charset="0"/>
                <a:cs typeface="Times New Roman" pitchFamily="18" charset="0"/>
              </a:rPr>
              <a:t>Infrared is typically a line-of-sight technology, which means that the signal is lost if anything blocks the pathway between the two devices. With infrared, the two devices will need to be within one meter of one another.</a:t>
            </a:r>
          </a:p>
          <a:p>
            <a:pPr algn="just">
              <a:buFont typeface="Wingdings" pitchFamily="2" charset="2"/>
              <a:buChar char="Ø"/>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53664763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Broadcast radio</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Is a wireless transmission medium that distributes radio signals through the air over long distances such as between cities, regions and countries.</a:t>
            </a:r>
          </a:p>
          <a:p>
            <a:pPr algn="just">
              <a:buFont typeface="Wingdings" pitchFamily="2" charset="2"/>
              <a:buChar char="Ø"/>
            </a:pPr>
            <a:r>
              <a:rPr lang="en-US" dirty="0" smtClean="0">
                <a:latin typeface="Times New Roman" pitchFamily="18" charset="0"/>
                <a:cs typeface="Times New Roman" pitchFamily="18" charset="0"/>
              </a:rPr>
              <a:t>Bluetooth, WI-FI, WIMAX communications technologies use broadcast radio signals.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26290989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Cellular radio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Is a form of broadcast radio that is used widely for mobile communications, specifically wireless modems and cell phones.</a:t>
            </a:r>
          </a:p>
          <a:p>
            <a:pPr algn="just">
              <a:buFont typeface="Wingdings" pitchFamily="2" charset="2"/>
              <a:buChar char="Ø"/>
            </a:pPr>
            <a:r>
              <a:rPr lang="en-US" dirty="0" smtClean="0">
                <a:latin typeface="Times New Roman" pitchFamily="18" charset="0"/>
                <a:cs typeface="Times New Roman" pitchFamily="18" charset="0"/>
              </a:rPr>
              <a:t>A cell phone is a telephone device that uses high frequency radio waves to transmit voice and digital data messages.</a:t>
            </a:r>
          </a:p>
          <a:p>
            <a:pPr algn="just">
              <a:buFont typeface="Wingdings" pitchFamily="2" charset="2"/>
              <a:buChar char="Ø"/>
            </a:pPr>
            <a:r>
              <a:rPr lang="en-US" dirty="0" smtClean="0">
                <a:latin typeface="Times New Roman" pitchFamily="18" charset="0"/>
                <a:cs typeface="Times New Roman" pitchFamily="18" charset="0"/>
              </a:rPr>
              <a:t>Some mobile users connect their  notebook computer to cell phone to access the web, send and receive email</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4795773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Microwave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Are radio waves that provide a high speed signal transmission.</a:t>
            </a:r>
          </a:p>
          <a:p>
            <a:pPr algn="just">
              <a:buFont typeface="Wingdings" pitchFamily="2" charset="2"/>
              <a:buChar char="Ø"/>
            </a:pPr>
            <a:r>
              <a:rPr lang="en-US" dirty="0" smtClean="0">
                <a:latin typeface="Times New Roman" pitchFamily="18" charset="0"/>
                <a:cs typeface="Times New Roman" pitchFamily="18" charset="0"/>
              </a:rPr>
              <a:t>Micro wave transmission often called fixed wireless, involves sending signals from one microwave station to another</a:t>
            </a:r>
          </a:p>
          <a:p>
            <a:pPr algn="just">
              <a:buFont typeface="Wingdings" pitchFamily="2" charset="2"/>
              <a:buChar char="Ø"/>
            </a:pPr>
            <a:r>
              <a:rPr lang="en-US" dirty="0" smtClean="0">
                <a:latin typeface="Times New Roman" pitchFamily="18" charset="0"/>
                <a:cs typeface="Times New Roman" pitchFamily="18" charset="0"/>
              </a:rPr>
              <a:t>A microwave station is an earth based reflective dish that contains the antenna, transceivers and other equipment necessary for microwave communication.</a:t>
            </a:r>
          </a:p>
          <a:p>
            <a:pPr marL="0" indent="0" algn="just">
              <a:buNone/>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1418563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GB" dirty="0">
                <a:latin typeface="Times New Roman" panose="02020603050405020304" pitchFamily="18" charset="0"/>
                <a:cs typeface="Times New Roman" panose="02020603050405020304" pitchFamily="18" charset="0"/>
              </a:rPr>
              <a:t>Microwave antennas concentrate the waves making a beam of it. As shown in picture above, multiple antennas can be aligned to reach farther. </a:t>
            </a:r>
            <a:endParaRPr lang="en-GB" dirty="0" smtClean="0">
              <a:latin typeface="Times New Roman" panose="02020603050405020304" pitchFamily="18" charset="0"/>
              <a:cs typeface="Times New Roman" panose="02020603050405020304" pitchFamily="18" charset="0"/>
            </a:endParaRPr>
          </a:p>
          <a:p>
            <a:pPr algn="just"/>
            <a:r>
              <a:rPr lang="en-GB" dirty="0" smtClean="0">
                <a:latin typeface="Times New Roman" panose="02020603050405020304" pitchFamily="18" charset="0"/>
                <a:cs typeface="Times New Roman" panose="02020603050405020304" pitchFamily="18" charset="0"/>
              </a:rPr>
              <a:t>Microwaves </a:t>
            </a:r>
            <a:r>
              <a:rPr lang="en-GB" dirty="0">
                <a:latin typeface="Times New Roman" panose="02020603050405020304" pitchFamily="18" charset="0"/>
                <a:cs typeface="Times New Roman" panose="02020603050405020304" pitchFamily="18" charset="0"/>
              </a:rPr>
              <a:t>have higher frequencies and do not penetrate wall like obstacles.</a:t>
            </a:r>
          </a:p>
        </p:txBody>
      </p:sp>
    </p:spTree>
    <p:extLst>
      <p:ext uri="{BB962C8B-B14F-4D97-AF65-F5344CB8AC3E}">
        <p14:creationId xmlns:p14="http://schemas.microsoft.com/office/powerpoint/2010/main" val="23901168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microwave</a:t>
            </a:r>
            <a:endParaRPr lang="en-GB"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28800" y="1828800"/>
            <a:ext cx="4643437" cy="2653506"/>
          </a:xfrm>
        </p:spPr>
      </p:pic>
    </p:spTree>
    <p:extLst>
      <p:ext uri="{BB962C8B-B14F-4D97-AF65-F5344CB8AC3E}">
        <p14:creationId xmlns:p14="http://schemas.microsoft.com/office/powerpoint/2010/main" val="182877282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To avoid possible obstructions such as buildings or mountains, microwave stations often sit on the tops of buildings, towers or mountains</a:t>
            </a:r>
          </a:p>
          <a:p>
            <a:pPr algn="just">
              <a:buFont typeface="Wingdings" pitchFamily="2" charset="2"/>
              <a:buChar char="Ø"/>
            </a:pPr>
            <a:r>
              <a:rPr lang="en-US" dirty="0" smtClean="0">
                <a:latin typeface="Times New Roman" pitchFamily="18" charset="0"/>
                <a:cs typeface="Times New Roman" pitchFamily="18" charset="0"/>
              </a:rPr>
              <a:t>Microwave transmission is used in environments where installing physical transmission media is difficult and where line </a:t>
            </a:r>
            <a:r>
              <a:rPr lang="en-US" dirty="0" err="1" smtClean="0">
                <a:latin typeface="Times New Roman" pitchFamily="18" charset="0"/>
                <a:cs typeface="Times New Roman" pitchFamily="18" charset="0"/>
              </a:rPr>
              <a:t>line</a:t>
            </a:r>
            <a:r>
              <a:rPr lang="en-US" dirty="0" smtClean="0">
                <a:latin typeface="Times New Roman" pitchFamily="18" charset="0"/>
                <a:cs typeface="Times New Roman" pitchFamily="18" charset="0"/>
              </a:rPr>
              <a:t> of sight transmission is available</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0881172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Current users of microwave transmission include universities, hospitals, governments, telephone companies, home and small business users.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6357146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Satellite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Satellite is a space station that receives microwave signals from an earth based station, amplifies the signals and broadcasts the signals back over a wide area network to any number of earth based stations.</a:t>
            </a:r>
          </a:p>
          <a:p>
            <a:pPr algn="just">
              <a:buFont typeface="Wingdings" pitchFamily="2" charset="2"/>
              <a:buChar char="Ø"/>
            </a:pPr>
            <a:r>
              <a:rPr lang="en-US" dirty="0" smtClean="0">
                <a:latin typeface="Times New Roman" pitchFamily="18" charset="0"/>
                <a:cs typeface="Times New Roman" pitchFamily="18" charset="0"/>
              </a:rPr>
              <a:t>The earth based stations often are microwave stations.</a:t>
            </a:r>
          </a:p>
          <a:p>
            <a:pPr algn="just">
              <a:buFont typeface="Wingdings" pitchFamily="2" charset="2"/>
              <a:buChar char="Ø"/>
            </a:pPr>
            <a:r>
              <a:rPr lang="en-US" dirty="0" smtClean="0">
                <a:latin typeface="Times New Roman" pitchFamily="18" charset="0"/>
                <a:cs typeface="Times New Roman" pitchFamily="18" charset="0"/>
              </a:rPr>
              <a:t>Other devices such as smart phones also can function as earth based stations</a:t>
            </a:r>
          </a:p>
        </p:txBody>
      </p:sp>
    </p:spTree>
    <p:extLst>
      <p:ext uri="{BB962C8B-B14F-4D97-AF65-F5344CB8AC3E}">
        <p14:creationId xmlns:p14="http://schemas.microsoft.com/office/powerpoint/2010/main" val="122693960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Transmission from an earth based station to a satellite is an uplink.</a:t>
            </a:r>
          </a:p>
          <a:p>
            <a:pPr algn="just">
              <a:buFont typeface="Wingdings" pitchFamily="2" charset="2"/>
              <a:buChar char="Ø"/>
            </a:pPr>
            <a:r>
              <a:rPr lang="en-US" dirty="0" smtClean="0">
                <a:latin typeface="Times New Roman" pitchFamily="18" charset="0"/>
                <a:cs typeface="Times New Roman" pitchFamily="18" charset="0"/>
              </a:rPr>
              <a:t>Transmission from a satellite to an earth  based station is a downlink.</a:t>
            </a:r>
          </a:p>
          <a:p>
            <a:pPr algn="just">
              <a:buFont typeface="Wingdings" pitchFamily="2" charset="2"/>
              <a:buChar char="Ø"/>
            </a:pPr>
            <a:r>
              <a:rPr lang="en-US" dirty="0" smtClean="0">
                <a:latin typeface="Times New Roman" pitchFamily="18" charset="0"/>
                <a:cs typeface="Times New Roman" pitchFamily="18" charset="0"/>
              </a:rPr>
              <a:t>Applications such as  air navigation, television and radio broadcasts, weather forecasting, video conferencing and internet connections use satellites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0353207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The Internet Technology</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Internet: An interconnected network of thousands of networks and millions of computers, linking businesses, educational institutions, government agencies, and individuals </a:t>
            </a:r>
          </a:p>
          <a:p>
            <a:pPr algn="just">
              <a:buFont typeface="Wingdings" pitchFamily="2" charset="2"/>
              <a:buChar char="Ø"/>
            </a:pPr>
            <a:r>
              <a:rPr lang="en-US" dirty="0" smtClean="0">
                <a:latin typeface="Times New Roman" pitchFamily="18" charset="0"/>
                <a:cs typeface="Times New Roman" pitchFamily="18" charset="0"/>
              </a:rPr>
              <a:t>World Wide Web (Web): One of the Internet’s most popular services, providing access to over 8 billion Web pages</a:t>
            </a:r>
          </a:p>
          <a:p>
            <a:pPr marL="0" indent="0">
              <a:buNone/>
            </a:pPr>
            <a:endParaRPr lang="en-US" dirty="0"/>
          </a:p>
        </p:txBody>
      </p:sp>
    </p:spTree>
    <p:extLst>
      <p:ext uri="{BB962C8B-B14F-4D97-AF65-F5344CB8AC3E}">
        <p14:creationId xmlns:p14="http://schemas.microsoft.com/office/powerpoint/2010/main" val="20872342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indent="0" algn="just">
              <a:buNone/>
            </a:pPr>
            <a:r>
              <a:rPr lang="en-US" b="1" dirty="0" smtClean="0">
                <a:latin typeface="Times New Roman" pitchFamily="18" charset="0"/>
                <a:cs typeface="Times New Roman" pitchFamily="18" charset="0"/>
              </a:rPr>
              <a:t>Web Browsers</a:t>
            </a:r>
          </a:p>
          <a:p>
            <a:pPr algn="just">
              <a:buFont typeface="Wingdings" pitchFamily="2" charset="2"/>
              <a:buChar char="Ø"/>
            </a:pPr>
            <a:r>
              <a:rPr lang="en-US" dirty="0" smtClean="0">
                <a:latin typeface="Times New Roman" pitchFamily="18" charset="0"/>
                <a:cs typeface="Times New Roman" pitchFamily="18" charset="0"/>
              </a:rPr>
              <a:t>Primary purpose to display Web pages</a:t>
            </a:r>
          </a:p>
          <a:p>
            <a:pPr algn="just">
              <a:buFont typeface="Wingdings" pitchFamily="2" charset="2"/>
              <a:buChar char="Ø"/>
            </a:pPr>
            <a:r>
              <a:rPr lang="en-US" dirty="0" smtClean="0">
                <a:latin typeface="Times New Roman" pitchFamily="18" charset="0"/>
                <a:cs typeface="Times New Roman" pitchFamily="18" charset="0"/>
              </a:rPr>
              <a:t>Internet Explorer (88%) and Firefox (9%) dominate the market </a:t>
            </a:r>
          </a:p>
          <a:p>
            <a:pPr algn="just">
              <a:buFont typeface="Wingdings" pitchFamily="2" charset="2"/>
              <a:buChar char="Ø"/>
            </a:pPr>
            <a:r>
              <a:rPr lang="en-US" dirty="0" smtClean="0">
                <a:latin typeface="Times New Roman" pitchFamily="18" charset="0"/>
                <a:cs typeface="Times New Roman" pitchFamily="18" charset="0"/>
              </a:rPr>
              <a:t>Other browsers include: </a:t>
            </a:r>
          </a:p>
          <a:p>
            <a:pPr marL="514350" indent="-514350" algn="just">
              <a:buFont typeface="+mj-lt"/>
              <a:buAutoNum type="arabicPeriod"/>
            </a:pPr>
            <a:r>
              <a:rPr lang="en-US" dirty="0" smtClean="0">
                <a:latin typeface="Times New Roman" pitchFamily="18" charset="0"/>
                <a:cs typeface="Times New Roman" pitchFamily="18" charset="0"/>
              </a:rPr>
              <a:t>Netscape </a:t>
            </a:r>
          </a:p>
          <a:p>
            <a:pPr marL="514350" indent="-514350" algn="just">
              <a:buFont typeface="+mj-lt"/>
              <a:buAutoNum type="arabicPeriod"/>
            </a:pPr>
            <a:r>
              <a:rPr lang="en-US" dirty="0" smtClean="0">
                <a:latin typeface="Times New Roman" pitchFamily="18" charset="0"/>
                <a:cs typeface="Times New Roman" pitchFamily="18" charset="0"/>
              </a:rPr>
              <a:t>Opera </a:t>
            </a:r>
          </a:p>
          <a:p>
            <a:pPr marL="514350" indent="-514350" algn="just">
              <a:buFont typeface="+mj-lt"/>
              <a:buAutoNum type="arabicPeriod"/>
            </a:pPr>
            <a:r>
              <a:rPr lang="en-US" dirty="0" smtClean="0">
                <a:latin typeface="Times New Roman" pitchFamily="18" charset="0"/>
                <a:cs typeface="Times New Roman" pitchFamily="18" charset="0"/>
              </a:rPr>
              <a:t>Safari (for Apple Macintosh)</a:t>
            </a:r>
          </a:p>
          <a:p>
            <a:pPr marL="0" indent="0">
              <a:buNone/>
            </a:pPr>
            <a:endParaRPr lang="en-US" dirty="0"/>
          </a:p>
        </p:txBody>
      </p:sp>
    </p:spTree>
    <p:extLst>
      <p:ext uri="{BB962C8B-B14F-4D97-AF65-F5344CB8AC3E}">
        <p14:creationId xmlns:p14="http://schemas.microsoft.com/office/powerpoint/2010/main" val="5950400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lgn="just">
              <a:buNone/>
            </a:pPr>
            <a:r>
              <a:rPr lang="en-US" b="1" dirty="0" smtClean="0">
                <a:latin typeface="Times New Roman" pitchFamily="18" charset="0"/>
                <a:cs typeface="Times New Roman" pitchFamily="18" charset="0"/>
              </a:rPr>
              <a:t>Hypertext</a:t>
            </a:r>
          </a:p>
          <a:p>
            <a:pPr algn="just">
              <a:buFont typeface="Wingdings" pitchFamily="2" charset="2"/>
              <a:buChar char="Ø"/>
            </a:pPr>
            <a:r>
              <a:rPr lang="en-US" dirty="0" smtClean="0">
                <a:latin typeface="Times New Roman" pitchFamily="18" charset="0"/>
                <a:cs typeface="Times New Roman" pitchFamily="18" charset="0"/>
              </a:rPr>
              <a:t>A way of formatting web pages with embedded links that connect documents to one another, and that also link pages to other objects such as sound, video, or animation files Uses</a:t>
            </a:r>
          </a:p>
          <a:p>
            <a:pPr algn="just">
              <a:buFont typeface="Wingdings" pitchFamily="2" charset="2"/>
              <a:buChar char="Ø"/>
            </a:pPr>
            <a:r>
              <a:rPr lang="en-US" dirty="0" smtClean="0">
                <a:latin typeface="Times New Roman" pitchFamily="18" charset="0"/>
                <a:cs typeface="Times New Roman" pitchFamily="18" charset="0"/>
              </a:rPr>
              <a:t>A web page is a specific collection of information provided by a website and displayed to a user in a web browser</a:t>
            </a:r>
          </a:p>
          <a:p>
            <a:pPr algn="just">
              <a:buFont typeface="Wingdings" pitchFamily="2" charset="2"/>
              <a:buChar char="Ø"/>
            </a:pPr>
            <a:r>
              <a:rPr lang="en-US" dirty="0" smtClean="0">
                <a:latin typeface="Times New Roman" pitchFamily="18" charset="0"/>
                <a:cs typeface="Times New Roman" pitchFamily="18" charset="0"/>
              </a:rPr>
              <a:t>A website is a collection of web pages and related content that is identified by a common domain name and published on at least one web server.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281845332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What do you need to connect to the </a:t>
            </a:r>
            <a:br>
              <a:rPr lang="en-US" dirty="0" smtClean="0">
                <a:latin typeface="Times New Roman" pitchFamily="18" charset="0"/>
                <a:cs typeface="Times New Roman" pitchFamily="18" charset="0"/>
              </a:rPr>
            </a:br>
            <a:r>
              <a:rPr lang="en-US" dirty="0" smtClean="0">
                <a:latin typeface="Times New Roman" pitchFamily="18" charset="0"/>
                <a:cs typeface="Times New Roman" pitchFamily="18" charset="0"/>
              </a:rPr>
              <a:t>internet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smtClean="0">
                <a:latin typeface="Times New Roman" pitchFamily="18" charset="0"/>
                <a:cs typeface="Times New Roman" pitchFamily="18" charset="0"/>
              </a:rPr>
              <a:t>A computer</a:t>
            </a:r>
          </a:p>
          <a:p>
            <a:pPr algn="just">
              <a:buFont typeface="Wingdings" pitchFamily="2" charset="2"/>
              <a:buChar char="Ø"/>
            </a:pPr>
            <a:r>
              <a:rPr lang="en-US" dirty="0" smtClean="0">
                <a:latin typeface="Times New Roman" pitchFamily="18" charset="0"/>
                <a:cs typeface="Times New Roman" pitchFamily="18" charset="0"/>
              </a:rPr>
              <a:t>The modem: is necessary if you are using a telephone line to access the internet. It translates the language that computers talk into a language that can travel across  phone lines</a:t>
            </a:r>
          </a:p>
          <a:p>
            <a:pPr algn="just">
              <a:buFont typeface="Wingdings" pitchFamily="2" charset="2"/>
              <a:buChar char="Ø"/>
            </a:pPr>
            <a:r>
              <a:rPr lang="en-US" dirty="0" smtClean="0">
                <a:latin typeface="Times New Roman" pitchFamily="18" charset="0"/>
                <a:cs typeface="Times New Roman" pitchFamily="18" charset="0"/>
              </a:rPr>
              <a:t>Internet browser(software) and software to connect you to the internet service provider</a:t>
            </a:r>
          </a:p>
          <a:p>
            <a:pPr algn="just">
              <a:buFont typeface="Wingdings" pitchFamily="2" charset="2"/>
              <a:buChar char="Ø"/>
            </a:pPr>
            <a:r>
              <a:rPr lang="en-US" dirty="0" smtClean="0">
                <a:latin typeface="Times New Roman" pitchFamily="18" charset="0"/>
                <a:cs typeface="Times New Roman" pitchFamily="18" charset="0"/>
              </a:rPr>
              <a:t>An account with the internet service provider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26467713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Internet key technology concepts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Federal Networking Council definition of Internet highlights three important concepts that are the basis for understanding the Internet: </a:t>
            </a:r>
          </a:p>
          <a:p>
            <a:pPr marL="514350" indent="-514350" algn="just">
              <a:buFont typeface="+mj-lt"/>
              <a:buAutoNum type="arabicPeriod"/>
            </a:pPr>
            <a:r>
              <a:rPr lang="en-US" dirty="0" smtClean="0">
                <a:latin typeface="Times New Roman" pitchFamily="18" charset="0"/>
                <a:cs typeface="Times New Roman" pitchFamily="18" charset="0"/>
              </a:rPr>
              <a:t>Packet switching  Messages sliced and reassembled </a:t>
            </a:r>
          </a:p>
          <a:p>
            <a:pPr marL="514350" indent="-514350" algn="just">
              <a:buFont typeface="+mj-lt"/>
              <a:buAutoNum type="arabicPeriod"/>
            </a:pPr>
            <a:r>
              <a:rPr lang="en-US" dirty="0" smtClean="0">
                <a:latin typeface="Times New Roman" pitchFamily="18" charset="0"/>
                <a:cs typeface="Times New Roman" pitchFamily="18" charset="0"/>
              </a:rPr>
              <a:t>TCP/IP communications protocol Sequencing , assembling , addressing </a:t>
            </a:r>
          </a:p>
          <a:p>
            <a:pPr marL="514350" indent="-514350" algn="just">
              <a:buFont typeface="+mj-lt"/>
              <a:buAutoNum type="arabicPeriod"/>
            </a:pPr>
            <a:r>
              <a:rPr lang="en-US" dirty="0" smtClean="0">
                <a:latin typeface="Times New Roman" pitchFamily="18" charset="0"/>
                <a:cs typeface="Times New Roman" pitchFamily="18" charset="0"/>
              </a:rPr>
              <a:t>Client/server computing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84299792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Packet switching</a:t>
            </a:r>
            <a:endParaRPr lang="en-US" dirty="0"/>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A method of slicing digital messages into packets, sending the packets along different communication paths as they become available, and then reassembling the packets once they arrive at their destination </a:t>
            </a:r>
          </a:p>
          <a:p>
            <a:pPr algn="just">
              <a:buFont typeface="Wingdings" pitchFamily="2" charset="2"/>
              <a:buChar char="Ø"/>
            </a:pPr>
            <a:r>
              <a:rPr lang="en-US" dirty="0" smtClean="0">
                <a:latin typeface="Times New Roman" pitchFamily="18" charset="0"/>
                <a:cs typeface="Times New Roman" pitchFamily="18" charset="0"/>
              </a:rPr>
              <a:t>Uses routers: special purpose computers that interconnect the computer networks that make up the Internet and route packets to their ultimate destination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301041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Routers use computer programs called routing algorithms to ensure packets take the best available path toward their destination</a:t>
            </a:r>
          </a:p>
          <a:p>
            <a:pPr marL="0" indent="0">
              <a:buNone/>
            </a:pPr>
            <a:endParaRPr lang="en-US" dirty="0"/>
          </a:p>
        </p:txBody>
      </p:sp>
    </p:spTree>
    <p:extLst>
      <p:ext uri="{BB962C8B-B14F-4D97-AF65-F5344CB8AC3E}">
        <p14:creationId xmlns:p14="http://schemas.microsoft.com/office/powerpoint/2010/main" val="21403073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TCP/IP(Transmission Control Protocol/Internet Protocol)</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Protocol: A set of rules for formatting, ordering, compressing, and error-checking messages </a:t>
            </a:r>
          </a:p>
          <a:p>
            <a:pPr algn="just">
              <a:buFont typeface="Wingdings" pitchFamily="2" charset="2"/>
              <a:buChar char="Ø"/>
            </a:pPr>
            <a:r>
              <a:rPr lang="en-US" dirty="0" smtClean="0">
                <a:latin typeface="Times New Roman" pitchFamily="18" charset="0"/>
                <a:cs typeface="Times New Roman" pitchFamily="18" charset="0"/>
              </a:rPr>
              <a:t>TCP: Establishes the connections among sending and receiving Web computers, handles the assembly of packets at the point of transmission, and their reassembly at the receiving end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0483749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IP: Provides the Internet’s addressing scheme</a:t>
            </a:r>
          </a:p>
          <a:p>
            <a:pPr algn="just">
              <a:buFont typeface="Wingdings" pitchFamily="2" charset="2"/>
              <a:buChar char="Ø"/>
            </a:pPr>
            <a:r>
              <a:rPr lang="en-US" dirty="0" smtClean="0">
                <a:latin typeface="Times New Roman" pitchFamily="18" charset="0"/>
                <a:cs typeface="Times New Roman" pitchFamily="18" charset="0"/>
              </a:rPr>
              <a:t>TCP/IP is divided into 4 separate layers: Network Interface Layer </a:t>
            </a:r>
          </a:p>
          <a:p>
            <a:pPr algn="just">
              <a:buFont typeface="Wingdings" pitchFamily="2" charset="2"/>
              <a:buChar char="Ø"/>
            </a:pPr>
            <a:r>
              <a:rPr lang="en-US" dirty="0" smtClean="0">
                <a:latin typeface="Times New Roman" pitchFamily="18" charset="0"/>
                <a:cs typeface="Times New Roman" pitchFamily="18" charset="0"/>
              </a:rPr>
              <a:t>Internet Layer </a:t>
            </a:r>
          </a:p>
          <a:p>
            <a:pPr algn="just">
              <a:buFont typeface="Wingdings" pitchFamily="2" charset="2"/>
              <a:buChar char="Ø"/>
            </a:pPr>
            <a:r>
              <a:rPr lang="en-US" dirty="0" smtClean="0">
                <a:latin typeface="Times New Roman" pitchFamily="18" charset="0"/>
                <a:cs typeface="Times New Roman" pitchFamily="18" charset="0"/>
              </a:rPr>
              <a:t>Transport Layer </a:t>
            </a:r>
          </a:p>
          <a:p>
            <a:pPr algn="just">
              <a:buFont typeface="Wingdings" pitchFamily="2" charset="2"/>
              <a:buChar char="Ø"/>
            </a:pPr>
            <a:r>
              <a:rPr lang="en-US" dirty="0" smtClean="0">
                <a:latin typeface="Times New Roman" pitchFamily="18" charset="0"/>
                <a:cs typeface="Times New Roman" pitchFamily="18" charset="0"/>
              </a:rPr>
              <a:t>Application Layer</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360618818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IP Address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Internet address (also called IP address): a 32-bit number expressed as a series of four separate numbers marked off by periods, such as 201.61.186.227 </a:t>
            </a:r>
          </a:p>
          <a:p>
            <a:pPr algn="just">
              <a:buFont typeface="Wingdings" pitchFamily="2" charset="2"/>
              <a:buChar char="Ø"/>
            </a:pPr>
            <a:r>
              <a:rPr lang="en-US" dirty="0" smtClean="0">
                <a:latin typeface="Times New Roman" pitchFamily="18" charset="0"/>
                <a:cs typeface="Times New Roman" pitchFamily="18" charset="0"/>
              </a:rPr>
              <a:t>IPv4 the current version of IP. Can handle up to 4 billion addresses </a:t>
            </a:r>
          </a:p>
          <a:p>
            <a:pPr algn="just">
              <a:buFont typeface="Wingdings" pitchFamily="2" charset="2"/>
              <a:buChar char="Ø"/>
            </a:pPr>
            <a:r>
              <a:rPr lang="en-US" dirty="0" smtClean="0">
                <a:latin typeface="Times New Roman" pitchFamily="18" charset="0"/>
                <a:cs typeface="Times New Roman" pitchFamily="18" charset="0"/>
              </a:rPr>
              <a:t>IPv6 (next generation of IP) will use 128-bit addresses and be able to handle up to 1 quadrillion addresses</a:t>
            </a:r>
          </a:p>
          <a:p>
            <a:pPr>
              <a:buFont typeface="Wingdings" pitchFamily="2" charset="2"/>
              <a:buChar char="Ø"/>
            </a:pPr>
            <a:endParaRPr lang="en-US" dirty="0"/>
          </a:p>
        </p:txBody>
      </p:sp>
    </p:spTree>
    <p:extLst>
      <p:ext uri="{BB962C8B-B14F-4D97-AF65-F5344CB8AC3E}">
        <p14:creationId xmlns:p14="http://schemas.microsoft.com/office/powerpoint/2010/main" val="169005224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Client/server computing </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dirty="0" smtClean="0">
                <a:latin typeface="Times New Roman" pitchFamily="18" charset="0"/>
                <a:cs typeface="Times New Roman" pitchFamily="18" charset="0"/>
              </a:rPr>
              <a:t>Model of computing in which very powerful personal computers (clients) are connected in a network with one or more server computers that perform common functions for the clients, such as storing files, software applications</a:t>
            </a:r>
          </a:p>
          <a:p>
            <a:pPr algn="just">
              <a:buFont typeface="Wingdings" pitchFamily="2" charset="2"/>
              <a:buChar char="Ø"/>
            </a:pPr>
            <a:r>
              <a:rPr lang="en-US" dirty="0" smtClean="0">
                <a:latin typeface="Times New Roman" pitchFamily="18" charset="0"/>
                <a:cs typeface="Times New Roman" pitchFamily="18" charset="0"/>
              </a:rPr>
              <a:t>Backbone: Consists of high-bandwidth fiber-optic cable owned by a variety of Network Service Providers (NSPs) </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9920141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Other internet protocols</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algn="just">
              <a:buFont typeface="Wingdings" pitchFamily="2" charset="2"/>
              <a:buChar char="Ø"/>
            </a:pPr>
            <a:r>
              <a:rPr lang="en-US" dirty="0" smtClean="0">
                <a:latin typeface="Times New Roman" pitchFamily="18" charset="0"/>
                <a:cs typeface="Times New Roman" pitchFamily="18" charset="0"/>
              </a:rPr>
              <a:t>HTTP: Used to transfer Web pages </a:t>
            </a:r>
          </a:p>
          <a:p>
            <a:pPr algn="just">
              <a:buFont typeface="Wingdings" pitchFamily="2" charset="2"/>
              <a:buChar char="Ø"/>
            </a:pPr>
            <a:r>
              <a:rPr lang="en-US" dirty="0" smtClean="0">
                <a:latin typeface="Times New Roman" pitchFamily="18" charset="0"/>
                <a:cs typeface="Times New Roman" pitchFamily="18" charset="0"/>
              </a:rPr>
              <a:t>SMTP, POP, and IMAP: Used to send and receive e-mail </a:t>
            </a:r>
          </a:p>
          <a:p>
            <a:pPr algn="just">
              <a:buFont typeface="Wingdings" pitchFamily="2" charset="2"/>
              <a:buChar char="Ø"/>
            </a:pPr>
            <a:r>
              <a:rPr lang="en-US" dirty="0" smtClean="0">
                <a:latin typeface="Times New Roman" pitchFamily="18" charset="0"/>
                <a:cs typeface="Times New Roman" pitchFamily="18" charset="0"/>
              </a:rPr>
              <a:t>FTP: Permits users to transfer files from server to client and vice versa </a:t>
            </a:r>
          </a:p>
          <a:p>
            <a:pPr algn="just">
              <a:buFont typeface="Wingdings" pitchFamily="2" charset="2"/>
              <a:buChar char="Ø"/>
            </a:pPr>
            <a:r>
              <a:rPr lang="en-US" dirty="0" smtClean="0">
                <a:latin typeface="Times New Roman" pitchFamily="18" charset="0"/>
                <a:cs typeface="Times New Roman" pitchFamily="18" charset="0"/>
              </a:rPr>
              <a:t>Telnet: Program that enables a client to emulate a mainframe computer terminal </a:t>
            </a:r>
          </a:p>
          <a:p>
            <a:pPr algn="just">
              <a:buFont typeface="Wingdings" pitchFamily="2" charset="2"/>
              <a:buChar char="Ø"/>
            </a:pPr>
            <a:r>
              <a:rPr lang="en-US" dirty="0" smtClean="0">
                <a:latin typeface="Times New Roman" pitchFamily="18" charset="0"/>
                <a:cs typeface="Times New Roman" pitchFamily="18" charset="0"/>
              </a:rPr>
              <a:t>SSL: Protocol that provides secure communications between client and server</a:t>
            </a:r>
          </a:p>
          <a:p>
            <a:pPr algn="just">
              <a:buFont typeface="Wingdings" pitchFamily="2" charset="2"/>
              <a:buChar char="Ø"/>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0296253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latin typeface="Times New Roman" pitchFamily="18" charset="0"/>
                <a:cs typeface="Times New Roman" pitchFamily="18" charset="0"/>
              </a:rPr>
              <a:t>Limitations of the Current Internet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endParaRPr lang="en-US" b="1" dirty="0"/>
          </a:p>
          <a:p>
            <a:pPr algn="just">
              <a:buFont typeface="Wingdings" pitchFamily="2" charset="2"/>
              <a:buChar char="Ø"/>
            </a:pPr>
            <a:r>
              <a:rPr lang="en-US" dirty="0" smtClean="0">
                <a:latin typeface="Times New Roman" pitchFamily="18" charset="0"/>
                <a:cs typeface="Times New Roman" pitchFamily="18" charset="0"/>
              </a:rPr>
              <a:t>Bandwidth limitations</a:t>
            </a:r>
          </a:p>
          <a:p>
            <a:pPr algn="just">
              <a:buFont typeface="Wingdings" pitchFamily="2" charset="2"/>
              <a:buChar char="Ø"/>
            </a:pPr>
            <a:r>
              <a:rPr lang="en-US" dirty="0" smtClean="0">
                <a:latin typeface="Times New Roman" pitchFamily="18" charset="0"/>
                <a:cs typeface="Times New Roman" pitchFamily="18" charset="0"/>
              </a:rPr>
              <a:t>Quality </a:t>
            </a:r>
            <a:r>
              <a:rPr lang="en-US" dirty="0">
                <a:latin typeface="Times New Roman" pitchFamily="18" charset="0"/>
                <a:cs typeface="Times New Roman" pitchFamily="18" charset="0"/>
              </a:rPr>
              <a:t>of service limitations e.g. </a:t>
            </a:r>
            <a:r>
              <a:rPr lang="en-US" dirty="0" smtClean="0">
                <a:latin typeface="Times New Roman" pitchFamily="18" charset="0"/>
                <a:cs typeface="Times New Roman" pitchFamily="18" charset="0"/>
              </a:rPr>
              <a:t>latency</a:t>
            </a:r>
          </a:p>
          <a:p>
            <a:pPr algn="just">
              <a:buFont typeface="Wingdings" pitchFamily="2" charset="2"/>
              <a:buChar char="Ø"/>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Network architecture </a:t>
            </a:r>
            <a:r>
              <a:rPr lang="en-US" dirty="0" smtClean="0">
                <a:latin typeface="Times New Roman" pitchFamily="18" charset="0"/>
                <a:cs typeface="Times New Roman" pitchFamily="18" charset="0"/>
              </a:rPr>
              <a:t>limitations</a:t>
            </a:r>
          </a:p>
          <a:p>
            <a:pPr algn="just">
              <a:buFont typeface="Wingdings" pitchFamily="2" charset="2"/>
              <a:buChar char="Ø"/>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Language development limitations e.g. HTML</a:t>
            </a:r>
          </a:p>
          <a:p>
            <a:pPr marL="0" indent="0" algn="just">
              <a:buNone/>
            </a:pPr>
            <a:r>
              <a:rPr lang="en-US" dirty="0">
                <a:latin typeface="Times New Roman" pitchFamily="18" charset="0"/>
                <a:cs typeface="Times New Roman" pitchFamily="18" charset="0"/>
              </a:rPr>
              <a:t>is fixed and </a:t>
            </a:r>
            <a:r>
              <a:rPr lang="en-US" dirty="0" smtClean="0">
                <a:latin typeface="Times New Roman" pitchFamily="18" charset="0"/>
                <a:cs typeface="Times New Roman" pitchFamily="18" charset="0"/>
              </a:rPr>
              <a:t>generic</a:t>
            </a:r>
          </a:p>
          <a:p>
            <a:pPr algn="just">
              <a:buFont typeface="Wingdings" pitchFamily="2" charset="2"/>
              <a:buChar char="Ø"/>
            </a:pPr>
            <a:r>
              <a:rPr lang="en-US" dirty="0" smtClean="0">
                <a:latin typeface="Times New Roman" pitchFamily="18" charset="0"/>
                <a:cs typeface="Times New Roman" pitchFamily="18" charset="0"/>
              </a:rPr>
              <a:t> </a:t>
            </a:r>
            <a:r>
              <a:rPr lang="en-US" dirty="0">
                <a:latin typeface="Times New Roman" pitchFamily="18" charset="0"/>
                <a:cs typeface="Times New Roman" pitchFamily="18" charset="0"/>
              </a:rPr>
              <a:t>Wired Internet limitations </a:t>
            </a:r>
            <a:r>
              <a:rPr lang="en-US" dirty="0" err="1">
                <a:latin typeface="Times New Roman" pitchFamily="18" charset="0"/>
                <a:cs typeface="Times New Roman" pitchFamily="18" charset="0"/>
              </a:rPr>
              <a:t>eg</a:t>
            </a: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Wired connection </a:t>
            </a:r>
            <a:r>
              <a:rPr lang="en-US" dirty="0">
                <a:latin typeface="Times New Roman" pitchFamily="18" charset="0"/>
                <a:cs typeface="Times New Roman" pitchFamily="18" charset="0"/>
              </a:rPr>
              <a:t>-&gt; mobility</a:t>
            </a:r>
          </a:p>
        </p:txBody>
      </p:sp>
    </p:spTree>
    <p:extLst>
      <p:ext uri="{BB962C8B-B14F-4D97-AF65-F5344CB8AC3E}">
        <p14:creationId xmlns:p14="http://schemas.microsoft.com/office/powerpoint/2010/main" val="63288352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Internet 2</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The second era of the Internet that is being built today by private corporations, universities, and government agencies</a:t>
            </a:r>
          </a:p>
          <a:p>
            <a:pPr algn="just">
              <a:buFont typeface="Wingdings" pitchFamily="2" charset="2"/>
              <a:buChar char="Ø"/>
            </a:pPr>
            <a:r>
              <a:rPr lang="en-US" dirty="0" smtClean="0">
                <a:latin typeface="Times New Roman" pitchFamily="18" charset="0"/>
                <a:cs typeface="Times New Roman" pitchFamily="18" charset="0"/>
              </a:rPr>
              <a:t>Internet 2 has high speed network </a:t>
            </a:r>
          </a:p>
          <a:p>
            <a:pPr algn="just">
              <a:buFont typeface="Wingdings" pitchFamily="2" charset="2"/>
              <a:buChar char="Ø"/>
            </a:pPr>
            <a:r>
              <a:rPr lang="en-US" dirty="0" smtClean="0">
                <a:latin typeface="Times New Roman" pitchFamily="18" charset="0"/>
                <a:cs typeface="Times New Roman" pitchFamily="18" charset="0"/>
              </a:rPr>
              <a:t>To appreciate benefits of Internet II, you must understand limitations of the Internet’s current infrastructure</a:t>
            </a:r>
          </a:p>
          <a:p>
            <a:pPr>
              <a:buFont typeface="Wingdings" pitchFamily="2" charset="2"/>
              <a:buChar char="Ø"/>
            </a:pPr>
            <a:endParaRPr lang="en-US" dirty="0"/>
          </a:p>
        </p:txBody>
      </p:sp>
    </p:spTree>
    <p:extLst>
      <p:ext uri="{BB962C8B-B14F-4D97-AF65-F5344CB8AC3E}">
        <p14:creationId xmlns:p14="http://schemas.microsoft.com/office/powerpoint/2010/main" val="407832312"/>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smtClean="0">
                <a:latin typeface="Times New Roman" pitchFamily="18" charset="0"/>
                <a:cs typeface="Times New Roman" pitchFamily="18" charset="0"/>
              </a:rPr>
              <a:t>Primary goals: </a:t>
            </a:r>
          </a:p>
          <a:p>
            <a:pPr algn="just">
              <a:buFont typeface="Wingdings" pitchFamily="2" charset="2"/>
              <a:buChar char="Ø"/>
            </a:pPr>
            <a:r>
              <a:rPr lang="en-US" dirty="0" smtClean="0">
                <a:latin typeface="Times New Roman" pitchFamily="18" charset="0"/>
                <a:cs typeface="Times New Roman" pitchFamily="18" charset="0"/>
              </a:rPr>
              <a:t>Create a leading edge very-high speed network for national research community</a:t>
            </a:r>
          </a:p>
          <a:p>
            <a:pPr algn="just">
              <a:buFont typeface="Wingdings" pitchFamily="2" charset="2"/>
              <a:buChar char="Ø"/>
            </a:pPr>
            <a:r>
              <a:rPr lang="en-US" dirty="0" smtClean="0">
                <a:latin typeface="Times New Roman" pitchFamily="18" charset="0"/>
                <a:cs typeface="Times New Roman" pitchFamily="18" charset="0"/>
              </a:rPr>
              <a:t>Enable revolutionary Internet applications</a:t>
            </a:r>
          </a:p>
          <a:p>
            <a:pPr algn="just">
              <a:buFont typeface="Wingdings" pitchFamily="2" charset="2"/>
              <a:buChar char="Ø"/>
            </a:pPr>
            <a:r>
              <a:rPr lang="en-US" dirty="0" smtClean="0">
                <a:latin typeface="Times New Roman" pitchFamily="18" charset="0"/>
                <a:cs typeface="Times New Roman" pitchFamily="18" charset="0"/>
              </a:rPr>
              <a:t>Ensure the rapid transfer of new network services and applications to the broader Internet community</a:t>
            </a:r>
          </a:p>
        </p:txBody>
      </p:sp>
    </p:spTree>
    <p:extLst>
      <p:ext uri="{BB962C8B-B14F-4D97-AF65-F5344CB8AC3E}">
        <p14:creationId xmlns:p14="http://schemas.microsoft.com/office/powerpoint/2010/main" val="254659590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Area of focus of internet2</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Advanced network infrastructure </a:t>
            </a:r>
          </a:p>
          <a:p>
            <a:pPr algn="just">
              <a:buFont typeface="Wingdings" pitchFamily="2" charset="2"/>
              <a:buChar char="Ø"/>
            </a:pPr>
            <a:r>
              <a:rPr lang="en-US" dirty="0" smtClean="0">
                <a:latin typeface="Times New Roman" pitchFamily="18" charset="0"/>
                <a:cs typeface="Times New Roman" pitchFamily="18" charset="0"/>
              </a:rPr>
              <a:t>New networking capabilities </a:t>
            </a:r>
          </a:p>
          <a:p>
            <a:pPr algn="just">
              <a:buFont typeface="Wingdings" pitchFamily="2" charset="2"/>
              <a:buChar char="Ø"/>
            </a:pPr>
            <a:r>
              <a:rPr lang="en-US" dirty="0" smtClean="0">
                <a:latin typeface="Times New Roman" pitchFamily="18" charset="0"/>
                <a:cs typeface="Times New Roman" pitchFamily="18" charset="0"/>
              </a:rPr>
              <a:t>Middleware </a:t>
            </a:r>
          </a:p>
          <a:p>
            <a:pPr algn="just">
              <a:buFont typeface="Wingdings" pitchFamily="2" charset="2"/>
              <a:buChar char="Ø"/>
            </a:pPr>
            <a:r>
              <a:rPr lang="en-US" dirty="0" smtClean="0">
                <a:latin typeface="Times New Roman" pitchFamily="18" charset="0"/>
                <a:cs typeface="Times New Roman" pitchFamily="18" charset="0"/>
              </a:rPr>
              <a:t>Advanced applications</a:t>
            </a: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424574718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Benefits of Internet II Technologies</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algn="just">
              <a:buFont typeface="Wingdings" pitchFamily="2" charset="2"/>
              <a:buChar char="Ø"/>
            </a:pPr>
            <a:r>
              <a:rPr lang="en-US" dirty="0" smtClean="0">
                <a:latin typeface="Times New Roman" pitchFamily="18" charset="0"/>
                <a:cs typeface="Times New Roman" pitchFamily="18" charset="0"/>
              </a:rPr>
              <a:t>IP Multicasting: set of technologies that enables efficient delivery of data to many locations on a network </a:t>
            </a:r>
          </a:p>
          <a:p>
            <a:pPr algn="just">
              <a:buFont typeface="Wingdings" pitchFamily="2" charset="2"/>
              <a:buChar char="Ø"/>
            </a:pPr>
            <a:r>
              <a:rPr lang="en-US" dirty="0" smtClean="0">
                <a:latin typeface="Times New Roman" pitchFamily="18" charset="0"/>
                <a:cs typeface="Times New Roman" pitchFamily="18" charset="0"/>
              </a:rPr>
              <a:t>Latency solutions: differentiated quality of service will be able to assign different levels of priority to packets depending on type of data being transmitted </a:t>
            </a:r>
          </a:p>
          <a:p>
            <a:pPr algn="just">
              <a:buFont typeface="Wingdings" pitchFamily="2" charset="2"/>
              <a:buChar char="Ø"/>
            </a:pPr>
            <a:r>
              <a:rPr lang="en-US" dirty="0" smtClean="0">
                <a:latin typeface="Times New Roman" pitchFamily="18" charset="0"/>
                <a:cs typeface="Times New Roman" pitchFamily="18" charset="0"/>
              </a:rPr>
              <a:t>Guaranteed service levels: ability to purchase right to move data through network at guaranteed speed in return for higher fee </a:t>
            </a:r>
          </a:p>
          <a:p>
            <a:pPr algn="just">
              <a:buFont typeface="Wingdings" pitchFamily="2" charset="2"/>
              <a:buChar char="Ø"/>
            </a:pPr>
            <a:r>
              <a:rPr lang="en-US" dirty="0" smtClean="0">
                <a:latin typeface="Times New Roman" pitchFamily="18" charset="0"/>
                <a:cs typeface="Times New Roman" pitchFamily="18" charset="0"/>
              </a:rPr>
              <a:t>Lower error rates </a:t>
            </a:r>
          </a:p>
          <a:p>
            <a:pPr algn="just">
              <a:buFont typeface="Wingdings" pitchFamily="2" charset="2"/>
              <a:buChar char="Ø"/>
            </a:pPr>
            <a:r>
              <a:rPr lang="en-US" dirty="0" smtClean="0">
                <a:latin typeface="Times New Roman" pitchFamily="18" charset="0"/>
                <a:cs typeface="Times New Roman" pitchFamily="18" charset="0"/>
              </a:rPr>
              <a:t>Declining costs</a:t>
            </a:r>
          </a:p>
          <a:p>
            <a:endParaRPr lang="en-US" dirty="0"/>
          </a:p>
        </p:txBody>
      </p:sp>
    </p:spTree>
    <p:extLst>
      <p:ext uri="{BB962C8B-B14F-4D97-AF65-F5344CB8AC3E}">
        <p14:creationId xmlns:p14="http://schemas.microsoft.com/office/powerpoint/2010/main" val="25744316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Reasons for using the internet</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algn="just">
              <a:buFont typeface="Wingdings" pitchFamily="2" charset="2"/>
              <a:buChar char="Ø"/>
            </a:pPr>
            <a:r>
              <a:rPr lang="en-US" dirty="0" smtClean="0">
                <a:latin typeface="Times New Roman" pitchFamily="18" charset="0"/>
                <a:cs typeface="Times New Roman" pitchFamily="18" charset="0"/>
              </a:rPr>
              <a:t>To find information</a:t>
            </a:r>
          </a:p>
          <a:p>
            <a:pPr algn="just">
              <a:buFont typeface="Wingdings" pitchFamily="2" charset="2"/>
              <a:buChar char="Ø"/>
            </a:pPr>
            <a:r>
              <a:rPr lang="en-US" dirty="0" smtClean="0">
                <a:latin typeface="Times New Roman" pitchFamily="18" charset="0"/>
                <a:cs typeface="Times New Roman" pitchFamily="18" charset="0"/>
              </a:rPr>
              <a:t>To watch videos</a:t>
            </a:r>
          </a:p>
          <a:p>
            <a:pPr algn="just">
              <a:buFont typeface="Wingdings" pitchFamily="2" charset="2"/>
              <a:buChar char="Ø"/>
            </a:pPr>
            <a:r>
              <a:rPr lang="en-US" dirty="0" smtClean="0">
                <a:latin typeface="Times New Roman" pitchFamily="18" charset="0"/>
                <a:cs typeface="Times New Roman" pitchFamily="18" charset="0"/>
              </a:rPr>
              <a:t>To share files using cloud storage</a:t>
            </a:r>
          </a:p>
          <a:p>
            <a:pPr algn="just">
              <a:buFont typeface="Wingdings" pitchFamily="2" charset="2"/>
              <a:buChar char="Ø"/>
            </a:pPr>
            <a:r>
              <a:rPr lang="en-US" dirty="0" smtClean="0">
                <a:latin typeface="Times New Roman" pitchFamily="18" charset="0"/>
                <a:cs typeface="Times New Roman" pitchFamily="18" charset="0"/>
              </a:rPr>
              <a:t>To communicate</a:t>
            </a:r>
          </a:p>
          <a:p>
            <a:pPr algn="just">
              <a:buFont typeface="Wingdings" pitchFamily="2" charset="2"/>
              <a:buChar char="Ø"/>
            </a:pPr>
            <a:r>
              <a:rPr lang="en-US" dirty="0" smtClean="0">
                <a:latin typeface="Times New Roman" pitchFamily="18" charset="0"/>
                <a:cs typeface="Times New Roman" pitchFamily="18" charset="0"/>
              </a:rPr>
              <a:t>To solve problems</a:t>
            </a:r>
          </a:p>
          <a:p>
            <a:pPr algn="just">
              <a:buFont typeface="Wingdings" pitchFamily="2" charset="2"/>
              <a:buChar char="Ø"/>
            </a:pPr>
            <a:r>
              <a:rPr lang="en-US" dirty="0" smtClean="0">
                <a:latin typeface="Times New Roman" pitchFamily="18" charset="0"/>
                <a:cs typeface="Times New Roman" pitchFamily="18" charset="0"/>
              </a:rPr>
              <a:t>To be educated</a:t>
            </a:r>
          </a:p>
          <a:p>
            <a:pPr>
              <a:buFont typeface="Wingdings" pitchFamily="2" charset="2"/>
              <a:buChar char="Ø"/>
            </a:pPr>
            <a:endParaRPr lang="en-US" dirty="0"/>
          </a:p>
        </p:txBody>
      </p:sp>
    </p:spTree>
    <p:extLst>
      <p:ext uri="{BB962C8B-B14F-4D97-AF65-F5344CB8AC3E}">
        <p14:creationId xmlns:p14="http://schemas.microsoft.com/office/powerpoint/2010/main" val="33060906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GOOGLE SEARCH</a:t>
            </a:r>
            <a:br>
              <a:rPr lang="en-GB" dirty="0" smtClean="0"/>
            </a:br>
            <a:endParaRPr lang="en-GB" dirty="0"/>
          </a:p>
        </p:txBody>
      </p:sp>
      <p:sp>
        <p:nvSpPr>
          <p:cNvPr id="3" name="Content Placeholder 2"/>
          <p:cNvSpPr>
            <a:spLocks noGrp="1"/>
          </p:cNvSpPr>
          <p:nvPr>
            <p:ph idx="1"/>
          </p:nvPr>
        </p:nvSpPr>
        <p:spPr/>
        <p:txBody>
          <a:bodyPr>
            <a:normAutofit lnSpcReduction="10000"/>
          </a:bodyPr>
          <a:lstStyle/>
          <a:p>
            <a:pPr marL="0" indent="0">
              <a:buNone/>
            </a:pPr>
            <a:r>
              <a:rPr lang="en-GB" b="1" dirty="0" smtClean="0"/>
              <a:t>HOW GOOGLE SEARCH ENGINE WORKS</a:t>
            </a:r>
          </a:p>
          <a:p>
            <a:pPr algn="just"/>
            <a:r>
              <a:rPr lang="en-US" dirty="0">
                <a:latin typeface="Times New Roman" panose="02020603050405020304" pitchFamily="18" charset="0"/>
                <a:cs typeface="Times New Roman" panose="02020603050405020304" pitchFamily="18" charset="0"/>
              </a:rPr>
              <a:t>Google is a fully-automated search engine that uses software known as "web crawlers" that explore the web on a regular basis to find sites to add to our index</a:t>
            </a:r>
            <a:r>
              <a:rPr lang="en-US" dirty="0" smtClean="0">
                <a:latin typeface="Times New Roman" panose="02020603050405020304" pitchFamily="18" charset="0"/>
                <a:cs typeface="Times New Roman" panose="02020603050405020304" pitchFamily="18" charset="0"/>
              </a:rPr>
              <a:t>.</a:t>
            </a:r>
          </a:p>
          <a:p>
            <a:pPr algn="just"/>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 fact, the vast majority of sites listed in our results aren't manually submitted for inclusion, but are found and added automatically when our web crawlers crawl the web.</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776186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Google Search works in essentially three stages:</a:t>
            </a:r>
            <a:br>
              <a:rPr lang="en-US" dirty="0"/>
            </a:br>
            <a:endParaRPr lang="en-GB" dirty="0"/>
          </a:p>
        </p:txBody>
      </p:sp>
      <p:sp>
        <p:nvSpPr>
          <p:cNvPr id="3" name="Content Placeholder 2"/>
          <p:cNvSpPr>
            <a:spLocks noGrp="1"/>
          </p:cNvSpPr>
          <p:nvPr>
            <p:ph idx="1"/>
          </p:nvPr>
        </p:nvSpPr>
        <p:spPr/>
        <p:txBody>
          <a:bodyPr>
            <a:normAutofit/>
          </a:bodyPr>
          <a:lstStyle/>
          <a:p>
            <a:pPr algn="just"/>
            <a:r>
              <a:rPr lang="en-US" b="1" dirty="0" smtClean="0">
                <a:latin typeface="Times New Roman" panose="02020603050405020304" pitchFamily="18" charset="0"/>
                <a:cs typeface="Times New Roman" panose="02020603050405020304" pitchFamily="18" charset="0"/>
              </a:rPr>
              <a:t>Crawling</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Google searches the web with automated programs called </a:t>
            </a:r>
            <a:r>
              <a:rPr lang="en-US" i="1" dirty="0">
                <a:latin typeface="Times New Roman" panose="02020603050405020304" pitchFamily="18" charset="0"/>
                <a:cs typeface="Times New Roman" panose="02020603050405020304" pitchFamily="18" charset="0"/>
              </a:rPr>
              <a:t>crawlers</a:t>
            </a:r>
            <a:r>
              <a:rPr lang="en-US" dirty="0">
                <a:latin typeface="Times New Roman" panose="02020603050405020304" pitchFamily="18" charset="0"/>
                <a:cs typeface="Times New Roman" panose="02020603050405020304" pitchFamily="18" charset="0"/>
              </a:rPr>
              <a:t>, looking for pages that are new or updated. Google stores those page addresses (or </a:t>
            </a:r>
            <a:r>
              <a:rPr lang="en-US" i="1" dirty="0">
                <a:latin typeface="Times New Roman" panose="02020603050405020304" pitchFamily="18" charset="0"/>
                <a:cs typeface="Times New Roman" panose="02020603050405020304" pitchFamily="18" charset="0"/>
              </a:rPr>
              <a:t>page URLs</a:t>
            </a:r>
            <a:r>
              <a:rPr lang="en-US" dirty="0">
                <a:latin typeface="Times New Roman" panose="02020603050405020304" pitchFamily="18" charset="0"/>
                <a:cs typeface="Times New Roman" panose="02020603050405020304" pitchFamily="18" charset="0"/>
              </a:rPr>
              <a:t>) in a big list to look at later. We find pages by many different methods, but the main method is following links from pages that we already know about.</a:t>
            </a:r>
          </a:p>
          <a:p>
            <a:endParaRPr lang="en-GB" dirty="0"/>
          </a:p>
        </p:txBody>
      </p:sp>
    </p:spTree>
    <p:extLst>
      <p:ext uri="{BB962C8B-B14F-4D97-AF65-F5344CB8AC3E}">
        <p14:creationId xmlns:p14="http://schemas.microsoft.com/office/powerpoint/2010/main" val="194626423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b="1" dirty="0">
                <a:latin typeface="Times New Roman" panose="02020603050405020304" pitchFamily="18" charset="0"/>
                <a:cs typeface="Times New Roman" panose="02020603050405020304" pitchFamily="18" charset="0"/>
              </a:rPr>
              <a:t>Indexing:</a:t>
            </a:r>
            <a:r>
              <a:rPr lang="en-US" dirty="0">
                <a:latin typeface="Times New Roman" panose="02020603050405020304" pitchFamily="18" charset="0"/>
                <a:cs typeface="Times New Roman" panose="02020603050405020304" pitchFamily="18" charset="0"/>
              </a:rPr>
              <a:t> Google visits the pages that it has learned about by crawling, and tries to analyze what each page is about. Google analyzes the content, images, and video files in the page, trying to understand what the page is about. This information is stored in the </a:t>
            </a:r>
            <a:r>
              <a:rPr lang="en-US" i="1" dirty="0">
                <a:latin typeface="Times New Roman" panose="02020603050405020304" pitchFamily="18" charset="0"/>
                <a:cs typeface="Times New Roman" panose="02020603050405020304" pitchFamily="18" charset="0"/>
              </a:rPr>
              <a:t>Google index</a:t>
            </a:r>
            <a:r>
              <a:rPr lang="en-US" dirty="0">
                <a:latin typeface="Times New Roman" panose="02020603050405020304" pitchFamily="18" charset="0"/>
                <a:cs typeface="Times New Roman" panose="02020603050405020304" pitchFamily="18" charset="0"/>
              </a:rPr>
              <a:t>, a huge database that is stored on many computers.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624548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normAutofit/>
          </a:bodyPr>
          <a:lstStyle/>
          <a:p>
            <a:pPr algn="just"/>
            <a:r>
              <a:rPr lang="en-US" b="1" dirty="0">
                <a:latin typeface="Times New Roman" panose="02020603050405020304" pitchFamily="18" charset="0"/>
                <a:cs typeface="Times New Roman" panose="02020603050405020304" pitchFamily="18" charset="0"/>
              </a:rPr>
              <a:t>Serving search </a:t>
            </a:r>
            <a:r>
              <a:rPr lang="en-US" b="1" dirty="0" smtClean="0">
                <a:latin typeface="Times New Roman" panose="02020603050405020304" pitchFamily="18" charset="0"/>
                <a:cs typeface="Times New Roman" panose="02020603050405020304" pitchFamily="18" charset="0"/>
              </a:rPr>
              <a:t>results(Ranking):</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When a user performs a Google search, Google tries to determine the highest quality results. The "best" results have many factors, including things such as the user's location, language, device (desktop or phone), and previous queries. </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961869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pPr algn="just"/>
            <a:r>
              <a:rPr lang="en-US" dirty="0">
                <a:latin typeface="Times New Roman" panose="02020603050405020304" pitchFamily="18" charset="0"/>
                <a:cs typeface="Times New Roman" panose="02020603050405020304" pitchFamily="18" charset="0"/>
              </a:rPr>
              <a:t>For example, searching for "bicycle repair shops" would show different answers to a user in Paris than it would to a user in Hong Kong. Google doesn't accept payment to rank pages higher, and ranking is done algorithmically.</a:t>
            </a:r>
            <a:endParaRPr lang="en-GB" dirty="0">
              <a:latin typeface="Times New Roman" panose="02020603050405020304" pitchFamily="18" charset="0"/>
              <a:cs typeface="Times New Roman" panose="02020603050405020304" pitchFamily="18" charset="0"/>
            </a:endParaRPr>
          </a:p>
          <a:p>
            <a:endParaRPr lang="en-GB" dirty="0"/>
          </a:p>
        </p:txBody>
      </p:sp>
    </p:spTree>
    <p:extLst>
      <p:ext uri="{BB962C8B-B14F-4D97-AF65-F5344CB8AC3E}">
        <p14:creationId xmlns:p14="http://schemas.microsoft.com/office/powerpoint/2010/main" val="81709508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218</TotalTime>
  <Words>1651</Words>
  <Application>Microsoft Office PowerPoint</Application>
  <PresentationFormat>On-screen Show (4:3)</PresentationFormat>
  <Paragraphs>124</Paragraphs>
  <Slides>36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Times New Roman</vt:lpstr>
      <vt:lpstr>Wingdings</vt:lpstr>
      <vt:lpstr>Office Theme</vt:lpstr>
      <vt:lpstr>Wireless communication media</vt:lpstr>
      <vt:lpstr>PowerPoint Presentation</vt:lpstr>
      <vt:lpstr>Infrared</vt:lpstr>
      <vt:lpstr>PowerPoint Presentation</vt:lpstr>
      <vt:lpstr>Broadcast radio</vt:lpstr>
      <vt:lpstr>Cellular radio </vt:lpstr>
      <vt:lpstr>Microwave </vt:lpstr>
      <vt:lpstr>PowerPoint Presentation</vt:lpstr>
      <vt:lpstr>microwave</vt:lpstr>
      <vt:lpstr>PowerPoint Presentation</vt:lpstr>
      <vt:lpstr>PowerPoint Presentation</vt:lpstr>
      <vt:lpstr>Satellite </vt:lpstr>
      <vt:lpstr>PowerPoint Presentation</vt:lpstr>
      <vt:lpstr>The Internet Technology</vt:lpstr>
      <vt:lpstr>PowerPoint Presentation</vt:lpstr>
      <vt:lpstr>PowerPoint Presentation</vt:lpstr>
      <vt:lpstr>What do you need to connect to the  internet</vt:lpstr>
      <vt:lpstr>Internet key technology concepts</vt:lpstr>
      <vt:lpstr>Packet switching</vt:lpstr>
      <vt:lpstr>PowerPoint Presentation</vt:lpstr>
      <vt:lpstr>TCP/IP(Transmission Control Protocol/Internet Protocol)</vt:lpstr>
      <vt:lpstr>PowerPoint Presentation</vt:lpstr>
      <vt:lpstr>IP Address</vt:lpstr>
      <vt:lpstr>Client/server computing </vt:lpstr>
      <vt:lpstr>Other internet protocols</vt:lpstr>
      <vt:lpstr>Limitations of the Current Internet</vt:lpstr>
      <vt:lpstr>Internet 2</vt:lpstr>
      <vt:lpstr>PowerPoint Presentation</vt:lpstr>
      <vt:lpstr>Area of focus of internet2</vt:lpstr>
      <vt:lpstr>Benefits of Internet II Technologies </vt:lpstr>
      <vt:lpstr>Reasons for using the internet</vt:lpstr>
      <vt:lpstr>GOOGLE SEARCH </vt:lpstr>
      <vt:lpstr>Google Search works in essentially three stages: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Wireless communication media</dc:title>
  <dc:creator>chifundo</dc:creator>
  <cp:lastModifiedBy>MCA_LL</cp:lastModifiedBy>
  <cp:revision>16</cp:revision>
  <dcterms:created xsi:type="dcterms:W3CDTF">2020-05-22T11:08:01Z</dcterms:created>
  <dcterms:modified xsi:type="dcterms:W3CDTF">2024-09-14T09:25:24Z</dcterms:modified>
</cp:coreProperties>
</file>