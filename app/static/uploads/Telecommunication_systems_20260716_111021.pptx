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4"/>
  </p:notesMasterIdLst>
  <p:sldIdLst>
    <p:sldId id="256" r:id="rId2"/>
    <p:sldId id="290" r:id="rId3"/>
    <p:sldId id="257" r:id="rId4"/>
    <p:sldId id="258" r:id="rId5"/>
    <p:sldId id="259" r:id="rId6"/>
    <p:sldId id="260" r:id="rId7"/>
    <p:sldId id="261" r:id="rId8"/>
    <p:sldId id="262" r:id="rId9"/>
    <p:sldId id="263" r:id="rId10"/>
    <p:sldId id="264" r:id="rId11"/>
    <p:sldId id="265" r:id="rId12"/>
    <p:sldId id="266" r:id="rId13"/>
    <p:sldId id="267" r:id="rId14"/>
    <p:sldId id="268" r:id="rId15"/>
    <p:sldId id="276" r:id="rId16"/>
    <p:sldId id="269" r:id="rId17"/>
    <p:sldId id="270" r:id="rId18"/>
    <p:sldId id="271" r:id="rId19"/>
    <p:sldId id="272" r:id="rId20"/>
    <p:sldId id="274" r:id="rId21"/>
    <p:sldId id="275" r:id="rId22"/>
    <p:sldId id="294" r:id="rId23"/>
    <p:sldId id="295" r:id="rId24"/>
    <p:sldId id="291" r:id="rId25"/>
    <p:sldId id="293" r:id="rId26"/>
    <p:sldId id="273" r:id="rId27"/>
    <p:sldId id="286" r:id="rId28"/>
    <p:sldId id="287" r:id="rId29"/>
    <p:sldId id="277" r:id="rId30"/>
    <p:sldId id="278" r:id="rId31"/>
    <p:sldId id="279" r:id="rId32"/>
    <p:sldId id="292" r:id="rId33"/>
    <p:sldId id="280" r:id="rId34"/>
    <p:sldId id="281" r:id="rId35"/>
    <p:sldId id="282" r:id="rId36"/>
    <p:sldId id="283" r:id="rId37"/>
    <p:sldId id="289" r:id="rId38"/>
    <p:sldId id="284" r:id="rId39"/>
    <p:sldId id="285" r:id="rId40"/>
    <p:sldId id="297" r:id="rId41"/>
    <p:sldId id="296" r:id="rId42"/>
    <p:sldId id="288" r:id="rId43"/>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77199" autoAdjust="0"/>
  </p:normalViewPr>
  <p:slideViewPr>
    <p:cSldViewPr>
      <p:cViewPr varScale="1">
        <p:scale>
          <a:sx n="51" d="100"/>
          <a:sy n="51" d="100"/>
        </p:scale>
        <p:origin x="1712" y="48"/>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735ABC35-0C35-48DF-8C24-6D7701871AE6}" type="datetimeFigureOut">
              <a:rPr lang="en-US" smtClean="0"/>
              <a:t>11-Jun-26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0ADC07D4-F111-4CF3-8A75-B88394F093FC}" type="slidenum">
              <a:rPr lang="en-US" smtClean="0"/>
              <a:t>‹#›</a:t>
            </a:fld>
            <a:endParaRPr lang="en-US"/>
          </a:p>
        </p:txBody>
      </p:sp>
    </p:spTree>
    <p:extLst>
      <p:ext uri="{BB962C8B-B14F-4D97-AF65-F5344CB8AC3E}">
        <p14:creationId xmlns:p14="http://schemas.microsoft.com/office/powerpoint/2010/main" val="221946581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ADC07D4-F111-4CF3-8A75-B88394F093FC}" type="slidenum">
              <a:rPr lang="en-US" smtClean="0"/>
              <a:t>3</a:t>
            </a:fld>
            <a:endParaRPr lang="en-US"/>
          </a:p>
        </p:txBody>
      </p:sp>
    </p:spTree>
    <p:extLst>
      <p:ext uri="{BB962C8B-B14F-4D97-AF65-F5344CB8AC3E}">
        <p14:creationId xmlns:p14="http://schemas.microsoft.com/office/powerpoint/2010/main" val="420777401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smtClean="0"/>
              <a:t>The telephone and cable television networks are not the only sources of wiring that can be reused for data communication. </a:t>
            </a:r>
          </a:p>
          <a:p>
            <a:r>
              <a:rPr lang="en-GB" dirty="0" smtClean="0"/>
              <a:t>There is a yet more common kind of wiring: electrical power lines. </a:t>
            </a:r>
          </a:p>
          <a:p>
            <a:r>
              <a:rPr lang="en-GB" dirty="0" smtClean="0"/>
              <a:t>Power lines deliver electrical power to houses, and electrical wiring within houses distributes the power to electrical outlets.</a:t>
            </a:r>
          </a:p>
          <a:p>
            <a:r>
              <a:rPr lang="en-GB" dirty="0" smtClean="0"/>
              <a:t>The use of power lines for data communication is an old idea. Power lines have been used by electricity companies for low-rate communication such as remote metering for many years, as well in the home to control devices (e.g., the X10 standard). </a:t>
            </a:r>
          </a:p>
          <a:p>
            <a:r>
              <a:rPr lang="en-GB" dirty="0" smtClean="0"/>
              <a:t>In recent years there has been renewed interest in high-rate communication over these lines, both inside the home as a LAN and outside the home for broadband Internet access</a:t>
            </a:r>
          </a:p>
          <a:p>
            <a:endParaRPr lang="en-GB" dirty="0"/>
          </a:p>
        </p:txBody>
      </p:sp>
      <p:sp>
        <p:nvSpPr>
          <p:cNvPr id="4" name="Slide Number Placeholder 3"/>
          <p:cNvSpPr>
            <a:spLocks noGrp="1"/>
          </p:cNvSpPr>
          <p:nvPr>
            <p:ph type="sldNum" sz="quarter" idx="10"/>
          </p:nvPr>
        </p:nvSpPr>
        <p:spPr/>
        <p:txBody>
          <a:bodyPr/>
          <a:lstStyle/>
          <a:p>
            <a:fld id="{0ADC07D4-F111-4CF3-8A75-B88394F093FC}" type="slidenum">
              <a:rPr lang="en-US" smtClean="0"/>
              <a:t>22</a:t>
            </a:fld>
            <a:endParaRPr lang="en-US"/>
          </a:p>
        </p:txBody>
      </p:sp>
    </p:spTree>
    <p:extLst>
      <p:ext uri="{BB962C8B-B14F-4D97-AF65-F5344CB8AC3E}">
        <p14:creationId xmlns:p14="http://schemas.microsoft.com/office/powerpoint/2010/main" val="76537204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smtClean="0"/>
              <a:t>The difficulty with using household electrical wiring for a network is that it</a:t>
            </a:r>
            <a:r>
              <a:rPr lang="en-GB" baseline="0" dirty="0" smtClean="0"/>
              <a:t> </a:t>
            </a:r>
            <a:r>
              <a:rPr lang="en-GB" dirty="0" smtClean="0"/>
              <a:t>was designed to distribute power signals. This task is quite different than distributing data signals, at which household wiring does a horrible job. Electrical signals are sent at 50–60 Hz and the wiring attenuates the much </a:t>
            </a:r>
            <a:r>
              <a:rPr lang="en-GB" smtClean="0"/>
              <a:t>higher frequency</a:t>
            </a:r>
            <a:r>
              <a:rPr lang="en-GB" baseline="0" smtClean="0"/>
              <a:t> </a:t>
            </a:r>
            <a:r>
              <a:rPr lang="en-GB" smtClean="0"/>
              <a:t>(MHz</a:t>
            </a:r>
            <a:r>
              <a:rPr lang="en-GB" dirty="0" smtClean="0"/>
              <a:t>) signals needed for high-rate data communication.</a:t>
            </a:r>
            <a:endParaRPr lang="en-GB" dirty="0"/>
          </a:p>
        </p:txBody>
      </p:sp>
      <p:sp>
        <p:nvSpPr>
          <p:cNvPr id="4" name="Slide Number Placeholder 3"/>
          <p:cNvSpPr>
            <a:spLocks noGrp="1"/>
          </p:cNvSpPr>
          <p:nvPr>
            <p:ph type="sldNum" sz="quarter" idx="10"/>
          </p:nvPr>
        </p:nvSpPr>
        <p:spPr/>
        <p:txBody>
          <a:bodyPr/>
          <a:lstStyle/>
          <a:p>
            <a:fld id="{0ADC07D4-F111-4CF3-8A75-B88394F093FC}" type="slidenum">
              <a:rPr lang="en-US" smtClean="0"/>
              <a:t>23</a:t>
            </a:fld>
            <a:endParaRPr lang="en-US"/>
          </a:p>
        </p:txBody>
      </p:sp>
    </p:spTree>
    <p:extLst>
      <p:ext uri="{BB962C8B-B14F-4D97-AF65-F5344CB8AC3E}">
        <p14:creationId xmlns:p14="http://schemas.microsoft.com/office/powerpoint/2010/main" val="415718106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kern="1200" dirty="0" smtClean="0">
                <a:solidFill>
                  <a:schemeClr val="tx1"/>
                </a:solidFill>
                <a:effectLst/>
                <a:latin typeface="+mn-lt"/>
                <a:ea typeface="+mn-ea"/>
                <a:cs typeface="+mn-cs"/>
              </a:rPr>
              <a:t>The </a:t>
            </a:r>
            <a:r>
              <a:rPr lang="en-US" sz="1200" b="1" kern="1200" dirty="0" smtClean="0">
                <a:solidFill>
                  <a:schemeClr val="tx1"/>
                </a:solidFill>
                <a:effectLst/>
                <a:latin typeface="+mn-lt"/>
                <a:ea typeface="+mn-ea"/>
                <a:cs typeface="+mn-cs"/>
              </a:rPr>
              <a:t>electromagnetic spectrum</a:t>
            </a:r>
            <a:r>
              <a:rPr lang="en-US" sz="1200" kern="1200" dirty="0" smtClean="0">
                <a:solidFill>
                  <a:schemeClr val="tx1"/>
                </a:solidFill>
                <a:effectLst/>
                <a:latin typeface="+mn-lt"/>
                <a:ea typeface="+mn-ea"/>
                <a:cs typeface="+mn-cs"/>
              </a:rPr>
              <a:t> is the range of frequencies (the spectrum) of electromagnetic radiation and their respective wavelengths and photon energies</a:t>
            </a:r>
            <a:endParaRPr lang="en-GB" sz="1200" kern="1200" dirty="0" smtClean="0">
              <a:solidFill>
                <a:schemeClr val="tx1"/>
              </a:solidFill>
              <a:effectLst/>
              <a:latin typeface="+mn-lt"/>
              <a:ea typeface="+mn-ea"/>
              <a:cs typeface="+mn-cs"/>
            </a:endParaRPr>
          </a:p>
          <a:p>
            <a:pPr lvl="0"/>
            <a:r>
              <a:rPr lang="en-US" sz="1200" kern="1200" dirty="0" smtClean="0">
                <a:solidFill>
                  <a:schemeClr val="tx1"/>
                </a:solidFill>
                <a:effectLst/>
                <a:latin typeface="+mn-lt"/>
                <a:ea typeface="+mn-ea"/>
                <a:cs typeface="+mn-cs"/>
              </a:rPr>
              <a:t>The electromagnetic spectrum covers electromagnetic waves with frequencies ranging from below one hertz to above 10</a:t>
            </a:r>
            <a:r>
              <a:rPr lang="en-US" sz="1200" kern="1200" baseline="30000" dirty="0" smtClean="0">
                <a:solidFill>
                  <a:schemeClr val="tx1"/>
                </a:solidFill>
                <a:effectLst/>
                <a:latin typeface="+mn-lt"/>
                <a:ea typeface="+mn-ea"/>
                <a:cs typeface="+mn-cs"/>
              </a:rPr>
              <a:t>25</a:t>
            </a:r>
            <a:r>
              <a:rPr lang="en-US" sz="1200" kern="1200" dirty="0" smtClean="0">
                <a:solidFill>
                  <a:schemeClr val="tx1"/>
                </a:solidFill>
                <a:effectLst/>
                <a:latin typeface="+mn-lt"/>
                <a:ea typeface="+mn-ea"/>
                <a:cs typeface="+mn-cs"/>
              </a:rPr>
              <a:t> hertz, corresponding to wavelengths from thousands of kilometers down to a fraction of the size of an atomic nucleus. </a:t>
            </a:r>
            <a:endParaRPr lang="en-GB" sz="1200" kern="1200" dirty="0" smtClean="0">
              <a:solidFill>
                <a:schemeClr val="tx1"/>
              </a:solidFill>
              <a:effectLst/>
              <a:latin typeface="+mn-lt"/>
              <a:ea typeface="+mn-ea"/>
              <a:cs typeface="+mn-cs"/>
            </a:endParaRPr>
          </a:p>
          <a:p>
            <a:pPr lvl="0"/>
            <a:r>
              <a:rPr lang="en-US" sz="1200" kern="1200" dirty="0" smtClean="0">
                <a:solidFill>
                  <a:schemeClr val="tx1"/>
                </a:solidFill>
                <a:effectLst/>
                <a:latin typeface="+mn-lt"/>
                <a:ea typeface="+mn-ea"/>
                <a:cs typeface="+mn-cs"/>
              </a:rPr>
              <a:t>This frequency range is divided into separate bands, and the electromagnetic waves within each frequency band are called by different names; beginning at the low frequency (long wavelength) end of the spectrum these are: radio waves, microwaves, infrared, visible light, ultraviolet, X-rays, and gamma rays at the high-frequency (short wavelength) end. </a:t>
            </a:r>
            <a:endParaRPr lang="en-GB" sz="1200" kern="1200" dirty="0" smtClean="0">
              <a:solidFill>
                <a:schemeClr val="tx1"/>
              </a:solidFill>
              <a:effectLst/>
              <a:latin typeface="+mn-lt"/>
              <a:ea typeface="+mn-ea"/>
              <a:cs typeface="+mn-cs"/>
            </a:endParaRPr>
          </a:p>
          <a:p>
            <a:endParaRPr lang="en-US" dirty="0"/>
          </a:p>
        </p:txBody>
      </p:sp>
      <p:sp>
        <p:nvSpPr>
          <p:cNvPr id="4" name="Slide Number Placeholder 3"/>
          <p:cNvSpPr>
            <a:spLocks noGrp="1"/>
          </p:cNvSpPr>
          <p:nvPr>
            <p:ph type="sldNum" sz="quarter" idx="10"/>
          </p:nvPr>
        </p:nvSpPr>
        <p:spPr/>
        <p:txBody>
          <a:bodyPr/>
          <a:lstStyle/>
          <a:p>
            <a:fld id="{0ADC07D4-F111-4CF3-8A75-B88394F093FC}" type="slidenum">
              <a:rPr lang="en-US" smtClean="0"/>
              <a:t>25</a:t>
            </a:fld>
            <a:endParaRPr lang="en-US"/>
          </a:p>
        </p:txBody>
      </p:sp>
    </p:spTree>
    <p:extLst>
      <p:ext uri="{BB962C8B-B14F-4D97-AF65-F5344CB8AC3E}">
        <p14:creationId xmlns:p14="http://schemas.microsoft.com/office/powerpoint/2010/main" val="411946816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0ADC07D4-F111-4CF3-8A75-B88394F093FC}" type="slidenum">
              <a:rPr lang="en-US" smtClean="0"/>
              <a:t>29</a:t>
            </a:fld>
            <a:endParaRPr lang="en-US"/>
          </a:p>
        </p:txBody>
      </p:sp>
    </p:spTree>
    <p:extLst>
      <p:ext uri="{BB962C8B-B14F-4D97-AF65-F5344CB8AC3E}">
        <p14:creationId xmlns:p14="http://schemas.microsoft.com/office/powerpoint/2010/main" val="270934893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i="0" kern="1200" smtClean="0">
                <a:solidFill>
                  <a:schemeClr val="tx1"/>
                </a:solidFill>
                <a:effectLst/>
                <a:latin typeface="+mn-lt"/>
                <a:ea typeface="+mn-ea"/>
                <a:cs typeface="+mn-cs"/>
              </a:rPr>
              <a:t>One-way </a:t>
            </a:r>
            <a:r>
              <a:rPr lang="en-US" sz="1200" b="1" i="0" kern="1200" dirty="0" smtClean="0">
                <a:solidFill>
                  <a:schemeClr val="tx1"/>
                </a:solidFill>
                <a:effectLst/>
                <a:latin typeface="+mn-lt"/>
                <a:ea typeface="+mn-ea"/>
                <a:cs typeface="+mn-cs"/>
              </a:rPr>
              <a:t>pagers</a:t>
            </a:r>
            <a:r>
              <a:rPr lang="en-US" sz="1200" b="0" i="0" kern="1200" dirty="0" smtClean="0">
                <a:solidFill>
                  <a:schemeClr val="tx1"/>
                </a:solidFill>
                <a:effectLst/>
                <a:latin typeface="+mn-lt"/>
                <a:ea typeface="+mn-ea"/>
                <a:cs typeface="+mn-cs"/>
              </a:rPr>
              <a:t> can only receive messages, while </a:t>
            </a:r>
            <a:r>
              <a:rPr lang="en-US" sz="1200" b="1" i="0" kern="1200" dirty="0" smtClean="0">
                <a:solidFill>
                  <a:schemeClr val="tx1"/>
                </a:solidFill>
                <a:effectLst/>
                <a:latin typeface="+mn-lt"/>
                <a:ea typeface="+mn-ea"/>
                <a:cs typeface="+mn-cs"/>
              </a:rPr>
              <a:t>response pagers</a:t>
            </a:r>
            <a:r>
              <a:rPr lang="en-US" sz="1200" b="0" i="0" kern="1200" dirty="0" smtClean="0">
                <a:solidFill>
                  <a:schemeClr val="tx1"/>
                </a:solidFill>
                <a:effectLst/>
                <a:latin typeface="+mn-lt"/>
                <a:ea typeface="+mn-ea"/>
                <a:cs typeface="+mn-cs"/>
              </a:rPr>
              <a:t> and </a:t>
            </a:r>
            <a:r>
              <a:rPr lang="en-US" sz="1200" b="1" i="0" kern="1200" dirty="0" smtClean="0">
                <a:solidFill>
                  <a:schemeClr val="tx1"/>
                </a:solidFill>
                <a:effectLst/>
                <a:latin typeface="+mn-lt"/>
                <a:ea typeface="+mn-ea"/>
                <a:cs typeface="+mn-cs"/>
              </a:rPr>
              <a:t>two-way pagers</a:t>
            </a:r>
            <a:r>
              <a:rPr lang="en-US" sz="1200" b="0" i="0" kern="1200" dirty="0" smtClean="0">
                <a:solidFill>
                  <a:schemeClr val="tx1"/>
                </a:solidFill>
                <a:effectLst/>
                <a:latin typeface="+mn-lt"/>
                <a:ea typeface="+mn-ea"/>
                <a:cs typeface="+mn-cs"/>
              </a:rPr>
              <a:t> can also acknowledge, reply to and originate messages using an internal transmitter.</a:t>
            </a:r>
          </a:p>
          <a:p>
            <a:r>
              <a:rPr lang="en-US" sz="1200" b="0" i="0" kern="1200" dirty="0" smtClean="0">
                <a:solidFill>
                  <a:schemeClr val="tx1"/>
                </a:solidFill>
                <a:effectLst/>
                <a:latin typeface="+mn-lt"/>
                <a:ea typeface="+mn-ea"/>
                <a:cs typeface="+mn-cs"/>
              </a:rPr>
              <a:t>Pagers operate as part of a paging system which includes one or more fixed transmitters (or in the case of response pagers and two-way pagers, one or more </a:t>
            </a:r>
            <a:r>
              <a:rPr lang="en-US" sz="1200" b="0" i="0" u="none" strike="noStrike" kern="1200" dirty="0" smtClean="0">
                <a:solidFill>
                  <a:schemeClr val="tx1"/>
                </a:solidFill>
                <a:effectLst/>
                <a:latin typeface="+mn-lt"/>
                <a:ea typeface="+mn-ea"/>
                <a:cs typeface="+mn-cs"/>
              </a:rPr>
              <a:t>base stations</a:t>
            </a:r>
            <a:r>
              <a:rPr lang="en-US" sz="1200" b="0" i="0" kern="1200" dirty="0" smtClean="0">
                <a:solidFill>
                  <a:schemeClr val="tx1"/>
                </a:solidFill>
                <a:effectLst/>
                <a:latin typeface="+mn-lt"/>
                <a:ea typeface="+mn-ea"/>
                <a:cs typeface="+mn-cs"/>
              </a:rPr>
              <a:t>), as well as a number of pagers carried by mobile users. These systems can range from a restaurant system with a single low-power transmitter, to a nationwide system with thousands of high-power base stations.</a:t>
            </a:r>
          </a:p>
          <a:p>
            <a:endParaRPr lang="en-US" dirty="0"/>
          </a:p>
        </p:txBody>
      </p:sp>
      <p:sp>
        <p:nvSpPr>
          <p:cNvPr id="4" name="Slide Number Placeholder 3"/>
          <p:cNvSpPr>
            <a:spLocks noGrp="1"/>
          </p:cNvSpPr>
          <p:nvPr>
            <p:ph type="sldNum" sz="quarter" idx="10"/>
          </p:nvPr>
        </p:nvSpPr>
        <p:spPr/>
        <p:txBody>
          <a:bodyPr/>
          <a:lstStyle/>
          <a:p>
            <a:fld id="{0ADC07D4-F111-4CF3-8A75-B88394F093FC}" type="slidenum">
              <a:rPr lang="en-US" smtClean="0"/>
              <a:t>36</a:t>
            </a:fld>
            <a:endParaRPr lang="en-US"/>
          </a:p>
        </p:txBody>
      </p:sp>
    </p:spTree>
    <p:extLst>
      <p:ext uri="{BB962C8B-B14F-4D97-AF65-F5344CB8AC3E}">
        <p14:creationId xmlns:p14="http://schemas.microsoft.com/office/powerpoint/2010/main" val="131118401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kern="1200" dirty="0" smtClean="0">
                <a:solidFill>
                  <a:schemeClr val="tx1"/>
                </a:solidFill>
                <a:effectLst/>
                <a:latin typeface="+mn-lt"/>
                <a:ea typeface="+mn-ea"/>
                <a:cs typeface="+mn-cs"/>
              </a:rPr>
              <a:t>The </a:t>
            </a:r>
            <a:r>
              <a:rPr lang="en-US" sz="1200" b="1" kern="1200" dirty="0" smtClean="0">
                <a:solidFill>
                  <a:schemeClr val="tx1"/>
                </a:solidFill>
                <a:effectLst/>
                <a:latin typeface="+mn-lt"/>
                <a:ea typeface="+mn-ea"/>
                <a:cs typeface="+mn-cs"/>
              </a:rPr>
              <a:t>electromagnetic spectrum</a:t>
            </a:r>
            <a:r>
              <a:rPr lang="en-US" sz="1200" kern="1200" dirty="0" smtClean="0">
                <a:solidFill>
                  <a:schemeClr val="tx1"/>
                </a:solidFill>
                <a:effectLst/>
                <a:latin typeface="+mn-lt"/>
                <a:ea typeface="+mn-ea"/>
                <a:cs typeface="+mn-cs"/>
              </a:rPr>
              <a:t> is the range of frequencies (the spectrum) of electromagnetic radiation and their respective wavelengths and photon energies</a:t>
            </a:r>
            <a:endParaRPr lang="en-GB" sz="1200" kern="1200" dirty="0" smtClean="0">
              <a:solidFill>
                <a:schemeClr val="tx1"/>
              </a:solidFill>
              <a:effectLst/>
              <a:latin typeface="+mn-lt"/>
              <a:ea typeface="+mn-ea"/>
              <a:cs typeface="+mn-cs"/>
            </a:endParaRPr>
          </a:p>
          <a:p>
            <a:pPr lvl="0"/>
            <a:r>
              <a:rPr lang="en-US" sz="1200" kern="1200" dirty="0" smtClean="0">
                <a:solidFill>
                  <a:schemeClr val="tx1"/>
                </a:solidFill>
                <a:effectLst/>
                <a:latin typeface="+mn-lt"/>
                <a:ea typeface="+mn-ea"/>
                <a:cs typeface="+mn-cs"/>
              </a:rPr>
              <a:t>The electromagnetic spectrum covers electromagnetic waves with frequencies ranging from below one hertz to above 10</a:t>
            </a:r>
            <a:r>
              <a:rPr lang="en-US" sz="1200" kern="1200" baseline="30000" dirty="0" smtClean="0">
                <a:solidFill>
                  <a:schemeClr val="tx1"/>
                </a:solidFill>
                <a:effectLst/>
                <a:latin typeface="+mn-lt"/>
                <a:ea typeface="+mn-ea"/>
                <a:cs typeface="+mn-cs"/>
              </a:rPr>
              <a:t>25</a:t>
            </a:r>
            <a:r>
              <a:rPr lang="en-US" sz="1200" kern="1200" dirty="0" smtClean="0">
                <a:solidFill>
                  <a:schemeClr val="tx1"/>
                </a:solidFill>
                <a:effectLst/>
                <a:latin typeface="+mn-lt"/>
                <a:ea typeface="+mn-ea"/>
                <a:cs typeface="+mn-cs"/>
              </a:rPr>
              <a:t> hertz, corresponding to wavelengths from thousands of kilometers down to a fraction of the size of an atomic nucleus. </a:t>
            </a:r>
            <a:endParaRPr lang="en-GB" sz="1200" kern="1200" dirty="0" smtClean="0">
              <a:solidFill>
                <a:schemeClr val="tx1"/>
              </a:solidFill>
              <a:effectLst/>
              <a:latin typeface="+mn-lt"/>
              <a:ea typeface="+mn-ea"/>
              <a:cs typeface="+mn-cs"/>
            </a:endParaRPr>
          </a:p>
          <a:p>
            <a:pPr lvl="0"/>
            <a:r>
              <a:rPr lang="en-US" sz="1200" kern="1200" dirty="0" smtClean="0">
                <a:solidFill>
                  <a:schemeClr val="tx1"/>
                </a:solidFill>
                <a:effectLst/>
                <a:latin typeface="+mn-lt"/>
                <a:ea typeface="+mn-ea"/>
                <a:cs typeface="+mn-cs"/>
              </a:rPr>
              <a:t>This frequency range is divided into separate bands, and the electromagnetic waves within each frequency band are called by different names; beginning at the low frequency (long wavelength) end of the spectrum these are: radio waves, microwaves, infrared, visible light, ultraviolet, X-rays, and gamma rays at the high-frequency (short wavelength) end. </a:t>
            </a:r>
            <a:endParaRPr lang="en-GB" sz="1200" kern="1200" dirty="0" smtClean="0">
              <a:solidFill>
                <a:schemeClr val="tx1"/>
              </a:solidFill>
              <a:effectLst/>
              <a:latin typeface="+mn-lt"/>
              <a:ea typeface="+mn-ea"/>
              <a:cs typeface="+mn-cs"/>
            </a:endParaRPr>
          </a:p>
          <a:p>
            <a:pPr lvl="0"/>
            <a:r>
              <a:rPr lang="en-US" sz="1200" kern="1200" dirty="0" smtClean="0">
                <a:solidFill>
                  <a:schemeClr val="tx1"/>
                </a:solidFill>
                <a:effectLst/>
                <a:latin typeface="+mn-lt"/>
                <a:ea typeface="+mn-ea"/>
                <a:cs typeface="+mn-cs"/>
              </a:rPr>
              <a:t>The electromagnetic waves in each of these bands have different characteristics, such as how they are produced, how they interact with matter, and their practical applications.</a:t>
            </a:r>
            <a:endParaRPr lang="en-GB" sz="1200" kern="1200" dirty="0" smtClean="0">
              <a:solidFill>
                <a:schemeClr val="tx1"/>
              </a:solidFill>
              <a:effectLst/>
              <a:latin typeface="+mn-lt"/>
              <a:ea typeface="+mn-ea"/>
              <a:cs typeface="+mn-cs"/>
            </a:endParaRPr>
          </a:p>
          <a:p>
            <a:endParaRPr lang="en-GB" dirty="0"/>
          </a:p>
        </p:txBody>
      </p:sp>
      <p:sp>
        <p:nvSpPr>
          <p:cNvPr id="4" name="Slide Number Placeholder 3"/>
          <p:cNvSpPr>
            <a:spLocks noGrp="1"/>
          </p:cNvSpPr>
          <p:nvPr>
            <p:ph type="sldNum" sz="quarter" idx="10"/>
          </p:nvPr>
        </p:nvSpPr>
        <p:spPr/>
        <p:txBody>
          <a:bodyPr/>
          <a:lstStyle/>
          <a:p>
            <a:fld id="{0ADC07D4-F111-4CF3-8A75-B88394F093FC}" type="slidenum">
              <a:rPr lang="en-US" smtClean="0"/>
              <a:t>39</a:t>
            </a:fld>
            <a:endParaRPr lang="en-US"/>
          </a:p>
        </p:txBody>
      </p:sp>
    </p:spTree>
    <p:extLst>
      <p:ext uri="{BB962C8B-B14F-4D97-AF65-F5344CB8AC3E}">
        <p14:creationId xmlns:p14="http://schemas.microsoft.com/office/powerpoint/2010/main" val="131410494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C4CA8F08-6786-4319-AA40-DC65AA81E9F8}" type="datetimeFigureOut">
              <a:rPr lang="en-US" smtClean="0"/>
              <a:t>11-Jun-26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94B3086-0F59-4815-A5AB-886819197424}" type="slidenum">
              <a:rPr lang="en-US" smtClean="0"/>
              <a:t>‹#›</a:t>
            </a:fld>
            <a:endParaRPr lang="en-US"/>
          </a:p>
        </p:txBody>
      </p:sp>
    </p:spTree>
    <p:extLst>
      <p:ext uri="{BB962C8B-B14F-4D97-AF65-F5344CB8AC3E}">
        <p14:creationId xmlns:p14="http://schemas.microsoft.com/office/powerpoint/2010/main" val="326480173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C4CA8F08-6786-4319-AA40-DC65AA81E9F8}" type="datetimeFigureOut">
              <a:rPr lang="en-US" smtClean="0"/>
              <a:t>11-Jun-26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94B3086-0F59-4815-A5AB-886819197424}" type="slidenum">
              <a:rPr lang="en-US" smtClean="0"/>
              <a:t>‹#›</a:t>
            </a:fld>
            <a:endParaRPr lang="en-US"/>
          </a:p>
        </p:txBody>
      </p:sp>
    </p:spTree>
    <p:extLst>
      <p:ext uri="{BB962C8B-B14F-4D97-AF65-F5344CB8AC3E}">
        <p14:creationId xmlns:p14="http://schemas.microsoft.com/office/powerpoint/2010/main" val="277117328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C4CA8F08-6786-4319-AA40-DC65AA81E9F8}" type="datetimeFigureOut">
              <a:rPr lang="en-US" smtClean="0"/>
              <a:t>11-Jun-26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94B3086-0F59-4815-A5AB-886819197424}" type="slidenum">
              <a:rPr lang="en-US" smtClean="0"/>
              <a:t>‹#›</a:t>
            </a:fld>
            <a:endParaRPr lang="en-US"/>
          </a:p>
        </p:txBody>
      </p:sp>
    </p:spTree>
    <p:extLst>
      <p:ext uri="{BB962C8B-B14F-4D97-AF65-F5344CB8AC3E}">
        <p14:creationId xmlns:p14="http://schemas.microsoft.com/office/powerpoint/2010/main" val="27156241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C4CA8F08-6786-4319-AA40-DC65AA81E9F8}" type="datetimeFigureOut">
              <a:rPr lang="en-US" smtClean="0"/>
              <a:t>11-Jun-26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94B3086-0F59-4815-A5AB-886819197424}" type="slidenum">
              <a:rPr lang="en-US" smtClean="0"/>
              <a:t>‹#›</a:t>
            </a:fld>
            <a:endParaRPr lang="en-US"/>
          </a:p>
        </p:txBody>
      </p:sp>
    </p:spTree>
    <p:extLst>
      <p:ext uri="{BB962C8B-B14F-4D97-AF65-F5344CB8AC3E}">
        <p14:creationId xmlns:p14="http://schemas.microsoft.com/office/powerpoint/2010/main" val="394173229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C4CA8F08-6786-4319-AA40-DC65AA81E9F8}" type="datetimeFigureOut">
              <a:rPr lang="en-US" smtClean="0"/>
              <a:t>11-Jun-26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D94B3086-0F59-4815-A5AB-886819197424}" type="slidenum">
              <a:rPr lang="en-US" smtClean="0"/>
              <a:t>‹#›</a:t>
            </a:fld>
            <a:endParaRPr lang="en-US"/>
          </a:p>
        </p:txBody>
      </p:sp>
    </p:spTree>
    <p:extLst>
      <p:ext uri="{BB962C8B-B14F-4D97-AF65-F5344CB8AC3E}">
        <p14:creationId xmlns:p14="http://schemas.microsoft.com/office/powerpoint/2010/main" val="273220834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C4CA8F08-6786-4319-AA40-DC65AA81E9F8}" type="datetimeFigureOut">
              <a:rPr lang="en-US" smtClean="0"/>
              <a:t>11-Jun-26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D94B3086-0F59-4815-A5AB-886819197424}" type="slidenum">
              <a:rPr lang="en-US" smtClean="0"/>
              <a:t>‹#›</a:t>
            </a:fld>
            <a:endParaRPr lang="en-US"/>
          </a:p>
        </p:txBody>
      </p:sp>
    </p:spTree>
    <p:extLst>
      <p:ext uri="{BB962C8B-B14F-4D97-AF65-F5344CB8AC3E}">
        <p14:creationId xmlns:p14="http://schemas.microsoft.com/office/powerpoint/2010/main" val="74586716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4CA8F08-6786-4319-AA40-DC65AA81E9F8}" type="datetimeFigureOut">
              <a:rPr lang="en-US" smtClean="0"/>
              <a:t>11-Jun-26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D94B3086-0F59-4815-A5AB-886819197424}" type="slidenum">
              <a:rPr lang="en-US" smtClean="0"/>
              <a:t>‹#›</a:t>
            </a:fld>
            <a:endParaRPr lang="en-US"/>
          </a:p>
        </p:txBody>
      </p:sp>
    </p:spTree>
    <p:extLst>
      <p:ext uri="{BB962C8B-B14F-4D97-AF65-F5344CB8AC3E}">
        <p14:creationId xmlns:p14="http://schemas.microsoft.com/office/powerpoint/2010/main" val="154809414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C4CA8F08-6786-4319-AA40-DC65AA81E9F8}" type="datetimeFigureOut">
              <a:rPr lang="en-US" smtClean="0"/>
              <a:t>11-Jun-26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94B3086-0F59-4815-A5AB-886819197424}" type="slidenum">
              <a:rPr lang="en-US" smtClean="0"/>
              <a:t>‹#›</a:t>
            </a:fld>
            <a:endParaRPr lang="en-US"/>
          </a:p>
        </p:txBody>
      </p:sp>
    </p:spTree>
    <p:extLst>
      <p:ext uri="{BB962C8B-B14F-4D97-AF65-F5344CB8AC3E}">
        <p14:creationId xmlns:p14="http://schemas.microsoft.com/office/powerpoint/2010/main" val="155202293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C4CA8F08-6786-4319-AA40-DC65AA81E9F8}" type="datetimeFigureOut">
              <a:rPr lang="en-US" smtClean="0"/>
              <a:t>11-Jun-26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94B3086-0F59-4815-A5AB-886819197424}" type="slidenum">
              <a:rPr lang="en-US" smtClean="0"/>
              <a:t>‹#›</a:t>
            </a:fld>
            <a:endParaRPr lang="en-US"/>
          </a:p>
        </p:txBody>
      </p:sp>
    </p:spTree>
    <p:extLst>
      <p:ext uri="{BB962C8B-B14F-4D97-AF65-F5344CB8AC3E}">
        <p14:creationId xmlns:p14="http://schemas.microsoft.com/office/powerpoint/2010/main" val="120360415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C4CA8F08-6786-4319-AA40-DC65AA81E9F8}" type="datetimeFigureOut">
              <a:rPr lang="en-US" smtClean="0"/>
              <a:t>11-Jun-26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94B3086-0F59-4815-A5AB-886819197424}" type="slidenum">
              <a:rPr lang="en-US" smtClean="0"/>
              <a:t>‹#›</a:t>
            </a:fld>
            <a:endParaRPr lang="en-US"/>
          </a:p>
        </p:txBody>
      </p:sp>
    </p:spTree>
    <p:extLst>
      <p:ext uri="{BB962C8B-B14F-4D97-AF65-F5344CB8AC3E}">
        <p14:creationId xmlns:p14="http://schemas.microsoft.com/office/powerpoint/2010/main" val="219995622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C4CA8F08-6786-4319-AA40-DC65AA81E9F8}" type="datetimeFigureOut">
              <a:rPr lang="en-US" smtClean="0"/>
              <a:t>11-Jun-26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94B3086-0F59-4815-A5AB-886819197424}" type="slidenum">
              <a:rPr lang="en-US" smtClean="0"/>
              <a:t>‹#›</a:t>
            </a:fld>
            <a:endParaRPr lang="en-US"/>
          </a:p>
        </p:txBody>
      </p:sp>
    </p:spTree>
    <p:extLst>
      <p:ext uri="{BB962C8B-B14F-4D97-AF65-F5344CB8AC3E}">
        <p14:creationId xmlns:p14="http://schemas.microsoft.com/office/powerpoint/2010/main" val="260411215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4CA8F08-6786-4319-AA40-DC65AA81E9F8}" type="datetimeFigureOut">
              <a:rPr lang="en-US" smtClean="0"/>
              <a:t>11-Jun-26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94B3086-0F59-4815-A5AB-886819197424}" type="slidenum">
              <a:rPr lang="en-US" smtClean="0"/>
              <a:t>‹#›</a:t>
            </a:fld>
            <a:endParaRPr lang="en-US"/>
          </a:p>
        </p:txBody>
      </p:sp>
    </p:spTree>
    <p:extLst>
      <p:ext uri="{BB962C8B-B14F-4D97-AF65-F5344CB8AC3E}">
        <p14:creationId xmlns:p14="http://schemas.microsoft.com/office/powerpoint/2010/main" val="398959750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smtClean="0"/>
              <a:t>Computer networks</a:t>
            </a:r>
            <a:endParaRPr lang="en-US" dirty="0"/>
          </a:p>
        </p:txBody>
      </p:sp>
      <p:sp>
        <p:nvSpPr>
          <p:cNvPr id="3" name="Subtitle 2"/>
          <p:cNvSpPr>
            <a:spLocks noGrp="1"/>
          </p:cNvSpPr>
          <p:nvPr>
            <p:ph type="subTitle" idx="1"/>
          </p:nvPr>
        </p:nvSpPr>
        <p:spPr/>
        <p:txBody>
          <a:bodyPr/>
          <a:lstStyle/>
          <a:p>
            <a:r>
              <a:rPr lang="en-US" dirty="0" smtClean="0"/>
              <a:t>Components and functions of telecommunication systems</a:t>
            </a:r>
            <a:endParaRPr lang="en-US" dirty="0"/>
          </a:p>
        </p:txBody>
      </p:sp>
    </p:spTree>
    <p:extLst>
      <p:ext uri="{BB962C8B-B14F-4D97-AF65-F5344CB8AC3E}">
        <p14:creationId xmlns:p14="http://schemas.microsoft.com/office/powerpoint/2010/main" val="2977960003"/>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15962"/>
          </a:xfrm>
        </p:spPr>
        <p:txBody>
          <a:bodyPr>
            <a:normAutofit fontScale="90000"/>
          </a:bodyPr>
          <a:lstStyle/>
          <a:p>
            <a:r>
              <a:rPr lang="en-GB" dirty="0" smtClean="0"/>
              <a:t>Introduction </a:t>
            </a:r>
            <a:endParaRPr lang="en-GB" dirty="0"/>
          </a:p>
        </p:txBody>
      </p:sp>
      <p:sp>
        <p:nvSpPr>
          <p:cNvPr id="3" name="Content Placeholder 2"/>
          <p:cNvSpPr>
            <a:spLocks noGrp="1"/>
          </p:cNvSpPr>
          <p:nvPr>
            <p:ph idx="1"/>
          </p:nvPr>
        </p:nvSpPr>
        <p:spPr>
          <a:xfrm>
            <a:off x="457200" y="1219200"/>
            <a:ext cx="8229600" cy="5410200"/>
          </a:xfrm>
        </p:spPr>
        <p:txBody>
          <a:bodyPr>
            <a:normAutofit/>
          </a:bodyPr>
          <a:lstStyle/>
          <a:p>
            <a:r>
              <a:rPr lang="en-US" dirty="0"/>
              <a:t>Some take the view that telecommunication deals only with </a:t>
            </a:r>
            <a:r>
              <a:rPr lang="en-US" b="1" dirty="0"/>
              <a:t>voice telephony</a:t>
            </a:r>
            <a:r>
              <a:rPr lang="en-US" dirty="0"/>
              <a:t>, and the typical provider of this service is the local telephone company. </a:t>
            </a:r>
          </a:p>
          <a:p>
            <a:r>
              <a:rPr lang="en-US" dirty="0"/>
              <a:t>But we hold with a wider interpretation. </a:t>
            </a:r>
            <a:endParaRPr lang="en-US" dirty="0" smtClean="0"/>
          </a:p>
          <a:p>
            <a:r>
              <a:rPr lang="en-US" dirty="0" smtClean="0"/>
              <a:t>Telecommunication </a:t>
            </a:r>
            <a:r>
              <a:rPr lang="en-US" dirty="0"/>
              <a:t>encompasses the electrical communication at a distance of voice, data, and image information (e.g., TV and facsimile).</a:t>
            </a:r>
          </a:p>
          <a:p>
            <a:endParaRPr lang="en-GB" dirty="0"/>
          </a:p>
        </p:txBody>
      </p:sp>
    </p:spTree>
    <p:extLst>
      <p:ext uri="{BB962C8B-B14F-4D97-AF65-F5344CB8AC3E}">
        <p14:creationId xmlns:p14="http://schemas.microsoft.com/office/powerpoint/2010/main" val="503754602"/>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
            <a:ext cx="8229600" cy="1143000"/>
          </a:xfrm>
        </p:spPr>
        <p:txBody>
          <a:bodyPr/>
          <a:lstStyle/>
          <a:p>
            <a:r>
              <a:rPr lang="en-US" dirty="0" smtClean="0"/>
              <a:t>What is telecommunication</a:t>
            </a:r>
            <a:endParaRPr lang="en-US" dirty="0"/>
          </a:p>
        </p:txBody>
      </p:sp>
      <p:sp>
        <p:nvSpPr>
          <p:cNvPr id="3" name="Content Placeholder 2"/>
          <p:cNvSpPr>
            <a:spLocks noGrp="1"/>
          </p:cNvSpPr>
          <p:nvPr>
            <p:ph idx="1"/>
          </p:nvPr>
        </p:nvSpPr>
        <p:spPr>
          <a:xfrm>
            <a:off x="457200" y="1219200"/>
            <a:ext cx="8229600" cy="5476415"/>
          </a:xfrm>
        </p:spPr>
        <p:txBody>
          <a:bodyPr>
            <a:noAutofit/>
          </a:bodyPr>
          <a:lstStyle/>
          <a:p>
            <a:r>
              <a:rPr lang="en-US" sz="2400" dirty="0"/>
              <a:t>Telecommunication systems is a specialized system for communicating at a distance. </a:t>
            </a:r>
            <a:endParaRPr lang="en-US" sz="2400" dirty="0" smtClean="0"/>
          </a:p>
          <a:p>
            <a:r>
              <a:rPr lang="en-US" sz="2400" dirty="0" smtClean="0"/>
              <a:t>Such as </a:t>
            </a:r>
            <a:r>
              <a:rPr lang="en-US" sz="2400" dirty="0"/>
              <a:t>by telegraph, radio or television</a:t>
            </a:r>
            <a:r>
              <a:rPr lang="en-US" sz="2400" dirty="0" smtClean="0"/>
              <a:t>.</a:t>
            </a:r>
          </a:p>
          <a:p>
            <a:pPr lvl="1"/>
            <a:r>
              <a:rPr lang="en-US" sz="2000" dirty="0" smtClean="0"/>
              <a:t>The term telecommunication is </a:t>
            </a:r>
            <a:r>
              <a:rPr lang="en-US" sz="2000" dirty="0"/>
              <a:t>sometimes also referred </a:t>
            </a:r>
            <a:r>
              <a:rPr lang="en-US" sz="2000" dirty="0" smtClean="0"/>
              <a:t>to as </a:t>
            </a:r>
            <a:r>
              <a:rPr lang="en-US" sz="2000" dirty="0"/>
              <a:t>telecom. </a:t>
            </a:r>
            <a:endParaRPr lang="en-US" sz="2000" dirty="0" smtClean="0"/>
          </a:p>
          <a:p>
            <a:r>
              <a:rPr lang="en-US" sz="2400" dirty="0" smtClean="0"/>
              <a:t>It refers </a:t>
            </a:r>
            <a:r>
              <a:rPr lang="en-US" sz="2400" dirty="0"/>
              <a:t>to the exchange of information </a:t>
            </a:r>
            <a:r>
              <a:rPr lang="en-US" sz="2400" dirty="0" smtClean="0"/>
              <a:t>by electronic </a:t>
            </a:r>
            <a:r>
              <a:rPr lang="en-US" sz="2400" dirty="0"/>
              <a:t>and </a:t>
            </a:r>
            <a:r>
              <a:rPr lang="en-US" sz="2400" dirty="0" smtClean="0"/>
              <a:t>electrical </a:t>
            </a:r>
            <a:r>
              <a:rPr lang="en-US" sz="2400" dirty="0"/>
              <a:t>medium over a significant distance. </a:t>
            </a:r>
            <a:endParaRPr lang="en-US" sz="2400" dirty="0" smtClean="0"/>
          </a:p>
          <a:p>
            <a:r>
              <a:rPr lang="en-US" sz="2400" dirty="0" smtClean="0"/>
              <a:t>An </a:t>
            </a:r>
            <a:r>
              <a:rPr lang="en-US" sz="2400" dirty="0"/>
              <a:t>arrangement which is made up of two or </a:t>
            </a:r>
            <a:r>
              <a:rPr lang="en-US" sz="2400" dirty="0" smtClean="0"/>
              <a:t>more stations </a:t>
            </a:r>
            <a:r>
              <a:rPr lang="en-US" sz="2400" dirty="0"/>
              <a:t>with equal number of transmitter and receiver devices is a </a:t>
            </a:r>
            <a:r>
              <a:rPr lang="en-US" sz="2400" b="1" dirty="0"/>
              <a:t>telecommunication system.</a:t>
            </a:r>
          </a:p>
          <a:p>
            <a:r>
              <a:rPr lang="en-US" sz="2400" dirty="0"/>
              <a:t>Telecommunication devices are telephones, telegraph, radio, microwave communication arrangements, </a:t>
            </a:r>
            <a:r>
              <a:rPr lang="en-US" sz="2400" dirty="0" err="1" smtClean="0"/>
              <a:t>fibre</a:t>
            </a:r>
            <a:r>
              <a:rPr lang="en-US" sz="2400" dirty="0" smtClean="0"/>
              <a:t> optics</a:t>
            </a:r>
            <a:r>
              <a:rPr lang="en-US" sz="2400" dirty="0"/>
              <a:t>, satellites and the internet. </a:t>
            </a:r>
          </a:p>
        </p:txBody>
      </p:sp>
    </p:spTree>
    <p:extLst>
      <p:ext uri="{BB962C8B-B14F-4D97-AF65-F5344CB8AC3E}">
        <p14:creationId xmlns:p14="http://schemas.microsoft.com/office/powerpoint/2010/main" val="4064847105"/>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Cont’d</a:t>
            </a:r>
            <a:endParaRPr lang="en-US" dirty="0"/>
          </a:p>
        </p:txBody>
      </p:sp>
      <p:sp>
        <p:nvSpPr>
          <p:cNvPr id="3" name="Content Placeholder 2"/>
          <p:cNvSpPr>
            <a:spLocks noGrp="1"/>
          </p:cNvSpPr>
          <p:nvPr>
            <p:ph idx="1"/>
          </p:nvPr>
        </p:nvSpPr>
        <p:spPr/>
        <p:txBody>
          <a:bodyPr/>
          <a:lstStyle/>
          <a:p>
            <a:r>
              <a:rPr lang="en-US" dirty="0" smtClean="0"/>
              <a:t>Telecommunication is a vast range of information-transmitting technology such as mobile phones, land line telephone, VOIP and broadcast network. </a:t>
            </a:r>
          </a:p>
          <a:p>
            <a:r>
              <a:rPr lang="en-US" dirty="0" smtClean="0"/>
              <a:t>Data is transmitted in the form of electrical signals known as carrier waves, which are modulated into analog or digital signals to transmit information</a:t>
            </a:r>
          </a:p>
          <a:p>
            <a:endParaRPr lang="en-US" dirty="0"/>
          </a:p>
        </p:txBody>
      </p:sp>
    </p:spTree>
    <p:extLst>
      <p:ext uri="{BB962C8B-B14F-4D97-AF65-F5344CB8AC3E}">
        <p14:creationId xmlns:p14="http://schemas.microsoft.com/office/powerpoint/2010/main" val="2197341746"/>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Components of Telecommunication</a:t>
            </a:r>
            <a:endParaRPr lang="en-US" dirty="0"/>
          </a:p>
        </p:txBody>
      </p:sp>
      <p:sp>
        <p:nvSpPr>
          <p:cNvPr id="3" name="Content Placeholder 2"/>
          <p:cNvSpPr>
            <a:spLocks noGrp="1"/>
          </p:cNvSpPr>
          <p:nvPr>
            <p:ph idx="1"/>
          </p:nvPr>
        </p:nvSpPr>
        <p:spPr/>
        <p:txBody>
          <a:bodyPr/>
          <a:lstStyle/>
          <a:p>
            <a:r>
              <a:rPr lang="en-US" dirty="0"/>
              <a:t>Telecommunication systems is emphasis of some of the essential components that transmit data from </a:t>
            </a:r>
            <a:r>
              <a:rPr lang="en-US" dirty="0" smtClean="0"/>
              <a:t>one end </a:t>
            </a:r>
            <a:r>
              <a:rPr lang="en-US" dirty="0"/>
              <a:t>to another through an electronic medium and each component perform </a:t>
            </a:r>
            <a:r>
              <a:rPr lang="en-US" dirty="0" smtClean="0"/>
              <a:t>a different </a:t>
            </a:r>
            <a:r>
              <a:rPr lang="en-US" dirty="0"/>
              <a:t>task. </a:t>
            </a:r>
          </a:p>
        </p:txBody>
      </p:sp>
    </p:spTree>
    <p:extLst>
      <p:ext uri="{BB962C8B-B14F-4D97-AF65-F5344CB8AC3E}">
        <p14:creationId xmlns:p14="http://schemas.microsoft.com/office/powerpoint/2010/main" val="720513954"/>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Components of Telecommunication cont’d</a:t>
            </a:r>
            <a:endParaRPr lang="en-US" dirty="0"/>
          </a:p>
        </p:txBody>
      </p:sp>
      <p:sp>
        <p:nvSpPr>
          <p:cNvPr id="3" name="Content Placeholder 2"/>
          <p:cNvSpPr>
            <a:spLocks noGrp="1"/>
          </p:cNvSpPr>
          <p:nvPr>
            <p:ph idx="1"/>
          </p:nvPr>
        </p:nvSpPr>
        <p:spPr/>
        <p:txBody>
          <a:bodyPr>
            <a:normAutofit fontScale="85000" lnSpcReduction="20000"/>
          </a:bodyPr>
          <a:lstStyle/>
          <a:p>
            <a:r>
              <a:rPr lang="en-US" dirty="0"/>
              <a:t>One of the most important component required is computers to process information. </a:t>
            </a:r>
            <a:endParaRPr lang="en-US" dirty="0" smtClean="0"/>
          </a:p>
          <a:p>
            <a:r>
              <a:rPr lang="en-US" dirty="0" smtClean="0"/>
              <a:t>Then </a:t>
            </a:r>
            <a:r>
              <a:rPr lang="en-US" dirty="0"/>
              <a:t>input </a:t>
            </a:r>
            <a:r>
              <a:rPr lang="en-US" dirty="0" smtClean="0"/>
              <a:t>or output </a:t>
            </a:r>
            <a:r>
              <a:rPr lang="en-US" dirty="0"/>
              <a:t>devices to send and receive data which are also referred as </a:t>
            </a:r>
            <a:r>
              <a:rPr lang="en-US" b="1" dirty="0"/>
              <a:t>terminals</a:t>
            </a:r>
            <a:r>
              <a:rPr lang="en-US" dirty="0"/>
              <a:t>. Input and output are </a:t>
            </a:r>
            <a:r>
              <a:rPr lang="en-US" dirty="0" smtClean="0"/>
              <a:t>starting and </a:t>
            </a:r>
            <a:r>
              <a:rPr lang="en-US" dirty="0"/>
              <a:t>stopping poles of any communication. </a:t>
            </a:r>
            <a:endParaRPr lang="en-US" dirty="0" smtClean="0"/>
          </a:p>
          <a:p>
            <a:r>
              <a:rPr lang="en-US" dirty="0" smtClean="0"/>
              <a:t>In networks </a:t>
            </a:r>
            <a:r>
              <a:rPr lang="en-US" dirty="0"/>
              <a:t>these </a:t>
            </a:r>
            <a:r>
              <a:rPr lang="en-US" dirty="0" smtClean="0"/>
              <a:t>terminals are </a:t>
            </a:r>
            <a:r>
              <a:rPr lang="en-US" dirty="0"/>
              <a:t>known as nodes which can be </a:t>
            </a:r>
            <a:r>
              <a:rPr lang="en-US" dirty="0" smtClean="0"/>
              <a:t>a computer </a:t>
            </a:r>
            <a:r>
              <a:rPr lang="en-US" dirty="0"/>
              <a:t>or peripheral devices and if we take real life example then mobile phone/landline is as example </a:t>
            </a:r>
            <a:r>
              <a:rPr lang="en-US" dirty="0" smtClean="0"/>
              <a:t>of terminals</a:t>
            </a:r>
            <a:r>
              <a:rPr lang="en-US" dirty="0"/>
              <a:t>. </a:t>
            </a:r>
          </a:p>
          <a:p>
            <a:r>
              <a:rPr lang="en-US" b="1" dirty="0" smtClean="0"/>
              <a:t>Telecommunication channels </a:t>
            </a:r>
            <a:r>
              <a:rPr lang="en-US" dirty="0"/>
              <a:t>that link the terminals by the various ways of cables and wireless </a:t>
            </a:r>
            <a:r>
              <a:rPr lang="en-US" dirty="0" smtClean="0"/>
              <a:t>radio frequencies </a:t>
            </a:r>
            <a:r>
              <a:rPr lang="en-US" dirty="0"/>
              <a:t>to transmit and receive data. </a:t>
            </a:r>
            <a:endParaRPr lang="en-US" dirty="0" smtClean="0"/>
          </a:p>
        </p:txBody>
      </p:sp>
    </p:spTree>
    <p:extLst>
      <p:ext uri="{BB962C8B-B14F-4D97-AF65-F5344CB8AC3E}">
        <p14:creationId xmlns:p14="http://schemas.microsoft.com/office/powerpoint/2010/main" val="3247950118"/>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Components of Telecommunication cont’d</a:t>
            </a:r>
            <a:endParaRPr lang="en-US" dirty="0"/>
          </a:p>
        </p:txBody>
      </p:sp>
      <p:sp>
        <p:nvSpPr>
          <p:cNvPr id="3" name="Content Placeholder 2"/>
          <p:cNvSpPr>
            <a:spLocks noGrp="1"/>
          </p:cNvSpPr>
          <p:nvPr>
            <p:ph idx="1"/>
          </p:nvPr>
        </p:nvSpPr>
        <p:spPr/>
        <p:txBody>
          <a:bodyPr>
            <a:normAutofit fontScale="92500" lnSpcReduction="10000"/>
          </a:bodyPr>
          <a:lstStyle/>
          <a:p>
            <a:r>
              <a:rPr lang="en-US" b="1" dirty="0"/>
              <a:t>Telecommunication processor </a:t>
            </a:r>
            <a:r>
              <a:rPr lang="en-US" dirty="0" smtClean="0"/>
              <a:t>like modem which provide control and support functions and help to convert the signal from one form to another by providing communication support for data transmission and reception. </a:t>
            </a:r>
          </a:p>
          <a:p>
            <a:r>
              <a:rPr lang="en-US" b="1" dirty="0"/>
              <a:t>Telecommunication Software </a:t>
            </a:r>
            <a:r>
              <a:rPr lang="en-US" dirty="0" smtClean="0"/>
              <a:t>is used to manage the network and specify the protocol which handle the telecommunication system also handle and control the activities and functionality.</a:t>
            </a:r>
          </a:p>
          <a:p>
            <a:endParaRPr lang="en-US" dirty="0"/>
          </a:p>
        </p:txBody>
      </p:sp>
    </p:spTree>
    <p:extLst>
      <p:ext uri="{BB962C8B-B14F-4D97-AF65-F5344CB8AC3E}">
        <p14:creationId xmlns:p14="http://schemas.microsoft.com/office/powerpoint/2010/main" val="610024069"/>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Components of Telecommunication cont’d</a:t>
            </a:r>
            <a:endParaRPr lang="en-US" dirty="0"/>
          </a:p>
        </p:txBody>
      </p:sp>
      <p:sp>
        <p:nvSpPr>
          <p:cNvPr id="3" name="Content Placeholder 2"/>
          <p:cNvSpPr>
            <a:spLocks noGrp="1"/>
          </p:cNvSpPr>
          <p:nvPr>
            <p:ph idx="1"/>
          </p:nvPr>
        </p:nvSpPr>
        <p:spPr/>
        <p:txBody>
          <a:bodyPr/>
          <a:lstStyle/>
          <a:p>
            <a:endParaRPr lang="en-US"/>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01012" y="1619944"/>
            <a:ext cx="8341977" cy="401885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433888166"/>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Functions of Telecommunication</a:t>
            </a:r>
            <a:endParaRPr lang="en-US" dirty="0"/>
          </a:p>
        </p:txBody>
      </p:sp>
      <p:sp>
        <p:nvSpPr>
          <p:cNvPr id="3" name="Content Placeholder 2"/>
          <p:cNvSpPr>
            <a:spLocks noGrp="1"/>
          </p:cNvSpPr>
          <p:nvPr>
            <p:ph idx="1"/>
          </p:nvPr>
        </p:nvSpPr>
        <p:spPr>
          <a:xfrm>
            <a:off x="457200" y="1295400"/>
            <a:ext cx="8229600" cy="5410200"/>
          </a:xfrm>
        </p:spPr>
        <p:txBody>
          <a:bodyPr>
            <a:normAutofit fontScale="85000" lnSpcReduction="10000"/>
          </a:bodyPr>
          <a:lstStyle/>
          <a:p>
            <a:r>
              <a:rPr lang="en-US" dirty="0"/>
              <a:t>The primary function of telecommunication systems is </a:t>
            </a:r>
            <a:r>
              <a:rPr lang="en-US" dirty="0" smtClean="0"/>
              <a:t>to transmit </a:t>
            </a:r>
            <a:r>
              <a:rPr lang="en-US" dirty="0"/>
              <a:t>information to far distance and </a:t>
            </a:r>
            <a:r>
              <a:rPr lang="en-US" dirty="0" smtClean="0"/>
              <a:t>establish interface </a:t>
            </a:r>
            <a:r>
              <a:rPr lang="en-US" dirty="0"/>
              <a:t>between sender and receiver by some means of transmission mode or way.</a:t>
            </a:r>
          </a:p>
          <a:p>
            <a:pPr lvl="1"/>
            <a:r>
              <a:rPr lang="en-US" dirty="0"/>
              <a:t>Since terminals and nodes are connected randomly in the network so this </a:t>
            </a:r>
            <a:r>
              <a:rPr lang="en-US" dirty="0" smtClean="0"/>
              <a:t>system routes </a:t>
            </a:r>
            <a:r>
              <a:rPr lang="en-US" dirty="0"/>
              <a:t>the message </a:t>
            </a:r>
            <a:r>
              <a:rPr lang="en-US" dirty="0" smtClean="0"/>
              <a:t>along the </a:t>
            </a:r>
            <a:r>
              <a:rPr lang="en-US" dirty="0"/>
              <a:t>most efficient paths that take minimum time to send message to the receiver end. </a:t>
            </a:r>
            <a:endParaRPr lang="en-US" dirty="0" smtClean="0"/>
          </a:p>
          <a:p>
            <a:pPr lvl="1"/>
            <a:r>
              <a:rPr lang="en-US" dirty="0" smtClean="0"/>
              <a:t>Transmission </a:t>
            </a:r>
            <a:r>
              <a:rPr lang="en-US" dirty="0"/>
              <a:t>of </a:t>
            </a:r>
            <a:r>
              <a:rPr lang="en-US" dirty="0" smtClean="0"/>
              <a:t>the data </a:t>
            </a:r>
            <a:r>
              <a:rPr lang="en-US" dirty="0"/>
              <a:t>and reception of the message is done in uninterrupted way and come shortest path and minimum time.</a:t>
            </a:r>
          </a:p>
          <a:p>
            <a:r>
              <a:rPr lang="en-US" dirty="0"/>
              <a:t>This </a:t>
            </a:r>
            <a:r>
              <a:rPr lang="en-US" dirty="0" smtClean="0"/>
              <a:t>system </a:t>
            </a:r>
            <a:r>
              <a:rPr lang="en-US" dirty="0"/>
              <a:t>also </a:t>
            </a:r>
            <a:r>
              <a:rPr lang="en-US" dirty="0" smtClean="0"/>
              <a:t>ensures that the </a:t>
            </a:r>
            <a:r>
              <a:rPr lang="en-US" dirty="0"/>
              <a:t>right </a:t>
            </a:r>
            <a:r>
              <a:rPr lang="en-US" dirty="0" smtClean="0"/>
              <a:t>message is </a:t>
            </a:r>
            <a:r>
              <a:rPr lang="en-US" dirty="0"/>
              <a:t>received by right user only and while transmitting is also </a:t>
            </a:r>
            <a:r>
              <a:rPr lang="en-US" dirty="0" smtClean="0"/>
              <a:t>checked for </a:t>
            </a:r>
            <a:r>
              <a:rPr lang="en-US" dirty="0"/>
              <a:t>transmission errors</a:t>
            </a:r>
            <a:r>
              <a:rPr lang="en-US" dirty="0" smtClean="0"/>
              <a:t>.</a:t>
            </a:r>
            <a:endParaRPr lang="en-US" dirty="0"/>
          </a:p>
        </p:txBody>
      </p:sp>
    </p:spTree>
    <p:extLst>
      <p:ext uri="{BB962C8B-B14F-4D97-AF65-F5344CB8AC3E}">
        <p14:creationId xmlns:p14="http://schemas.microsoft.com/office/powerpoint/2010/main" val="3561045076"/>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Functions of Telecommunication cont’d</a:t>
            </a:r>
            <a:endParaRPr lang="en-US" dirty="0"/>
          </a:p>
        </p:txBody>
      </p:sp>
      <p:sp>
        <p:nvSpPr>
          <p:cNvPr id="3" name="Content Placeholder 2"/>
          <p:cNvSpPr>
            <a:spLocks noGrp="1"/>
          </p:cNvSpPr>
          <p:nvPr>
            <p:ph idx="1"/>
          </p:nvPr>
        </p:nvSpPr>
        <p:spPr/>
        <p:txBody>
          <a:bodyPr>
            <a:normAutofit fontScale="85000" lnSpcReduction="10000"/>
          </a:bodyPr>
          <a:lstStyle/>
          <a:p>
            <a:pPr lvl="1"/>
            <a:r>
              <a:rPr lang="en-US" dirty="0" smtClean="0"/>
              <a:t>As we know network use different software and hardware to transmit data via communication channels and that vary with the different medium so the telecommunication is responsible for converting and managing the speed of transmission independent to the platform. </a:t>
            </a:r>
          </a:p>
          <a:p>
            <a:pPr lvl="1"/>
            <a:r>
              <a:rPr lang="en-US" dirty="0" smtClean="0"/>
              <a:t>Also convert message from one format to another because information is represented in different ways to the different platform.</a:t>
            </a:r>
          </a:p>
          <a:p>
            <a:r>
              <a:rPr lang="en-US" dirty="0" smtClean="0"/>
              <a:t>Control the flow of information that depend on the communication channels and the terminals used to transmit information. So this system control both of them accordingly</a:t>
            </a:r>
          </a:p>
          <a:p>
            <a:endParaRPr lang="en-US" dirty="0"/>
          </a:p>
        </p:txBody>
      </p:sp>
    </p:spTree>
    <p:extLst>
      <p:ext uri="{BB962C8B-B14F-4D97-AF65-F5344CB8AC3E}">
        <p14:creationId xmlns:p14="http://schemas.microsoft.com/office/powerpoint/2010/main" val="477321645"/>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Types of Communication </a:t>
            </a:r>
            <a:r>
              <a:rPr lang="en-US" b="1" dirty="0"/>
              <a:t>Medium Used </a:t>
            </a:r>
            <a:r>
              <a:rPr lang="en-US" b="1" dirty="0" smtClean="0"/>
              <a:t>in Networks</a:t>
            </a:r>
            <a:endParaRPr lang="en-US" dirty="0"/>
          </a:p>
        </p:txBody>
      </p:sp>
      <p:sp>
        <p:nvSpPr>
          <p:cNvPr id="5" name="Content Placeholder 4"/>
          <p:cNvSpPr>
            <a:spLocks noGrp="1"/>
          </p:cNvSpPr>
          <p:nvPr>
            <p:ph idx="1"/>
          </p:nvPr>
        </p:nvSpPr>
        <p:spPr/>
        <p:txBody>
          <a:bodyPr>
            <a:normAutofit fontScale="92500"/>
          </a:bodyPr>
          <a:lstStyle/>
          <a:p>
            <a:r>
              <a:rPr lang="en-US" dirty="0"/>
              <a:t>Communication medium refers to the physical channel </a:t>
            </a:r>
            <a:r>
              <a:rPr lang="en-US" dirty="0" smtClean="0"/>
              <a:t>through which </a:t>
            </a:r>
            <a:r>
              <a:rPr lang="en-US" dirty="0"/>
              <a:t>data is sent and received. </a:t>
            </a:r>
            <a:endParaRPr lang="en-US" dirty="0" smtClean="0"/>
          </a:p>
          <a:p>
            <a:r>
              <a:rPr lang="en-US" dirty="0" smtClean="0"/>
              <a:t>Data </a:t>
            </a:r>
            <a:r>
              <a:rPr lang="en-US" dirty="0"/>
              <a:t>is sent in the form </a:t>
            </a:r>
            <a:r>
              <a:rPr lang="en-US" dirty="0" smtClean="0"/>
              <a:t>of voltage </a:t>
            </a:r>
            <a:r>
              <a:rPr lang="en-US" dirty="0"/>
              <a:t>levels which make up the digital signal. A digital </a:t>
            </a:r>
            <a:r>
              <a:rPr lang="en-US" dirty="0" smtClean="0"/>
              <a:t>signal consists </a:t>
            </a:r>
            <a:r>
              <a:rPr lang="en-US" dirty="0"/>
              <a:t>of 0s and 1s; essentially, a 1 corresponds to a </a:t>
            </a:r>
            <a:r>
              <a:rPr lang="en-US" dirty="0" smtClean="0"/>
              <a:t>high voltage</a:t>
            </a:r>
            <a:r>
              <a:rPr lang="en-US" dirty="0"/>
              <a:t>, while a 0 corresponds to a low voltage.</a:t>
            </a:r>
          </a:p>
          <a:p>
            <a:r>
              <a:rPr lang="en-US" dirty="0"/>
              <a:t>The speed of data transmission or data rate depends upon </a:t>
            </a:r>
            <a:r>
              <a:rPr lang="en-US" dirty="0" smtClean="0"/>
              <a:t>the type </a:t>
            </a:r>
            <a:r>
              <a:rPr lang="en-US" dirty="0"/>
              <a:t>of medium being used in the network. </a:t>
            </a:r>
            <a:endParaRPr lang="en-US" dirty="0" smtClean="0"/>
          </a:p>
        </p:txBody>
      </p:sp>
    </p:spTree>
    <p:extLst>
      <p:ext uri="{BB962C8B-B14F-4D97-AF65-F5344CB8AC3E}">
        <p14:creationId xmlns:p14="http://schemas.microsoft.com/office/powerpoint/2010/main" val="4207535347"/>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Types of Communication Media Used in telecommunication</a:t>
            </a:r>
            <a:endParaRPr lang="en-US" dirty="0"/>
          </a:p>
        </p:txBody>
      </p:sp>
      <p:pic>
        <p:nvPicPr>
          <p:cNvPr id="409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76600" y="2895600"/>
            <a:ext cx="5362575" cy="35814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3" name="Content Placeholder 2"/>
          <p:cNvSpPr>
            <a:spLocks noGrp="1"/>
          </p:cNvSpPr>
          <p:nvPr>
            <p:ph idx="1"/>
          </p:nvPr>
        </p:nvSpPr>
        <p:spPr>
          <a:xfrm>
            <a:off x="457200" y="1498441"/>
            <a:ext cx="8229600" cy="4978559"/>
          </a:xfrm>
        </p:spPr>
        <p:txBody>
          <a:bodyPr/>
          <a:lstStyle/>
          <a:p>
            <a:r>
              <a:rPr lang="en-US" dirty="0" smtClean="0"/>
              <a:t>There are basically two types of communication media used in telecommunication:</a:t>
            </a:r>
          </a:p>
          <a:p>
            <a:pPr lvl="1"/>
            <a:r>
              <a:rPr lang="en-US" dirty="0" smtClean="0"/>
              <a:t>Wired </a:t>
            </a:r>
            <a:endParaRPr lang="en-US" dirty="0"/>
          </a:p>
          <a:p>
            <a:pPr lvl="1"/>
            <a:r>
              <a:rPr lang="en-US" dirty="0"/>
              <a:t>Wireless </a:t>
            </a:r>
            <a:r>
              <a:rPr lang="en-US" dirty="0" smtClean="0"/>
              <a:t>			</a:t>
            </a:r>
            <a:endParaRPr lang="en-US" dirty="0"/>
          </a:p>
        </p:txBody>
      </p:sp>
    </p:spTree>
    <p:extLst>
      <p:ext uri="{BB962C8B-B14F-4D97-AF65-F5344CB8AC3E}">
        <p14:creationId xmlns:p14="http://schemas.microsoft.com/office/powerpoint/2010/main" val="1061009929"/>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15962"/>
          </a:xfrm>
        </p:spPr>
        <p:txBody>
          <a:bodyPr>
            <a:normAutofit fontScale="90000"/>
          </a:bodyPr>
          <a:lstStyle/>
          <a:p>
            <a:r>
              <a:rPr lang="en-US" b="1" dirty="0" smtClean="0"/>
              <a:t>Wired media</a:t>
            </a:r>
            <a:endParaRPr lang="en-US" dirty="0"/>
          </a:p>
        </p:txBody>
      </p:sp>
      <p:sp>
        <p:nvSpPr>
          <p:cNvPr id="3" name="Content Placeholder 2"/>
          <p:cNvSpPr>
            <a:spLocks noGrp="1"/>
          </p:cNvSpPr>
          <p:nvPr>
            <p:ph idx="1"/>
          </p:nvPr>
        </p:nvSpPr>
        <p:spPr>
          <a:xfrm>
            <a:off x="152400" y="1066800"/>
            <a:ext cx="8839200" cy="5486400"/>
          </a:xfrm>
        </p:spPr>
        <p:txBody>
          <a:bodyPr>
            <a:normAutofit fontScale="77500" lnSpcReduction="20000"/>
          </a:bodyPr>
          <a:lstStyle/>
          <a:p>
            <a:r>
              <a:rPr lang="en-US" b="1" dirty="0"/>
              <a:t>Twisted Pair</a:t>
            </a:r>
          </a:p>
          <a:p>
            <a:r>
              <a:rPr lang="en-US" dirty="0"/>
              <a:t>It consists of a pair of copper wires twisted around each other; the wires are around 1 to 2 mm thick and they </a:t>
            </a:r>
            <a:r>
              <a:rPr lang="en-US" dirty="0" smtClean="0"/>
              <a:t>are twisted </a:t>
            </a:r>
            <a:r>
              <a:rPr lang="en-US" dirty="0"/>
              <a:t>to reduce the interference from the surrounding wires. </a:t>
            </a:r>
            <a:endParaRPr lang="en-US" dirty="0" smtClean="0"/>
          </a:p>
          <a:p>
            <a:r>
              <a:rPr lang="en-US" dirty="0" smtClean="0"/>
              <a:t>Remember </a:t>
            </a:r>
            <a:r>
              <a:rPr lang="en-US" dirty="0"/>
              <a:t>that a current carrying wire has </a:t>
            </a:r>
            <a:r>
              <a:rPr lang="en-US" dirty="0" smtClean="0"/>
              <a:t>a magnetic field </a:t>
            </a:r>
            <a:r>
              <a:rPr lang="en-US" dirty="0"/>
              <a:t>around it that can interfere with that of another wire when in close </a:t>
            </a:r>
            <a:r>
              <a:rPr lang="en-US" dirty="0" smtClean="0"/>
              <a:t>proximity. </a:t>
            </a:r>
          </a:p>
          <a:p>
            <a:r>
              <a:rPr lang="en-US" dirty="0" smtClean="0"/>
              <a:t>Invented </a:t>
            </a:r>
            <a:r>
              <a:rPr lang="en-US" dirty="0"/>
              <a:t>by Alexander Graham Bell, this form of wire has been in use since the </a:t>
            </a:r>
            <a:r>
              <a:rPr lang="en-US" dirty="0" smtClean="0"/>
              <a:t>19th </a:t>
            </a:r>
            <a:r>
              <a:rPr lang="en-US" dirty="0"/>
              <a:t>century and is currently </a:t>
            </a:r>
            <a:r>
              <a:rPr lang="en-US" dirty="0" smtClean="0"/>
              <a:t>the cheapest </a:t>
            </a:r>
            <a:r>
              <a:rPr lang="en-US" dirty="0"/>
              <a:t>mediums available. </a:t>
            </a:r>
            <a:endParaRPr lang="en-US" dirty="0" smtClean="0"/>
          </a:p>
          <a:p>
            <a:r>
              <a:rPr lang="en-US" dirty="0" smtClean="0"/>
              <a:t>Twisted </a:t>
            </a:r>
            <a:r>
              <a:rPr lang="en-US" dirty="0"/>
              <a:t>pairs are also used in telephone wires, but they only consist of four wires </a:t>
            </a:r>
            <a:r>
              <a:rPr lang="en-US" dirty="0" smtClean="0"/>
              <a:t>or two </a:t>
            </a:r>
            <a:r>
              <a:rPr lang="en-US" dirty="0"/>
              <a:t>pairs. In computer networks, eight wires or four pairs are utilized. </a:t>
            </a:r>
            <a:endParaRPr lang="en-US" dirty="0" smtClean="0"/>
          </a:p>
          <a:p>
            <a:r>
              <a:rPr lang="en-US" dirty="0" smtClean="0"/>
              <a:t>This </a:t>
            </a:r>
            <a:r>
              <a:rPr lang="en-US" dirty="0"/>
              <a:t>is also known as the Ethernet cable </a:t>
            </a:r>
            <a:r>
              <a:rPr lang="en-US" dirty="0" smtClean="0"/>
              <a:t>or RJ-45 </a:t>
            </a:r>
            <a:r>
              <a:rPr lang="en-US" dirty="0"/>
              <a:t>cable. </a:t>
            </a:r>
            <a:endParaRPr lang="en-US" dirty="0" smtClean="0"/>
          </a:p>
          <a:p>
            <a:r>
              <a:rPr lang="en-US" dirty="0" smtClean="0"/>
              <a:t>The </a:t>
            </a:r>
            <a:r>
              <a:rPr lang="en-US" dirty="0"/>
              <a:t>pairs of wires are bundled together and covered by a protective shield</a:t>
            </a:r>
          </a:p>
        </p:txBody>
      </p:sp>
    </p:spTree>
    <p:extLst>
      <p:ext uri="{BB962C8B-B14F-4D97-AF65-F5344CB8AC3E}">
        <p14:creationId xmlns:p14="http://schemas.microsoft.com/office/powerpoint/2010/main" val="2331311795"/>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Twisted Pair cables</a:t>
            </a:r>
            <a:br>
              <a:rPr lang="en-US" b="1" dirty="0" smtClean="0"/>
            </a:br>
            <a:endParaRPr lang="en-US" dirty="0"/>
          </a:p>
        </p:txBody>
      </p:sp>
      <p:pic>
        <p:nvPicPr>
          <p:cNvPr id="4" name="Content Placeholder 3"/>
          <p:cNvPicPr>
            <a:picLocks noGrp="1" noChangeAspect="1"/>
          </p:cNvPicPr>
          <p:nvPr>
            <p:ph idx="1"/>
          </p:nvPr>
        </p:nvPicPr>
        <p:blipFill>
          <a:blip r:embed="rId2"/>
          <a:stretch>
            <a:fillRect/>
          </a:stretch>
        </p:blipFill>
        <p:spPr>
          <a:xfrm>
            <a:off x="1614487" y="2220119"/>
            <a:ext cx="5915025" cy="3286125"/>
          </a:xfrm>
          <a:prstGeom prst="rect">
            <a:avLst/>
          </a:prstGeom>
        </p:spPr>
      </p:pic>
    </p:spTree>
    <p:extLst>
      <p:ext uri="{BB962C8B-B14F-4D97-AF65-F5344CB8AC3E}">
        <p14:creationId xmlns:p14="http://schemas.microsoft.com/office/powerpoint/2010/main" val="1603835214"/>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Unshielded twisted Pair cables</a:t>
            </a:r>
            <a:br>
              <a:rPr lang="en-US" b="1" dirty="0" smtClean="0"/>
            </a:br>
            <a:endParaRPr lang="en-US" dirty="0"/>
          </a:p>
        </p:txBody>
      </p:sp>
      <p:pic>
        <p:nvPicPr>
          <p:cNvPr id="4" name="Content Placeholder 3"/>
          <p:cNvPicPr>
            <a:picLocks noGrp="1" noChangeAspect="1"/>
          </p:cNvPicPr>
          <p:nvPr>
            <p:ph idx="1"/>
          </p:nvPr>
        </p:nvPicPr>
        <p:blipFill>
          <a:blip r:embed="rId2"/>
          <a:stretch>
            <a:fillRect/>
          </a:stretch>
        </p:blipFill>
        <p:spPr>
          <a:xfrm>
            <a:off x="1562100" y="1758156"/>
            <a:ext cx="6019800" cy="4210050"/>
          </a:xfrm>
          <a:prstGeom prst="rect">
            <a:avLst/>
          </a:prstGeom>
        </p:spPr>
      </p:pic>
    </p:spTree>
    <p:extLst>
      <p:ext uri="{BB962C8B-B14F-4D97-AF65-F5344CB8AC3E}">
        <p14:creationId xmlns:p14="http://schemas.microsoft.com/office/powerpoint/2010/main" val="2158174785"/>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Coaxial Cable</a:t>
            </a:r>
            <a:br>
              <a:rPr lang="en-US" b="1" dirty="0" smtClean="0"/>
            </a:br>
            <a:endParaRPr lang="en-US" dirty="0"/>
          </a:p>
        </p:txBody>
      </p:sp>
      <p:sp>
        <p:nvSpPr>
          <p:cNvPr id="3" name="Content Placeholder 2"/>
          <p:cNvSpPr>
            <a:spLocks noGrp="1"/>
          </p:cNvSpPr>
          <p:nvPr>
            <p:ph idx="1"/>
          </p:nvPr>
        </p:nvSpPr>
        <p:spPr/>
        <p:txBody>
          <a:bodyPr>
            <a:normAutofit fontScale="85000" lnSpcReduction="20000"/>
          </a:bodyPr>
          <a:lstStyle/>
          <a:p>
            <a:r>
              <a:rPr lang="en-US" dirty="0" smtClean="0"/>
              <a:t>Coaxial cable consists of a copper conductor surrounded by a layer of flexible insulation. </a:t>
            </a:r>
          </a:p>
          <a:p>
            <a:r>
              <a:rPr lang="en-US" dirty="0" smtClean="0"/>
              <a:t>Over this insulating material is a woven copper braid, or metallic foil, that acts as the second wire in the circuit and as a shield for the inner conductor. </a:t>
            </a:r>
          </a:p>
          <a:p>
            <a:r>
              <a:rPr lang="en-US" dirty="0" smtClean="0"/>
              <a:t>This second layer, or shield, also reduces the amount of outside electromagnetic interference. Covering the shield is the cable jacket.</a:t>
            </a:r>
          </a:p>
          <a:p>
            <a:r>
              <a:rPr lang="en-US" dirty="0" smtClean="0"/>
              <a:t>All the elements of the coaxial cable encircle the center conductor. </a:t>
            </a:r>
          </a:p>
          <a:p>
            <a:r>
              <a:rPr lang="en-US" dirty="0" smtClean="0"/>
              <a:t>Because they all share the same axis, this construction is called coaxial, or coax for short</a:t>
            </a:r>
            <a:endParaRPr lang="en-US" dirty="0"/>
          </a:p>
        </p:txBody>
      </p:sp>
    </p:spTree>
    <p:extLst>
      <p:ext uri="{BB962C8B-B14F-4D97-AF65-F5344CB8AC3E}">
        <p14:creationId xmlns:p14="http://schemas.microsoft.com/office/powerpoint/2010/main" val="1164626296"/>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smtClean="0"/>
              <a:t>Coaxial Cable cont’d</a:t>
            </a:r>
            <a:endParaRPr lang="en-US" dirty="0"/>
          </a:p>
        </p:txBody>
      </p:sp>
      <p:pic>
        <p:nvPicPr>
          <p:cNvPr id="4" name="Content Placeholder 3"/>
          <p:cNvPicPr>
            <a:picLocks noGrp="1" noChangeAspect="1"/>
          </p:cNvPicPr>
          <p:nvPr>
            <p:ph idx="1"/>
          </p:nvPr>
        </p:nvPicPr>
        <p:blipFill>
          <a:blip r:embed="rId2"/>
          <a:stretch>
            <a:fillRect/>
          </a:stretch>
        </p:blipFill>
        <p:spPr>
          <a:xfrm>
            <a:off x="1323975" y="1934369"/>
            <a:ext cx="6496050" cy="3857625"/>
          </a:xfrm>
          <a:prstGeom prst="rect">
            <a:avLst/>
          </a:prstGeom>
        </p:spPr>
      </p:pic>
    </p:spTree>
    <p:extLst>
      <p:ext uri="{BB962C8B-B14F-4D97-AF65-F5344CB8AC3E}">
        <p14:creationId xmlns:p14="http://schemas.microsoft.com/office/powerpoint/2010/main" val="1533172255"/>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Uses of Coaxial Cable</a:t>
            </a:r>
            <a:endParaRPr lang="en-US" dirty="0"/>
          </a:p>
        </p:txBody>
      </p:sp>
      <p:sp>
        <p:nvSpPr>
          <p:cNvPr id="3" name="Content Placeholder 2"/>
          <p:cNvSpPr>
            <a:spLocks noGrp="1"/>
          </p:cNvSpPr>
          <p:nvPr>
            <p:ph idx="1"/>
          </p:nvPr>
        </p:nvSpPr>
        <p:spPr>
          <a:xfrm>
            <a:off x="457200" y="1600200"/>
            <a:ext cx="8229600" cy="4953000"/>
          </a:xfrm>
        </p:spPr>
        <p:txBody>
          <a:bodyPr>
            <a:normAutofit fontScale="85000" lnSpcReduction="20000"/>
          </a:bodyPr>
          <a:lstStyle/>
          <a:p>
            <a:r>
              <a:rPr lang="en-US" dirty="0" smtClean="0"/>
              <a:t>The coaxial cable design has been adapted for different purposes. </a:t>
            </a:r>
          </a:p>
          <a:p>
            <a:r>
              <a:rPr lang="en-US" dirty="0" smtClean="0"/>
              <a:t>Coax is an important type of cable that is used in wireless and cable access technologies. </a:t>
            </a:r>
          </a:p>
          <a:p>
            <a:r>
              <a:rPr lang="en-US" dirty="0" smtClean="0"/>
              <a:t>Coax cables are used to attach antennas to wireless devices.</a:t>
            </a:r>
          </a:p>
          <a:p>
            <a:r>
              <a:rPr lang="en-US" dirty="0" smtClean="0"/>
              <a:t>The coaxial cable carries radio frequency (RF) energy between the antennas and the radio equipment. </a:t>
            </a:r>
          </a:p>
          <a:p>
            <a:r>
              <a:rPr lang="en-US" dirty="0" smtClean="0"/>
              <a:t>Coax is also the most widely used media for transporting high radio frequency signals over wire, especially cable television signals.</a:t>
            </a:r>
          </a:p>
          <a:p>
            <a:r>
              <a:rPr lang="en-US" dirty="0" smtClean="0"/>
              <a:t>Traditional cable television, exclusively transmitting in one direction, was composed completely of coax cable.</a:t>
            </a:r>
          </a:p>
          <a:p>
            <a:endParaRPr lang="en-US" dirty="0"/>
          </a:p>
        </p:txBody>
      </p:sp>
    </p:spTree>
    <p:extLst>
      <p:ext uri="{BB962C8B-B14F-4D97-AF65-F5344CB8AC3E}">
        <p14:creationId xmlns:p14="http://schemas.microsoft.com/office/powerpoint/2010/main" val="3763167640"/>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Fiber Optic</a:t>
            </a:r>
            <a:br>
              <a:rPr lang="en-US" b="1" dirty="0" smtClean="0"/>
            </a:br>
            <a:endParaRPr lang="en-US" dirty="0"/>
          </a:p>
        </p:txBody>
      </p:sp>
      <p:sp>
        <p:nvSpPr>
          <p:cNvPr id="3" name="Content Placeholder 2"/>
          <p:cNvSpPr>
            <a:spLocks noGrp="1"/>
          </p:cNvSpPr>
          <p:nvPr>
            <p:ph idx="1"/>
          </p:nvPr>
        </p:nvSpPr>
        <p:spPr>
          <a:xfrm>
            <a:off x="457200" y="1066800"/>
            <a:ext cx="8229600" cy="5491655"/>
          </a:xfrm>
        </p:spPr>
        <p:txBody>
          <a:bodyPr>
            <a:normAutofit fontScale="92500" lnSpcReduction="20000"/>
          </a:bodyPr>
          <a:lstStyle/>
          <a:p>
            <a:r>
              <a:rPr lang="en-US" dirty="0" smtClean="0"/>
              <a:t>It </a:t>
            </a:r>
            <a:r>
              <a:rPr lang="en-US" dirty="0"/>
              <a:t>is the most expensive of wired mediums and </a:t>
            </a:r>
            <a:r>
              <a:rPr lang="en-US" dirty="0" smtClean="0"/>
              <a:t>offers </a:t>
            </a:r>
            <a:r>
              <a:rPr lang="en-US" dirty="0"/>
              <a:t>the highest rates of data transmission. </a:t>
            </a:r>
            <a:endParaRPr lang="en-US" dirty="0" smtClean="0"/>
          </a:p>
          <a:p>
            <a:r>
              <a:rPr lang="en-US" dirty="0" smtClean="0"/>
              <a:t>They </a:t>
            </a:r>
            <a:r>
              <a:rPr lang="en-US" dirty="0"/>
              <a:t>are often </a:t>
            </a:r>
            <a:r>
              <a:rPr lang="en-US" dirty="0" smtClean="0"/>
              <a:t>used in </a:t>
            </a:r>
            <a:r>
              <a:rPr lang="en-US" dirty="0"/>
              <a:t>long distance communications and are never </a:t>
            </a:r>
            <a:r>
              <a:rPr lang="en-US" dirty="0" smtClean="0"/>
              <a:t>affected </a:t>
            </a:r>
            <a:r>
              <a:rPr lang="en-US" dirty="0"/>
              <a:t>by any electromagnetic </a:t>
            </a:r>
            <a:r>
              <a:rPr lang="en-US" dirty="0" smtClean="0"/>
              <a:t>fields</a:t>
            </a:r>
            <a:r>
              <a:rPr lang="en-US" dirty="0"/>
              <a:t>. This is because it </a:t>
            </a:r>
            <a:r>
              <a:rPr lang="en-US" dirty="0" smtClean="0"/>
              <a:t>involves light</a:t>
            </a:r>
            <a:r>
              <a:rPr lang="en-US" dirty="0"/>
              <a:t>.</a:t>
            </a:r>
          </a:p>
          <a:p>
            <a:r>
              <a:rPr lang="en-US" dirty="0"/>
              <a:t>A </a:t>
            </a:r>
            <a:r>
              <a:rPr lang="en-US" dirty="0" smtClean="0"/>
              <a:t>fiber </a:t>
            </a:r>
            <a:r>
              <a:rPr lang="en-US" dirty="0"/>
              <a:t>optic cable is a thin, </a:t>
            </a:r>
            <a:r>
              <a:rPr lang="en-US" dirty="0" smtClean="0"/>
              <a:t>flexible</a:t>
            </a:r>
            <a:r>
              <a:rPr lang="en-US" dirty="0"/>
              <a:t>, transparent medium made of </a:t>
            </a:r>
            <a:r>
              <a:rPr lang="en-US" dirty="0" smtClean="0"/>
              <a:t>very fine </a:t>
            </a:r>
            <a:r>
              <a:rPr lang="en-US" dirty="0"/>
              <a:t>glass or plastic </a:t>
            </a:r>
            <a:r>
              <a:rPr lang="en-US" dirty="0" smtClean="0"/>
              <a:t>fibers</a:t>
            </a:r>
            <a:r>
              <a:rPr lang="en-US" dirty="0"/>
              <a:t>. </a:t>
            </a:r>
            <a:endParaRPr lang="en-US" dirty="0" smtClean="0"/>
          </a:p>
          <a:p>
            <a:r>
              <a:rPr lang="en-US" dirty="0" smtClean="0"/>
              <a:t>It </a:t>
            </a:r>
            <a:r>
              <a:rPr lang="en-US" dirty="0"/>
              <a:t>utilizes </a:t>
            </a:r>
            <a:r>
              <a:rPr lang="en-US" dirty="0" smtClean="0"/>
              <a:t>the principle </a:t>
            </a:r>
            <a:r>
              <a:rPr lang="en-US" dirty="0"/>
              <a:t>of total internal </a:t>
            </a:r>
            <a:r>
              <a:rPr lang="en-US" dirty="0" smtClean="0"/>
              <a:t>reflection</a:t>
            </a:r>
            <a:r>
              <a:rPr lang="en-US" dirty="0"/>
              <a:t>. </a:t>
            </a:r>
            <a:endParaRPr lang="en-US" dirty="0" smtClean="0"/>
          </a:p>
          <a:p>
            <a:r>
              <a:rPr lang="en-US" dirty="0" smtClean="0"/>
              <a:t>Unlike </a:t>
            </a:r>
            <a:r>
              <a:rPr lang="en-US" dirty="0"/>
              <a:t>twisted pairs or coaxial cables, a </a:t>
            </a:r>
            <a:r>
              <a:rPr lang="en-US" dirty="0" smtClean="0"/>
              <a:t>fiber </a:t>
            </a:r>
            <a:r>
              <a:rPr lang="en-US" dirty="0"/>
              <a:t>optic uses light pulses </a:t>
            </a:r>
            <a:r>
              <a:rPr lang="en-US" dirty="0" smtClean="0"/>
              <a:t>generated by </a:t>
            </a:r>
            <a:r>
              <a:rPr lang="en-US" dirty="0"/>
              <a:t>laser or an injection diode to transmit data. </a:t>
            </a:r>
            <a:endParaRPr lang="en-US" dirty="0" smtClean="0"/>
          </a:p>
          <a:p>
            <a:r>
              <a:rPr lang="en-US" dirty="0" smtClean="0"/>
              <a:t>Each </a:t>
            </a:r>
            <a:r>
              <a:rPr lang="en-US" dirty="0"/>
              <a:t>pulse of light represents a single bit of data.</a:t>
            </a:r>
          </a:p>
        </p:txBody>
      </p:sp>
    </p:spTree>
    <p:extLst>
      <p:ext uri="{BB962C8B-B14F-4D97-AF65-F5344CB8AC3E}">
        <p14:creationId xmlns:p14="http://schemas.microsoft.com/office/powerpoint/2010/main" val="2013928878"/>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Optical fiber media implementation issues include:</a:t>
            </a:r>
            <a:br>
              <a:rPr lang="en-US" dirty="0"/>
            </a:br>
            <a:endParaRPr lang="en-US" dirty="0"/>
          </a:p>
        </p:txBody>
      </p:sp>
      <p:sp>
        <p:nvSpPr>
          <p:cNvPr id="3" name="Content Placeholder 2"/>
          <p:cNvSpPr>
            <a:spLocks noGrp="1"/>
          </p:cNvSpPr>
          <p:nvPr>
            <p:ph idx="1"/>
          </p:nvPr>
        </p:nvSpPr>
        <p:spPr/>
        <p:txBody>
          <a:bodyPr>
            <a:normAutofit/>
          </a:bodyPr>
          <a:lstStyle/>
          <a:p>
            <a:pPr lvl="1">
              <a:buFont typeface="Wingdings" panose="05000000000000000000" pitchFamily="2" charset="2"/>
              <a:buChar char="q"/>
            </a:pPr>
            <a:r>
              <a:rPr lang="en-US" sz="2400" dirty="0" smtClean="0"/>
              <a:t>More </a:t>
            </a:r>
            <a:r>
              <a:rPr lang="en-US" sz="2400" dirty="0"/>
              <a:t>expensive (usually</a:t>
            </a:r>
            <a:r>
              <a:rPr lang="en-US" sz="2400" dirty="0" smtClean="0"/>
              <a:t>) than </a:t>
            </a:r>
            <a:r>
              <a:rPr lang="en-US" sz="2400" dirty="0"/>
              <a:t>copper media over the same distance (but for a higher capacity)</a:t>
            </a:r>
          </a:p>
          <a:p>
            <a:pPr lvl="1">
              <a:buFont typeface="Wingdings" panose="05000000000000000000" pitchFamily="2" charset="2"/>
              <a:buChar char="q"/>
            </a:pPr>
            <a:r>
              <a:rPr lang="en-US" sz="2400" dirty="0" smtClean="0"/>
              <a:t>Different skills and </a:t>
            </a:r>
            <a:r>
              <a:rPr lang="en-US" sz="2400" dirty="0"/>
              <a:t>equipment required to terminate and splice the cable infrastructure</a:t>
            </a:r>
          </a:p>
          <a:p>
            <a:pPr lvl="1">
              <a:buFont typeface="Wingdings" panose="05000000000000000000" pitchFamily="2" charset="2"/>
              <a:buChar char="q"/>
            </a:pPr>
            <a:r>
              <a:rPr lang="en-US" sz="2400" dirty="0" smtClean="0"/>
              <a:t>More </a:t>
            </a:r>
            <a:r>
              <a:rPr lang="en-US" sz="2400" dirty="0"/>
              <a:t>careful handling than copper </a:t>
            </a:r>
            <a:r>
              <a:rPr lang="en-US" sz="2400" dirty="0" smtClean="0"/>
              <a:t>media</a:t>
            </a:r>
          </a:p>
          <a:p>
            <a:r>
              <a:rPr lang="en-US" sz="2400" dirty="0"/>
              <a:t>At present, in most enterprise environments, optical fiber is </a:t>
            </a:r>
            <a:r>
              <a:rPr lang="en-US" sz="2400" dirty="0" smtClean="0"/>
              <a:t>primarily used </a:t>
            </a:r>
            <a:r>
              <a:rPr lang="en-US" sz="2400" dirty="0"/>
              <a:t>as backbone cabling for high-traffic </a:t>
            </a:r>
            <a:r>
              <a:rPr lang="en-US" sz="2400" dirty="0" smtClean="0"/>
              <a:t>point to-point </a:t>
            </a:r>
            <a:r>
              <a:rPr lang="en-US" sz="2400" dirty="0"/>
              <a:t>connections between data distribution facilities and for the interconnection of buildings in </a:t>
            </a:r>
            <a:r>
              <a:rPr lang="en-US" sz="2400" dirty="0" smtClean="0"/>
              <a:t>multi-building campuses</a:t>
            </a:r>
            <a:r>
              <a:rPr lang="en-US" sz="2400" dirty="0"/>
              <a:t>. </a:t>
            </a:r>
            <a:endParaRPr lang="en-US" sz="2400" dirty="0" smtClean="0"/>
          </a:p>
          <a:p>
            <a:r>
              <a:rPr lang="en-US" sz="2400" dirty="0" smtClean="0"/>
              <a:t>Because </a:t>
            </a:r>
            <a:r>
              <a:rPr lang="en-US" sz="2400" dirty="0"/>
              <a:t>optical fiber does not conduct </a:t>
            </a:r>
            <a:r>
              <a:rPr lang="en-US" sz="2600" dirty="0" smtClean="0"/>
              <a:t>electricity and </a:t>
            </a:r>
            <a:r>
              <a:rPr lang="en-US" sz="2600" dirty="0"/>
              <a:t>has low signal loss</a:t>
            </a:r>
            <a:r>
              <a:rPr lang="en-US" sz="2600" dirty="0" smtClean="0"/>
              <a:t>, it </a:t>
            </a:r>
            <a:r>
              <a:rPr lang="en-US" sz="2600" dirty="0"/>
              <a:t>is well suited for these uses.</a:t>
            </a:r>
          </a:p>
        </p:txBody>
      </p:sp>
    </p:spTree>
    <p:extLst>
      <p:ext uri="{BB962C8B-B14F-4D97-AF65-F5344CB8AC3E}">
        <p14:creationId xmlns:p14="http://schemas.microsoft.com/office/powerpoint/2010/main" val="2252136"/>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Fiber optic</a:t>
            </a:r>
            <a:endParaRPr lang="en-US" dirty="0"/>
          </a:p>
        </p:txBody>
      </p:sp>
      <p:pic>
        <p:nvPicPr>
          <p:cNvPr id="4" name="Content Placeholder 3"/>
          <p:cNvPicPr>
            <a:picLocks noGrp="1" noChangeAspect="1"/>
          </p:cNvPicPr>
          <p:nvPr>
            <p:ph idx="1"/>
          </p:nvPr>
        </p:nvPicPr>
        <p:blipFill>
          <a:blip r:embed="rId2"/>
          <a:stretch>
            <a:fillRect/>
          </a:stretch>
        </p:blipFill>
        <p:spPr>
          <a:xfrm>
            <a:off x="1187355" y="1296538"/>
            <a:ext cx="6755642" cy="5377217"/>
          </a:xfrm>
          <a:prstGeom prst="rect">
            <a:avLst/>
          </a:prstGeom>
        </p:spPr>
      </p:pic>
    </p:spTree>
    <p:extLst>
      <p:ext uri="{BB962C8B-B14F-4D97-AF65-F5344CB8AC3E}">
        <p14:creationId xmlns:p14="http://schemas.microsoft.com/office/powerpoint/2010/main" val="1895142480"/>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Power lines </a:t>
            </a:r>
            <a:endParaRPr lang="en-GB" dirty="0"/>
          </a:p>
        </p:txBody>
      </p:sp>
      <p:sp>
        <p:nvSpPr>
          <p:cNvPr id="3" name="Content Placeholder 2"/>
          <p:cNvSpPr>
            <a:spLocks noGrp="1"/>
          </p:cNvSpPr>
          <p:nvPr>
            <p:ph idx="1"/>
          </p:nvPr>
        </p:nvSpPr>
        <p:spPr/>
        <p:txBody>
          <a:bodyPr>
            <a:normAutofit fontScale="92500" lnSpcReduction="20000"/>
          </a:bodyPr>
          <a:lstStyle/>
          <a:p>
            <a:r>
              <a:rPr lang="en-GB" dirty="0"/>
              <a:t>The convenience </a:t>
            </a:r>
            <a:r>
              <a:rPr lang="en-GB" dirty="0" smtClean="0"/>
              <a:t>of using </a:t>
            </a:r>
            <a:r>
              <a:rPr lang="en-GB" dirty="0"/>
              <a:t>power lines for networking should be clear. </a:t>
            </a:r>
            <a:endParaRPr lang="en-GB" dirty="0" smtClean="0"/>
          </a:p>
          <a:p>
            <a:r>
              <a:rPr lang="en-GB" dirty="0" smtClean="0"/>
              <a:t>Simply plug </a:t>
            </a:r>
            <a:r>
              <a:rPr lang="en-GB" dirty="0"/>
              <a:t>a TV </a:t>
            </a:r>
            <a:r>
              <a:rPr lang="en-GB" dirty="0" smtClean="0"/>
              <a:t>and a </a:t>
            </a:r>
            <a:r>
              <a:rPr lang="en-GB" dirty="0"/>
              <a:t>receiver </a:t>
            </a:r>
            <a:r>
              <a:rPr lang="en-GB" dirty="0" smtClean="0"/>
              <a:t>into the </a:t>
            </a:r>
            <a:r>
              <a:rPr lang="en-GB" dirty="0"/>
              <a:t>wall, which you must do </a:t>
            </a:r>
            <a:r>
              <a:rPr lang="en-GB" dirty="0" smtClean="0"/>
              <a:t>anyway because they need </a:t>
            </a:r>
            <a:r>
              <a:rPr lang="en-GB" dirty="0"/>
              <a:t>power, and they can send and receive movies </a:t>
            </a:r>
            <a:r>
              <a:rPr lang="en-GB" dirty="0" smtClean="0"/>
              <a:t>over the </a:t>
            </a:r>
            <a:r>
              <a:rPr lang="en-GB" dirty="0"/>
              <a:t>electrical wiring</a:t>
            </a:r>
            <a:r>
              <a:rPr lang="en-GB" dirty="0" smtClean="0"/>
              <a:t>.</a:t>
            </a:r>
          </a:p>
          <a:p>
            <a:r>
              <a:rPr lang="en-GB" dirty="0" smtClean="0"/>
              <a:t>This configuration </a:t>
            </a:r>
            <a:r>
              <a:rPr lang="en-GB" dirty="0"/>
              <a:t>is shown in Fig. </a:t>
            </a:r>
            <a:r>
              <a:rPr lang="en-GB" dirty="0" smtClean="0"/>
              <a:t>below. </a:t>
            </a:r>
          </a:p>
          <a:p>
            <a:r>
              <a:rPr lang="en-GB" dirty="0" smtClean="0"/>
              <a:t>There </a:t>
            </a:r>
            <a:r>
              <a:rPr lang="en-GB" dirty="0"/>
              <a:t>is no other plug or radio. The data signal is superimposed on </a:t>
            </a:r>
            <a:r>
              <a:rPr lang="en-GB" dirty="0" smtClean="0"/>
              <a:t>the low-frequency </a:t>
            </a:r>
            <a:r>
              <a:rPr lang="en-GB" dirty="0"/>
              <a:t>power signal (on the active or ‘‘hot</a:t>
            </a:r>
            <a:r>
              <a:rPr lang="en-GB" dirty="0" smtClean="0"/>
              <a:t>’’ wire</a:t>
            </a:r>
            <a:r>
              <a:rPr lang="en-GB" dirty="0"/>
              <a:t>) as both signals use the wiring at the same </a:t>
            </a:r>
            <a:r>
              <a:rPr lang="en-GB" dirty="0" smtClean="0"/>
              <a:t>time</a:t>
            </a:r>
            <a:endParaRPr lang="en-GB" dirty="0"/>
          </a:p>
        </p:txBody>
      </p:sp>
    </p:spTree>
    <p:extLst>
      <p:ext uri="{BB962C8B-B14F-4D97-AF65-F5344CB8AC3E}">
        <p14:creationId xmlns:p14="http://schemas.microsoft.com/office/powerpoint/2010/main" val="59256125"/>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Power lines </a:t>
            </a:r>
            <a:r>
              <a:rPr lang="en-GB" dirty="0" smtClean="0"/>
              <a:t>cont’d</a:t>
            </a:r>
            <a:endParaRPr lang="en-GB" dirty="0"/>
          </a:p>
        </p:txBody>
      </p:sp>
      <p:sp>
        <p:nvSpPr>
          <p:cNvPr id="3" name="Content Placeholder 2"/>
          <p:cNvSpPr>
            <a:spLocks noGrp="1"/>
          </p:cNvSpPr>
          <p:nvPr>
            <p:ph idx="1"/>
          </p:nvPr>
        </p:nvSpPr>
        <p:spPr/>
        <p:txBody>
          <a:bodyPr/>
          <a:lstStyle/>
          <a:p>
            <a:endParaRPr lang="en-GB" dirty="0"/>
          </a:p>
        </p:txBody>
      </p:sp>
      <p:pic>
        <p:nvPicPr>
          <p:cNvPr id="102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75142" y="1600200"/>
            <a:ext cx="8464058" cy="29512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303690611"/>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Wireless Media intro </a:t>
            </a:r>
            <a:endParaRPr lang="en-GB" dirty="0"/>
          </a:p>
        </p:txBody>
      </p:sp>
      <p:sp>
        <p:nvSpPr>
          <p:cNvPr id="3" name="Content Placeholder 2"/>
          <p:cNvSpPr>
            <a:spLocks noGrp="1"/>
          </p:cNvSpPr>
          <p:nvPr>
            <p:ph idx="1"/>
          </p:nvPr>
        </p:nvSpPr>
        <p:spPr/>
        <p:txBody>
          <a:bodyPr/>
          <a:lstStyle/>
          <a:p>
            <a:endParaRPr lang="en-GB" dirty="0"/>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81063" y="1333500"/>
            <a:ext cx="7381875" cy="5448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263454612"/>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868362"/>
          </a:xfrm>
        </p:spPr>
        <p:txBody>
          <a:bodyPr>
            <a:normAutofit/>
          </a:bodyPr>
          <a:lstStyle/>
          <a:p>
            <a:r>
              <a:rPr lang="en-GB" dirty="0"/>
              <a:t>What is Electromagnetic Wave</a:t>
            </a:r>
            <a:r>
              <a:rPr lang="en-GB" dirty="0" smtClean="0"/>
              <a:t>?</a:t>
            </a:r>
            <a:endParaRPr lang="en-GB" dirty="0"/>
          </a:p>
        </p:txBody>
      </p:sp>
      <p:sp>
        <p:nvSpPr>
          <p:cNvPr id="3" name="Content Placeholder 2"/>
          <p:cNvSpPr>
            <a:spLocks noGrp="1"/>
          </p:cNvSpPr>
          <p:nvPr>
            <p:ph idx="1"/>
          </p:nvPr>
        </p:nvSpPr>
        <p:spPr>
          <a:xfrm>
            <a:off x="304800" y="1371600"/>
            <a:ext cx="8382000" cy="5334000"/>
          </a:xfrm>
        </p:spPr>
        <p:txBody>
          <a:bodyPr>
            <a:normAutofit fontScale="85000" lnSpcReduction="20000"/>
          </a:bodyPr>
          <a:lstStyle/>
          <a:p>
            <a:r>
              <a:rPr lang="en-GB" dirty="0" smtClean="0"/>
              <a:t>Electromagnetic </a:t>
            </a:r>
            <a:r>
              <a:rPr lang="en-GB" dirty="0"/>
              <a:t>Waves carry the electromagnetic energy of electromagnetic </a:t>
            </a:r>
            <a:r>
              <a:rPr lang="en-GB" dirty="0" smtClean="0"/>
              <a:t>field through space</a:t>
            </a:r>
            <a:r>
              <a:rPr lang="en-GB" dirty="0"/>
              <a:t>. </a:t>
            </a:r>
            <a:endParaRPr lang="en-GB" dirty="0" smtClean="0"/>
          </a:p>
          <a:p>
            <a:r>
              <a:rPr lang="en-GB" dirty="0" smtClean="0"/>
              <a:t>Electromagnetic </a:t>
            </a:r>
            <a:r>
              <a:rPr lang="en-GB" dirty="0"/>
              <a:t>Waves include Gamma Rays (γ – Rays), X – Rays, Ultraviolet </a:t>
            </a:r>
            <a:r>
              <a:rPr lang="en-GB" dirty="0" smtClean="0"/>
              <a:t>Rays, Visible </a:t>
            </a:r>
            <a:r>
              <a:rPr lang="en-GB" dirty="0"/>
              <a:t>Light, Infrared Rays, Microwave Rays and Radio Waves. </a:t>
            </a:r>
            <a:endParaRPr lang="en-GB" dirty="0" smtClean="0"/>
          </a:p>
          <a:p>
            <a:r>
              <a:rPr lang="en-GB" dirty="0" smtClean="0"/>
              <a:t>Electromagnetic Waves (usually </a:t>
            </a:r>
            <a:r>
              <a:rPr lang="en-GB" dirty="0"/>
              <a:t>Radio Waves) are used in wireless communication to carry the signals.</a:t>
            </a:r>
          </a:p>
          <a:p>
            <a:r>
              <a:rPr lang="en-GB" dirty="0"/>
              <a:t>An Electromagnetic Wave consists of both electric and magnetic </a:t>
            </a:r>
            <a:r>
              <a:rPr lang="en-GB" dirty="0" smtClean="0"/>
              <a:t>fields in </a:t>
            </a:r>
            <a:r>
              <a:rPr lang="en-GB" dirty="0"/>
              <a:t>the form of </a:t>
            </a:r>
            <a:r>
              <a:rPr lang="en-GB" dirty="0" smtClean="0"/>
              <a:t>time varying </a:t>
            </a:r>
            <a:r>
              <a:rPr lang="en-GB" dirty="0"/>
              <a:t>sinusoidal waves. </a:t>
            </a:r>
            <a:endParaRPr lang="en-GB" dirty="0" smtClean="0"/>
          </a:p>
          <a:p>
            <a:r>
              <a:rPr lang="en-GB" dirty="0" smtClean="0"/>
              <a:t>Both </a:t>
            </a:r>
            <a:r>
              <a:rPr lang="en-GB" dirty="0"/>
              <a:t>these </a:t>
            </a:r>
            <a:r>
              <a:rPr lang="en-GB" dirty="0" smtClean="0"/>
              <a:t>fields are </a:t>
            </a:r>
            <a:r>
              <a:rPr lang="en-GB" dirty="0"/>
              <a:t>oscillating perpendicular to each other and </a:t>
            </a:r>
            <a:r>
              <a:rPr lang="en-GB" dirty="0" smtClean="0"/>
              <a:t>the direction </a:t>
            </a:r>
            <a:r>
              <a:rPr lang="en-GB" dirty="0"/>
              <a:t>of propagation of the Electromagnetic Wave is again perpendicular to both </a:t>
            </a:r>
            <a:r>
              <a:rPr lang="en-GB" dirty="0" smtClean="0"/>
              <a:t>these fields.</a:t>
            </a:r>
            <a:endParaRPr lang="en-GB" dirty="0"/>
          </a:p>
        </p:txBody>
      </p:sp>
    </p:spTree>
    <p:extLst>
      <p:ext uri="{BB962C8B-B14F-4D97-AF65-F5344CB8AC3E}">
        <p14:creationId xmlns:p14="http://schemas.microsoft.com/office/powerpoint/2010/main" val="2494214629"/>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Wireless media</a:t>
            </a:r>
            <a:endParaRPr lang="en-US" dirty="0"/>
          </a:p>
        </p:txBody>
      </p:sp>
      <p:sp>
        <p:nvSpPr>
          <p:cNvPr id="3" name="Content Placeholder 2"/>
          <p:cNvSpPr>
            <a:spLocks noGrp="1"/>
          </p:cNvSpPr>
          <p:nvPr>
            <p:ph idx="1"/>
          </p:nvPr>
        </p:nvSpPr>
        <p:spPr/>
        <p:txBody>
          <a:bodyPr>
            <a:normAutofit fontScale="85000" lnSpcReduction="20000"/>
          </a:bodyPr>
          <a:lstStyle/>
          <a:p>
            <a:r>
              <a:rPr lang="en-US" dirty="0"/>
              <a:t>Today, people need Mobile Phones for many things like talking, internet, multimedia etc. </a:t>
            </a:r>
            <a:endParaRPr lang="en-US" dirty="0" smtClean="0"/>
          </a:p>
          <a:p>
            <a:r>
              <a:rPr lang="en-US" dirty="0" smtClean="0"/>
              <a:t>All these </a:t>
            </a:r>
            <a:r>
              <a:rPr lang="en-US" dirty="0"/>
              <a:t>services must be made available to the user on the go i.e. while the user is mobile. </a:t>
            </a:r>
            <a:r>
              <a:rPr lang="en-US" dirty="0" smtClean="0"/>
              <a:t>With the </a:t>
            </a:r>
            <a:r>
              <a:rPr lang="en-US" dirty="0"/>
              <a:t>help of these wireless communication services, we can transfer voice, data, videos, </a:t>
            </a:r>
            <a:r>
              <a:rPr lang="en-US" dirty="0" smtClean="0"/>
              <a:t>images etc</a:t>
            </a:r>
            <a:r>
              <a:rPr lang="en-US" dirty="0"/>
              <a:t>.</a:t>
            </a:r>
          </a:p>
          <a:p>
            <a:r>
              <a:rPr lang="en-US" dirty="0"/>
              <a:t>Wireless Communication Systems also provide </a:t>
            </a:r>
            <a:r>
              <a:rPr lang="en-US" dirty="0" smtClean="0"/>
              <a:t>different </a:t>
            </a:r>
            <a:r>
              <a:rPr lang="en-US" dirty="0"/>
              <a:t>services like video </a:t>
            </a:r>
            <a:r>
              <a:rPr lang="en-US" dirty="0" smtClean="0"/>
              <a:t>conferencing, cellular </a:t>
            </a:r>
            <a:r>
              <a:rPr lang="en-US" dirty="0"/>
              <a:t>telephone, paging, TV, Radio etc. </a:t>
            </a:r>
            <a:endParaRPr lang="en-US" dirty="0" smtClean="0"/>
          </a:p>
          <a:p>
            <a:r>
              <a:rPr lang="en-US" dirty="0" smtClean="0"/>
              <a:t>Due </a:t>
            </a:r>
            <a:r>
              <a:rPr lang="en-US" dirty="0"/>
              <a:t>to the need for variety of </a:t>
            </a:r>
            <a:r>
              <a:rPr lang="en-US" dirty="0" smtClean="0"/>
              <a:t>communication services</a:t>
            </a:r>
            <a:r>
              <a:rPr lang="en-US" dirty="0"/>
              <a:t>, </a:t>
            </a:r>
            <a:r>
              <a:rPr lang="en-US" dirty="0" smtClean="0"/>
              <a:t>different </a:t>
            </a:r>
            <a:r>
              <a:rPr lang="en-US" dirty="0"/>
              <a:t>types of Wireless Communication Systems are developed. </a:t>
            </a:r>
            <a:endParaRPr lang="en-US" dirty="0" smtClean="0"/>
          </a:p>
        </p:txBody>
      </p:sp>
    </p:spTree>
    <p:extLst>
      <p:ext uri="{BB962C8B-B14F-4D97-AF65-F5344CB8AC3E}">
        <p14:creationId xmlns:p14="http://schemas.microsoft.com/office/powerpoint/2010/main" val="1740542029"/>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Wireless media</a:t>
            </a:r>
            <a:endParaRPr lang="en-US" dirty="0"/>
          </a:p>
        </p:txBody>
      </p:sp>
      <p:sp>
        <p:nvSpPr>
          <p:cNvPr id="3" name="Content Placeholder 2"/>
          <p:cNvSpPr>
            <a:spLocks noGrp="1"/>
          </p:cNvSpPr>
          <p:nvPr>
            <p:ph idx="1"/>
          </p:nvPr>
        </p:nvSpPr>
        <p:spPr>
          <a:xfrm>
            <a:off x="457200" y="1600200"/>
            <a:ext cx="8229600" cy="5029200"/>
          </a:xfrm>
        </p:spPr>
        <p:txBody>
          <a:bodyPr>
            <a:normAutofit fontScale="77500" lnSpcReduction="20000"/>
          </a:bodyPr>
          <a:lstStyle/>
          <a:p>
            <a:r>
              <a:rPr lang="en-US" dirty="0" smtClean="0"/>
              <a:t>Wireless media carry electromagnetic signals at radio and microwave frequencies that represent the binary digits of data communications. </a:t>
            </a:r>
          </a:p>
          <a:p>
            <a:r>
              <a:rPr lang="en-US" dirty="0" smtClean="0"/>
              <a:t>As a networking medium, wireless is not restricted to conductors or pathways, as are copper and fiber media. </a:t>
            </a:r>
          </a:p>
          <a:p>
            <a:r>
              <a:rPr lang="en-US" dirty="0" smtClean="0"/>
              <a:t>Wireless data communication technologies work well in open environments. </a:t>
            </a:r>
          </a:p>
          <a:p>
            <a:r>
              <a:rPr lang="en-US" dirty="0" smtClean="0"/>
              <a:t>However, certain construction materials used in buildings and structures, and the local terrain, will limit the effective coverage. </a:t>
            </a:r>
          </a:p>
          <a:p>
            <a:r>
              <a:rPr lang="en-US" dirty="0" smtClean="0"/>
              <a:t>In addition, wireless is susceptible to interference and can be disrupted by such common devices as household cordless phones, some types of fluorescent lights, microwave ovens, and other wireless communications</a:t>
            </a:r>
            <a:endParaRPr lang="en-US" dirty="0"/>
          </a:p>
        </p:txBody>
      </p:sp>
    </p:spTree>
    <p:extLst>
      <p:ext uri="{BB962C8B-B14F-4D97-AF65-F5344CB8AC3E}">
        <p14:creationId xmlns:p14="http://schemas.microsoft.com/office/powerpoint/2010/main" val="1672121690"/>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Wireless media cont’d</a:t>
            </a:r>
            <a:endParaRPr lang="en-US" dirty="0"/>
          </a:p>
        </p:txBody>
      </p:sp>
      <p:sp>
        <p:nvSpPr>
          <p:cNvPr id="3" name="Content Placeholder 2"/>
          <p:cNvSpPr>
            <a:spLocks noGrp="1"/>
          </p:cNvSpPr>
          <p:nvPr>
            <p:ph idx="1"/>
          </p:nvPr>
        </p:nvSpPr>
        <p:spPr/>
        <p:txBody>
          <a:bodyPr/>
          <a:lstStyle/>
          <a:p>
            <a:r>
              <a:rPr lang="en-US" dirty="0"/>
              <a:t>Further, because wireless communication coverage requires no access to a physical strand of media, devices and </a:t>
            </a:r>
            <a:r>
              <a:rPr lang="en-US" dirty="0" smtClean="0"/>
              <a:t>users who </a:t>
            </a:r>
            <a:r>
              <a:rPr lang="en-US" dirty="0"/>
              <a:t>are not authorized for access to the network can gain access to the transmission. </a:t>
            </a:r>
            <a:endParaRPr lang="en-US" dirty="0" smtClean="0"/>
          </a:p>
          <a:p>
            <a:r>
              <a:rPr lang="en-US" dirty="0" smtClean="0"/>
              <a:t>Therefore</a:t>
            </a:r>
            <a:r>
              <a:rPr lang="en-US" dirty="0"/>
              <a:t>, network security is </a:t>
            </a:r>
            <a:r>
              <a:rPr lang="en-US" dirty="0" smtClean="0"/>
              <a:t>a major </a:t>
            </a:r>
            <a:r>
              <a:rPr lang="en-US" dirty="0"/>
              <a:t>component of wireless network administration</a:t>
            </a:r>
          </a:p>
          <a:p>
            <a:endParaRPr lang="en-US" dirty="0"/>
          </a:p>
        </p:txBody>
      </p:sp>
    </p:spTree>
    <p:extLst>
      <p:ext uri="{BB962C8B-B14F-4D97-AF65-F5344CB8AC3E}">
        <p14:creationId xmlns:p14="http://schemas.microsoft.com/office/powerpoint/2010/main" val="3130580579"/>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Wireless media cont’d</a:t>
            </a:r>
            <a:endParaRPr lang="en-US" dirty="0"/>
          </a:p>
        </p:txBody>
      </p:sp>
      <p:sp>
        <p:nvSpPr>
          <p:cNvPr id="3" name="Content Placeholder 2"/>
          <p:cNvSpPr>
            <a:spLocks noGrp="1"/>
          </p:cNvSpPr>
          <p:nvPr>
            <p:ph idx="1"/>
          </p:nvPr>
        </p:nvSpPr>
        <p:spPr/>
        <p:txBody>
          <a:bodyPr>
            <a:normAutofit fontScale="77500" lnSpcReduction="20000"/>
          </a:bodyPr>
          <a:lstStyle/>
          <a:p>
            <a:r>
              <a:rPr lang="en-US" dirty="0" smtClean="0"/>
              <a:t>Some of the important Wireless Communication Systems available today are:</a:t>
            </a:r>
          </a:p>
          <a:p>
            <a:pPr lvl="1"/>
            <a:r>
              <a:rPr lang="en-US" dirty="0"/>
              <a:t>Television and Radio Broadcasting</a:t>
            </a:r>
          </a:p>
          <a:p>
            <a:pPr lvl="1"/>
            <a:r>
              <a:rPr lang="en-US" dirty="0"/>
              <a:t>Satellite Communication</a:t>
            </a:r>
          </a:p>
          <a:p>
            <a:pPr lvl="1"/>
            <a:r>
              <a:rPr lang="en-US" dirty="0"/>
              <a:t>Radar</a:t>
            </a:r>
          </a:p>
          <a:p>
            <a:pPr lvl="1"/>
            <a:r>
              <a:rPr lang="en-US" dirty="0"/>
              <a:t>Mobile Telephone System (Cellular Communication)</a:t>
            </a:r>
          </a:p>
          <a:p>
            <a:pPr lvl="1"/>
            <a:r>
              <a:rPr lang="en-US" dirty="0"/>
              <a:t>Global Positioning System (GPS)</a:t>
            </a:r>
          </a:p>
          <a:p>
            <a:pPr lvl="1"/>
            <a:r>
              <a:rPr lang="en-US" dirty="0"/>
              <a:t>Infrared Communication</a:t>
            </a:r>
          </a:p>
          <a:p>
            <a:pPr lvl="1"/>
            <a:r>
              <a:rPr lang="en-US" dirty="0"/>
              <a:t>WLAN (Wi-Fi)</a:t>
            </a:r>
          </a:p>
          <a:p>
            <a:pPr lvl="1"/>
            <a:r>
              <a:rPr lang="en-US" dirty="0"/>
              <a:t>Bluetooth</a:t>
            </a:r>
          </a:p>
          <a:p>
            <a:pPr lvl="1"/>
            <a:r>
              <a:rPr lang="en-US" dirty="0"/>
              <a:t>Paging</a:t>
            </a:r>
          </a:p>
          <a:p>
            <a:pPr lvl="1"/>
            <a:r>
              <a:rPr lang="en-US" dirty="0"/>
              <a:t>Cordless Phones</a:t>
            </a:r>
          </a:p>
          <a:p>
            <a:pPr lvl="1"/>
            <a:r>
              <a:rPr lang="en-US" dirty="0"/>
              <a:t>Radio Frequency </a:t>
            </a:r>
            <a:r>
              <a:rPr lang="en-US" dirty="0" smtClean="0"/>
              <a:t>Identification </a:t>
            </a:r>
            <a:r>
              <a:rPr lang="en-US" dirty="0"/>
              <a:t>(RFID)</a:t>
            </a:r>
          </a:p>
        </p:txBody>
      </p:sp>
    </p:spTree>
    <p:extLst>
      <p:ext uri="{BB962C8B-B14F-4D97-AF65-F5344CB8AC3E}">
        <p14:creationId xmlns:p14="http://schemas.microsoft.com/office/powerpoint/2010/main" val="3632779916"/>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Television and Radio Broadcasting</a:t>
            </a:r>
            <a:br>
              <a:rPr lang="en-US" b="1" dirty="0" smtClean="0"/>
            </a:br>
            <a:endParaRPr lang="en-US" dirty="0"/>
          </a:p>
        </p:txBody>
      </p:sp>
      <p:sp>
        <p:nvSpPr>
          <p:cNvPr id="3" name="Content Placeholder 2"/>
          <p:cNvSpPr>
            <a:spLocks noGrp="1"/>
          </p:cNvSpPr>
          <p:nvPr>
            <p:ph idx="1"/>
          </p:nvPr>
        </p:nvSpPr>
        <p:spPr/>
        <p:txBody>
          <a:bodyPr/>
          <a:lstStyle/>
          <a:p>
            <a:r>
              <a:rPr lang="en-US" dirty="0" smtClean="0"/>
              <a:t>Radio </a:t>
            </a:r>
            <a:r>
              <a:rPr lang="en-US" dirty="0"/>
              <a:t>is considered to be the </a:t>
            </a:r>
            <a:r>
              <a:rPr lang="en-US" dirty="0" smtClean="0"/>
              <a:t>first </a:t>
            </a:r>
            <a:r>
              <a:rPr lang="en-US" dirty="0"/>
              <a:t>wireless service to be broadcast. </a:t>
            </a:r>
            <a:endParaRPr lang="en-US" dirty="0" smtClean="0"/>
          </a:p>
          <a:p>
            <a:r>
              <a:rPr lang="en-US" dirty="0" smtClean="0"/>
              <a:t>It </a:t>
            </a:r>
            <a:r>
              <a:rPr lang="en-US" dirty="0"/>
              <a:t>is an example of </a:t>
            </a:r>
            <a:r>
              <a:rPr lang="en-US" dirty="0" smtClean="0"/>
              <a:t>a Simplex </a:t>
            </a:r>
            <a:r>
              <a:rPr lang="en-US" dirty="0"/>
              <a:t>Communication System where the information is transmitted only in one direction </a:t>
            </a:r>
            <a:r>
              <a:rPr lang="en-US" dirty="0" smtClean="0"/>
              <a:t>and all </a:t>
            </a:r>
            <a:r>
              <a:rPr lang="en-US" dirty="0"/>
              <a:t>the users receiving the same data</a:t>
            </a:r>
          </a:p>
        </p:txBody>
      </p:sp>
    </p:spTree>
    <p:extLst>
      <p:ext uri="{BB962C8B-B14F-4D97-AF65-F5344CB8AC3E}">
        <p14:creationId xmlns:p14="http://schemas.microsoft.com/office/powerpoint/2010/main" val="1245720356"/>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Satellite Communication</a:t>
            </a:r>
            <a:br>
              <a:rPr lang="en-US" b="1" dirty="0" smtClean="0"/>
            </a:br>
            <a:endParaRPr lang="en-US" dirty="0"/>
          </a:p>
        </p:txBody>
      </p:sp>
      <p:sp>
        <p:nvSpPr>
          <p:cNvPr id="3" name="Content Placeholder 2"/>
          <p:cNvSpPr>
            <a:spLocks noGrp="1"/>
          </p:cNvSpPr>
          <p:nvPr>
            <p:ph idx="1"/>
          </p:nvPr>
        </p:nvSpPr>
        <p:spPr/>
        <p:txBody>
          <a:bodyPr>
            <a:normAutofit fontScale="92500" lnSpcReduction="20000"/>
          </a:bodyPr>
          <a:lstStyle/>
          <a:p>
            <a:r>
              <a:rPr lang="en-US" dirty="0" smtClean="0"/>
              <a:t>Satellite </a:t>
            </a:r>
            <a:r>
              <a:rPr lang="en-US" dirty="0"/>
              <a:t>Communication System is an important type of Wireless Communication. </a:t>
            </a:r>
            <a:endParaRPr lang="en-US" dirty="0" smtClean="0"/>
          </a:p>
          <a:p>
            <a:r>
              <a:rPr lang="en-US" dirty="0" smtClean="0"/>
              <a:t>Satellite Communication </a:t>
            </a:r>
            <a:r>
              <a:rPr lang="en-US" dirty="0"/>
              <a:t>Networks provide worldwide coverage independent to population density.</a:t>
            </a:r>
          </a:p>
          <a:p>
            <a:r>
              <a:rPr lang="en-US" dirty="0"/>
              <a:t>Satellite Communication Systems </a:t>
            </a:r>
            <a:r>
              <a:rPr lang="en-US" dirty="0" smtClean="0"/>
              <a:t>over telecommunication </a:t>
            </a:r>
            <a:r>
              <a:rPr lang="en-US" dirty="0"/>
              <a:t>(Satellite Phones), positioning </a:t>
            </a:r>
            <a:r>
              <a:rPr lang="en-US" dirty="0" smtClean="0"/>
              <a:t>and navigation </a:t>
            </a:r>
            <a:r>
              <a:rPr lang="en-US" dirty="0"/>
              <a:t>(GPS), broadcasting, internet, etc. </a:t>
            </a:r>
            <a:endParaRPr lang="en-US" dirty="0" smtClean="0"/>
          </a:p>
          <a:p>
            <a:r>
              <a:rPr lang="en-US" dirty="0" smtClean="0"/>
              <a:t>Other </a:t>
            </a:r>
            <a:r>
              <a:rPr lang="en-US" dirty="0"/>
              <a:t>wireless services like mobile, </a:t>
            </a:r>
            <a:r>
              <a:rPr lang="en-US" dirty="0" smtClean="0"/>
              <a:t>television broadcasting </a:t>
            </a:r>
            <a:r>
              <a:rPr lang="en-US" dirty="0"/>
              <a:t>and other radio systems are dependent of Satellite Communication Systems.</a:t>
            </a:r>
          </a:p>
        </p:txBody>
      </p:sp>
    </p:spTree>
    <p:extLst>
      <p:ext uri="{BB962C8B-B14F-4D97-AF65-F5344CB8AC3E}">
        <p14:creationId xmlns:p14="http://schemas.microsoft.com/office/powerpoint/2010/main" val="4015652137"/>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b="1" dirty="0" smtClean="0"/>
              <a:t>Radio </a:t>
            </a:r>
            <a:r>
              <a:rPr lang="en-GB" b="1" dirty="0"/>
              <a:t>Detection and </a:t>
            </a:r>
            <a:r>
              <a:rPr lang="en-GB" b="1" dirty="0" smtClean="0"/>
              <a:t>Ranging (RADAR)</a:t>
            </a:r>
            <a:endParaRPr lang="en-GB" b="1" dirty="0"/>
          </a:p>
        </p:txBody>
      </p:sp>
      <p:sp>
        <p:nvSpPr>
          <p:cNvPr id="3" name="Content Placeholder 2"/>
          <p:cNvSpPr>
            <a:spLocks noGrp="1"/>
          </p:cNvSpPr>
          <p:nvPr>
            <p:ph idx="1"/>
          </p:nvPr>
        </p:nvSpPr>
        <p:spPr/>
        <p:txBody>
          <a:bodyPr/>
          <a:lstStyle/>
          <a:p>
            <a:r>
              <a:rPr lang="en-GB" dirty="0" smtClean="0"/>
              <a:t>It </a:t>
            </a:r>
            <a:r>
              <a:rPr lang="en-GB" dirty="0"/>
              <a:t>is a system that uses electromagnetic waves to detect the presence, direction, distance and speed of aircrafts, ships and other </a:t>
            </a:r>
            <a:r>
              <a:rPr lang="en-GB" dirty="0" smtClean="0"/>
              <a:t>objects </a:t>
            </a:r>
            <a:r>
              <a:rPr lang="en-GB" dirty="0"/>
              <a:t>by sending out pulses of radio waves which are reflected off the object back to the source.</a:t>
            </a:r>
          </a:p>
          <a:p>
            <a:endParaRPr lang="en-GB" dirty="0"/>
          </a:p>
        </p:txBody>
      </p:sp>
    </p:spTree>
    <p:extLst>
      <p:ext uri="{BB962C8B-B14F-4D97-AF65-F5344CB8AC3E}">
        <p14:creationId xmlns:p14="http://schemas.microsoft.com/office/powerpoint/2010/main" val="4286310016"/>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Mobile Telephone Communication System</a:t>
            </a:r>
            <a:br>
              <a:rPr lang="en-US" b="1" dirty="0" smtClean="0"/>
            </a:br>
            <a:endParaRPr lang="en-US" dirty="0"/>
          </a:p>
        </p:txBody>
      </p:sp>
      <p:sp>
        <p:nvSpPr>
          <p:cNvPr id="3" name="Content Placeholder 2"/>
          <p:cNvSpPr>
            <a:spLocks noGrp="1"/>
          </p:cNvSpPr>
          <p:nvPr>
            <p:ph idx="1"/>
          </p:nvPr>
        </p:nvSpPr>
        <p:spPr/>
        <p:txBody>
          <a:bodyPr>
            <a:normAutofit lnSpcReduction="10000"/>
          </a:bodyPr>
          <a:lstStyle/>
          <a:p>
            <a:r>
              <a:rPr lang="en-US" dirty="0" smtClean="0"/>
              <a:t>Perhaps</a:t>
            </a:r>
            <a:r>
              <a:rPr lang="en-US" dirty="0"/>
              <a:t>, the most commonly used wireless communication system is the Mobile </a:t>
            </a:r>
            <a:r>
              <a:rPr lang="en-US" dirty="0" smtClean="0"/>
              <a:t>Phone Technology</a:t>
            </a:r>
            <a:r>
              <a:rPr lang="en-US" dirty="0"/>
              <a:t>. </a:t>
            </a:r>
            <a:endParaRPr lang="en-US" dirty="0" smtClean="0"/>
          </a:p>
          <a:p>
            <a:r>
              <a:rPr lang="en-US" dirty="0" smtClean="0"/>
              <a:t>The </a:t>
            </a:r>
            <a:r>
              <a:rPr lang="en-US" dirty="0"/>
              <a:t>development of mobile cellular device changed the World like no </a:t>
            </a:r>
            <a:r>
              <a:rPr lang="en-US" dirty="0" smtClean="0"/>
              <a:t>other </a:t>
            </a:r>
            <a:r>
              <a:rPr lang="en-US" dirty="0"/>
              <a:t>technology. </a:t>
            </a:r>
            <a:endParaRPr lang="en-US" dirty="0" smtClean="0"/>
          </a:p>
          <a:p>
            <a:r>
              <a:rPr lang="en-US" dirty="0" smtClean="0"/>
              <a:t>Today’s </a:t>
            </a:r>
            <a:r>
              <a:rPr lang="en-US" dirty="0"/>
              <a:t>mobile phones are not limited to just making calls but are integrated </a:t>
            </a:r>
            <a:r>
              <a:rPr lang="en-US" dirty="0" smtClean="0"/>
              <a:t>with numerous </a:t>
            </a:r>
            <a:r>
              <a:rPr lang="en-US" dirty="0"/>
              <a:t>other features like Bluetooth, Wi-Fi, GPS, and FM Radio.</a:t>
            </a:r>
          </a:p>
        </p:txBody>
      </p:sp>
    </p:spTree>
    <p:extLst>
      <p:ext uri="{BB962C8B-B14F-4D97-AF65-F5344CB8AC3E}">
        <p14:creationId xmlns:p14="http://schemas.microsoft.com/office/powerpoint/2010/main" val="431417520"/>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Global Positioning System (GPS)</a:t>
            </a:r>
            <a:br>
              <a:rPr lang="en-US" b="1" dirty="0" smtClean="0"/>
            </a:br>
            <a:endParaRPr lang="en-US" dirty="0"/>
          </a:p>
        </p:txBody>
      </p:sp>
      <p:sp>
        <p:nvSpPr>
          <p:cNvPr id="3" name="Content Placeholder 2"/>
          <p:cNvSpPr>
            <a:spLocks noGrp="1"/>
          </p:cNvSpPr>
          <p:nvPr>
            <p:ph idx="1"/>
          </p:nvPr>
        </p:nvSpPr>
        <p:spPr/>
        <p:txBody>
          <a:bodyPr/>
          <a:lstStyle/>
          <a:p>
            <a:r>
              <a:rPr lang="en-US" dirty="0" smtClean="0"/>
              <a:t>GPS </a:t>
            </a:r>
            <a:r>
              <a:rPr lang="en-US" dirty="0"/>
              <a:t>is solely a subcategory of satellite communication. </a:t>
            </a:r>
            <a:endParaRPr lang="en-US" dirty="0" smtClean="0"/>
          </a:p>
          <a:p>
            <a:r>
              <a:rPr lang="en-US" dirty="0" smtClean="0"/>
              <a:t>GPS </a:t>
            </a:r>
            <a:r>
              <a:rPr lang="en-US" dirty="0"/>
              <a:t>provides </a:t>
            </a:r>
            <a:r>
              <a:rPr lang="en-US" dirty="0" smtClean="0"/>
              <a:t>different wireless services </a:t>
            </a:r>
            <a:r>
              <a:rPr lang="en-US" dirty="0"/>
              <a:t>like navigation, positioning, location, speed etc. with the help of dedicated </a:t>
            </a:r>
            <a:r>
              <a:rPr lang="en-US" dirty="0" smtClean="0"/>
              <a:t>GPS receivers </a:t>
            </a:r>
            <a:r>
              <a:rPr lang="en-US" dirty="0"/>
              <a:t>and satellites.</a:t>
            </a:r>
          </a:p>
        </p:txBody>
      </p:sp>
    </p:spTree>
    <p:extLst>
      <p:ext uri="{BB962C8B-B14F-4D97-AF65-F5344CB8AC3E}">
        <p14:creationId xmlns:p14="http://schemas.microsoft.com/office/powerpoint/2010/main" val="1823798639"/>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Bluetooth</a:t>
            </a:r>
            <a:br>
              <a:rPr lang="en-US" b="1" dirty="0" smtClean="0"/>
            </a:br>
            <a:endParaRPr lang="en-US" dirty="0"/>
          </a:p>
        </p:txBody>
      </p:sp>
      <p:sp>
        <p:nvSpPr>
          <p:cNvPr id="3" name="Content Placeholder 2"/>
          <p:cNvSpPr>
            <a:spLocks noGrp="1"/>
          </p:cNvSpPr>
          <p:nvPr>
            <p:ph idx="1"/>
          </p:nvPr>
        </p:nvSpPr>
        <p:spPr/>
        <p:txBody>
          <a:bodyPr>
            <a:normAutofit/>
          </a:bodyPr>
          <a:lstStyle/>
          <a:p>
            <a:r>
              <a:rPr lang="en-US" dirty="0" smtClean="0"/>
              <a:t>Bluetooth </a:t>
            </a:r>
            <a:r>
              <a:rPr lang="en-US" dirty="0"/>
              <a:t>is another important low range wireless communication system. </a:t>
            </a:r>
            <a:endParaRPr lang="en-US" dirty="0" smtClean="0"/>
          </a:p>
          <a:p>
            <a:r>
              <a:rPr lang="en-US" dirty="0" smtClean="0"/>
              <a:t>It </a:t>
            </a:r>
            <a:r>
              <a:rPr lang="en-US" dirty="0"/>
              <a:t>provides </a:t>
            </a:r>
            <a:r>
              <a:rPr lang="en-US" dirty="0" smtClean="0"/>
              <a:t>data, voice </a:t>
            </a:r>
            <a:r>
              <a:rPr lang="en-US" dirty="0"/>
              <a:t>and audio transmission with a transmission range of 10 meters. </a:t>
            </a:r>
            <a:endParaRPr lang="en-US" dirty="0" smtClean="0"/>
          </a:p>
          <a:p>
            <a:r>
              <a:rPr lang="en-US" dirty="0" smtClean="0"/>
              <a:t>Almost </a:t>
            </a:r>
            <a:r>
              <a:rPr lang="en-US" dirty="0"/>
              <a:t>all </a:t>
            </a:r>
            <a:r>
              <a:rPr lang="en-US" dirty="0" smtClean="0"/>
              <a:t>mobile phones</a:t>
            </a:r>
            <a:r>
              <a:rPr lang="en-US" dirty="0"/>
              <a:t>, tablets and laptops are equipped with Bluetooth devices. </a:t>
            </a:r>
            <a:endParaRPr lang="en-US" dirty="0" smtClean="0"/>
          </a:p>
          <a:p>
            <a:r>
              <a:rPr lang="en-US" dirty="0" smtClean="0"/>
              <a:t>They </a:t>
            </a:r>
            <a:r>
              <a:rPr lang="en-US" dirty="0"/>
              <a:t>can be connected </a:t>
            </a:r>
            <a:r>
              <a:rPr lang="en-US" dirty="0" smtClean="0"/>
              <a:t>to wireless </a:t>
            </a:r>
            <a:r>
              <a:rPr lang="en-US" dirty="0"/>
              <a:t>Bluetooth receivers, audio equipment, cameras etc.</a:t>
            </a:r>
          </a:p>
        </p:txBody>
      </p:sp>
    </p:spTree>
    <p:extLst>
      <p:ext uri="{BB962C8B-B14F-4D97-AF65-F5344CB8AC3E}">
        <p14:creationId xmlns:p14="http://schemas.microsoft.com/office/powerpoint/2010/main" val="2629935409"/>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Paging</a:t>
            </a:r>
            <a:br>
              <a:rPr lang="en-US" b="1" dirty="0" smtClean="0"/>
            </a:br>
            <a:endParaRPr lang="en-US" dirty="0"/>
          </a:p>
        </p:txBody>
      </p:sp>
      <p:sp>
        <p:nvSpPr>
          <p:cNvPr id="3" name="Content Placeholder 2"/>
          <p:cNvSpPr>
            <a:spLocks noGrp="1"/>
          </p:cNvSpPr>
          <p:nvPr>
            <p:ph idx="1"/>
          </p:nvPr>
        </p:nvSpPr>
        <p:spPr/>
        <p:txBody>
          <a:bodyPr>
            <a:normAutofit fontScale="92500" lnSpcReduction="10000"/>
          </a:bodyPr>
          <a:lstStyle/>
          <a:p>
            <a:r>
              <a:rPr lang="en-US" dirty="0"/>
              <a:t>A </a:t>
            </a:r>
            <a:r>
              <a:rPr lang="en-US" b="1" dirty="0"/>
              <a:t>pager</a:t>
            </a:r>
            <a:r>
              <a:rPr lang="en-US" dirty="0"/>
              <a:t> </a:t>
            </a:r>
            <a:r>
              <a:rPr lang="en-US" dirty="0" smtClean="0"/>
              <a:t>(also </a:t>
            </a:r>
            <a:r>
              <a:rPr lang="en-US" dirty="0"/>
              <a:t>known </a:t>
            </a:r>
            <a:r>
              <a:rPr lang="en-US" dirty="0" smtClean="0"/>
              <a:t>as a</a:t>
            </a:r>
            <a:r>
              <a:rPr lang="en-US" dirty="0"/>
              <a:t> </a:t>
            </a:r>
            <a:r>
              <a:rPr lang="en-US" b="1" dirty="0"/>
              <a:t>beeper</a:t>
            </a:r>
            <a:r>
              <a:rPr lang="en-US" dirty="0"/>
              <a:t>, </a:t>
            </a:r>
            <a:r>
              <a:rPr lang="en-US" b="1" dirty="0" err="1"/>
              <a:t>bleeper</a:t>
            </a:r>
            <a:r>
              <a:rPr lang="en-US" dirty="0"/>
              <a:t> or </a:t>
            </a:r>
            <a:r>
              <a:rPr lang="en-US" b="1" dirty="0"/>
              <a:t>pocket </a:t>
            </a:r>
            <a:r>
              <a:rPr lang="en-US" b="1" dirty="0" smtClean="0"/>
              <a:t>bell </a:t>
            </a:r>
            <a:r>
              <a:rPr lang="en-US" dirty="0" smtClean="0"/>
              <a:t>) </a:t>
            </a:r>
            <a:r>
              <a:rPr lang="en-US" dirty="0"/>
              <a:t>is a wireless telecommunications device that receives and displays alphanumeric or voice messages.</a:t>
            </a:r>
            <a:endParaRPr lang="en-US" dirty="0" smtClean="0"/>
          </a:p>
          <a:p>
            <a:r>
              <a:rPr lang="en-US" dirty="0" smtClean="0"/>
              <a:t>Although </a:t>
            </a:r>
            <a:r>
              <a:rPr lang="en-US" dirty="0"/>
              <a:t>it is considered an obsolete technology, paging was a major success before the </a:t>
            </a:r>
            <a:r>
              <a:rPr lang="en-US" dirty="0" smtClean="0"/>
              <a:t>wide spread </a:t>
            </a:r>
            <a:r>
              <a:rPr lang="en-US" dirty="0"/>
              <a:t>use of mobile phones. </a:t>
            </a:r>
            <a:endParaRPr lang="en-US" dirty="0" smtClean="0"/>
          </a:p>
          <a:p>
            <a:r>
              <a:rPr lang="en-US" dirty="0" smtClean="0"/>
              <a:t>Paging </a:t>
            </a:r>
            <a:r>
              <a:rPr lang="en-US" dirty="0"/>
              <a:t>provides information in the form of messages and it is </a:t>
            </a:r>
            <a:r>
              <a:rPr lang="en-US" dirty="0" smtClean="0"/>
              <a:t>a simplex </a:t>
            </a:r>
            <a:r>
              <a:rPr lang="en-US" dirty="0"/>
              <a:t>system i.e. the user can only receive the messages</a:t>
            </a:r>
            <a:r>
              <a:rPr lang="en-US" dirty="0" smtClean="0"/>
              <a:t>.</a:t>
            </a:r>
            <a:endParaRPr lang="en-US" dirty="0"/>
          </a:p>
        </p:txBody>
      </p:sp>
    </p:spTree>
    <p:extLst>
      <p:ext uri="{BB962C8B-B14F-4D97-AF65-F5344CB8AC3E}">
        <p14:creationId xmlns:p14="http://schemas.microsoft.com/office/powerpoint/2010/main" val="2883235551"/>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Pager example</a:t>
            </a:r>
            <a:endParaRPr lang="en-US" dirty="0"/>
          </a:p>
        </p:txBody>
      </p:sp>
      <p:pic>
        <p:nvPicPr>
          <p:cNvPr id="2050"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446704" y="2155520"/>
            <a:ext cx="4250591" cy="341532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283905992"/>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Wireless Local Area Network (WLAN)</a:t>
            </a:r>
            <a:br>
              <a:rPr lang="en-US" b="1" dirty="0" smtClean="0"/>
            </a:br>
            <a:endParaRPr lang="en-US" dirty="0"/>
          </a:p>
        </p:txBody>
      </p:sp>
      <p:sp>
        <p:nvSpPr>
          <p:cNvPr id="3" name="Content Placeholder 2"/>
          <p:cNvSpPr>
            <a:spLocks noGrp="1"/>
          </p:cNvSpPr>
          <p:nvPr>
            <p:ph idx="1"/>
          </p:nvPr>
        </p:nvSpPr>
        <p:spPr/>
        <p:txBody>
          <a:bodyPr/>
          <a:lstStyle/>
          <a:p>
            <a:r>
              <a:rPr lang="en-US" dirty="0" smtClean="0"/>
              <a:t>Wireless Local Area Network or WLAN (Wi-Fi) is an internet related wireless service. </a:t>
            </a:r>
          </a:p>
          <a:p>
            <a:r>
              <a:rPr lang="en-US" dirty="0" smtClean="0"/>
              <a:t>Using</a:t>
            </a:r>
            <a:r>
              <a:rPr lang="en-US" dirty="0"/>
              <a:t> </a:t>
            </a:r>
            <a:r>
              <a:rPr lang="en-US" dirty="0" smtClean="0"/>
              <a:t>WLAN, different devices like laptops and mobile phones can connect to an access point and access internet.</a:t>
            </a:r>
          </a:p>
          <a:p>
            <a:endParaRPr lang="en-US" dirty="0"/>
          </a:p>
        </p:txBody>
      </p:sp>
    </p:spTree>
    <p:extLst>
      <p:ext uri="{BB962C8B-B14F-4D97-AF65-F5344CB8AC3E}">
        <p14:creationId xmlns:p14="http://schemas.microsoft.com/office/powerpoint/2010/main" val="2185504228"/>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Infrared Communication</a:t>
            </a:r>
            <a:br>
              <a:rPr lang="en-US" b="1" dirty="0" smtClean="0"/>
            </a:br>
            <a:endParaRPr lang="en-US" dirty="0"/>
          </a:p>
        </p:txBody>
      </p:sp>
      <p:sp>
        <p:nvSpPr>
          <p:cNvPr id="3" name="Content Placeholder 2"/>
          <p:cNvSpPr>
            <a:spLocks noGrp="1"/>
          </p:cNvSpPr>
          <p:nvPr>
            <p:ph idx="1"/>
          </p:nvPr>
        </p:nvSpPr>
        <p:spPr/>
        <p:txBody>
          <a:bodyPr>
            <a:normAutofit/>
          </a:bodyPr>
          <a:lstStyle/>
          <a:p>
            <a:r>
              <a:rPr lang="en-US" dirty="0" smtClean="0"/>
              <a:t>Infrared </a:t>
            </a:r>
            <a:r>
              <a:rPr lang="en-US" dirty="0"/>
              <a:t>Communication is another commonly used wireless communication in our daily lives.</a:t>
            </a:r>
          </a:p>
          <a:p>
            <a:r>
              <a:rPr lang="en-US" dirty="0"/>
              <a:t>It uses the infrared waves of the Electromagnetic (EM) spectrum. </a:t>
            </a:r>
            <a:endParaRPr lang="en-US" dirty="0" smtClean="0"/>
          </a:p>
          <a:p>
            <a:r>
              <a:rPr lang="en-US" dirty="0" smtClean="0"/>
              <a:t>Infrared </a:t>
            </a:r>
            <a:r>
              <a:rPr lang="en-US" dirty="0"/>
              <a:t>(IR) </a:t>
            </a:r>
            <a:r>
              <a:rPr lang="en-US" dirty="0" smtClean="0"/>
              <a:t>Communication is </a:t>
            </a:r>
            <a:r>
              <a:rPr lang="en-US" dirty="0"/>
              <a:t>used in remote controls of Televisions, cars, audio equipment etc.</a:t>
            </a:r>
          </a:p>
        </p:txBody>
      </p:sp>
    </p:spTree>
    <p:extLst>
      <p:ext uri="{BB962C8B-B14F-4D97-AF65-F5344CB8AC3E}">
        <p14:creationId xmlns:p14="http://schemas.microsoft.com/office/powerpoint/2010/main" val="1326260788"/>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Activity</a:t>
            </a:r>
            <a:endParaRPr lang="en-GB" dirty="0"/>
          </a:p>
        </p:txBody>
      </p:sp>
      <p:sp>
        <p:nvSpPr>
          <p:cNvPr id="3" name="Content Placeholder 2"/>
          <p:cNvSpPr>
            <a:spLocks noGrp="1"/>
          </p:cNvSpPr>
          <p:nvPr>
            <p:ph idx="1"/>
          </p:nvPr>
        </p:nvSpPr>
        <p:spPr/>
        <p:txBody>
          <a:bodyPr/>
          <a:lstStyle/>
          <a:p>
            <a:pPr marL="342900" lvl="1" indent="-342900">
              <a:buFont typeface="Arial" panose="020B0604020202020204" pitchFamily="34" charset="0"/>
              <a:buChar char="•"/>
            </a:pPr>
            <a:r>
              <a:rPr lang="en-US" dirty="0" smtClean="0"/>
              <a:t>Explore the Radio </a:t>
            </a:r>
            <a:r>
              <a:rPr lang="en-US" dirty="0"/>
              <a:t>Frequency Identification (RFID</a:t>
            </a:r>
            <a:r>
              <a:rPr lang="en-US" dirty="0" smtClean="0"/>
              <a:t>) wireless communication media guided by:</a:t>
            </a:r>
          </a:p>
          <a:p>
            <a:pPr marL="742950" lvl="2" indent="-342900"/>
            <a:r>
              <a:rPr lang="en-US" dirty="0" smtClean="0"/>
              <a:t>Components of RFID</a:t>
            </a:r>
          </a:p>
          <a:p>
            <a:pPr marL="742950" lvl="2" indent="-342900"/>
            <a:r>
              <a:rPr lang="en-US" dirty="0" smtClean="0"/>
              <a:t>Application areas of RFID</a:t>
            </a:r>
          </a:p>
          <a:p>
            <a:pPr marL="742950" lvl="2" indent="-342900"/>
            <a:r>
              <a:rPr lang="en-US" dirty="0" smtClean="0"/>
              <a:t>Advantages and limitations</a:t>
            </a:r>
          </a:p>
          <a:p>
            <a:pPr marL="742950" lvl="2" indent="-342900"/>
            <a:r>
              <a:rPr lang="en-US" dirty="0" smtClean="0"/>
              <a:t>Compare it to other wireless communication systems (Bluetooth, WIFI, </a:t>
            </a:r>
            <a:r>
              <a:rPr lang="en-US" dirty="0" err="1" smtClean="0"/>
              <a:t>etc</a:t>
            </a:r>
            <a:r>
              <a:rPr lang="en-US" dirty="0" smtClean="0"/>
              <a:t>)</a:t>
            </a:r>
            <a:endParaRPr lang="en-US" dirty="0"/>
          </a:p>
          <a:p>
            <a:endParaRPr lang="en-GB" dirty="0"/>
          </a:p>
        </p:txBody>
      </p:sp>
    </p:spTree>
    <p:extLst>
      <p:ext uri="{BB962C8B-B14F-4D97-AF65-F5344CB8AC3E}">
        <p14:creationId xmlns:p14="http://schemas.microsoft.com/office/powerpoint/2010/main" val="3341669510"/>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CISCO Packet Tracer</a:t>
            </a:r>
            <a:endParaRPr lang="en-GB" dirty="0"/>
          </a:p>
        </p:txBody>
      </p:sp>
      <p:sp>
        <p:nvSpPr>
          <p:cNvPr id="3" name="Content Placeholder 2"/>
          <p:cNvSpPr>
            <a:spLocks noGrp="1"/>
          </p:cNvSpPr>
          <p:nvPr>
            <p:ph idx="1"/>
          </p:nvPr>
        </p:nvSpPr>
        <p:spPr/>
        <p:txBody>
          <a:bodyPr>
            <a:normAutofit fontScale="92500" lnSpcReduction="10000"/>
          </a:bodyPr>
          <a:lstStyle/>
          <a:p>
            <a:r>
              <a:rPr lang="en-GB" dirty="0"/>
              <a:t>Cisco Packet Tracer is a </a:t>
            </a:r>
            <a:r>
              <a:rPr lang="en-GB" b="1" dirty="0"/>
              <a:t>network simulation </a:t>
            </a:r>
            <a:r>
              <a:rPr lang="en-GB" b="1" dirty="0" smtClean="0"/>
              <a:t>tool</a:t>
            </a:r>
            <a:r>
              <a:rPr lang="en-GB" b="1" baseline="30000" dirty="0"/>
              <a:t> </a:t>
            </a:r>
            <a:r>
              <a:rPr lang="en-GB" dirty="0" smtClean="0"/>
              <a:t>that </a:t>
            </a:r>
            <a:r>
              <a:rPr lang="en-GB" dirty="0"/>
              <a:t>allows users to create, configure, and troubleshoot network topologies and imitate modern computer </a:t>
            </a:r>
            <a:r>
              <a:rPr lang="en-GB" dirty="0" smtClean="0"/>
              <a:t>networks</a:t>
            </a:r>
            <a:r>
              <a:rPr lang="en-GB" dirty="0"/>
              <a:t> </a:t>
            </a:r>
            <a:endParaRPr lang="en-GB" dirty="0" smtClean="0"/>
          </a:p>
          <a:p>
            <a:r>
              <a:rPr lang="en-GB" dirty="0" smtClean="0"/>
              <a:t>The </a:t>
            </a:r>
            <a:r>
              <a:rPr lang="en-GB" dirty="0"/>
              <a:t>tool is designed by Cisco Systems and is used to prepare for Cisco exams and improve network </a:t>
            </a:r>
            <a:r>
              <a:rPr lang="en-GB" dirty="0" smtClean="0"/>
              <a:t>knowledge</a:t>
            </a:r>
          </a:p>
          <a:p>
            <a:r>
              <a:rPr lang="en-GB" dirty="0" smtClean="0"/>
              <a:t>The </a:t>
            </a:r>
            <a:r>
              <a:rPr lang="en-GB" dirty="0"/>
              <a:t>tool provides a simulated command line interface and a visual representation of the network</a:t>
            </a:r>
          </a:p>
        </p:txBody>
      </p:sp>
    </p:spTree>
    <p:extLst>
      <p:ext uri="{BB962C8B-B14F-4D97-AF65-F5344CB8AC3E}">
        <p14:creationId xmlns:p14="http://schemas.microsoft.com/office/powerpoint/2010/main" val="4042784139"/>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Questions</a:t>
            </a:r>
            <a:endParaRPr lang="en-US" dirty="0"/>
          </a:p>
        </p:txBody>
      </p:sp>
      <p:pic>
        <p:nvPicPr>
          <p:cNvPr id="1026"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819400" y="2438400"/>
            <a:ext cx="3428999" cy="338693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397912298"/>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1573</TotalTime>
  <Words>2467</Words>
  <Application>Microsoft Office PowerPoint</Application>
  <PresentationFormat>On-screen Show (4:3)</PresentationFormat>
  <Paragraphs>189</Paragraphs>
  <Slides>42</Slides>
  <Notes>7</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42</vt:i4>
      </vt:variant>
    </vt:vector>
  </HeadingPairs>
  <TitlesOfParts>
    <vt:vector size="46" baseType="lpstr">
      <vt:lpstr>Arial</vt:lpstr>
      <vt:lpstr>Calibri</vt:lpstr>
      <vt:lpstr>Wingdings</vt:lpstr>
      <vt:lpstr>Office Theme</vt:lpstr>
      <vt:lpstr>Computer networks</vt:lpstr>
      <vt:lpstr>Introduction </vt:lpstr>
      <vt:lpstr>What is telecommunication</vt:lpstr>
      <vt:lpstr>Cont’d</vt:lpstr>
      <vt:lpstr>Components of Telecommunication</vt:lpstr>
      <vt:lpstr>Components of Telecommunication cont’d</vt:lpstr>
      <vt:lpstr>Components of Telecommunication cont’d</vt:lpstr>
      <vt:lpstr>Components of Telecommunication cont’d</vt:lpstr>
      <vt:lpstr>Functions of Telecommunication</vt:lpstr>
      <vt:lpstr>Functions of Telecommunication cont’d</vt:lpstr>
      <vt:lpstr>Types of Communication Medium Used in Networks</vt:lpstr>
      <vt:lpstr>Types of Communication Media Used in telecommunication</vt:lpstr>
      <vt:lpstr>Wired media</vt:lpstr>
      <vt:lpstr>Twisted Pair cables </vt:lpstr>
      <vt:lpstr>Unshielded twisted Pair cables </vt:lpstr>
      <vt:lpstr>Coaxial Cable </vt:lpstr>
      <vt:lpstr>Coaxial Cable cont’d</vt:lpstr>
      <vt:lpstr>Uses of Coaxial Cable</vt:lpstr>
      <vt:lpstr>Fiber Optic </vt:lpstr>
      <vt:lpstr>Optical fiber media implementation issues include: </vt:lpstr>
      <vt:lpstr>Fiber optic</vt:lpstr>
      <vt:lpstr>Power lines </vt:lpstr>
      <vt:lpstr>Power lines cont’d</vt:lpstr>
      <vt:lpstr>Wireless Media intro </vt:lpstr>
      <vt:lpstr>What is Electromagnetic Wave?</vt:lpstr>
      <vt:lpstr>Wireless media</vt:lpstr>
      <vt:lpstr>Wireless media</vt:lpstr>
      <vt:lpstr>Wireless media cont’d</vt:lpstr>
      <vt:lpstr>Wireless media cont’d</vt:lpstr>
      <vt:lpstr>Television and Radio Broadcasting </vt:lpstr>
      <vt:lpstr>Satellite Communication </vt:lpstr>
      <vt:lpstr>Radio Detection and Ranging (RADAR)</vt:lpstr>
      <vt:lpstr>Mobile Telephone Communication System </vt:lpstr>
      <vt:lpstr>Global Positioning System (GPS) </vt:lpstr>
      <vt:lpstr>Bluetooth </vt:lpstr>
      <vt:lpstr>Paging </vt:lpstr>
      <vt:lpstr>Pager example</vt:lpstr>
      <vt:lpstr>Wireless Local Area Network (WLAN) </vt:lpstr>
      <vt:lpstr>Infrared Communication </vt:lpstr>
      <vt:lpstr>Activity</vt:lpstr>
      <vt:lpstr>CISCO Packet Tracer</vt:lpstr>
      <vt:lpstr>Questions</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Computer networks</dc:title>
  <dc:creator>Kho</dc:creator>
  <cp:lastModifiedBy>Gerko</cp:lastModifiedBy>
  <cp:revision>82</cp:revision>
  <dcterms:created xsi:type="dcterms:W3CDTF">2020-03-09T05:32:30Z</dcterms:created>
  <dcterms:modified xsi:type="dcterms:W3CDTF">2026-06-11T08:38:34Z</dcterms:modified>
</cp:coreProperties>
</file>