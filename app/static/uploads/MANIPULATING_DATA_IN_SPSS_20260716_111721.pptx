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78" r:id="rId4"/>
    <p:sldId id="270" r:id="rId5"/>
    <p:sldId id="271" r:id="rId6"/>
    <p:sldId id="272" r:id="rId7"/>
    <p:sldId id="273" r:id="rId8"/>
    <p:sldId id="274" r:id="rId9"/>
    <p:sldId id="279" r:id="rId10"/>
    <p:sldId id="275" r:id="rId11"/>
    <p:sldId id="276" r:id="rId12"/>
    <p:sldId id="277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80" r:id="rId25"/>
    <p:sldId id="285" r:id="rId26"/>
    <p:sldId id="281" r:id="rId27"/>
    <p:sldId id="282" r:id="rId28"/>
    <p:sldId id="283" r:id="rId29"/>
    <p:sldId id="284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3056" autoAdjust="0"/>
  </p:normalViewPr>
  <p:slideViewPr>
    <p:cSldViewPr>
      <p:cViewPr varScale="1">
        <p:scale>
          <a:sx n="49" d="100"/>
          <a:sy n="49" d="100"/>
        </p:scale>
        <p:origin x="1760" y="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9E80E0-40C7-4009-8A10-1ABC8EC80D85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C32B1D-889B-4584-9265-C3B55D2C05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227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data list records=1/1 id 1-2 sex 3 courses 4.</a:t>
            </a:r>
          </a:p>
          <a:p>
            <a:r>
              <a:rPr lang="en-US" dirty="0" smtClean="0"/>
              <a:t>This tells SPSS how to read the raw data.</a:t>
            </a:r>
          </a:p>
          <a:p>
            <a:r>
              <a:rPr lang="en-US" b="1" dirty="0" smtClean="0"/>
              <a:t>data list</a:t>
            </a:r>
            <a:r>
              <a:rPr lang="en-US" dirty="0" smtClean="0"/>
              <a:t> → Command to read data from typed (“inline”) entries.</a:t>
            </a:r>
          </a:p>
          <a:p>
            <a:r>
              <a:rPr lang="en-US" b="1" dirty="0" smtClean="0"/>
              <a:t>records=1/1</a:t>
            </a:r>
            <a:r>
              <a:rPr lang="en-US" dirty="0" smtClean="0"/>
              <a:t> → Each case (row) has </a:t>
            </a:r>
            <a:r>
              <a:rPr lang="en-US" b="1" dirty="0" smtClean="0"/>
              <a:t>one record</a:t>
            </a:r>
            <a:r>
              <a:rPr lang="en-US" dirty="0" smtClean="0"/>
              <a:t> and SPSS should read from </a:t>
            </a:r>
            <a:r>
              <a:rPr lang="en-US" b="1" dirty="0" smtClean="0"/>
              <a:t>line 1 only</a:t>
            </a:r>
            <a:r>
              <a:rPr lang="en-US" dirty="0" smtClean="0"/>
              <a:t> of each case.</a:t>
            </a:r>
          </a:p>
          <a:p>
            <a:r>
              <a:rPr lang="en-US" b="1" dirty="0" smtClean="0"/>
              <a:t>id 1-2</a:t>
            </a:r>
            <a:r>
              <a:rPr lang="en-US" dirty="0" smtClean="0"/>
              <a:t> → Variable </a:t>
            </a:r>
            <a:r>
              <a:rPr lang="en-US" b="1" dirty="0" smtClean="0"/>
              <a:t>id</a:t>
            </a:r>
            <a:r>
              <a:rPr lang="en-US" dirty="0" smtClean="0"/>
              <a:t> occupies columns </a:t>
            </a:r>
            <a:r>
              <a:rPr lang="en-US" b="1" dirty="0" smtClean="0"/>
              <a:t>1 to 2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sex 3</a:t>
            </a:r>
            <a:r>
              <a:rPr lang="en-US" dirty="0" smtClean="0"/>
              <a:t> → Variable </a:t>
            </a:r>
            <a:r>
              <a:rPr lang="en-US" b="1" dirty="0" smtClean="0"/>
              <a:t>sex</a:t>
            </a:r>
            <a:r>
              <a:rPr lang="en-US" dirty="0" smtClean="0"/>
              <a:t> is in column </a:t>
            </a:r>
            <a:r>
              <a:rPr lang="en-US" b="1" dirty="0" smtClean="0"/>
              <a:t>3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courses 4</a:t>
            </a:r>
            <a:r>
              <a:rPr lang="en-US" dirty="0" smtClean="0"/>
              <a:t> → Variable </a:t>
            </a:r>
            <a:r>
              <a:rPr lang="en-US" b="1" dirty="0" smtClean="0"/>
              <a:t>courses</a:t>
            </a:r>
            <a:r>
              <a:rPr lang="en-US" dirty="0" smtClean="0"/>
              <a:t> is in column </a:t>
            </a:r>
            <a:r>
              <a:rPr lang="en-US" b="1" dirty="0" smtClean="0"/>
              <a:t>4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b="1" dirty="0" smtClean="0"/>
              <a:t>begin data.</a:t>
            </a:r>
          </a:p>
          <a:p>
            <a:r>
              <a:rPr lang="en-US" dirty="0" smtClean="0"/>
              <a:t>This tells SPSS:</a:t>
            </a:r>
            <a:br>
              <a:rPr lang="en-US" dirty="0" smtClean="0"/>
            </a:br>
            <a:r>
              <a:rPr lang="en-US" dirty="0" smtClean="0"/>
              <a:t>➡️ </a:t>
            </a:r>
            <a:r>
              <a:rPr lang="en-US" i="1" dirty="0" smtClean="0"/>
              <a:t>“The next lines are the raw data.”</a:t>
            </a:r>
          </a:p>
          <a:p>
            <a:endParaRPr lang="en-US" i="1" dirty="0" smtClean="0"/>
          </a:p>
          <a:p>
            <a:r>
              <a:rPr lang="en-US" b="1" dirty="0" smtClean="0"/>
              <a:t>end data.</a:t>
            </a:r>
          </a:p>
          <a:p>
            <a:r>
              <a:rPr lang="en-US" dirty="0" smtClean="0"/>
              <a:t>This tells SPSS that the raw data block is finished.</a:t>
            </a:r>
          </a:p>
          <a:p>
            <a:endParaRPr lang="en-US" b="1" dirty="0" smtClean="0"/>
          </a:p>
          <a:p>
            <a:r>
              <a:rPr lang="en-US" b="1" dirty="0" smtClean="0"/>
              <a:t>frequencies variables=all.</a:t>
            </a:r>
          </a:p>
          <a:p>
            <a:r>
              <a:rPr lang="en-US" dirty="0" smtClean="0"/>
              <a:t>This command produces </a:t>
            </a:r>
            <a:r>
              <a:rPr lang="en-US" b="1" dirty="0" smtClean="0"/>
              <a:t>frequency tables</a:t>
            </a:r>
            <a:r>
              <a:rPr lang="en-US" dirty="0" smtClean="0"/>
              <a:t> for </a:t>
            </a:r>
            <a:r>
              <a:rPr lang="en-US" i="1" dirty="0" smtClean="0"/>
              <a:t>all variables</a:t>
            </a:r>
            <a:r>
              <a:rPr lang="en-US" dirty="0" smtClean="0"/>
              <a:t>:</a:t>
            </a:r>
          </a:p>
          <a:p>
            <a:r>
              <a:rPr lang="en-US" dirty="0" smtClean="0"/>
              <a:t>id</a:t>
            </a:r>
          </a:p>
          <a:p>
            <a:r>
              <a:rPr lang="en-US" dirty="0" smtClean="0"/>
              <a:t>sex</a:t>
            </a:r>
          </a:p>
          <a:p>
            <a:r>
              <a:rPr lang="en-US" dirty="0" smtClean="0"/>
              <a:t>courses</a:t>
            </a:r>
          </a:p>
          <a:p>
            <a:endParaRPr lang="en-US" b="1" dirty="0" smtClean="0"/>
          </a:p>
          <a:p>
            <a:r>
              <a:rPr lang="en-US" b="1" dirty="0" smtClean="0"/>
              <a:t>execute.</a:t>
            </a:r>
          </a:p>
          <a:p>
            <a:r>
              <a:rPr lang="en-US" dirty="0" smtClean="0"/>
              <a:t>Forces SPSS to run the commands immediately.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C32B1D-889B-4584-9265-C3B55D2C05D5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8546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Recode in SPSS</a:t>
            </a:r>
            <a:r>
              <a:rPr lang="en-US" dirty="0" smtClean="0"/>
              <a:t> is a command used to </a:t>
            </a:r>
            <a:r>
              <a:rPr lang="en-US" b="1" dirty="0" smtClean="0"/>
              <a:t>change the values of a variable: </a:t>
            </a:r>
          </a:p>
          <a:p>
            <a:r>
              <a:rPr lang="en-US" b="1" dirty="0" smtClean="0"/>
              <a:t>✔ Into the same variable (overwrite values)</a:t>
            </a:r>
          </a:p>
          <a:p>
            <a:r>
              <a:rPr lang="en-US" dirty="0" smtClean="0"/>
              <a:t>or</a:t>
            </a:r>
          </a:p>
          <a:p>
            <a:r>
              <a:rPr lang="en-US" b="1" dirty="0" smtClean="0"/>
              <a:t>✔ Into a new variable (keep original and create a recoded version)</a:t>
            </a:r>
          </a:p>
          <a:p>
            <a:endParaRPr lang="en-US" dirty="0" smtClean="0"/>
          </a:p>
          <a:p>
            <a:r>
              <a:rPr lang="en-US" dirty="0" smtClean="0"/>
              <a:t>It is one of the most important data-cleaning and data-transformation tools in SPSS.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C32B1D-889B-4584-9265-C3B55D2C05D5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3557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C32B1D-889B-4584-9265-C3B55D2C05D5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33022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Visual Binning in SPSS</a:t>
            </a:r>
            <a:r>
              <a:rPr lang="en-US" dirty="0" smtClean="0"/>
              <a:t> is a point-and-click tool used to </a:t>
            </a:r>
            <a:r>
              <a:rPr lang="en-US" b="1" dirty="0" smtClean="0"/>
              <a:t>convert a continuous variable into categories (bins)</a:t>
            </a:r>
            <a:r>
              <a:rPr lang="en-US" dirty="0" smtClean="0"/>
              <a:t> using a graphical interface.</a:t>
            </a:r>
          </a:p>
          <a:p>
            <a:r>
              <a:rPr lang="en-US" dirty="0" smtClean="0"/>
              <a:t>It is essentially a visual way to create grouped variables—much easier than writing a RECODE command manually.</a:t>
            </a:r>
          </a:p>
          <a:p>
            <a:endParaRPr lang="en-US" dirty="0" smtClean="0"/>
          </a:p>
          <a:p>
            <a:r>
              <a:rPr lang="en-US" dirty="0" smtClean="0"/>
              <a:t>You use it to turn continuous values into categories, such as:</a:t>
            </a:r>
          </a:p>
          <a:p>
            <a:r>
              <a:rPr lang="en-US" dirty="0" smtClean="0"/>
              <a:t>Ages → age groups (e.g., 0–17, 18–25, 26–40…)</a:t>
            </a:r>
          </a:p>
          <a:p>
            <a:r>
              <a:rPr lang="en-US" dirty="0" smtClean="0"/>
              <a:t>Income → low, medium, high</a:t>
            </a:r>
          </a:p>
          <a:p>
            <a:r>
              <a:rPr lang="en-US" dirty="0" smtClean="0"/>
              <a:t>Scores → pass/fail or percentile groups</a:t>
            </a:r>
          </a:p>
          <a:p>
            <a:r>
              <a:rPr lang="en-US" dirty="0" smtClean="0"/>
              <a:t>Continuous ranges → buckets or intervals</a:t>
            </a:r>
          </a:p>
          <a:p>
            <a:r>
              <a:rPr lang="en-US" dirty="0" smtClean="0"/>
              <a:t>It is often used in descriptive statistics, regression preparation, and data simplification.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C32B1D-889B-4584-9265-C3B55D2C05D5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15826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COMPUTE in SPSS</a:t>
            </a:r>
            <a:r>
              <a:rPr lang="en-US" dirty="0" smtClean="0"/>
              <a:t> is a command used to create </a:t>
            </a:r>
            <a:r>
              <a:rPr lang="en-US" b="1" dirty="0" smtClean="0"/>
              <a:t>new variables</a:t>
            </a:r>
            <a:r>
              <a:rPr lang="en-US" dirty="0" smtClean="0"/>
              <a:t> or modify existing variables using </a:t>
            </a:r>
            <a:r>
              <a:rPr lang="en-US" b="1" dirty="0" smtClean="0"/>
              <a:t>formulas, arithmetic, logic, or functions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It is the main tool in SPSS for performing calculations.</a:t>
            </a:r>
          </a:p>
          <a:p>
            <a:endParaRPr lang="en-US" dirty="0" smtClean="0"/>
          </a:p>
          <a:p>
            <a:r>
              <a:rPr lang="en-US" dirty="0" smtClean="0"/>
              <a:t>You use </a:t>
            </a:r>
            <a:r>
              <a:rPr lang="en-US" b="1" dirty="0" smtClean="0"/>
              <a:t>COMPUTE</a:t>
            </a:r>
            <a:r>
              <a:rPr lang="en-US" dirty="0" smtClean="0"/>
              <a:t> when you want to:</a:t>
            </a:r>
          </a:p>
          <a:p>
            <a:r>
              <a:rPr lang="en-US" dirty="0" smtClean="0"/>
              <a:t>Create a new variable based on math</a:t>
            </a:r>
            <a:br>
              <a:rPr lang="en-US" dirty="0" smtClean="0"/>
            </a:br>
            <a:r>
              <a:rPr lang="en-US" dirty="0" smtClean="0"/>
              <a:t>(e.g., total = score1 + score2)</a:t>
            </a:r>
          </a:p>
          <a:p>
            <a:r>
              <a:rPr lang="en-US" dirty="0" smtClean="0"/>
              <a:t>Create ratios</a:t>
            </a:r>
            <a:br>
              <a:rPr lang="en-US" dirty="0" smtClean="0"/>
            </a:br>
            <a:r>
              <a:rPr lang="en-US" dirty="0" smtClean="0"/>
              <a:t>(e.g., </a:t>
            </a:r>
            <a:r>
              <a:rPr lang="en-US" dirty="0" err="1" smtClean="0"/>
              <a:t>bmi</a:t>
            </a:r>
            <a:r>
              <a:rPr lang="en-US" dirty="0" smtClean="0"/>
              <a:t> = weight / (height**2))</a:t>
            </a:r>
          </a:p>
          <a:p>
            <a:r>
              <a:rPr lang="en-US" dirty="0" smtClean="0"/>
              <a:t>Transform variables</a:t>
            </a:r>
            <a:br>
              <a:rPr lang="en-US" dirty="0" smtClean="0"/>
            </a:br>
            <a:r>
              <a:rPr lang="en-US" dirty="0" smtClean="0"/>
              <a:t>(log, square root, standardize, etc.)</a:t>
            </a:r>
          </a:p>
          <a:p>
            <a:r>
              <a:rPr lang="en-US" dirty="0" smtClean="0"/>
              <a:t>Create conditional variables</a:t>
            </a:r>
          </a:p>
          <a:p>
            <a:r>
              <a:rPr lang="en-US" dirty="0" smtClean="0"/>
              <a:t>Create dummy variables</a:t>
            </a:r>
          </a:p>
          <a:p>
            <a:r>
              <a:rPr lang="en-US" dirty="0" smtClean="0"/>
              <a:t>Modify existing values</a:t>
            </a:r>
          </a:p>
          <a:p>
            <a:r>
              <a:rPr lang="en-US" dirty="0" smtClean="0"/>
              <a:t>Anything involving calculation or formulas → </a:t>
            </a:r>
            <a:r>
              <a:rPr lang="en-US" b="1" dirty="0" smtClean="0"/>
              <a:t>use COMPUTE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C32B1D-889B-4584-9265-C3B55D2C05D5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49437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File Splitting</a:t>
            </a:r>
            <a:r>
              <a:rPr lang="en-US" dirty="0" smtClean="0"/>
              <a:t> is a way to </a:t>
            </a:r>
            <a:r>
              <a:rPr lang="en-US" b="1" dirty="0" smtClean="0"/>
              <a:t>temporarily organize your dataset by grouping cases</a:t>
            </a:r>
            <a:r>
              <a:rPr lang="en-US" dirty="0" smtClean="0"/>
              <a:t> based on the values of one or more variables.</a:t>
            </a:r>
          </a:p>
          <a:p>
            <a:endParaRPr lang="en-US" smtClean="0"/>
          </a:p>
          <a:p>
            <a:r>
              <a:rPr lang="en-US" smtClean="0"/>
              <a:t>It </a:t>
            </a:r>
            <a:r>
              <a:rPr lang="en-US" dirty="0" smtClean="0"/>
              <a:t>allows SPSS to:</a:t>
            </a:r>
          </a:p>
          <a:p>
            <a:r>
              <a:rPr lang="en-US" b="1" dirty="0" smtClean="0"/>
              <a:t>Run analyses separately on different groups (subsets) of cases</a:t>
            </a:r>
            <a:endParaRPr lang="en-US" dirty="0" smtClean="0"/>
          </a:p>
          <a:p>
            <a:r>
              <a:rPr lang="en-US" b="1" dirty="0" smtClean="0"/>
              <a:t>Automatically split output by the groups</a:t>
            </a:r>
            <a:endParaRPr lang="en-US" dirty="0" smtClean="0"/>
          </a:p>
          <a:p>
            <a:r>
              <a:rPr lang="en-US" dirty="0" smtClean="0"/>
              <a:t>Without actually creating separate files, it </a:t>
            </a:r>
            <a:r>
              <a:rPr lang="en-US" i="1" dirty="0" smtClean="0"/>
              <a:t>splits the file in memory</a:t>
            </a:r>
            <a:r>
              <a:rPr lang="en-US" dirty="0" smtClean="0"/>
              <a:t> based on your grouping variables.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C32B1D-889B-4584-9265-C3B55D2C05D5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5220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50A37-98E0-4E4A-98D8-419B427F43D9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484CA-CC53-4E33-9987-84D559CEBA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3168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50A37-98E0-4E4A-98D8-419B427F43D9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484CA-CC53-4E33-9987-84D559CEBA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166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50A37-98E0-4E4A-98D8-419B427F43D9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484CA-CC53-4E33-9987-84D559CEBA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3011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50A37-98E0-4E4A-98D8-419B427F43D9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484CA-CC53-4E33-9987-84D559CEBA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8837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50A37-98E0-4E4A-98D8-419B427F43D9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484CA-CC53-4E33-9987-84D559CEBA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3437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50A37-98E0-4E4A-98D8-419B427F43D9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484CA-CC53-4E33-9987-84D559CEBA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1982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50A37-98E0-4E4A-98D8-419B427F43D9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484CA-CC53-4E33-9987-84D559CEBA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6037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50A37-98E0-4E4A-98D8-419B427F43D9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484CA-CC53-4E33-9987-84D559CEBA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7376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50A37-98E0-4E4A-98D8-419B427F43D9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484CA-CC53-4E33-9987-84D559CEBA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4133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50A37-98E0-4E4A-98D8-419B427F43D9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484CA-CC53-4E33-9987-84D559CEBA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8924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50A37-98E0-4E4A-98D8-419B427F43D9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484CA-CC53-4E33-9987-84D559CEBA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2731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B50A37-98E0-4E4A-98D8-419B427F43D9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9484CA-CC53-4E33-9987-84D559CEBA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9744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MANIPULATING/TRANSFORMING DATA IN SPSS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STC224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4673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Introduction (</a:t>
            </a:r>
            <a:r>
              <a:rPr lang="en-US" dirty="0"/>
              <a:t>SPSS windows</a:t>
            </a:r>
            <a:r>
              <a:rPr lang="en-GB" dirty="0" smtClean="0"/>
              <a:t>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>
                <a:latin typeface="Calibri (Body)"/>
              </a:rPr>
              <a:t>The Start </a:t>
            </a:r>
            <a:r>
              <a:rPr lang="en-US" b="1" dirty="0" smtClean="0">
                <a:latin typeface="Calibri (Body)"/>
              </a:rPr>
              <a:t>Screen</a:t>
            </a:r>
            <a:endParaRPr lang="en-GB" b="1" dirty="0">
              <a:latin typeface="Calibri (Body)"/>
            </a:endParaRPr>
          </a:p>
          <a:p>
            <a:r>
              <a:rPr lang="en-US" b="1" dirty="0" smtClean="0"/>
              <a:t>The Data Editor Window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Where you create the template (enter variables) and enter the data</a:t>
            </a:r>
          </a:p>
          <a:p>
            <a:r>
              <a:rPr lang="en-US" b="1" dirty="0" smtClean="0"/>
              <a:t>The Output Viewer Window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Where you view and edit output produced by a data analysis command e.g. charts, tables etc.</a:t>
            </a:r>
          </a:p>
          <a:p>
            <a:r>
              <a:rPr lang="en-US" b="1" dirty="0" smtClean="0"/>
              <a:t>The Syntax Editor Window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Where you enter and run custom command syntax (SPSS language)</a:t>
            </a:r>
          </a:p>
          <a:p>
            <a:r>
              <a:rPr lang="en-US" b="1" dirty="0" smtClean="0"/>
              <a:t>The Script Editor Window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Where you type scripts (in BASIC and Python) that extend the functionality of IBM SPSS Statistics e.g. automating some features like opening and saving data files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9769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Introduction cont’d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Measure – The levels of measurement of the variable</a:t>
            </a:r>
          </a:p>
          <a:p>
            <a:pPr lvl="2"/>
            <a:r>
              <a:rPr lang="en-US" b="1" dirty="0"/>
              <a:t>Nominal : </a:t>
            </a:r>
            <a:r>
              <a:rPr lang="en-US" dirty="0"/>
              <a:t>There is no intrinsic ranking to the categories e.g. Sex, religious affiliation</a:t>
            </a:r>
          </a:p>
          <a:p>
            <a:pPr lvl="2"/>
            <a:r>
              <a:rPr lang="en-US" b="1" dirty="0"/>
              <a:t>Ordinal : </a:t>
            </a:r>
            <a:r>
              <a:rPr lang="en-US" dirty="0"/>
              <a:t>There is intrinsic order to the categories e.g. level of satisfaction (satisfied, highly satisfied) or confidence (agree, strongly agree)</a:t>
            </a:r>
          </a:p>
          <a:p>
            <a:pPr lvl="2"/>
            <a:r>
              <a:rPr lang="en-US" b="1" dirty="0"/>
              <a:t>Scale : </a:t>
            </a:r>
            <a:r>
              <a:rPr lang="en-US" dirty="0"/>
              <a:t>Continuous values with meaningful metric e.g. salary, age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53443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Creating files in the Syntax Editor Window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An alternate way to create data files is to use the </a:t>
            </a:r>
            <a:r>
              <a:rPr lang="en-GB" b="1" dirty="0"/>
              <a:t>SPSS  Syntax Editor Window</a:t>
            </a:r>
            <a:r>
              <a:rPr lang="en-GB" dirty="0"/>
              <a:t>.  </a:t>
            </a:r>
            <a:endParaRPr lang="en-GB" dirty="0" smtClean="0"/>
          </a:p>
          <a:p>
            <a:r>
              <a:rPr lang="en-GB" dirty="0" smtClean="0"/>
              <a:t>The Syntax  </a:t>
            </a:r>
            <a:r>
              <a:rPr lang="en-GB" dirty="0"/>
              <a:t>Editor  works  much  like  a  word  processor,  such  as  Windows  Notepad  or  a </a:t>
            </a:r>
            <a:r>
              <a:rPr lang="en-GB" dirty="0" smtClean="0"/>
              <a:t>scaled-down  </a:t>
            </a:r>
            <a:r>
              <a:rPr lang="en-GB" dirty="0"/>
              <a:t>version  of  Microsoft  Word.  </a:t>
            </a:r>
            <a:endParaRPr lang="en-GB" dirty="0" smtClean="0"/>
          </a:p>
          <a:p>
            <a:r>
              <a:rPr lang="en-GB" dirty="0" smtClean="0"/>
              <a:t>That  </a:t>
            </a:r>
            <a:r>
              <a:rPr lang="en-GB" dirty="0"/>
              <a:t>is,  you  can  just  type  the  data  into  this </a:t>
            </a:r>
            <a:r>
              <a:rPr lang="en-GB" dirty="0" smtClean="0"/>
              <a:t> window </a:t>
            </a:r>
            <a:r>
              <a:rPr lang="en-GB" dirty="0"/>
              <a:t>as you would in creating any text file.</a:t>
            </a:r>
          </a:p>
        </p:txBody>
      </p:sp>
    </p:spTree>
    <p:extLst>
      <p:ext uri="{BB962C8B-B14F-4D97-AF65-F5344CB8AC3E}">
        <p14:creationId xmlns:p14="http://schemas.microsoft.com/office/powerpoint/2010/main" val="2509907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Accessing the Syntax </a:t>
            </a:r>
            <a:r>
              <a:rPr lang="en-GB" dirty="0" smtClean="0"/>
              <a:t>Editor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 smtClean="0"/>
              <a:t>Select  </a:t>
            </a:r>
            <a:r>
              <a:rPr lang="en-GB" sz="2800" b="1" dirty="0"/>
              <a:t>File</a:t>
            </a:r>
            <a:r>
              <a:rPr lang="en-GB" sz="2800" dirty="0"/>
              <a:t>,  </a:t>
            </a:r>
            <a:r>
              <a:rPr lang="en-GB" sz="2800" b="1" dirty="0"/>
              <a:t>New</a:t>
            </a:r>
            <a:r>
              <a:rPr lang="en-GB" sz="2800" dirty="0"/>
              <a:t>,  </a:t>
            </a:r>
            <a:r>
              <a:rPr lang="en-GB" sz="2800" b="1" dirty="0"/>
              <a:t>Syntax</a:t>
            </a:r>
            <a:r>
              <a:rPr lang="en-GB" sz="2800" dirty="0"/>
              <a:t>  from  the  drop-down  menu  at  the  top  of  the  Data  Editor </a:t>
            </a:r>
            <a:r>
              <a:rPr lang="en-GB" sz="2800" dirty="0" smtClean="0"/>
              <a:t>window as shown below</a:t>
            </a:r>
          </a:p>
          <a:p>
            <a:r>
              <a:rPr lang="en-GB" sz="2800" dirty="0"/>
              <a:t>A new window will </a:t>
            </a:r>
            <a:r>
              <a:rPr lang="en-GB" sz="2800" dirty="0" smtClean="0"/>
              <a:t>open</a:t>
            </a:r>
          </a:p>
          <a:p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3501008"/>
            <a:ext cx="8572500" cy="3384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6623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en-GB" dirty="0"/>
              <a:t>Syntax </a:t>
            </a:r>
            <a:r>
              <a:rPr lang="en-GB" dirty="0" smtClean="0"/>
              <a:t>Editor cont’d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832648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Note that in addition to typing text/data directly into the Syntax Editor window, you can </a:t>
            </a:r>
            <a:r>
              <a:rPr lang="en-GB" dirty="0" smtClean="0"/>
              <a:t>"</a:t>
            </a:r>
            <a:r>
              <a:rPr lang="en-GB" dirty="0"/>
              <a:t>cut-and-paste" data into this editor. </a:t>
            </a:r>
            <a:endParaRPr lang="en-GB" dirty="0" smtClean="0"/>
          </a:p>
          <a:p>
            <a:r>
              <a:rPr lang="en-GB" dirty="0" smtClean="0"/>
              <a:t>That </a:t>
            </a:r>
            <a:r>
              <a:rPr lang="en-GB" dirty="0"/>
              <a:t>is, just as you can cut-and-paste text from one </a:t>
            </a:r>
            <a:r>
              <a:rPr lang="en-GB" dirty="0" smtClean="0"/>
              <a:t>Word </a:t>
            </a:r>
            <a:r>
              <a:rPr lang="en-GB" dirty="0"/>
              <a:t>file into another Word file, you can also cut-and-paste data into the Syntax Editor. </a:t>
            </a:r>
          </a:p>
          <a:p>
            <a:r>
              <a:rPr lang="en-GB" dirty="0"/>
              <a:t>Thus,  data  files  that  were  created  in  a  text  editor  such  as  Windows  Notepad  (called </a:t>
            </a:r>
            <a:r>
              <a:rPr lang="en-GB" dirty="0" smtClean="0"/>
              <a:t>ASCI </a:t>
            </a:r>
            <a:r>
              <a:rPr lang="en-GB" dirty="0"/>
              <a:t>II files) can be cut-and-pasted into this Syntax Editor. </a:t>
            </a:r>
            <a:endParaRPr lang="en-GB" dirty="0" smtClean="0"/>
          </a:p>
          <a:p>
            <a:r>
              <a:rPr lang="en-GB" dirty="0" smtClean="0"/>
              <a:t>However</a:t>
            </a:r>
            <a:r>
              <a:rPr lang="en-GB" dirty="0"/>
              <a:t>, as mentioned, we </a:t>
            </a:r>
            <a:r>
              <a:rPr lang="en-GB" dirty="0" smtClean="0"/>
              <a:t>will </a:t>
            </a:r>
            <a:r>
              <a:rPr lang="en-GB" dirty="0"/>
              <a:t>create this Syntax Editor file from scratch by typing the text and data directly into this editor. </a:t>
            </a:r>
          </a:p>
        </p:txBody>
      </p:sp>
    </p:spTree>
    <p:extLst>
      <p:ext uri="{BB962C8B-B14F-4D97-AF65-F5344CB8AC3E}">
        <p14:creationId xmlns:p14="http://schemas.microsoft.com/office/powerpoint/2010/main" val="1189422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Entering Commands &amp; Data in the Syntax </a:t>
            </a:r>
            <a:r>
              <a:rPr lang="en-GB" dirty="0" smtClean="0"/>
              <a:t>File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We </a:t>
            </a:r>
            <a:r>
              <a:rPr lang="en-GB" dirty="0"/>
              <a:t>will be working with the Data Editor </a:t>
            </a:r>
            <a:r>
              <a:rPr lang="en-GB" dirty="0" smtClean="0"/>
              <a:t>window, </a:t>
            </a:r>
            <a:r>
              <a:rPr lang="en-GB" dirty="0"/>
              <a:t>so we will not discuss the </a:t>
            </a:r>
            <a:r>
              <a:rPr lang="en-GB" dirty="0" smtClean="0"/>
              <a:t>Syntax </a:t>
            </a:r>
            <a:r>
              <a:rPr lang="en-GB" dirty="0"/>
              <a:t>Editor in detail here. </a:t>
            </a:r>
            <a:endParaRPr lang="en-GB" dirty="0" smtClean="0"/>
          </a:p>
          <a:p>
            <a:r>
              <a:rPr lang="en-GB" dirty="0" smtClean="0"/>
              <a:t>For </a:t>
            </a:r>
            <a:r>
              <a:rPr lang="en-GB" dirty="0"/>
              <a:t>now, just type the file exactly as it appears in in </a:t>
            </a:r>
            <a:r>
              <a:rPr lang="en-GB" dirty="0" smtClean="0"/>
              <a:t>Figure below </a:t>
            </a:r>
            <a:r>
              <a:rPr lang="en-GB" dirty="0"/>
              <a:t>into your blank Syntax Editor.</a:t>
            </a:r>
          </a:p>
        </p:txBody>
      </p:sp>
    </p:spTree>
    <p:extLst>
      <p:ext uri="{BB962C8B-B14F-4D97-AF65-F5344CB8AC3E}">
        <p14:creationId xmlns:p14="http://schemas.microsoft.com/office/powerpoint/2010/main" val="4101190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Entering Commands &amp; Data in the Syntax </a:t>
            </a:r>
            <a:r>
              <a:rPr lang="en-GB" dirty="0" smtClean="0"/>
              <a:t>File cont’d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390650"/>
            <a:ext cx="8698358" cy="52067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5211057"/>
            <a:ext cx="3457575" cy="162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61731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 fontScale="90000"/>
          </a:bodyPr>
          <a:lstStyle/>
          <a:p>
            <a:r>
              <a:rPr lang="en-GB" dirty="0"/>
              <a:t>Entering Commands &amp; Data in the Syntax File cont’d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4006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/>
              <a:t>data list records=1/1 id 1-2 sex 3 courses 4.</a:t>
            </a:r>
          </a:p>
          <a:p>
            <a:pPr marL="400050" lvl="1" indent="0">
              <a:buNone/>
            </a:pPr>
            <a:r>
              <a:rPr lang="en-GB" dirty="0"/>
              <a:t>begin data.</a:t>
            </a:r>
          </a:p>
          <a:p>
            <a:pPr marL="800100" lvl="2" indent="0">
              <a:buNone/>
            </a:pPr>
            <a:r>
              <a:rPr lang="en-GB" dirty="0"/>
              <a:t>0112</a:t>
            </a:r>
          </a:p>
          <a:p>
            <a:pPr marL="800100" lvl="2" indent="0">
              <a:buNone/>
            </a:pPr>
            <a:r>
              <a:rPr lang="en-GB" dirty="0"/>
              <a:t>0211</a:t>
            </a:r>
          </a:p>
          <a:p>
            <a:pPr marL="800100" lvl="2" indent="0">
              <a:buNone/>
            </a:pPr>
            <a:r>
              <a:rPr lang="en-GB" dirty="0"/>
              <a:t>0311</a:t>
            </a:r>
          </a:p>
          <a:p>
            <a:pPr marL="800100" lvl="2" indent="0">
              <a:buNone/>
            </a:pPr>
            <a:r>
              <a:rPr lang="en-GB" dirty="0"/>
              <a:t>0412</a:t>
            </a:r>
          </a:p>
          <a:p>
            <a:pPr marL="800100" lvl="2" indent="0">
              <a:buNone/>
            </a:pPr>
            <a:r>
              <a:rPr lang="en-GB" dirty="0"/>
              <a:t>0513</a:t>
            </a:r>
          </a:p>
          <a:p>
            <a:pPr marL="800100" lvl="2" indent="0">
              <a:buNone/>
            </a:pPr>
            <a:r>
              <a:rPr lang="en-GB" dirty="0"/>
              <a:t>0623</a:t>
            </a:r>
          </a:p>
          <a:p>
            <a:pPr marL="800100" lvl="2" indent="0">
              <a:buNone/>
            </a:pPr>
            <a:r>
              <a:rPr lang="en-GB" dirty="0"/>
              <a:t>0723</a:t>
            </a:r>
          </a:p>
          <a:p>
            <a:pPr marL="800100" lvl="2" indent="0">
              <a:buNone/>
            </a:pPr>
            <a:r>
              <a:rPr lang="en-GB" dirty="0"/>
              <a:t>0822</a:t>
            </a:r>
          </a:p>
          <a:p>
            <a:pPr marL="800100" lvl="2" indent="0">
              <a:buNone/>
            </a:pPr>
            <a:r>
              <a:rPr lang="en-GB" dirty="0"/>
              <a:t>0924</a:t>
            </a:r>
          </a:p>
          <a:p>
            <a:pPr marL="800100" lvl="2" indent="0">
              <a:buNone/>
            </a:pPr>
            <a:r>
              <a:rPr lang="en-GB" dirty="0"/>
              <a:t>1023</a:t>
            </a:r>
          </a:p>
          <a:p>
            <a:pPr marL="400050" lvl="1" indent="0">
              <a:buNone/>
            </a:pPr>
            <a:r>
              <a:rPr lang="en-GB" dirty="0"/>
              <a:t>end data.</a:t>
            </a:r>
          </a:p>
          <a:p>
            <a:pPr marL="0" indent="0">
              <a:buNone/>
            </a:pPr>
            <a:r>
              <a:rPr lang="en-GB" dirty="0"/>
              <a:t>frequencies variables=all.</a:t>
            </a:r>
          </a:p>
          <a:p>
            <a:pPr marL="0" indent="0">
              <a:buNone/>
            </a:pPr>
            <a:r>
              <a:rPr lang="en-GB" dirty="0"/>
              <a:t>execute.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436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Entering Commands &amp; Data in the Syntax File cont’d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The first line of this file consists of syntax code, or SPSS commands, called the  </a:t>
            </a:r>
            <a:r>
              <a:rPr lang="en-GB" b="1" dirty="0"/>
              <a:t>DATA </a:t>
            </a:r>
            <a:r>
              <a:rPr lang="en-GB" b="1" dirty="0" smtClean="0"/>
              <a:t> LIST </a:t>
            </a:r>
            <a:r>
              <a:rPr lang="en-GB" dirty="0"/>
              <a:t>statement. </a:t>
            </a:r>
            <a:endParaRPr lang="en-GB" dirty="0" smtClean="0"/>
          </a:p>
          <a:p>
            <a:r>
              <a:rPr lang="en-GB" dirty="0" smtClean="0"/>
              <a:t>This </a:t>
            </a:r>
            <a:r>
              <a:rPr lang="en-GB" dirty="0"/>
              <a:t>instructs SPSS how to read the data in the file. </a:t>
            </a:r>
            <a:endParaRPr lang="en-GB" dirty="0" smtClean="0"/>
          </a:p>
          <a:p>
            <a:r>
              <a:rPr lang="en-GB" dirty="0" smtClean="0"/>
              <a:t>Note </a:t>
            </a:r>
            <a:r>
              <a:rPr lang="en-GB" dirty="0"/>
              <a:t>that the three </a:t>
            </a:r>
            <a:r>
              <a:rPr lang="en-GB" dirty="0" smtClean="0"/>
              <a:t> variables </a:t>
            </a:r>
            <a:r>
              <a:rPr lang="en-GB" b="1" dirty="0"/>
              <a:t>(ID, Sex, and Courses) </a:t>
            </a:r>
            <a:r>
              <a:rPr lang="en-GB" dirty="0"/>
              <a:t>are defined on this line.</a:t>
            </a:r>
          </a:p>
          <a:p>
            <a:r>
              <a:rPr lang="en-GB" dirty="0"/>
              <a:t>The actual lines of data (scores) are always sandwiched between a </a:t>
            </a:r>
            <a:r>
              <a:rPr lang="en-GB" b="1" dirty="0"/>
              <a:t>Begin Data</a:t>
            </a:r>
            <a:r>
              <a:rPr lang="en-GB" dirty="0"/>
              <a:t> and an </a:t>
            </a:r>
            <a:r>
              <a:rPr lang="en-GB" dirty="0" smtClean="0"/>
              <a:t> </a:t>
            </a:r>
            <a:r>
              <a:rPr lang="en-GB" b="1" dirty="0" smtClean="0"/>
              <a:t>End </a:t>
            </a:r>
            <a:r>
              <a:rPr lang="en-GB" b="1" dirty="0"/>
              <a:t>Data</a:t>
            </a:r>
            <a:r>
              <a:rPr lang="en-GB" dirty="0"/>
              <a:t> syntax commands. </a:t>
            </a:r>
            <a:endParaRPr lang="en-GB" dirty="0" smtClean="0"/>
          </a:p>
          <a:p>
            <a:r>
              <a:rPr lang="en-GB" dirty="0" smtClean="0"/>
              <a:t>That </a:t>
            </a:r>
            <a:r>
              <a:rPr lang="en-GB" dirty="0"/>
              <a:t>is, each line of data (or row) consists of each student’s </a:t>
            </a:r>
            <a:r>
              <a:rPr lang="en-GB" dirty="0" smtClean="0"/>
              <a:t>ID </a:t>
            </a:r>
            <a:r>
              <a:rPr lang="en-GB" dirty="0"/>
              <a:t>number, code for sex, and number of psychology courses</a:t>
            </a:r>
            <a:r>
              <a:rPr lang="en-GB" dirty="0" smtClean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8875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Entering Commands &amp; Data in the Syntax File cont’d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The last two lines instruct SPSS to generate  frequency tables  of each variable. </a:t>
            </a:r>
            <a:endParaRPr lang="en-GB" dirty="0" smtClean="0"/>
          </a:p>
          <a:p>
            <a:r>
              <a:rPr lang="en-GB" dirty="0" smtClean="0"/>
              <a:t>Note </a:t>
            </a:r>
            <a:r>
              <a:rPr lang="en-GB" dirty="0"/>
              <a:t>that except for the lines listing the data,  the  lines  containing  syntax  code  must  all  end  with a  period.  </a:t>
            </a:r>
            <a:endParaRPr lang="en-GB" dirty="0" smtClean="0"/>
          </a:p>
          <a:p>
            <a:r>
              <a:rPr lang="en-GB" dirty="0" smtClean="0"/>
              <a:t>After </a:t>
            </a:r>
            <a:r>
              <a:rPr lang="en-GB" dirty="0"/>
              <a:t>you have created your file, you will be ready to save it as a syntax file</a:t>
            </a:r>
            <a:r>
              <a:rPr lang="en-GB" dirty="0" smtClean="0"/>
              <a:t>.</a:t>
            </a:r>
          </a:p>
          <a:p>
            <a:r>
              <a:rPr lang="en-GB" b="1" dirty="0"/>
              <a:t>Saving Files in the Syntax Editor: The .SPS File </a:t>
            </a:r>
            <a:r>
              <a:rPr lang="en-GB" b="1" dirty="0" smtClean="0"/>
              <a:t>extension is used</a:t>
            </a:r>
            <a:endParaRPr lang="en-GB" b="1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24220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Generating an output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Let’s go ahead and run the Frequencies procedure specified in this Syntax file so that </a:t>
            </a:r>
            <a:r>
              <a:rPr lang="en-GB" dirty="0" smtClean="0"/>
              <a:t> we </a:t>
            </a:r>
            <a:r>
              <a:rPr lang="en-GB" dirty="0"/>
              <a:t>can generate an output file to view. </a:t>
            </a:r>
            <a:endParaRPr lang="en-GB" dirty="0" smtClean="0"/>
          </a:p>
          <a:p>
            <a:r>
              <a:rPr lang="en-GB" dirty="0" smtClean="0"/>
              <a:t>To </a:t>
            </a:r>
            <a:r>
              <a:rPr lang="en-GB" dirty="0"/>
              <a:t>generate this output, we need to instruct SPSS to run the procedure specified in the </a:t>
            </a:r>
            <a:r>
              <a:rPr lang="en-GB" dirty="0" smtClean="0"/>
              <a:t>Frequencies </a:t>
            </a:r>
            <a:r>
              <a:rPr lang="en-GB" dirty="0"/>
              <a:t>syntax line at the end of the file. </a:t>
            </a:r>
            <a:endParaRPr lang="en-GB" dirty="0" smtClean="0"/>
          </a:p>
          <a:p>
            <a:r>
              <a:rPr lang="en-GB" dirty="0" smtClean="0"/>
              <a:t>To </a:t>
            </a:r>
            <a:r>
              <a:rPr lang="en-GB" dirty="0"/>
              <a:t>do this, select </a:t>
            </a:r>
            <a:r>
              <a:rPr lang="en-GB" b="1" dirty="0"/>
              <a:t>Run</a:t>
            </a:r>
            <a:r>
              <a:rPr lang="en-GB" dirty="0"/>
              <a:t>, </a:t>
            </a:r>
            <a:r>
              <a:rPr lang="en-GB" b="1" dirty="0"/>
              <a:t>All</a:t>
            </a:r>
            <a:r>
              <a:rPr lang="en-GB" dirty="0"/>
              <a:t> from the dropdown menu at the top of this Syntax Editor Window</a:t>
            </a:r>
          </a:p>
        </p:txBody>
      </p:sp>
    </p:spTree>
    <p:extLst>
      <p:ext uri="{BB962C8B-B14F-4D97-AF65-F5344CB8AC3E}">
        <p14:creationId xmlns:p14="http://schemas.microsoft.com/office/powerpoint/2010/main" val="2590724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MANIPULATING/TRANSFORMING  DATA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 smtClean="0"/>
              <a:t>Recoding</a:t>
            </a:r>
          </a:p>
          <a:p>
            <a:r>
              <a:rPr lang="en-US" sz="3600" dirty="0" smtClean="0"/>
              <a:t>Binning</a:t>
            </a:r>
          </a:p>
          <a:p>
            <a:r>
              <a:rPr lang="en-US" sz="3600" dirty="0" smtClean="0"/>
              <a:t>Computing</a:t>
            </a:r>
          </a:p>
          <a:p>
            <a:r>
              <a:rPr lang="en-US" sz="3600" dirty="0" smtClean="0"/>
              <a:t>Selecting (Excluding)</a:t>
            </a:r>
          </a:p>
          <a:p>
            <a:r>
              <a:rPr lang="en-US" sz="3600" dirty="0" smtClean="0"/>
              <a:t>Splitting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2021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Recoding (Transforming) </a:t>
            </a:r>
            <a:r>
              <a:rPr lang="en-GB" dirty="0" smtClean="0"/>
              <a:t>Variables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Sometimes you will want to transform a variable by combining some of its categories or values together. </a:t>
            </a:r>
            <a:endParaRPr lang="en-GB" dirty="0" smtClean="0"/>
          </a:p>
          <a:p>
            <a:r>
              <a:rPr lang="en-GB" dirty="0" smtClean="0"/>
              <a:t>For </a:t>
            </a:r>
            <a:r>
              <a:rPr lang="en-GB" dirty="0"/>
              <a:t>example, you may want to change a continuous variable into an ordinal categorical variable, or you may want to merge the categories of a nominal variable. </a:t>
            </a:r>
            <a:endParaRPr lang="en-GB" dirty="0" smtClean="0"/>
          </a:p>
          <a:p>
            <a:r>
              <a:rPr lang="en-GB" dirty="0" smtClean="0"/>
              <a:t>In </a:t>
            </a:r>
            <a:r>
              <a:rPr lang="en-GB" dirty="0"/>
              <a:t>SPSS, this type of transform is called </a:t>
            </a:r>
            <a:r>
              <a:rPr lang="en-GB" b="1" i="1" dirty="0"/>
              <a:t>recoding</a:t>
            </a:r>
            <a:r>
              <a:rPr lang="en-GB" dirty="0"/>
              <a:t>.</a:t>
            </a:r>
          </a:p>
          <a:p>
            <a:r>
              <a:rPr lang="en-GB" dirty="0"/>
              <a:t>In SPSS, there are three basic options for recoding variables: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GB" dirty="0"/>
              <a:t>Recode into Different Variables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GB" dirty="0"/>
              <a:t>Recode into Same Variables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GB" dirty="0"/>
              <a:t>DO IF syntax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1510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Recoding (Transforming) Variables cont’d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Each of these options allows you to re-categorize an existing variable. </a:t>
            </a:r>
            <a:endParaRPr lang="en-GB" dirty="0" smtClean="0"/>
          </a:p>
          <a:p>
            <a:r>
              <a:rPr lang="en-GB" b="1" dirty="0" smtClean="0"/>
              <a:t>Recode </a:t>
            </a:r>
            <a:r>
              <a:rPr lang="en-GB" b="1" dirty="0"/>
              <a:t>into Different Variables </a:t>
            </a:r>
            <a:r>
              <a:rPr lang="en-GB" dirty="0"/>
              <a:t>and </a:t>
            </a:r>
            <a:r>
              <a:rPr lang="en-GB" b="1" dirty="0"/>
              <a:t>DO IF </a:t>
            </a:r>
            <a:r>
              <a:rPr lang="en-GB" dirty="0"/>
              <a:t>syntax create a new variable without modifying the original variable, while </a:t>
            </a:r>
            <a:r>
              <a:rPr lang="en-GB" b="1" dirty="0"/>
              <a:t>Recode into Same Variables </a:t>
            </a:r>
            <a:r>
              <a:rPr lang="en-GB" dirty="0"/>
              <a:t>will permanently overwrite the original variable. </a:t>
            </a:r>
            <a:endParaRPr lang="en-GB" dirty="0" smtClean="0"/>
          </a:p>
          <a:p>
            <a:r>
              <a:rPr lang="en-GB" dirty="0" smtClean="0"/>
              <a:t>In </a:t>
            </a:r>
            <a:r>
              <a:rPr lang="en-GB" dirty="0"/>
              <a:t>general, it is best to recode a variable into a </a:t>
            </a:r>
            <a:r>
              <a:rPr lang="en-GB" b="1" i="1" dirty="0"/>
              <a:t>different</a:t>
            </a:r>
            <a:r>
              <a:rPr lang="en-GB" dirty="0"/>
              <a:t> variable so that you never alter the original data and can easily access the original data if you need to make different changes later on</a:t>
            </a:r>
          </a:p>
        </p:txBody>
      </p:sp>
    </p:spTree>
    <p:extLst>
      <p:ext uri="{BB962C8B-B14F-4D97-AF65-F5344CB8AC3E}">
        <p14:creationId xmlns:p14="http://schemas.microsoft.com/office/powerpoint/2010/main" val="1969482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Recode into Different Variables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39341"/>
            <a:ext cx="8229600" cy="4525963"/>
          </a:xfrm>
        </p:spPr>
        <p:txBody>
          <a:bodyPr/>
          <a:lstStyle/>
          <a:p>
            <a:r>
              <a:rPr lang="en-GB" dirty="0" smtClean="0"/>
              <a:t>Recoding </a:t>
            </a:r>
            <a:r>
              <a:rPr lang="en-GB" dirty="0"/>
              <a:t>into a different variable transforms an original variable into a new variable. </a:t>
            </a:r>
            <a:endParaRPr lang="en-GB" dirty="0" smtClean="0"/>
          </a:p>
          <a:p>
            <a:r>
              <a:rPr lang="en-GB" dirty="0" smtClean="0"/>
              <a:t>That </a:t>
            </a:r>
            <a:r>
              <a:rPr lang="en-GB" dirty="0"/>
              <a:t>is, the changes do not overwrite the original variable; they are instead applied to a copy of the original variable under a new name</a:t>
            </a:r>
            <a:r>
              <a:rPr lang="en-GB" dirty="0" smtClean="0"/>
              <a:t>. </a:t>
            </a:r>
            <a:endParaRPr lang="en-GB" dirty="0"/>
          </a:p>
          <a:p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4221088"/>
            <a:ext cx="5040560" cy="25649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4167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Class ranks for high schools and colleges are </a:t>
            </a:r>
            <a:r>
              <a:rPr lang="en-GB" dirty="0" smtClean="0"/>
              <a:t>nicknames </a:t>
            </a:r>
            <a:r>
              <a:rPr lang="en-GB" dirty="0"/>
              <a:t>for what year of study the person is completing: </a:t>
            </a:r>
            <a:r>
              <a:rPr lang="en-GB" b="1" dirty="0"/>
              <a:t>"freshman" (first-year), "sophomore" (second-year), "junior" (third-year), "senior" (fourth-year)</a:t>
            </a:r>
            <a:r>
              <a:rPr lang="en-GB" dirty="0"/>
              <a:t>. </a:t>
            </a:r>
            <a:endParaRPr lang="en-GB" dirty="0" smtClean="0"/>
          </a:p>
          <a:p>
            <a:r>
              <a:rPr lang="en-GB" dirty="0" smtClean="0"/>
              <a:t>Class </a:t>
            </a:r>
            <a:r>
              <a:rPr lang="en-GB" dirty="0"/>
              <a:t>ranks are also sometimes divided into </a:t>
            </a:r>
            <a:r>
              <a:rPr lang="en-GB" b="1" dirty="0"/>
              <a:t>"underclassmen" (first or second-year students) and "upperclassmen" (third or fourth-year students)</a:t>
            </a:r>
            <a:r>
              <a:rPr lang="en-GB" dirty="0"/>
              <a:t>.</a:t>
            </a:r>
          </a:p>
          <a:p>
            <a:r>
              <a:rPr lang="en-GB" dirty="0"/>
              <a:t>In the sample dataset, the variable Rank has the categories Freshman (1), Sophomore (2), Junior (3), and Senior (4). </a:t>
            </a:r>
            <a:endParaRPr lang="en-GB" dirty="0" smtClean="0"/>
          </a:p>
          <a:p>
            <a:r>
              <a:rPr lang="en-GB" dirty="0" smtClean="0"/>
              <a:t>Let's </a:t>
            </a:r>
            <a:r>
              <a:rPr lang="en-GB" dirty="0"/>
              <a:t>use Recode into Different Variables to merge the categories and create a new indicator variable called </a:t>
            </a:r>
            <a:r>
              <a:rPr lang="en-GB" b="1" i="1" dirty="0" err="1"/>
              <a:t>RankIndicator</a:t>
            </a:r>
            <a:r>
              <a:rPr lang="en-GB" dirty="0"/>
              <a:t> with the levels Underclassman (1) and Upperclassman (2).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941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346050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Solution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548680"/>
            <a:ext cx="8928992" cy="6192688"/>
          </a:xfrm>
        </p:spPr>
        <p:txBody>
          <a:bodyPr>
            <a:normAutofit fontScale="62500" lnSpcReduction="20000"/>
          </a:bodyPr>
          <a:lstStyle/>
          <a:p>
            <a:r>
              <a:rPr lang="en-GB" dirty="0" smtClean="0"/>
              <a:t>Using </a:t>
            </a:r>
            <a:r>
              <a:rPr lang="en-GB" dirty="0"/>
              <a:t>the Dialog Windows</a:t>
            </a:r>
          </a:p>
          <a:p>
            <a:r>
              <a:rPr lang="en-GB" dirty="0"/>
              <a:t>This method tells SPSS exactly how to map each old category onto a new category.</a:t>
            </a:r>
          </a:p>
          <a:p>
            <a:r>
              <a:rPr lang="en-GB" dirty="0"/>
              <a:t>Click </a:t>
            </a:r>
            <a:r>
              <a:rPr lang="en-GB" b="1" dirty="0"/>
              <a:t>Transform &gt; Recode into Different Variables</a:t>
            </a:r>
            <a:r>
              <a:rPr lang="en-GB" dirty="0"/>
              <a:t>.</a:t>
            </a:r>
          </a:p>
          <a:p>
            <a:r>
              <a:rPr lang="en-GB" dirty="0"/>
              <a:t>Double-click on variable Rank to move it to the Input Variable -&gt; Output Variable box. In the Output Variable area, give the new variable the name </a:t>
            </a:r>
            <a:r>
              <a:rPr lang="en-GB" b="1" i="1" dirty="0" err="1"/>
              <a:t>RankIndicator</a:t>
            </a:r>
            <a:r>
              <a:rPr lang="en-GB" i="1" dirty="0"/>
              <a:t>.</a:t>
            </a:r>
            <a:r>
              <a:rPr lang="en-GB" dirty="0"/>
              <a:t> Define the label as ​</a:t>
            </a:r>
            <a:r>
              <a:rPr lang="en-GB" i="1" dirty="0"/>
              <a:t>Class Rank (binary)</a:t>
            </a:r>
            <a:r>
              <a:rPr lang="en-GB" dirty="0"/>
              <a:t>, ​and then click </a:t>
            </a:r>
            <a:r>
              <a:rPr lang="en-GB" b="1" dirty="0"/>
              <a:t>Change</a:t>
            </a:r>
            <a:r>
              <a:rPr lang="en-GB" dirty="0"/>
              <a:t>.</a:t>
            </a:r>
          </a:p>
          <a:p>
            <a:r>
              <a:rPr lang="en-GB" dirty="0"/>
              <a:t>Click the </a:t>
            </a:r>
            <a:r>
              <a:rPr lang="en-GB" b="1" dirty="0"/>
              <a:t>Old and New Values </a:t>
            </a:r>
            <a:r>
              <a:rPr lang="en-GB" dirty="0"/>
              <a:t>button.</a:t>
            </a:r>
          </a:p>
          <a:p>
            <a:pPr lvl="1"/>
            <a:r>
              <a:rPr lang="en-GB" dirty="0"/>
              <a:t>Handle missing values first: In the Old Value area click </a:t>
            </a:r>
            <a:r>
              <a:rPr lang="en-GB" b="1" dirty="0"/>
              <a:t>System-missing</a:t>
            </a:r>
            <a:r>
              <a:rPr lang="en-GB" dirty="0"/>
              <a:t>; in the New Value area click </a:t>
            </a:r>
            <a:r>
              <a:rPr lang="en-GB" b="1" dirty="0"/>
              <a:t>System-missing</a:t>
            </a:r>
            <a:r>
              <a:rPr lang="en-GB" dirty="0"/>
              <a:t>. Then click </a:t>
            </a:r>
            <a:r>
              <a:rPr lang="en-GB" b="1" dirty="0"/>
              <a:t>Add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Define the underclassmen group (1):</a:t>
            </a:r>
          </a:p>
          <a:p>
            <a:pPr lvl="2"/>
            <a:r>
              <a:rPr lang="en-GB" dirty="0"/>
              <a:t>In the Old Value area click </a:t>
            </a:r>
            <a:r>
              <a:rPr lang="en-GB" b="1" dirty="0"/>
              <a:t>Value</a:t>
            </a:r>
            <a:r>
              <a:rPr lang="en-GB" dirty="0"/>
              <a:t> and enter </a:t>
            </a:r>
            <a:r>
              <a:rPr lang="en-GB" b="1" dirty="0"/>
              <a:t>1</a:t>
            </a:r>
            <a:r>
              <a:rPr lang="en-GB" dirty="0"/>
              <a:t>; in the New Value area click </a:t>
            </a:r>
            <a:r>
              <a:rPr lang="en-GB" b="1" dirty="0"/>
              <a:t>Value </a:t>
            </a:r>
            <a:r>
              <a:rPr lang="en-GB" dirty="0"/>
              <a:t>and enter </a:t>
            </a:r>
            <a:r>
              <a:rPr lang="en-GB" b="1" dirty="0"/>
              <a:t>1</a:t>
            </a:r>
            <a:r>
              <a:rPr lang="en-GB" dirty="0"/>
              <a:t>. Then click </a:t>
            </a:r>
            <a:r>
              <a:rPr lang="en-GB" b="1" dirty="0"/>
              <a:t>Add</a:t>
            </a:r>
            <a:r>
              <a:rPr lang="en-GB" dirty="0"/>
              <a:t>.</a:t>
            </a:r>
          </a:p>
          <a:p>
            <a:pPr lvl="2"/>
            <a:r>
              <a:rPr lang="en-GB" dirty="0"/>
              <a:t>In the Old Value area click </a:t>
            </a:r>
            <a:r>
              <a:rPr lang="en-GB" b="1" dirty="0"/>
              <a:t>Value</a:t>
            </a:r>
            <a:r>
              <a:rPr lang="en-GB" dirty="0"/>
              <a:t> and enter </a:t>
            </a:r>
            <a:r>
              <a:rPr lang="en-GB" b="1" dirty="0"/>
              <a:t>2</a:t>
            </a:r>
            <a:r>
              <a:rPr lang="en-GB" dirty="0"/>
              <a:t>; in the New Value area click </a:t>
            </a:r>
            <a:r>
              <a:rPr lang="en-GB" b="1" dirty="0"/>
              <a:t>Value </a:t>
            </a:r>
            <a:r>
              <a:rPr lang="en-GB" dirty="0"/>
              <a:t>and enter </a:t>
            </a:r>
            <a:r>
              <a:rPr lang="en-GB" b="1" dirty="0"/>
              <a:t>1</a:t>
            </a:r>
            <a:r>
              <a:rPr lang="en-GB" dirty="0"/>
              <a:t>. Then click </a:t>
            </a:r>
            <a:r>
              <a:rPr lang="en-GB" b="1" dirty="0"/>
              <a:t>Add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Define the upperclassmen group (2):</a:t>
            </a:r>
          </a:p>
          <a:p>
            <a:pPr lvl="2"/>
            <a:r>
              <a:rPr lang="en-GB" dirty="0"/>
              <a:t>In the Old Value area click </a:t>
            </a:r>
            <a:r>
              <a:rPr lang="en-GB" b="1" dirty="0"/>
              <a:t>Value</a:t>
            </a:r>
            <a:r>
              <a:rPr lang="en-GB" dirty="0"/>
              <a:t> and enter </a:t>
            </a:r>
            <a:r>
              <a:rPr lang="en-GB" b="1" dirty="0"/>
              <a:t>3</a:t>
            </a:r>
            <a:r>
              <a:rPr lang="en-GB" dirty="0"/>
              <a:t>; in the New Value area click </a:t>
            </a:r>
            <a:r>
              <a:rPr lang="en-GB" b="1" dirty="0"/>
              <a:t>Value </a:t>
            </a:r>
            <a:r>
              <a:rPr lang="en-GB" dirty="0"/>
              <a:t>and enter </a:t>
            </a:r>
            <a:r>
              <a:rPr lang="en-GB" b="1" dirty="0"/>
              <a:t>2</a:t>
            </a:r>
            <a:r>
              <a:rPr lang="en-GB" dirty="0"/>
              <a:t>. Then click </a:t>
            </a:r>
            <a:r>
              <a:rPr lang="en-GB" b="1" dirty="0"/>
              <a:t>Add</a:t>
            </a:r>
            <a:r>
              <a:rPr lang="en-GB" dirty="0"/>
              <a:t>.</a:t>
            </a:r>
          </a:p>
          <a:p>
            <a:pPr lvl="2"/>
            <a:r>
              <a:rPr lang="en-GB" dirty="0"/>
              <a:t>In the Old Value area click </a:t>
            </a:r>
            <a:r>
              <a:rPr lang="en-GB" b="1" dirty="0"/>
              <a:t>Value</a:t>
            </a:r>
            <a:r>
              <a:rPr lang="en-GB" dirty="0"/>
              <a:t> and enter </a:t>
            </a:r>
            <a:r>
              <a:rPr lang="en-GB" b="1" dirty="0"/>
              <a:t>4</a:t>
            </a:r>
            <a:r>
              <a:rPr lang="en-GB" dirty="0"/>
              <a:t>; in the New Value area click </a:t>
            </a:r>
            <a:r>
              <a:rPr lang="en-GB" b="1" dirty="0"/>
              <a:t>Value </a:t>
            </a:r>
            <a:r>
              <a:rPr lang="en-GB" dirty="0"/>
              <a:t>and enter </a:t>
            </a:r>
            <a:r>
              <a:rPr lang="en-GB" b="1" dirty="0"/>
              <a:t>2</a:t>
            </a:r>
            <a:r>
              <a:rPr lang="en-GB" dirty="0"/>
              <a:t>. Then click </a:t>
            </a:r>
            <a:r>
              <a:rPr lang="en-GB" b="1" dirty="0"/>
              <a:t>Add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When finished, click </a:t>
            </a:r>
            <a:r>
              <a:rPr lang="en-GB" b="1" dirty="0"/>
              <a:t>Continue</a:t>
            </a:r>
            <a:r>
              <a:rPr lang="en-GB" dirty="0"/>
              <a:t>.</a:t>
            </a:r>
          </a:p>
          <a:p>
            <a:r>
              <a:rPr lang="en-GB" dirty="0"/>
              <a:t>Click </a:t>
            </a:r>
            <a:r>
              <a:rPr lang="en-GB" b="1" dirty="0"/>
              <a:t>OK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9369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Recode into Same Variables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 smtClean="0"/>
              <a:t>Recoding </a:t>
            </a:r>
            <a:r>
              <a:rPr lang="en-GB" dirty="0"/>
              <a:t>into the same variable (</a:t>
            </a:r>
            <a:r>
              <a:rPr lang="en-GB" b="1" dirty="0"/>
              <a:t>Transform &gt; Recode into Same Variables</a:t>
            </a:r>
            <a:r>
              <a:rPr lang="en-GB" dirty="0"/>
              <a:t>) works the same way as described above, except for that any changes made will permanently alter the original variable. </a:t>
            </a:r>
            <a:endParaRPr lang="en-GB" dirty="0" smtClean="0"/>
          </a:p>
          <a:p>
            <a:r>
              <a:rPr lang="en-GB" dirty="0" smtClean="0"/>
              <a:t>That </a:t>
            </a:r>
            <a:r>
              <a:rPr lang="en-GB" dirty="0"/>
              <a:t>is, the original values will be replaced by the recoded values.</a:t>
            </a:r>
          </a:p>
          <a:p>
            <a:r>
              <a:rPr lang="en-GB" dirty="0"/>
              <a:t>In general, it is good practice </a:t>
            </a:r>
            <a:r>
              <a:rPr lang="en-GB" i="1" dirty="0"/>
              <a:t>not</a:t>
            </a:r>
            <a:r>
              <a:rPr lang="en-GB" dirty="0"/>
              <a:t> to recode into the same variable because it overwrites the original variable. If you ever needed to use the variable in its original form (or wanted to double-check your steps), that information would be lost.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71979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360040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Data editing Visual Binning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548680"/>
            <a:ext cx="8928992" cy="6120680"/>
          </a:xfrm>
        </p:spPr>
        <p:txBody>
          <a:bodyPr>
            <a:normAutofit/>
          </a:bodyPr>
          <a:lstStyle/>
          <a:p>
            <a:r>
              <a:rPr lang="en-GB" dirty="0"/>
              <a:t>Through Visual Binning you can in an easy and visual way create classes for a scale variable. </a:t>
            </a:r>
            <a:endParaRPr lang="en-GB" dirty="0" smtClean="0"/>
          </a:p>
          <a:p>
            <a:r>
              <a:rPr lang="en-GB" dirty="0" smtClean="0"/>
              <a:t>The </a:t>
            </a:r>
            <a:r>
              <a:rPr lang="en-GB" dirty="0"/>
              <a:t>labels for the classes are automatically added by SPSS</a:t>
            </a:r>
            <a:r>
              <a:rPr lang="en-GB" dirty="0" smtClean="0"/>
              <a:t>.</a:t>
            </a:r>
          </a:p>
          <a:p>
            <a:r>
              <a:rPr lang="en-GB" dirty="0"/>
              <a:t>In our example data file the variable v02 contains the age of the respondent in years</a:t>
            </a:r>
            <a:r>
              <a:rPr lang="en-GB" dirty="0" smtClean="0"/>
              <a:t>.</a:t>
            </a:r>
          </a:p>
          <a:p>
            <a:endParaRPr lang="en-GB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8" y="4005064"/>
            <a:ext cx="9036496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00375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dirty="0"/>
              <a:t/>
            </a:r>
            <a:br>
              <a:rPr lang="en-GB" b="1" dirty="0"/>
            </a:br>
            <a:r>
              <a:rPr lang="en-GB" b="1" dirty="0" smtClean="0"/>
              <a:t>Using </a:t>
            </a:r>
            <a:r>
              <a:rPr lang="en-GB" b="1" dirty="0"/>
              <a:t>Visual Binning</a:t>
            </a:r>
            <a:br>
              <a:rPr lang="en-GB" b="1" dirty="0"/>
            </a:br>
            <a:r>
              <a:rPr lang="en-GB" dirty="0" smtClean="0"/>
              <a:t/>
            </a:r>
            <a:br>
              <a:rPr lang="en-GB" dirty="0" smtClean="0"/>
            </a:b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/>
          <a:lstStyle/>
          <a:p>
            <a:r>
              <a:rPr lang="en-GB" dirty="0" smtClean="0"/>
              <a:t>Choose</a:t>
            </a:r>
            <a:r>
              <a:rPr lang="en-GB" b="1" dirty="0" smtClean="0"/>
              <a:t> </a:t>
            </a:r>
            <a:r>
              <a:rPr lang="en-GB" b="1" u="sng" dirty="0" smtClean="0">
                <a:effectLst/>
              </a:rPr>
              <a:t>T</a:t>
            </a:r>
            <a:r>
              <a:rPr lang="en-GB" b="1" dirty="0" smtClean="0"/>
              <a:t>ransform &gt; Visual </a:t>
            </a:r>
            <a:r>
              <a:rPr lang="en-GB" b="1" u="sng" dirty="0" smtClean="0">
                <a:effectLst/>
              </a:rPr>
              <a:t>B</a:t>
            </a:r>
            <a:r>
              <a:rPr lang="en-GB" b="1" dirty="0" smtClean="0"/>
              <a:t>inning and select variable v02</a:t>
            </a:r>
            <a:r>
              <a:rPr lang="en-GB" dirty="0" smtClean="0"/>
              <a:t>.</a:t>
            </a:r>
          </a:p>
          <a:p>
            <a:endParaRPr lang="en-GB" dirty="0"/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996405"/>
            <a:ext cx="8208912" cy="48169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527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>Data editing Visual Binning cont’d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92696"/>
            <a:ext cx="8229600" cy="5433467"/>
          </a:xfrm>
        </p:spPr>
        <p:txBody>
          <a:bodyPr/>
          <a:lstStyle/>
          <a:p>
            <a:r>
              <a:rPr lang="en-GB" sz="2400" dirty="0"/>
              <a:t>Click Continue. </a:t>
            </a:r>
            <a:endParaRPr lang="en-GB" sz="2400" dirty="0" smtClean="0"/>
          </a:p>
          <a:p>
            <a:r>
              <a:rPr lang="en-GB" sz="2400" dirty="0" smtClean="0"/>
              <a:t>Now </a:t>
            </a:r>
            <a:r>
              <a:rPr lang="en-GB" sz="2400" dirty="0"/>
              <a:t>you come to the actual Visual Binning dialog box. Complete it as shown below, following steps 1, 2 and 3</a:t>
            </a:r>
            <a:r>
              <a:rPr lang="en-GB" sz="2400" dirty="0" smtClean="0"/>
              <a:t>.</a:t>
            </a:r>
          </a:p>
          <a:p>
            <a:endParaRPr lang="en-GB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916832"/>
            <a:ext cx="8856984" cy="4896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67235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Compute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Sometimes you might want to create a new variable based on some mathematical calculations of two or more variables. E.g. adding all household members to a household members total.</a:t>
            </a:r>
          </a:p>
          <a:p>
            <a:r>
              <a:rPr lang="en-GB" dirty="0" smtClean="0"/>
              <a:t>To </a:t>
            </a:r>
            <a:r>
              <a:rPr lang="en-GB" dirty="0"/>
              <a:t>compute a new variable by summing scores on several </a:t>
            </a:r>
            <a:r>
              <a:rPr lang="en-GB" dirty="0" smtClean="0"/>
              <a:t>variables</a:t>
            </a:r>
            <a:r>
              <a:rPr lang="en-GB" dirty="0"/>
              <a:t>, simply select  </a:t>
            </a:r>
            <a:r>
              <a:rPr lang="en-GB" b="1" dirty="0"/>
              <a:t>Transform,  Compute</a:t>
            </a:r>
            <a:r>
              <a:rPr lang="en-GB" dirty="0"/>
              <a:t>  from the Data Editor menu</a:t>
            </a:r>
          </a:p>
        </p:txBody>
      </p:sp>
    </p:spTree>
    <p:extLst>
      <p:ext uri="{BB962C8B-B14F-4D97-AF65-F5344CB8AC3E}">
        <p14:creationId xmlns:p14="http://schemas.microsoft.com/office/powerpoint/2010/main" val="3787615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File Splitting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400600"/>
          </a:xfrm>
        </p:spPr>
        <p:txBody>
          <a:bodyPr>
            <a:normAutofit fontScale="77500" lnSpcReduction="20000"/>
          </a:bodyPr>
          <a:lstStyle/>
          <a:p>
            <a:r>
              <a:rPr lang="en-GB" dirty="0" smtClean="0"/>
              <a:t>The split file procedure is used when we want to run the analysis on several groups or segments of the entire population. (The </a:t>
            </a:r>
            <a:r>
              <a:rPr lang="en-GB" dirty="0"/>
              <a:t>Split File command is used to separate the output of SPSS tests according to a group variable</a:t>
            </a:r>
            <a:r>
              <a:rPr lang="en-GB" dirty="0" smtClean="0"/>
              <a:t>.) </a:t>
            </a:r>
          </a:p>
          <a:p>
            <a:r>
              <a:rPr lang="en-GB" dirty="0" smtClean="0"/>
              <a:t>The </a:t>
            </a:r>
            <a:r>
              <a:rPr lang="en-GB" dirty="0"/>
              <a:t>best example would be to split the output according to sex. </a:t>
            </a:r>
            <a:endParaRPr lang="en-GB" dirty="0" smtClean="0"/>
          </a:p>
          <a:p>
            <a:r>
              <a:rPr lang="en-GB" dirty="0" smtClean="0"/>
              <a:t>By </a:t>
            </a:r>
            <a:r>
              <a:rPr lang="en-GB" dirty="0"/>
              <a:t>doing this in SPSS, through the use of the Split File command, you will get two separate outputs for subsequent analyses, one for males and the other for females.</a:t>
            </a:r>
          </a:p>
          <a:p>
            <a:r>
              <a:rPr lang="en-GB" dirty="0"/>
              <a:t>To be able to perform a split file command, you must have a grouping (nominal) variable, such as sex (male/female), age (young/old), treatment group (control/treated) etc. </a:t>
            </a:r>
            <a:endParaRPr lang="en-GB" dirty="0" smtClean="0"/>
          </a:p>
          <a:p>
            <a:r>
              <a:rPr lang="en-GB" dirty="0" smtClean="0"/>
              <a:t>There </a:t>
            </a:r>
            <a:r>
              <a:rPr lang="en-GB" dirty="0"/>
              <a:t>can be more than two groups within the variable.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1051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How to use the Split File command in </a:t>
            </a:r>
            <a:r>
              <a:rPr lang="en-GB" dirty="0" smtClean="0"/>
              <a:t>SPSS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/>
              <a:t>To </a:t>
            </a:r>
            <a:r>
              <a:rPr lang="en-GB" dirty="0"/>
              <a:t>use the Split File command within SPSS, firstly go to </a:t>
            </a:r>
            <a:r>
              <a:rPr lang="en-GB" b="1" dirty="0"/>
              <a:t>Data &gt; Split File ...</a:t>
            </a:r>
            <a:r>
              <a:rPr lang="en-GB" dirty="0"/>
              <a:t>.</a:t>
            </a:r>
          </a:p>
          <a:p>
            <a:r>
              <a:rPr lang="en-GB" dirty="0"/>
              <a:t>A new window should open. Here, select the </a:t>
            </a:r>
            <a:r>
              <a:rPr lang="en-GB" b="1" dirty="0"/>
              <a:t>Organize output by groups</a:t>
            </a:r>
            <a:r>
              <a:rPr lang="en-GB" dirty="0"/>
              <a:t> option. Now you can drag the grouping variable you want to split the file by into the box called </a:t>
            </a:r>
            <a:r>
              <a:rPr lang="en-GB" b="1" dirty="0"/>
              <a:t>Groups Based on</a:t>
            </a:r>
            <a:r>
              <a:rPr lang="en-GB" b="1" dirty="0" smtClean="0"/>
              <a:t>:</a:t>
            </a:r>
            <a:r>
              <a:rPr lang="en-GB" dirty="0" smtClean="0"/>
              <a:t>.</a:t>
            </a:r>
          </a:p>
          <a:p>
            <a:r>
              <a:rPr lang="en-GB" dirty="0"/>
              <a:t>Click the </a:t>
            </a:r>
            <a:r>
              <a:rPr lang="en-GB" b="1" dirty="0"/>
              <a:t>OK</a:t>
            </a:r>
            <a:r>
              <a:rPr lang="en-GB" dirty="0"/>
              <a:t> button. Any analyses performed from now on will be split into separate outputs based on the grouping variable.</a:t>
            </a:r>
          </a:p>
        </p:txBody>
      </p:sp>
    </p:spTree>
    <p:extLst>
      <p:ext uri="{BB962C8B-B14F-4D97-AF65-F5344CB8AC3E}">
        <p14:creationId xmlns:p14="http://schemas.microsoft.com/office/powerpoint/2010/main" val="28748482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Selecting cases (excluding)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For some reasons, you might want to select some cases and exclude others from your analyses e.g.</a:t>
            </a:r>
          </a:p>
          <a:p>
            <a:pPr lvl="1"/>
            <a:r>
              <a:rPr lang="en-US" sz="2400" dirty="0"/>
              <a:t>They are extreme outliers</a:t>
            </a:r>
          </a:p>
          <a:p>
            <a:pPr lvl="1"/>
            <a:r>
              <a:rPr lang="en-US" sz="2400" dirty="0"/>
              <a:t>You only want to produce charts or some other analyses that contain a count of cases that gave a particular response to a question e.g. only those who said they have a bicycle or only those that are below 45 years of age.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6091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Selecting cases (excluding</a:t>
            </a:r>
            <a:r>
              <a:rPr lang="en-US" dirty="0" smtClean="0"/>
              <a:t>) cont’d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To select only those 45 years old and below</a:t>
            </a:r>
          </a:p>
          <a:p>
            <a:r>
              <a:rPr lang="en-US" dirty="0"/>
              <a:t>Go to </a:t>
            </a:r>
            <a:r>
              <a:rPr lang="en-US" b="1" dirty="0"/>
              <a:t>“Data”</a:t>
            </a:r>
            <a:r>
              <a:rPr lang="en-US" dirty="0"/>
              <a:t>, </a:t>
            </a:r>
            <a:r>
              <a:rPr lang="en-US" b="1" dirty="0"/>
              <a:t>“Select Cases”</a:t>
            </a:r>
          </a:p>
          <a:p>
            <a:r>
              <a:rPr lang="en-US" dirty="0"/>
              <a:t>On the </a:t>
            </a:r>
            <a:r>
              <a:rPr lang="en-US" b="1" dirty="0"/>
              <a:t>“Select” </a:t>
            </a:r>
            <a:r>
              <a:rPr lang="en-US" dirty="0"/>
              <a:t>box, choose “</a:t>
            </a:r>
            <a:r>
              <a:rPr lang="en-US" b="1" dirty="0"/>
              <a:t>If condition is satisfied”</a:t>
            </a:r>
            <a:r>
              <a:rPr lang="en-US" dirty="0"/>
              <a:t>. Click </a:t>
            </a:r>
            <a:r>
              <a:rPr lang="en-US" b="1" dirty="0"/>
              <a:t>[If]</a:t>
            </a:r>
            <a:r>
              <a:rPr lang="en-US" dirty="0"/>
              <a:t>.</a:t>
            </a:r>
          </a:p>
          <a:p>
            <a:r>
              <a:rPr lang="en-US" dirty="0"/>
              <a:t>From the variable list, select </a:t>
            </a:r>
            <a:r>
              <a:rPr lang="en-US" b="1" dirty="0"/>
              <a:t>“age” </a:t>
            </a:r>
            <a:r>
              <a:rPr lang="en-US" dirty="0"/>
              <a:t>and move it to the selection box.</a:t>
            </a:r>
          </a:p>
          <a:p>
            <a:r>
              <a:rPr lang="en-US" dirty="0"/>
              <a:t>On the virtual Keypad, click </a:t>
            </a:r>
            <a:r>
              <a:rPr lang="en-US" b="1" dirty="0"/>
              <a:t>[&lt;=]</a:t>
            </a:r>
            <a:r>
              <a:rPr lang="en-US" dirty="0"/>
              <a:t> (Less or equal to). Then type </a:t>
            </a:r>
            <a:r>
              <a:rPr lang="en-US" b="1" dirty="0"/>
              <a:t>45</a:t>
            </a:r>
            <a:r>
              <a:rPr lang="en-US" dirty="0"/>
              <a:t>. Then click </a:t>
            </a:r>
            <a:r>
              <a:rPr lang="en-US" b="1" dirty="0"/>
              <a:t>[Ok]</a:t>
            </a:r>
          </a:p>
          <a:p>
            <a:r>
              <a:rPr lang="en-US" dirty="0"/>
              <a:t>Cases with age 45 and above will be crossed out and will not be included in any analysis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4814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Selecting cases (excluding) cont’d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To select only those who said they have a bicycle</a:t>
            </a:r>
          </a:p>
          <a:p>
            <a:r>
              <a:rPr lang="en-US" dirty="0"/>
              <a:t>First clear out the last filter by going to “Data”, “Select Cases”, and choose “All cases” and click [Ok]</a:t>
            </a:r>
          </a:p>
          <a:p>
            <a:r>
              <a:rPr lang="en-US" dirty="0"/>
              <a:t>Go to “Data”, “Select Cases”</a:t>
            </a:r>
          </a:p>
          <a:p>
            <a:r>
              <a:rPr lang="en-US" dirty="0"/>
              <a:t>On the “Select” box, choose “If condition is satisfied”. Click [If].</a:t>
            </a:r>
          </a:p>
          <a:p>
            <a:r>
              <a:rPr lang="en-US" dirty="0"/>
              <a:t>From the variable list, select “has Bicycle” and move it to the selection box.</a:t>
            </a:r>
          </a:p>
          <a:p>
            <a:r>
              <a:rPr lang="en-US" dirty="0"/>
              <a:t>Since this is a dichotomous variable, those who said they have a bicycle indicated 1.</a:t>
            </a:r>
          </a:p>
          <a:p>
            <a:r>
              <a:rPr lang="en-US" dirty="0"/>
              <a:t>Hence on the virtual Keypad, click [=] (equals). Then type 1. Then click [Ok]</a:t>
            </a:r>
          </a:p>
          <a:p>
            <a:r>
              <a:rPr lang="en-US" dirty="0"/>
              <a:t>Respondents without bicycles will be crossed out and will not be included in any analysis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4901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2438400"/>
            <a:ext cx="3428999" cy="3386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88446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1749</TotalTime>
  <Words>1957</Words>
  <Application>Microsoft Office PowerPoint</Application>
  <PresentationFormat>On-screen Show (4:3)</PresentationFormat>
  <Paragraphs>208</Paragraphs>
  <Slides>29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Calibri (Body)</vt:lpstr>
      <vt:lpstr>Office Theme</vt:lpstr>
      <vt:lpstr>MANIPULATING/TRANSFORMING DATA IN SPSS</vt:lpstr>
      <vt:lpstr>Introduction (SPSS windows)</vt:lpstr>
      <vt:lpstr>Introduction cont’d</vt:lpstr>
      <vt:lpstr>Creating files in the Syntax Editor Window</vt:lpstr>
      <vt:lpstr>Accessing the Syntax Editor</vt:lpstr>
      <vt:lpstr>Syntax Editor cont’d</vt:lpstr>
      <vt:lpstr>Entering Commands &amp; Data in the Syntax File</vt:lpstr>
      <vt:lpstr>Entering Commands &amp; Data in the Syntax File cont’d</vt:lpstr>
      <vt:lpstr>Entering Commands &amp; Data in the Syntax File cont’d</vt:lpstr>
      <vt:lpstr>Entering Commands &amp; Data in the Syntax File cont’d</vt:lpstr>
      <vt:lpstr>Entering Commands &amp; Data in the Syntax File cont’d</vt:lpstr>
      <vt:lpstr>Generating an output file</vt:lpstr>
      <vt:lpstr>MANIPULATING/TRANSFORMING  DATA</vt:lpstr>
      <vt:lpstr>Recoding (Transforming) Variables</vt:lpstr>
      <vt:lpstr>Recoding (Transforming) Variables cont’d</vt:lpstr>
      <vt:lpstr>Recode into Different Variables</vt:lpstr>
      <vt:lpstr>Example </vt:lpstr>
      <vt:lpstr>Solution</vt:lpstr>
      <vt:lpstr>Recode into Same Variables</vt:lpstr>
      <vt:lpstr>Data editing Visual Binning</vt:lpstr>
      <vt:lpstr>  Using Visual Binning  </vt:lpstr>
      <vt:lpstr>Data editing Visual Binning cont’d</vt:lpstr>
      <vt:lpstr>Compute</vt:lpstr>
      <vt:lpstr>File Splitting</vt:lpstr>
      <vt:lpstr>How to use the Split File command in SPSS</vt:lpstr>
      <vt:lpstr>Selecting cases (excluding)</vt:lpstr>
      <vt:lpstr>Selecting cases (excluding) cont’d</vt:lpstr>
      <vt:lpstr>Selecting cases (excluding) cont’d</vt:lpstr>
      <vt:lpstr>Questions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MANIPULATING DATA IN SPSS</dc:title>
  <dc:creator>KHO</dc:creator>
  <cp:lastModifiedBy>Gerko</cp:lastModifiedBy>
  <cp:revision>51</cp:revision>
  <dcterms:created xsi:type="dcterms:W3CDTF">2021-11-24T09:32:33Z</dcterms:created>
  <dcterms:modified xsi:type="dcterms:W3CDTF">2025-11-29T12:55:15Z</dcterms:modified>
</cp:coreProperties>
</file>