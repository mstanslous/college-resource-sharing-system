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5C5792A1-245F-460F-A5FB-352441B3CE6D}" type="datetimeFigureOut">
              <a:rPr lang="en-GB" smtClean="0"/>
              <a:t>27/05/2023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3536874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C5792A1-245F-460F-A5FB-352441B3CE6D}" type="datetimeFigureOut">
              <a:rPr lang="en-GB" smtClean="0"/>
              <a:t>27/05/2023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323843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5792A1-245F-460F-A5FB-352441B3CE6D}" type="datetimeFigureOut">
              <a:rPr lang="en-GB" smtClean="0"/>
              <a:t>27/05/2023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384653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5C5792A1-245F-460F-A5FB-352441B3CE6D}" type="datetimeFigureOut">
              <a:rPr lang="en-GB" smtClean="0"/>
              <a:t>27/05/2023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4092016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5C5792A1-245F-460F-A5FB-352441B3CE6D}" type="datetimeFigureOut">
              <a:rPr lang="en-GB" smtClean="0"/>
              <a:t>27/05/2023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3081565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5C5792A1-245F-460F-A5FB-352441B3CE6D}" type="datetimeFigureOut">
              <a:rPr lang="en-GB" smtClean="0"/>
              <a:t>27/05/2023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1754901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5792A1-245F-460F-A5FB-352441B3CE6D}" type="datetimeFigureOut">
              <a:rPr lang="en-GB" smtClean="0"/>
              <a:t>27/05/2023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393367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5792A1-245F-460F-A5FB-352441B3CE6D}" type="datetimeFigureOut">
              <a:rPr lang="en-GB" smtClean="0"/>
              <a:t>27/05/2023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1641138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5792A1-245F-460F-A5FB-352441B3CE6D}" type="datetimeFigureOut">
              <a:rPr lang="en-GB" smtClean="0"/>
              <a:t>27/05/2023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1914202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C5792A1-245F-460F-A5FB-352441B3CE6D}" type="datetimeFigureOut">
              <a:rPr lang="en-GB" smtClean="0"/>
              <a:t>27/05/2023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1794971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5C5792A1-245F-460F-A5FB-352441B3CE6D}" type="datetimeFigureOut">
              <a:rPr lang="en-GB" smtClean="0"/>
              <a:t>27/05/2023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307F8B-173B-4433-9BBC-8F9431B98F91}" type="slidenum">
              <a:rPr lang="en-GB" smtClean="0"/>
              <a:t>‹#›</a:t>
            </a:fld>
            <a:endParaRPr lang="en-GB"/>
          </a:p>
        </p:txBody>
      </p:sp>
    </p:spTree>
    <p:extLst>
      <p:ext uri="{BB962C8B-B14F-4D97-AF65-F5344CB8AC3E}">
        <p14:creationId xmlns:p14="http://schemas.microsoft.com/office/powerpoint/2010/main" val="2121673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5792A1-245F-460F-A5FB-352441B3CE6D}" type="datetimeFigureOut">
              <a:rPr lang="en-GB" smtClean="0"/>
              <a:t>27/05/2023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307F8B-173B-4433-9BBC-8F9431B98F91}" type="slidenum">
              <a:rPr lang="en-GB" smtClean="0"/>
              <a:t>‹#›</a:t>
            </a:fld>
            <a:endParaRPr lang="en-GB"/>
          </a:p>
        </p:txBody>
      </p:sp>
    </p:spTree>
    <p:extLst>
      <p:ext uri="{BB962C8B-B14F-4D97-AF65-F5344CB8AC3E}">
        <p14:creationId xmlns:p14="http://schemas.microsoft.com/office/powerpoint/2010/main" val="1729488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Importing files from other programs (MS Access, MS Excel) </a:t>
            </a:r>
            <a:endParaRPr lang="en-GB" dirty="0"/>
          </a:p>
        </p:txBody>
      </p:sp>
      <p:sp>
        <p:nvSpPr>
          <p:cNvPr id="3" name="Subtitle 2"/>
          <p:cNvSpPr>
            <a:spLocks noGrp="1"/>
          </p:cNvSpPr>
          <p:nvPr>
            <p:ph type="subTitle" idx="1"/>
          </p:nvPr>
        </p:nvSpPr>
        <p:spPr/>
        <p:txBody>
          <a:bodyPr/>
          <a:lstStyle/>
          <a:p>
            <a:r>
              <a:rPr lang="en-GB" dirty="0" smtClean="0"/>
              <a:t>STC224</a:t>
            </a:r>
            <a:endParaRPr lang="en-GB" dirty="0"/>
          </a:p>
        </p:txBody>
      </p:sp>
    </p:spTree>
    <p:extLst>
      <p:ext uri="{BB962C8B-B14F-4D97-AF65-F5344CB8AC3E}">
        <p14:creationId xmlns:p14="http://schemas.microsoft.com/office/powerpoint/2010/main" val="1035625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Importing Data into SPSS</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If </a:t>
            </a:r>
            <a:r>
              <a:rPr lang="en-GB" dirty="0"/>
              <a:t>you already have data that are in an SPSS file format </a:t>
            </a:r>
            <a:r>
              <a:rPr lang="en-GB" b="1" dirty="0"/>
              <a:t>(file extension “.</a:t>
            </a:r>
            <a:r>
              <a:rPr lang="en-GB" b="1" dirty="0" err="1"/>
              <a:t>sav</a:t>
            </a:r>
            <a:r>
              <a:rPr lang="en-GB" b="1" dirty="0"/>
              <a:t>”)</a:t>
            </a:r>
            <a:r>
              <a:rPr lang="en-GB" dirty="0"/>
              <a:t>, you can simply open that file to begin working with your data in SPSS. </a:t>
            </a:r>
            <a:endParaRPr lang="en-GB" dirty="0" smtClean="0"/>
          </a:p>
          <a:p>
            <a:r>
              <a:rPr lang="en-GB" dirty="0" smtClean="0"/>
              <a:t>However</a:t>
            </a:r>
            <a:r>
              <a:rPr lang="en-GB" dirty="0"/>
              <a:t>, if you have data stored in other types of files, such as an Excel </a:t>
            </a:r>
            <a:r>
              <a:rPr lang="en-GB" dirty="0" err="1"/>
              <a:t>spreadsheet</a:t>
            </a:r>
            <a:r>
              <a:rPr lang="en-GB" dirty="0"/>
              <a:t> or a text file, you will need to instruct SPSS how to read the file and then save it in the SPSS file format (“.</a:t>
            </a:r>
            <a:r>
              <a:rPr lang="en-GB" dirty="0" err="1"/>
              <a:t>sav</a:t>
            </a:r>
            <a:r>
              <a:rPr lang="en-GB" dirty="0"/>
              <a:t>”). </a:t>
            </a:r>
            <a:endParaRPr lang="en-GB" dirty="0" smtClean="0"/>
          </a:p>
          <a:p>
            <a:r>
              <a:rPr lang="en-GB" dirty="0" smtClean="0"/>
              <a:t>Below</a:t>
            </a:r>
            <a:r>
              <a:rPr lang="en-GB" dirty="0"/>
              <a:t>, we will cover how to import data from two common types of files: </a:t>
            </a:r>
            <a:r>
              <a:rPr lang="en-GB" b="1" dirty="0"/>
              <a:t>Excel files and text files.</a:t>
            </a:r>
          </a:p>
          <a:p>
            <a:endParaRPr lang="en-GB" b="1" dirty="0"/>
          </a:p>
        </p:txBody>
      </p:sp>
    </p:spTree>
    <p:extLst>
      <p:ext uri="{BB962C8B-B14F-4D97-AF65-F5344CB8AC3E}">
        <p14:creationId xmlns:p14="http://schemas.microsoft.com/office/powerpoint/2010/main" val="3981821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614"/>
            <a:ext cx="8229600" cy="490066"/>
          </a:xfrm>
        </p:spPr>
        <p:txBody>
          <a:bodyPr>
            <a:normAutofit fontScale="90000"/>
          </a:bodyPr>
          <a:lstStyle/>
          <a:p>
            <a:r>
              <a:rPr lang="en-GB" dirty="0" smtClean="0"/>
              <a:t>Importing Data from an Excel File</a:t>
            </a:r>
            <a:endParaRPr lang="en-GB" dirty="0"/>
          </a:p>
        </p:txBody>
      </p:sp>
      <p:sp>
        <p:nvSpPr>
          <p:cNvPr id="3" name="Content Placeholder 2"/>
          <p:cNvSpPr>
            <a:spLocks noGrp="1"/>
          </p:cNvSpPr>
          <p:nvPr>
            <p:ph idx="1"/>
          </p:nvPr>
        </p:nvSpPr>
        <p:spPr>
          <a:xfrm>
            <a:off x="457200" y="548680"/>
            <a:ext cx="8229600" cy="6120680"/>
          </a:xfrm>
        </p:spPr>
        <p:txBody>
          <a:bodyPr>
            <a:normAutofit fontScale="85000" lnSpcReduction="10000"/>
          </a:bodyPr>
          <a:lstStyle/>
          <a:p>
            <a:r>
              <a:rPr lang="en-GB" dirty="0" smtClean="0"/>
              <a:t>To </a:t>
            </a:r>
            <a:r>
              <a:rPr lang="en-GB" dirty="0"/>
              <a:t>import data from an Excel </a:t>
            </a:r>
            <a:r>
              <a:rPr lang="en-GB" dirty="0" err="1"/>
              <a:t>spreadsheet</a:t>
            </a:r>
            <a:r>
              <a:rPr lang="en-GB" dirty="0"/>
              <a:t> into SPSS, first make sure your Excel </a:t>
            </a:r>
            <a:r>
              <a:rPr lang="en-GB" dirty="0" err="1"/>
              <a:t>spreadsheet</a:t>
            </a:r>
            <a:r>
              <a:rPr lang="en-GB" dirty="0"/>
              <a:t> is formatted according to these criteria:</a:t>
            </a:r>
          </a:p>
          <a:p>
            <a:pPr lvl="1"/>
            <a:r>
              <a:rPr lang="en-GB" dirty="0"/>
              <a:t>The </a:t>
            </a:r>
            <a:r>
              <a:rPr lang="en-GB" dirty="0" err="1"/>
              <a:t>spreadsheet</a:t>
            </a:r>
            <a:r>
              <a:rPr lang="en-GB" dirty="0"/>
              <a:t> should have a single row of variable names across the top of the </a:t>
            </a:r>
            <a:r>
              <a:rPr lang="en-GB" dirty="0" err="1"/>
              <a:t>spreadsheet</a:t>
            </a:r>
            <a:r>
              <a:rPr lang="en-GB" dirty="0"/>
              <a:t> in the first row.</a:t>
            </a:r>
          </a:p>
          <a:p>
            <a:pPr lvl="1"/>
            <a:r>
              <a:rPr lang="en-GB" dirty="0"/>
              <a:t>Variable names should include ordinary letters, numbers, and underscores (e.g., </a:t>
            </a:r>
            <a:r>
              <a:rPr lang="en-GB" i="1" dirty="0"/>
              <a:t>Gender</a:t>
            </a:r>
            <a:r>
              <a:rPr lang="en-GB" dirty="0"/>
              <a:t>, </a:t>
            </a:r>
            <a:r>
              <a:rPr lang="en-GB" i="1" dirty="0" err="1"/>
              <a:t>Grad_Date</a:t>
            </a:r>
            <a:r>
              <a:rPr lang="en-GB" dirty="0"/>
              <a:t>, </a:t>
            </a:r>
            <a:r>
              <a:rPr lang="en-GB" i="1" dirty="0"/>
              <a:t>Test_1</a:t>
            </a:r>
            <a:r>
              <a:rPr lang="en-GB" dirty="0"/>
              <a:t>) and not include special characters (e.g., "</a:t>
            </a:r>
            <a:r>
              <a:rPr lang="en-GB" i="1" dirty="0"/>
              <a:t>Graduation Date</a:t>
            </a:r>
            <a:r>
              <a:rPr lang="en-GB" dirty="0"/>
              <a:t>" would not be a valid variable name because it contains a space).</a:t>
            </a:r>
          </a:p>
          <a:p>
            <a:pPr lvl="1"/>
            <a:r>
              <a:rPr lang="en-GB" dirty="0"/>
              <a:t>The data should begin in the first column, second row (beneath the variable names row) of the </a:t>
            </a:r>
            <a:r>
              <a:rPr lang="en-GB" dirty="0" err="1"/>
              <a:t>spreadsheet</a:t>
            </a:r>
            <a:r>
              <a:rPr lang="en-GB" dirty="0"/>
              <a:t>.</a:t>
            </a:r>
          </a:p>
          <a:p>
            <a:pPr lvl="1"/>
            <a:r>
              <a:rPr lang="en-GB" dirty="0"/>
              <a:t>Anything that is not part of the data itself (e.g., extra text, labels, graphs, Pivot Tables) should be removed.</a:t>
            </a:r>
          </a:p>
          <a:p>
            <a:pPr lvl="1"/>
            <a:r>
              <a:rPr lang="en-GB" dirty="0"/>
              <a:t>Missing values for string or numeric variables have blank (empty) cells, or an appropriate predetermined missing value code (such as -999).</a:t>
            </a:r>
          </a:p>
          <a:p>
            <a:pPr lvl="1"/>
            <a:endParaRPr lang="en-GB" dirty="0"/>
          </a:p>
        </p:txBody>
      </p:sp>
    </p:spTree>
    <p:extLst>
      <p:ext uri="{BB962C8B-B14F-4D97-AF65-F5344CB8AC3E}">
        <p14:creationId xmlns:p14="http://schemas.microsoft.com/office/powerpoint/2010/main" val="3343369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Here is an example of what properly formatted data looks like in Excel 2010</a:t>
            </a:r>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413" y="2138511"/>
            <a:ext cx="7115175" cy="431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1178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Importing Data from an Excel File cont’d</a:t>
            </a:r>
            <a:endParaRPr lang="en-GB" dirty="0"/>
          </a:p>
        </p:txBody>
      </p:sp>
      <p:sp>
        <p:nvSpPr>
          <p:cNvPr id="3" name="Content Placeholder 2"/>
          <p:cNvSpPr>
            <a:spLocks noGrp="1"/>
          </p:cNvSpPr>
          <p:nvPr>
            <p:ph idx="1"/>
          </p:nvPr>
        </p:nvSpPr>
        <p:spPr/>
        <p:txBody>
          <a:bodyPr/>
          <a:lstStyle/>
          <a:p>
            <a:r>
              <a:rPr lang="en-GB" dirty="0"/>
              <a:t>Once the data in your Excel file is formatted properly it can be imported into SPSS by following these steps:</a:t>
            </a:r>
          </a:p>
          <a:p>
            <a:r>
              <a:rPr lang="en-GB" dirty="0"/>
              <a:t>Click </a:t>
            </a:r>
            <a:r>
              <a:rPr lang="en-GB" b="1" dirty="0"/>
              <a:t>File &gt; Open &gt; Data</a:t>
            </a:r>
            <a:r>
              <a:rPr lang="en-GB" dirty="0"/>
              <a:t>. The Open Data window will appear.</a:t>
            </a:r>
          </a:p>
          <a:p>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4077072"/>
            <a:ext cx="4581525"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9415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Importing Data from an Excel File cont’d</a:t>
            </a:r>
            <a:endParaRPr lang="en-GB" dirty="0"/>
          </a:p>
        </p:txBody>
      </p:sp>
      <p:sp>
        <p:nvSpPr>
          <p:cNvPr id="3" name="Content Placeholder 2"/>
          <p:cNvSpPr>
            <a:spLocks noGrp="1"/>
          </p:cNvSpPr>
          <p:nvPr>
            <p:ph idx="1"/>
          </p:nvPr>
        </p:nvSpPr>
        <p:spPr/>
        <p:txBody>
          <a:bodyPr>
            <a:normAutofit/>
          </a:bodyPr>
          <a:lstStyle/>
          <a:p>
            <a:r>
              <a:rPr lang="en-GB" sz="2800" dirty="0"/>
              <a:t>In the </a:t>
            </a:r>
            <a:r>
              <a:rPr lang="en-GB" sz="2800" b="1" dirty="0"/>
              <a:t>Files of type</a:t>
            </a:r>
            <a:r>
              <a:rPr lang="en-GB" sz="2800" dirty="0"/>
              <a:t> list select </a:t>
            </a:r>
            <a:r>
              <a:rPr lang="en-GB" sz="2800" b="1" dirty="0"/>
              <a:t>Excel (*.</a:t>
            </a:r>
            <a:r>
              <a:rPr lang="en-GB" sz="2800" b="1" dirty="0" err="1"/>
              <a:t>xls</a:t>
            </a:r>
            <a:r>
              <a:rPr lang="en-GB" sz="2800" b="1" dirty="0"/>
              <a:t>, *.</a:t>
            </a:r>
            <a:r>
              <a:rPr lang="en-GB" sz="2800" b="1" dirty="0" err="1"/>
              <a:t>xlsx</a:t>
            </a:r>
            <a:r>
              <a:rPr lang="en-GB" sz="2800" b="1" dirty="0"/>
              <a:t>, *.</a:t>
            </a:r>
            <a:r>
              <a:rPr lang="en-GB" sz="2800" b="1" dirty="0" err="1"/>
              <a:t>xlsm</a:t>
            </a:r>
            <a:r>
              <a:rPr lang="en-GB" sz="2800" b="1" dirty="0"/>
              <a:t>)</a:t>
            </a:r>
            <a:r>
              <a:rPr lang="en-GB" sz="2800" dirty="0"/>
              <a:t> to specify that your data are in an Excel file. </a:t>
            </a:r>
            <a:endParaRPr lang="en-GB" sz="2800" dirty="0" smtClean="0"/>
          </a:p>
          <a:p>
            <a:r>
              <a:rPr lang="en-GB" sz="2800" dirty="0" smtClean="0"/>
              <a:t>If </a:t>
            </a:r>
            <a:r>
              <a:rPr lang="en-GB" sz="2800" dirty="0"/>
              <a:t>you do not specify the type of file that you wish to open, your file will not appear in the list of available files. Locate and click on your file. The file name will appear in the </a:t>
            </a:r>
            <a:r>
              <a:rPr lang="en-GB" sz="2800" b="1" dirty="0"/>
              <a:t>File name</a:t>
            </a:r>
            <a:r>
              <a:rPr lang="en-GB" sz="2800" dirty="0"/>
              <a:t> field. Click </a:t>
            </a:r>
            <a:r>
              <a:rPr lang="en-GB" sz="2800" b="1" dirty="0"/>
              <a:t>Open</a:t>
            </a:r>
            <a:r>
              <a:rPr lang="en-GB" sz="2800" dirty="0"/>
              <a:t>.</a:t>
            </a:r>
          </a:p>
          <a:p>
            <a:r>
              <a:rPr lang="en-GB" dirty="0" smtClean="0"/>
              <a:t/>
            </a:r>
            <a:br>
              <a:rPr lang="en-GB" dirty="0" smtClean="0"/>
            </a:br>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4221088"/>
            <a:ext cx="6322658" cy="263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3853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Importing Data from an Excel File cont’d</a:t>
            </a:r>
            <a:endParaRPr lang="en-GB" dirty="0"/>
          </a:p>
        </p:txBody>
      </p:sp>
      <p:sp>
        <p:nvSpPr>
          <p:cNvPr id="3" name="Content Placeholder 2"/>
          <p:cNvSpPr>
            <a:spLocks noGrp="1"/>
          </p:cNvSpPr>
          <p:nvPr>
            <p:ph idx="1"/>
          </p:nvPr>
        </p:nvSpPr>
        <p:spPr/>
        <p:txBody>
          <a:bodyPr/>
          <a:lstStyle/>
          <a:p>
            <a:r>
              <a:rPr lang="en-GB" dirty="0"/>
              <a:t>If you are using SPSS Version 25, the Read Excel File window will appear</a:t>
            </a:r>
            <a:r>
              <a:rPr lang="en-GB" dirty="0" smtClean="0"/>
              <a:t>.</a:t>
            </a:r>
          </a:p>
          <a:p>
            <a:endParaRPr lang="en-GB"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2060848"/>
            <a:ext cx="3240360" cy="4792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1848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507288" cy="720080"/>
          </a:xfrm>
        </p:spPr>
        <p:txBody>
          <a:bodyPr>
            <a:normAutofit fontScale="90000"/>
          </a:bodyPr>
          <a:lstStyle/>
          <a:p>
            <a:r>
              <a:rPr lang="en-GB" dirty="0"/>
              <a:t>Importing Data from an Excel File cont’d</a:t>
            </a:r>
          </a:p>
        </p:txBody>
      </p:sp>
      <p:sp>
        <p:nvSpPr>
          <p:cNvPr id="3" name="Content Placeholder 2"/>
          <p:cNvSpPr>
            <a:spLocks noGrp="1"/>
          </p:cNvSpPr>
          <p:nvPr>
            <p:ph idx="1"/>
          </p:nvPr>
        </p:nvSpPr>
        <p:spPr>
          <a:xfrm>
            <a:off x="457200" y="764704"/>
            <a:ext cx="8229600" cy="6093296"/>
          </a:xfrm>
        </p:spPr>
        <p:txBody>
          <a:bodyPr>
            <a:normAutofit fontScale="70000" lnSpcReduction="20000"/>
          </a:bodyPr>
          <a:lstStyle/>
          <a:p>
            <a:r>
              <a:rPr lang="en-GB" dirty="0"/>
              <a:t>In the </a:t>
            </a:r>
            <a:r>
              <a:rPr lang="en-GB" b="1" dirty="0"/>
              <a:t>Worksheet</a:t>
            </a:r>
            <a:r>
              <a:rPr lang="en-GB" dirty="0"/>
              <a:t> dropdown menu, select the sheet from your Excel workbook that contains your data. (If you have not assigned names to the sheets in your Excel workbook, the labels you see here will usually be Sheet1, Sheet2, Sheet3, etc.) You can only import one sheet from your Excel file at a time.</a:t>
            </a:r>
          </a:p>
          <a:p>
            <a:r>
              <a:rPr lang="en-GB" dirty="0"/>
              <a:t>If your variable names are in the first row of data, select the </a:t>
            </a:r>
            <a:r>
              <a:rPr lang="en-GB" b="1" dirty="0"/>
              <a:t>Read variable names from the first row of data</a:t>
            </a:r>
            <a:r>
              <a:rPr lang="en-GB" dirty="0"/>
              <a:t> check box.</a:t>
            </a:r>
          </a:p>
          <a:p>
            <a:r>
              <a:rPr lang="en-GB" dirty="0"/>
              <a:t>The options </a:t>
            </a:r>
            <a:r>
              <a:rPr lang="en-GB" b="1" dirty="0"/>
              <a:t>Remove leading spaces from string values</a:t>
            </a:r>
            <a:r>
              <a:rPr lang="en-GB" dirty="0"/>
              <a:t> and </a:t>
            </a:r>
            <a:r>
              <a:rPr lang="en-GB" b="1" dirty="0"/>
              <a:t>Remove trailing spaces from string values</a:t>
            </a:r>
            <a:r>
              <a:rPr lang="en-GB" dirty="0"/>
              <a:t> only affect variables that are imported as strings. </a:t>
            </a:r>
            <a:endParaRPr lang="en-GB" dirty="0" smtClean="0"/>
          </a:p>
          <a:p>
            <a:r>
              <a:rPr lang="en-GB" dirty="0" smtClean="0"/>
              <a:t>The </a:t>
            </a:r>
            <a:r>
              <a:rPr lang="en-GB" dirty="0"/>
              <a:t>former will remove any whitespace characters that appear at the start of the string, and the latter will remove any whitespace characters at the end of the string. This is optional, but is often convenient, since leading and trailing spaces can appear invisible to the user, but cause SPSS to think that otherwise identical strings are distinct.</a:t>
            </a:r>
          </a:p>
          <a:p>
            <a:r>
              <a:rPr lang="en-GB" dirty="0"/>
              <a:t>You may also specify the range of rows/columns to import if you wish. It is suggested to keep the default value unless you have a reason for altering it.</a:t>
            </a:r>
          </a:p>
          <a:p>
            <a:r>
              <a:rPr lang="en-GB" dirty="0"/>
              <a:t>Click </a:t>
            </a:r>
            <a:r>
              <a:rPr lang="en-GB" b="1" dirty="0"/>
              <a:t>OK</a:t>
            </a:r>
            <a:r>
              <a:rPr lang="en-GB" dirty="0"/>
              <a:t> when you are finished.</a:t>
            </a:r>
          </a:p>
          <a:p>
            <a:endParaRPr lang="en-GB" dirty="0"/>
          </a:p>
        </p:txBody>
      </p:sp>
    </p:spTree>
    <p:extLst>
      <p:ext uri="{BB962C8B-B14F-4D97-AF65-F5344CB8AC3E}">
        <p14:creationId xmlns:p14="http://schemas.microsoft.com/office/powerpoint/2010/main" val="3380486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Importing Data from an Excel File cont’d</a:t>
            </a:r>
          </a:p>
        </p:txBody>
      </p:sp>
      <p:sp>
        <p:nvSpPr>
          <p:cNvPr id="3" name="Content Placeholder 2"/>
          <p:cNvSpPr>
            <a:spLocks noGrp="1"/>
          </p:cNvSpPr>
          <p:nvPr>
            <p:ph idx="1"/>
          </p:nvPr>
        </p:nvSpPr>
        <p:spPr/>
        <p:txBody>
          <a:bodyPr/>
          <a:lstStyle/>
          <a:p>
            <a:r>
              <a:rPr lang="en-GB" dirty="0"/>
              <a:t>If you are using SPSS version 24 or earlier, you will instead see the Opening Excel Data Source window:</a:t>
            </a:r>
          </a:p>
          <a:p>
            <a:r>
              <a:rPr lang="en-GB" dirty="0" smtClean="0"/>
              <a:t/>
            </a:r>
            <a:br>
              <a:rPr lang="en-GB" dirty="0" smtClean="0"/>
            </a:br>
            <a:endParaRPr lang="en-GB"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9606" y="3151731"/>
            <a:ext cx="6224788" cy="3194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8138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Importing Data from an Excel File cont’d</a:t>
            </a:r>
          </a:p>
        </p:txBody>
      </p:sp>
      <p:sp>
        <p:nvSpPr>
          <p:cNvPr id="3" name="Content Placeholder 2"/>
          <p:cNvSpPr>
            <a:spLocks noGrp="1"/>
          </p:cNvSpPr>
          <p:nvPr>
            <p:ph idx="1"/>
          </p:nvPr>
        </p:nvSpPr>
        <p:spPr/>
        <p:txBody>
          <a:bodyPr/>
          <a:lstStyle/>
          <a:p>
            <a:r>
              <a:rPr lang="en-GB" dirty="0"/>
              <a:t>The meaning of Read variable names from the first row of data checkbox, the Worksheet dropdown, and the Range box are the same as above. </a:t>
            </a:r>
            <a:endParaRPr lang="en-GB" dirty="0" smtClean="0"/>
          </a:p>
          <a:p>
            <a:r>
              <a:rPr lang="en-GB" dirty="0" smtClean="0"/>
              <a:t>The </a:t>
            </a:r>
            <a:r>
              <a:rPr lang="en-GB" dirty="0"/>
              <a:t>Maximum width for string columns option determines how wide a string variable should be; it is suggested to keep the default value unless you have a reason for altering it.</a:t>
            </a:r>
          </a:p>
        </p:txBody>
      </p:sp>
    </p:spTree>
    <p:extLst>
      <p:ext uri="{BB962C8B-B14F-4D97-AF65-F5344CB8AC3E}">
        <p14:creationId xmlns:p14="http://schemas.microsoft.com/office/powerpoint/2010/main" val="3769258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Importing Data from an Excel File cont’d</a:t>
            </a:r>
          </a:p>
        </p:txBody>
      </p:sp>
      <p:sp>
        <p:nvSpPr>
          <p:cNvPr id="3" name="Content Placeholder 2"/>
          <p:cNvSpPr>
            <a:spLocks noGrp="1"/>
          </p:cNvSpPr>
          <p:nvPr>
            <p:ph idx="1"/>
          </p:nvPr>
        </p:nvSpPr>
        <p:spPr/>
        <p:txBody>
          <a:bodyPr/>
          <a:lstStyle/>
          <a:p>
            <a:r>
              <a:rPr lang="en-GB" dirty="0"/>
              <a:t>Now the data will appear in SPSS. Here is an example of how sample data appear in SPSS once the data have been imported</a:t>
            </a:r>
            <a:r>
              <a:rPr lang="en-GB" dirty="0" smtClean="0"/>
              <a:t>:</a:t>
            </a:r>
          </a:p>
          <a:p>
            <a:endParaRPr lang="en-GB"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3140968"/>
            <a:ext cx="6408712" cy="3573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4632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cap="all" dirty="0" smtClean="0"/>
              <a:t>IMPORTING EXCEL FILES USING SYNTAX</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Alternatively</a:t>
            </a:r>
            <a:r>
              <a:rPr lang="en-GB" dirty="0"/>
              <a:t>, you can import Excel files into SPSS using syntax, instead of using the dropdown menus. The general syntax is:</a:t>
            </a:r>
          </a:p>
          <a:p>
            <a:r>
              <a:rPr lang="en-GB" dirty="0" smtClean="0">
                <a:solidFill>
                  <a:schemeClr val="accent6">
                    <a:lumMod val="75000"/>
                  </a:schemeClr>
                </a:solidFill>
              </a:rPr>
              <a:t>GET DATA /TYPE=XLSX </a:t>
            </a:r>
          </a:p>
          <a:p>
            <a:pPr marL="457200" lvl="1" indent="0">
              <a:buNone/>
            </a:pPr>
            <a:r>
              <a:rPr lang="en-GB" dirty="0" smtClean="0">
                <a:solidFill>
                  <a:schemeClr val="accent6">
                    <a:lumMod val="75000"/>
                  </a:schemeClr>
                </a:solidFill>
              </a:rPr>
              <a:t>/FILE='C:\path\to\file.xlsx' </a:t>
            </a:r>
          </a:p>
          <a:p>
            <a:pPr marL="457200" lvl="1" indent="0">
              <a:buNone/>
            </a:pPr>
            <a:r>
              <a:rPr lang="en-GB" dirty="0" smtClean="0">
                <a:solidFill>
                  <a:schemeClr val="accent6">
                    <a:lumMod val="75000"/>
                  </a:schemeClr>
                </a:solidFill>
              </a:rPr>
              <a:t>/SHEET=name 'Name-of-Sheet' </a:t>
            </a:r>
          </a:p>
          <a:p>
            <a:pPr marL="457200" lvl="1" indent="0">
              <a:buNone/>
            </a:pPr>
            <a:r>
              <a:rPr lang="en-GB" dirty="0" smtClean="0">
                <a:solidFill>
                  <a:schemeClr val="accent6">
                    <a:lumMod val="75000"/>
                  </a:schemeClr>
                </a:solidFill>
              </a:rPr>
              <a:t>/CELLRANGE=full /READNAMES=on </a:t>
            </a:r>
          </a:p>
          <a:p>
            <a:pPr marL="457200" lvl="1" indent="0">
              <a:buNone/>
            </a:pPr>
            <a:r>
              <a:rPr lang="en-GB" dirty="0" smtClean="0">
                <a:solidFill>
                  <a:schemeClr val="accent6">
                    <a:lumMod val="75000"/>
                  </a:schemeClr>
                </a:solidFill>
              </a:rPr>
              <a:t>/ASSUMEDSTRWIDTH=32767. </a:t>
            </a:r>
          </a:p>
          <a:p>
            <a:r>
              <a:rPr lang="en-GB" dirty="0" smtClean="0">
                <a:solidFill>
                  <a:schemeClr val="accent6">
                    <a:lumMod val="75000"/>
                  </a:schemeClr>
                </a:solidFill>
              </a:rPr>
              <a:t>EXECUTE. </a:t>
            </a:r>
          </a:p>
          <a:p>
            <a:r>
              <a:rPr lang="en-GB" dirty="0" smtClean="0">
                <a:solidFill>
                  <a:schemeClr val="accent6">
                    <a:lumMod val="75000"/>
                  </a:schemeClr>
                </a:solidFill>
              </a:rPr>
              <a:t>DATASET NAME </a:t>
            </a:r>
            <a:r>
              <a:rPr lang="en-GB" dirty="0" err="1" smtClean="0">
                <a:solidFill>
                  <a:schemeClr val="accent6">
                    <a:lumMod val="75000"/>
                  </a:schemeClr>
                </a:solidFill>
              </a:rPr>
              <a:t>DataSetExcel</a:t>
            </a:r>
            <a:r>
              <a:rPr lang="en-GB" dirty="0" smtClean="0">
                <a:solidFill>
                  <a:schemeClr val="accent6">
                    <a:lumMod val="75000"/>
                  </a:schemeClr>
                </a:solidFill>
              </a:rPr>
              <a:t> WINDOW=FRONT.</a:t>
            </a:r>
            <a:endParaRPr lang="en-GB" dirty="0">
              <a:solidFill>
                <a:schemeClr val="accent6">
                  <a:lumMod val="75000"/>
                </a:schemeClr>
              </a:solidFill>
            </a:endParaRPr>
          </a:p>
        </p:txBody>
      </p:sp>
    </p:spTree>
    <p:extLst>
      <p:ext uri="{BB962C8B-B14F-4D97-AF65-F5344CB8AC3E}">
        <p14:creationId xmlns:p14="http://schemas.microsoft.com/office/powerpoint/2010/main" val="2387960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614"/>
            <a:ext cx="8229600" cy="634082"/>
          </a:xfrm>
        </p:spPr>
        <p:txBody>
          <a:bodyPr>
            <a:normAutofit fontScale="90000"/>
          </a:bodyPr>
          <a:lstStyle/>
          <a:p>
            <a:r>
              <a:rPr lang="en-GB" dirty="0" smtClean="0"/>
              <a:t>Importing Data from a Text File</a:t>
            </a:r>
            <a:endParaRPr lang="en-GB" dirty="0"/>
          </a:p>
        </p:txBody>
      </p:sp>
      <p:sp>
        <p:nvSpPr>
          <p:cNvPr id="3" name="Content Placeholder 2"/>
          <p:cNvSpPr>
            <a:spLocks noGrp="1"/>
          </p:cNvSpPr>
          <p:nvPr>
            <p:ph idx="1"/>
          </p:nvPr>
        </p:nvSpPr>
        <p:spPr>
          <a:xfrm>
            <a:off x="457200" y="764704"/>
            <a:ext cx="8229600" cy="5976664"/>
          </a:xfrm>
        </p:spPr>
        <p:txBody>
          <a:bodyPr>
            <a:normAutofit fontScale="92500" lnSpcReduction="20000"/>
          </a:bodyPr>
          <a:lstStyle/>
          <a:p>
            <a:r>
              <a:rPr lang="en-GB" dirty="0" smtClean="0"/>
              <a:t>Data </a:t>
            </a:r>
            <a:r>
              <a:rPr lang="en-GB" dirty="0"/>
              <a:t>stored in text files have extensions such as </a:t>
            </a:r>
            <a:r>
              <a:rPr lang="en-GB" b="1" dirty="0"/>
              <a:t>*.txt</a:t>
            </a:r>
            <a:r>
              <a:rPr lang="en-GB" dirty="0"/>
              <a:t>, </a:t>
            </a:r>
            <a:r>
              <a:rPr lang="en-GB" b="1" dirty="0"/>
              <a:t>*.</a:t>
            </a:r>
            <a:r>
              <a:rPr lang="en-GB" b="1" dirty="0" err="1"/>
              <a:t>dat</a:t>
            </a:r>
            <a:r>
              <a:rPr lang="en-GB" dirty="0"/>
              <a:t>, or </a:t>
            </a:r>
            <a:r>
              <a:rPr lang="en-GB" b="1" dirty="0"/>
              <a:t>*.</a:t>
            </a:r>
            <a:r>
              <a:rPr lang="en-GB" b="1" dirty="0" err="1"/>
              <a:t>csv</a:t>
            </a:r>
            <a:r>
              <a:rPr lang="en-GB" dirty="0"/>
              <a:t>. </a:t>
            </a:r>
            <a:endParaRPr lang="en-GB" dirty="0" smtClean="0"/>
          </a:p>
          <a:p>
            <a:r>
              <a:rPr lang="en-GB" dirty="0" smtClean="0"/>
              <a:t>These </a:t>
            </a:r>
            <a:r>
              <a:rPr lang="en-GB" dirty="0"/>
              <a:t>types of data files are simple to create and are not tied to a proprietary software, so they are a popular choice for data files. </a:t>
            </a:r>
            <a:endParaRPr lang="en-GB" dirty="0" smtClean="0"/>
          </a:p>
          <a:p>
            <a:r>
              <a:rPr lang="en-GB" dirty="0" smtClean="0"/>
              <a:t>While </a:t>
            </a:r>
            <a:r>
              <a:rPr lang="en-GB" dirty="0"/>
              <a:t>many computers will automatically open these file types in a </a:t>
            </a:r>
            <a:r>
              <a:rPr lang="en-GB" dirty="0" err="1"/>
              <a:t>spreadsheet</a:t>
            </a:r>
            <a:r>
              <a:rPr lang="en-GB" dirty="0"/>
              <a:t> software like Microsoft Excel, they can be opened and edited using any text editor program.</a:t>
            </a:r>
          </a:p>
          <a:p>
            <a:r>
              <a:rPr lang="en-GB" dirty="0"/>
              <a:t>Importing text files into SPSS is slightly different than importing data in Excel </a:t>
            </a:r>
            <a:r>
              <a:rPr lang="en-GB" dirty="0" err="1"/>
              <a:t>spreadsheets</a:t>
            </a:r>
            <a:r>
              <a:rPr lang="en-GB" dirty="0"/>
              <a:t>. </a:t>
            </a:r>
            <a:endParaRPr lang="en-GB" dirty="0" smtClean="0"/>
          </a:p>
          <a:p>
            <a:r>
              <a:rPr lang="en-GB" dirty="0" smtClean="0"/>
              <a:t>There </a:t>
            </a:r>
            <a:r>
              <a:rPr lang="en-GB" dirty="0"/>
              <a:t>are several different patterns used to delineate the start and end of a particular variable, and SPSS must know what pattern to follow in order to read the data correctly.</a:t>
            </a:r>
          </a:p>
          <a:p>
            <a:endParaRPr lang="en-GB" dirty="0"/>
          </a:p>
        </p:txBody>
      </p:sp>
    </p:spTree>
    <p:extLst>
      <p:ext uri="{BB962C8B-B14F-4D97-AF65-F5344CB8AC3E}">
        <p14:creationId xmlns:p14="http://schemas.microsoft.com/office/powerpoint/2010/main" val="4033629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GB" dirty="0"/>
              <a:t>Importing Data from a Text File</a:t>
            </a:r>
          </a:p>
        </p:txBody>
      </p:sp>
      <p:sp>
        <p:nvSpPr>
          <p:cNvPr id="3" name="Content Placeholder 2"/>
          <p:cNvSpPr>
            <a:spLocks noGrp="1"/>
          </p:cNvSpPr>
          <p:nvPr>
            <p:ph idx="1"/>
          </p:nvPr>
        </p:nvSpPr>
        <p:spPr>
          <a:xfrm>
            <a:off x="457200" y="908720"/>
            <a:ext cx="8229600" cy="5832648"/>
          </a:xfrm>
        </p:spPr>
        <p:txBody>
          <a:bodyPr>
            <a:normAutofit/>
          </a:bodyPr>
          <a:lstStyle/>
          <a:p>
            <a:r>
              <a:rPr lang="en-GB" dirty="0"/>
              <a:t>In general, there are two patterns that SPSS recognizes:</a:t>
            </a:r>
          </a:p>
          <a:p>
            <a:pPr lvl="1"/>
            <a:r>
              <a:rPr lang="en-GB" b="1" dirty="0"/>
              <a:t>Delimited data:</a:t>
            </a:r>
            <a:r>
              <a:rPr lang="en-GB" dirty="0"/>
              <a:t> Each observation is </a:t>
            </a:r>
            <a:r>
              <a:rPr lang="en-GB" i="1" dirty="0"/>
              <a:t>delimited</a:t>
            </a:r>
            <a:r>
              <a:rPr lang="en-GB" dirty="0"/>
              <a:t>, or separated, by a particular character. Common characters used for delimiters include commas, tabs, and whitespace.</a:t>
            </a:r>
          </a:p>
          <a:p>
            <a:pPr marL="1257300" lvl="3" indent="0">
              <a:buNone/>
            </a:pPr>
            <a:r>
              <a:rPr lang="en-GB" sz="3200" dirty="0" err="1" smtClean="0"/>
              <a:t>ID,Age,Gender</a:t>
            </a:r>
            <a:r>
              <a:rPr lang="en-GB" sz="3200" dirty="0" smtClean="0"/>
              <a:t> </a:t>
            </a:r>
          </a:p>
          <a:p>
            <a:pPr marL="1257300" lvl="3" indent="0">
              <a:buNone/>
            </a:pPr>
            <a:r>
              <a:rPr lang="en-GB" sz="3200" dirty="0" smtClean="0"/>
              <a:t>A001,41,F </a:t>
            </a:r>
          </a:p>
          <a:p>
            <a:pPr marL="1257300" lvl="3" indent="0">
              <a:buNone/>
            </a:pPr>
            <a:r>
              <a:rPr lang="en-GB" sz="3200" dirty="0" smtClean="0"/>
              <a:t>A009,36,M </a:t>
            </a:r>
          </a:p>
          <a:p>
            <a:pPr marL="1257300" lvl="3" indent="0">
              <a:buNone/>
            </a:pPr>
            <a:r>
              <a:rPr lang="en-GB" sz="3200" dirty="0" smtClean="0"/>
              <a:t>C321,27,F</a:t>
            </a:r>
            <a:endParaRPr lang="en-GB" sz="3200" dirty="0"/>
          </a:p>
        </p:txBody>
      </p:sp>
    </p:spTree>
    <p:extLst>
      <p:ext uri="{BB962C8B-B14F-4D97-AF65-F5344CB8AC3E}">
        <p14:creationId xmlns:p14="http://schemas.microsoft.com/office/powerpoint/2010/main" val="270578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Importing Data from a Text File</a:t>
            </a:r>
          </a:p>
        </p:txBody>
      </p:sp>
      <p:sp>
        <p:nvSpPr>
          <p:cNvPr id="3" name="Content Placeholder 2"/>
          <p:cNvSpPr>
            <a:spLocks noGrp="1"/>
          </p:cNvSpPr>
          <p:nvPr>
            <p:ph idx="1"/>
          </p:nvPr>
        </p:nvSpPr>
        <p:spPr/>
        <p:txBody>
          <a:bodyPr>
            <a:normAutofit/>
          </a:bodyPr>
          <a:lstStyle/>
          <a:p>
            <a:r>
              <a:rPr lang="en-GB" sz="2800" b="1" dirty="0"/>
              <a:t>Fixed-width data:</a:t>
            </a:r>
            <a:r>
              <a:rPr lang="en-GB" sz="2800" dirty="0"/>
              <a:t> Rather than using delimiters between observations, the values of the variables are aligned vertically, so that a given variable always begins in a certain column position. </a:t>
            </a:r>
            <a:endParaRPr lang="en-GB" sz="2800" dirty="0" smtClean="0"/>
          </a:p>
          <a:p>
            <a:r>
              <a:rPr lang="en-GB" sz="2800" dirty="0" smtClean="0"/>
              <a:t>In </a:t>
            </a:r>
            <a:r>
              <a:rPr lang="en-GB" sz="2800" dirty="0"/>
              <a:t>the below example, ID always begins in column 1; Age always begins in column 10; and Gender always begins in column 16</a:t>
            </a:r>
            <a:r>
              <a:rPr lang="en-GB" sz="2800" dirty="0" smtClean="0"/>
              <a:t>.</a:t>
            </a:r>
          </a:p>
          <a:p>
            <a:endParaRPr lang="en-GB" sz="28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7690" y="4437112"/>
            <a:ext cx="4042702" cy="2245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4811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rmAutofit fontScale="90000"/>
          </a:bodyPr>
          <a:lstStyle/>
          <a:p>
            <a:r>
              <a:rPr lang="en-GB" dirty="0"/>
              <a:t>Importing Data from a Text File</a:t>
            </a:r>
          </a:p>
        </p:txBody>
      </p:sp>
      <p:sp>
        <p:nvSpPr>
          <p:cNvPr id="3" name="Content Placeholder 2"/>
          <p:cNvSpPr>
            <a:spLocks noGrp="1"/>
          </p:cNvSpPr>
          <p:nvPr>
            <p:ph idx="1"/>
          </p:nvPr>
        </p:nvSpPr>
        <p:spPr>
          <a:xfrm>
            <a:off x="457200" y="764704"/>
            <a:ext cx="8229600" cy="5904656"/>
          </a:xfrm>
        </p:spPr>
        <p:txBody>
          <a:bodyPr>
            <a:normAutofit fontScale="85000" lnSpcReduction="20000"/>
          </a:bodyPr>
          <a:lstStyle/>
          <a:p>
            <a:r>
              <a:rPr lang="en-GB" dirty="0"/>
              <a:t>Files with the extension *.txt are called </a:t>
            </a:r>
            <a:r>
              <a:rPr lang="en-GB" b="1" dirty="0"/>
              <a:t>text files</a:t>
            </a:r>
            <a:r>
              <a:rPr lang="en-GB" dirty="0"/>
              <a:t>. </a:t>
            </a:r>
            <a:endParaRPr lang="en-GB" dirty="0" smtClean="0"/>
          </a:p>
          <a:p>
            <a:r>
              <a:rPr lang="en-GB" dirty="0" smtClean="0"/>
              <a:t>This </a:t>
            </a:r>
            <a:r>
              <a:rPr lang="en-GB" dirty="0"/>
              <a:t>file type can contain fixed-width or delimited data. </a:t>
            </a:r>
            <a:endParaRPr lang="en-GB" dirty="0" smtClean="0"/>
          </a:p>
          <a:p>
            <a:r>
              <a:rPr lang="en-GB" dirty="0" smtClean="0"/>
              <a:t>A </a:t>
            </a:r>
            <a:r>
              <a:rPr lang="en-GB" dirty="0"/>
              <a:t>common variation for *.txt files is </a:t>
            </a:r>
            <a:r>
              <a:rPr lang="en-GB" i="1" dirty="0"/>
              <a:t>tab-delimited</a:t>
            </a:r>
            <a:r>
              <a:rPr lang="en-GB" dirty="0"/>
              <a:t> data; that is, each observation is separated by a tab (created using the Tab key on the keyboard). </a:t>
            </a:r>
            <a:endParaRPr lang="en-GB" dirty="0" smtClean="0"/>
          </a:p>
          <a:p>
            <a:r>
              <a:rPr lang="en-GB" dirty="0" smtClean="0"/>
              <a:t>However</a:t>
            </a:r>
            <a:r>
              <a:rPr lang="en-GB" dirty="0"/>
              <a:t>, *.txt files do not always use tabs as delimiters -- in fact, *.txt files can use any character as a delimiter, including commas.</a:t>
            </a:r>
          </a:p>
          <a:p>
            <a:r>
              <a:rPr lang="en-GB" dirty="0"/>
              <a:t>Files with the extension *.</a:t>
            </a:r>
            <a:r>
              <a:rPr lang="en-GB" dirty="0" err="1"/>
              <a:t>csv</a:t>
            </a:r>
            <a:r>
              <a:rPr lang="en-GB" dirty="0"/>
              <a:t> are called </a:t>
            </a:r>
            <a:r>
              <a:rPr lang="en-GB" i="1" dirty="0"/>
              <a:t>comma-delimited files</a:t>
            </a:r>
            <a:r>
              <a:rPr lang="en-GB" dirty="0"/>
              <a:t>; in this type of file, the observations are delimited by a comma. </a:t>
            </a:r>
            <a:endParaRPr lang="en-GB" dirty="0" smtClean="0"/>
          </a:p>
          <a:p>
            <a:r>
              <a:rPr lang="en-GB" dirty="0" smtClean="0"/>
              <a:t>Traditionally</a:t>
            </a:r>
            <a:r>
              <a:rPr lang="en-GB" dirty="0"/>
              <a:t>, the first row of a CSV file contains the variable names (separated by a comma), and the first row of data begins on the second line. </a:t>
            </a:r>
            <a:endParaRPr lang="en-GB" dirty="0" smtClean="0"/>
          </a:p>
          <a:p>
            <a:r>
              <a:rPr lang="en-GB" dirty="0" smtClean="0"/>
              <a:t>Missing </a:t>
            </a:r>
            <a:r>
              <a:rPr lang="en-GB" dirty="0"/>
              <a:t>values are denoted using adjacent delimiters.</a:t>
            </a:r>
          </a:p>
          <a:p>
            <a:endParaRPr lang="en-GB" dirty="0"/>
          </a:p>
        </p:txBody>
      </p:sp>
    </p:spTree>
    <p:extLst>
      <p:ext uri="{BB962C8B-B14F-4D97-AF65-F5344CB8AC3E}">
        <p14:creationId xmlns:p14="http://schemas.microsoft.com/office/powerpoint/2010/main" val="38878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511</Words>
  <Application>Microsoft Office PowerPoint</Application>
  <PresentationFormat>On-screen Show (4:3)</PresentationFormat>
  <Paragraphs>71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Importing files from other programs (MS Access, MS Excel) </vt:lpstr>
      <vt:lpstr>Importing Data into SPSS</vt:lpstr>
      <vt:lpstr>Importing Data from an Excel File</vt:lpstr>
      <vt:lpstr>Here is an example of what properly formatted data looks like in Excel 2010</vt:lpstr>
      <vt:lpstr>Importing Data from an Excel File cont’d</vt:lpstr>
      <vt:lpstr>Importing Data from an Excel File cont’d</vt:lpstr>
      <vt:lpstr>Importing Data from an Excel File cont’d</vt:lpstr>
      <vt:lpstr>Importing Data from an Excel File cont’d</vt:lpstr>
      <vt:lpstr>Importing Data from an Excel File cont’d</vt:lpstr>
      <vt:lpstr>Importing Data from an Excel File cont’d</vt:lpstr>
      <vt:lpstr>Importing Data from an Excel File cont’d</vt:lpstr>
      <vt:lpstr>IMPORTING EXCEL FILES USING SYNTAX</vt:lpstr>
      <vt:lpstr>Importing Data from a Text File</vt:lpstr>
      <vt:lpstr>Importing Data from a Text File</vt:lpstr>
      <vt:lpstr>Importing Data from a Text File</vt:lpstr>
      <vt:lpstr>Importing Data from a Text File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Importing files from other programs (MS Access, MS Excel) </dc:title>
  <dc:creator>KHO</dc:creator>
  <cp:lastModifiedBy>KHO</cp:lastModifiedBy>
  <cp:revision>10</cp:revision>
  <dcterms:created xsi:type="dcterms:W3CDTF">2021-12-06T15:09:04Z</dcterms:created>
  <dcterms:modified xsi:type="dcterms:W3CDTF">2023-05-26T22:50:13Z</dcterms:modified>
</cp:coreProperties>
</file>