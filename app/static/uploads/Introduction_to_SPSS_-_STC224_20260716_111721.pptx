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307" r:id="rId21"/>
    <p:sldId id="308" r:id="rId22"/>
    <p:sldId id="309" r:id="rId23"/>
    <p:sldId id="275" r:id="rId24"/>
    <p:sldId id="276" r:id="rId25"/>
    <p:sldId id="277" r:id="rId26"/>
    <p:sldId id="280" r:id="rId27"/>
    <p:sldId id="278" r:id="rId28"/>
    <p:sldId id="279" r:id="rId29"/>
    <p:sldId id="281" r:id="rId30"/>
    <p:sldId id="282" r:id="rId31"/>
    <p:sldId id="283" r:id="rId32"/>
    <p:sldId id="284" r:id="rId33"/>
    <p:sldId id="285" r:id="rId34"/>
    <p:sldId id="286" r:id="rId35"/>
    <p:sldId id="287" r:id="rId36"/>
    <p:sldId id="288" r:id="rId37"/>
    <p:sldId id="289" r:id="rId38"/>
    <p:sldId id="290" r:id="rId39"/>
    <p:sldId id="291" r:id="rId40"/>
    <p:sldId id="293" r:id="rId41"/>
    <p:sldId id="292"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D1F642D-89BF-4003-8E7D-BCF3C4E0BC81}" type="datetimeFigureOut">
              <a:rPr lang="en-GB" smtClean="0"/>
              <a:t>12/11/2021</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CF68533-DD09-47B2-8528-6DC885534FEB}" type="slidenum">
              <a:rPr lang="en-GB" smtClean="0"/>
              <a:t>‹#›</a:t>
            </a:fld>
            <a:endParaRPr lang="en-GB"/>
          </a:p>
        </p:txBody>
      </p:sp>
    </p:spTree>
    <p:extLst>
      <p:ext uri="{BB962C8B-B14F-4D97-AF65-F5344CB8AC3E}">
        <p14:creationId xmlns:p14="http://schemas.microsoft.com/office/powerpoint/2010/main" val="1794381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3BDB4E-1505-4D81-97FD-46A6170DD6AD}" type="slidenum">
              <a:rPr lang="en-US" smtClean="0"/>
              <a:pPr/>
              <a:t>20</a:t>
            </a:fld>
            <a:endParaRPr lang="en-US" dirty="0"/>
          </a:p>
        </p:txBody>
      </p:sp>
    </p:spTree>
    <p:extLst>
      <p:ext uri="{BB962C8B-B14F-4D97-AF65-F5344CB8AC3E}">
        <p14:creationId xmlns:p14="http://schemas.microsoft.com/office/powerpoint/2010/main" val="2881212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3BDB4E-1505-4D81-97FD-46A6170DD6AD}" type="slidenum">
              <a:rPr lang="en-US" smtClean="0"/>
              <a:pPr/>
              <a:t>21</a:t>
            </a:fld>
            <a:endParaRPr lang="en-US" dirty="0"/>
          </a:p>
        </p:txBody>
      </p:sp>
    </p:spTree>
    <p:extLst>
      <p:ext uri="{BB962C8B-B14F-4D97-AF65-F5344CB8AC3E}">
        <p14:creationId xmlns:p14="http://schemas.microsoft.com/office/powerpoint/2010/main" val="8935261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3BDB4E-1505-4D81-97FD-46A6170DD6AD}" type="slidenum">
              <a:rPr lang="en-US" smtClean="0"/>
              <a:pPr/>
              <a:t>22</a:t>
            </a:fld>
            <a:endParaRPr lang="en-US" dirty="0"/>
          </a:p>
        </p:txBody>
      </p:sp>
    </p:spTree>
    <p:extLst>
      <p:ext uri="{BB962C8B-B14F-4D97-AF65-F5344CB8AC3E}">
        <p14:creationId xmlns:p14="http://schemas.microsoft.com/office/powerpoint/2010/main" val="1007556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1859F16F-4AD5-43BB-B54C-EBE0E4135CDA}" type="datetimeFigureOut">
              <a:rPr lang="en-GB" smtClean="0"/>
              <a:t>12/11/2021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228975A-4E91-4EA9-BF69-0C393535D334}" type="slidenum">
              <a:rPr lang="en-GB" smtClean="0"/>
              <a:t>‹#›</a:t>
            </a:fld>
            <a:endParaRPr lang="en-GB"/>
          </a:p>
        </p:txBody>
      </p:sp>
    </p:spTree>
    <p:extLst>
      <p:ext uri="{BB962C8B-B14F-4D97-AF65-F5344CB8AC3E}">
        <p14:creationId xmlns:p14="http://schemas.microsoft.com/office/powerpoint/2010/main" val="261387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1859F16F-4AD5-43BB-B54C-EBE0E4135CDA}" type="datetimeFigureOut">
              <a:rPr lang="en-GB" smtClean="0"/>
              <a:t>12/11/2021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228975A-4E91-4EA9-BF69-0C393535D334}" type="slidenum">
              <a:rPr lang="en-GB" smtClean="0"/>
              <a:t>‹#›</a:t>
            </a:fld>
            <a:endParaRPr lang="en-GB"/>
          </a:p>
        </p:txBody>
      </p:sp>
    </p:spTree>
    <p:extLst>
      <p:ext uri="{BB962C8B-B14F-4D97-AF65-F5344CB8AC3E}">
        <p14:creationId xmlns:p14="http://schemas.microsoft.com/office/powerpoint/2010/main" val="4126660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859F16F-4AD5-43BB-B54C-EBE0E4135CDA}" type="datetimeFigureOut">
              <a:rPr lang="en-GB" smtClean="0"/>
              <a:t>12/11/2021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228975A-4E91-4EA9-BF69-0C393535D334}" type="slidenum">
              <a:rPr lang="en-GB" smtClean="0"/>
              <a:t>‹#›</a:t>
            </a:fld>
            <a:endParaRPr lang="en-GB"/>
          </a:p>
        </p:txBody>
      </p:sp>
    </p:spTree>
    <p:extLst>
      <p:ext uri="{BB962C8B-B14F-4D97-AF65-F5344CB8AC3E}">
        <p14:creationId xmlns:p14="http://schemas.microsoft.com/office/powerpoint/2010/main" val="4218781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1859F16F-4AD5-43BB-B54C-EBE0E4135CDA}" type="datetimeFigureOut">
              <a:rPr lang="en-GB" smtClean="0"/>
              <a:t>12/11/2021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228975A-4E91-4EA9-BF69-0C393535D334}" type="slidenum">
              <a:rPr lang="en-GB" smtClean="0"/>
              <a:t>‹#›</a:t>
            </a:fld>
            <a:endParaRPr lang="en-GB"/>
          </a:p>
        </p:txBody>
      </p:sp>
    </p:spTree>
    <p:extLst>
      <p:ext uri="{BB962C8B-B14F-4D97-AF65-F5344CB8AC3E}">
        <p14:creationId xmlns:p14="http://schemas.microsoft.com/office/powerpoint/2010/main" val="2807739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1859F16F-4AD5-43BB-B54C-EBE0E4135CDA}" type="datetimeFigureOut">
              <a:rPr lang="en-GB" smtClean="0"/>
              <a:t>12/11/2021</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228975A-4E91-4EA9-BF69-0C393535D334}" type="slidenum">
              <a:rPr lang="en-GB" smtClean="0"/>
              <a:t>‹#›</a:t>
            </a:fld>
            <a:endParaRPr lang="en-GB"/>
          </a:p>
        </p:txBody>
      </p:sp>
    </p:spTree>
    <p:extLst>
      <p:ext uri="{BB962C8B-B14F-4D97-AF65-F5344CB8AC3E}">
        <p14:creationId xmlns:p14="http://schemas.microsoft.com/office/powerpoint/2010/main" val="3042449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1859F16F-4AD5-43BB-B54C-EBE0E4135CDA}" type="datetimeFigureOut">
              <a:rPr lang="en-GB" smtClean="0"/>
              <a:t>12/11/2021</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228975A-4E91-4EA9-BF69-0C393535D334}" type="slidenum">
              <a:rPr lang="en-GB" smtClean="0"/>
              <a:t>‹#›</a:t>
            </a:fld>
            <a:endParaRPr lang="en-GB"/>
          </a:p>
        </p:txBody>
      </p:sp>
    </p:spTree>
    <p:extLst>
      <p:ext uri="{BB962C8B-B14F-4D97-AF65-F5344CB8AC3E}">
        <p14:creationId xmlns:p14="http://schemas.microsoft.com/office/powerpoint/2010/main" val="3680606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59F16F-4AD5-43BB-B54C-EBE0E4135CDA}" type="datetimeFigureOut">
              <a:rPr lang="en-GB" smtClean="0"/>
              <a:t>12/11/2021</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E228975A-4E91-4EA9-BF69-0C393535D334}" type="slidenum">
              <a:rPr lang="en-GB" smtClean="0"/>
              <a:t>‹#›</a:t>
            </a:fld>
            <a:endParaRPr lang="en-GB"/>
          </a:p>
        </p:txBody>
      </p:sp>
    </p:spTree>
    <p:extLst>
      <p:ext uri="{BB962C8B-B14F-4D97-AF65-F5344CB8AC3E}">
        <p14:creationId xmlns:p14="http://schemas.microsoft.com/office/powerpoint/2010/main" val="2821947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859F16F-4AD5-43BB-B54C-EBE0E4135CDA}" type="datetimeFigureOut">
              <a:rPr lang="en-GB" smtClean="0"/>
              <a:t>12/11/2021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228975A-4E91-4EA9-BF69-0C393535D334}" type="slidenum">
              <a:rPr lang="en-GB" smtClean="0"/>
              <a:t>‹#›</a:t>
            </a:fld>
            <a:endParaRPr lang="en-GB"/>
          </a:p>
        </p:txBody>
      </p:sp>
    </p:spTree>
    <p:extLst>
      <p:ext uri="{BB962C8B-B14F-4D97-AF65-F5344CB8AC3E}">
        <p14:creationId xmlns:p14="http://schemas.microsoft.com/office/powerpoint/2010/main" val="1441934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859F16F-4AD5-43BB-B54C-EBE0E4135CDA}" type="datetimeFigureOut">
              <a:rPr lang="en-GB" smtClean="0"/>
              <a:t>12/11/2021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228975A-4E91-4EA9-BF69-0C393535D334}" type="slidenum">
              <a:rPr lang="en-GB" smtClean="0"/>
              <a:t>‹#›</a:t>
            </a:fld>
            <a:endParaRPr lang="en-GB"/>
          </a:p>
        </p:txBody>
      </p:sp>
    </p:spTree>
    <p:extLst>
      <p:ext uri="{BB962C8B-B14F-4D97-AF65-F5344CB8AC3E}">
        <p14:creationId xmlns:p14="http://schemas.microsoft.com/office/powerpoint/2010/main" val="900802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1859F16F-4AD5-43BB-B54C-EBE0E4135CDA}" type="datetimeFigureOut">
              <a:rPr lang="en-GB" smtClean="0"/>
              <a:t>12/11/2021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228975A-4E91-4EA9-BF69-0C393535D334}" type="slidenum">
              <a:rPr lang="en-GB" smtClean="0"/>
              <a:t>‹#›</a:t>
            </a:fld>
            <a:endParaRPr lang="en-GB"/>
          </a:p>
        </p:txBody>
      </p:sp>
    </p:spTree>
    <p:extLst>
      <p:ext uri="{BB962C8B-B14F-4D97-AF65-F5344CB8AC3E}">
        <p14:creationId xmlns:p14="http://schemas.microsoft.com/office/powerpoint/2010/main" val="861825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1859F16F-4AD5-43BB-B54C-EBE0E4135CDA}" type="datetimeFigureOut">
              <a:rPr lang="en-GB" smtClean="0"/>
              <a:t>12/11/2021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228975A-4E91-4EA9-BF69-0C393535D334}" type="slidenum">
              <a:rPr lang="en-GB" smtClean="0"/>
              <a:t>‹#›</a:t>
            </a:fld>
            <a:endParaRPr lang="en-GB"/>
          </a:p>
        </p:txBody>
      </p:sp>
    </p:spTree>
    <p:extLst>
      <p:ext uri="{BB962C8B-B14F-4D97-AF65-F5344CB8AC3E}">
        <p14:creationId xmlns:p14="http://schemas.microsoft.com/office/powerpoint/2010/main" val="563572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59F16F-4AD5-43BB-B54C-EBE0E4135CDA}" type="datetimeFigureOut">
              <a:rPr lang="en-GB" smtClean="0"/>
              <a:t>12/11/2021</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28975A-4E91-4EA9-BF69-0C393535D334}" type="slidenum">
              <a:rPr lang="en-GB" smtClean="0"/>
              <a:t>‹#›</a:t>
            </a:fld>
            <a:endParaRPr lang="en-GB"/>
          </a:p>
        </p:txBody>
      </p:sp>
    </p:spTree>
    <p:extLst>
      <p:ext uri="{BB962C8B-B14F-4D97-AF65-F5344CB8AC3E}">
        <p14:creationId xmlns:p14="http://schemas.microsoft.com/office/powerpoint/2010/main" val="1293631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STC224</a:t>
            </a:r>
            <a:endParaRPr lang="en-GB" dirty="0"/>
          </a:p>
        </p:txBody>
      </p:sp>
      <p:sp>
        <p:nvSpPr>
          <p:cNvPr id="3" name="Subtitle 2"/>
          <p:cNvSpPr>
            <a:spLocks noGrp="1"/>
          </p:cNvSpPr>
          <p:nvPr>
            <p:ph type="subTitle" idx="1"/>
          </p:nvPr>
        </p:nvSpPr>
        <p:spPr/>
        <p:txBody>
          <a:bodyPr/>
          <a:lstStyle/>
          <a:p>
            <a:r>
              <a:rPr lang="en-GB" dirty="0" smtClean="0"/>
              <a:t>Introduction to SPSS</a:t>
            </a:r>
            <a:endParaRPr lang="en-GB" dirty="0"/>
          </a:p>
        </p:txBody>
      </p:sp>
    </p:spTree>
    <p:extLst>
      <p:ext uri="{BB962C8B-B14F-4D97-AF65-F5344CB8AC3E}">
        <p14:creationId xmlns:p14="http://schemas.microsoft.com/office/powerpoint/2010/main" val="183181582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is SPSS</a:t>
            </a:r>
            <a:endParaRPr lang="en-GB" dirty="0"/>
          </a:p>
        </p:txBody>
      </p:sp>
      <p:sp>
        <p:nvSpPr>
          <p:cNvPr id="3" name="Content Placeholder 2"/>
          <p:cNvSpPr>
            <a:spLocks noGrp="1"/>
          </p:cNvSpPr>
          <p:nvPr>
            <p:ph idx="1"/>
          </p:nvPr>
        </p:nvSpPr>
        <p:spPr/>
        <p:txBody>
          <a:bodyPr/>
          <a:lstStyle/>
          <a:p>
            <a:r>
              <a:rPr lang="en-US" dirty="0"/>
              <a:t>A computer software package used for statistical analysis of data. </a:t>
            </a:r>
          </a:p>
          <a:p>
            <a:r>
              <a:rPr lang="en-US" b="1" dirty="0"/>
              <a:t>SPSS</a:t>
            </a:r>
            <a:r>
              <a:rPr lang="en-US" dirty="0"/>
              <a:t> stands for </a:t>
            </a:r>
            <a:r>
              <a:rPr lang="en-US" b="1" dirty="0"/>
              <a:t>S</a:t>
            </a:r>
            <a:r>
              <a:rPr lang="en-US" dirty="0"/>
              <a:t>tatistical </a:t>
            </a:r>
            <a:r>
              <a:rPr lang="en-US" b="1" dirty="0"/>
              <a:t>P</a:t>
            </a:r>
            <a:r>
              <a:rPr lang="en-US" dirty="0"/>
              <a:t>ackage for the </a:t>
            </a:r>
            <a:r>
              <a:rPr lang="en-US" b="1" dirty="0"/>
              <a:t>S</a:t>
            </a:r>
            <a:r>
              <a:rPr lang="en-US" dirty="0"/>
              <a:t>ocial </a:t>
            </a:r>
            <a:r>
              <a:rPr lang="en-US" b="1" dirty="0"/>
              <a:t>S</a:t>
            </a:r>
            <a:r>
              <a:rPr lang="en-US" dirty="0"/>
              <a:t>ciences</a:t>
            </a:r>
          </a:p>
          <a:p>
            <a:endParaRPr lang="en-GB" dirty="0"/>
          </a:p>
        </p:txBody>
      </p:sp>
    </p:spTree>
    <p:extLst>
      <p:ext uri="{BB962C8B-B14F-4D97-AF65-F5344CB8AC3E}">
        <p14:creationId xmlns:p14="http://schemas.microsoft.com/office/powerpoint/2010/main" val="145448394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SPSS is used for</a:t>
            </a:r>
            <a:endParaRPr lang="en-GB" dirty="0"/>
          </a:p>
        </p:txBody>
      </p:sp>
      <p:sp>
        <p:nvSpPr>
          <p:cNvPr id="3" name="Content Placeholder 2"/>
          <p:cNvSpPr>
            <a:spLocks noGrp="1"/>
          </p:cNvSpPr>
          <p:nvPr>
            <p:ph idx="1"/>
          </p:nvPr>
        </p:nvSpPr>
        <p:spPr/>
        <p:txBody>
          <a:bodyPr/>
          <a:lstStyle/>
          <a:p>
            <a:r>
              <a:rPr lang="en-US" sz="2800" dirty="0" smtClean="0"/>
              <a:t>Some of its features are</a:t>
            </a:r>
          </a:p>
          <a:p>
            <a:pPr lvl="1"/>
            <a:r>
              <a:rPr lang="en-US" sz="2400" dirty="0" smtClean="0"/>
              <a:t>Plotting charts</a:t>
            </a:r>
          </a:p>
          <a:p>
            <a:pPr lvl="1"/>
            <a:r>
              <a:rPr lang="en-US" sz="2400" dirty="0" smtClean="0"/>
              <a:t>Summarizing data using descriptive statistics</a:t>
            </a:r>
          </a:p>
          <a:p>
            <a:pPr lvl="1"/>
            <a:r>
              <a:rPr lang="en-US" sz="2400" dirty="0" smtClean="0"/>
              <a:t>Drawing associations and inferences using inferential statistics</a:t>
            </a:r>
          </a:p>
          <a:p>
            <a:pPr lvl="1"/>
            <a:r>
              <a:rPr lang="en-US" sz="2400" dirty="0" smtClean="0"/>
              <a:t>As a database</a:t>
            </a:r>
          </a:p>
          <a:p>
            <a:endParaRPr lang="en-GB" dirty="0"/>
          </a:p>
        </p:txBody>
      </p:sp>
    </p:spTree>
    <p:extLst>
      <p:ext uri="{BB962C8B-B14F-4D97-AF65-F5344CB8AC3E}">
        <p14:creationId xmlns:p14="http://schemas.microsoft.com/office/powerpoint/2010/main" val="10290341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Installing IBM SPSS Statistics 20</a:t>
            </a:r>
            <a:endParaRPr lang="en-GB" dirty="0"/>
          </a:p>
        </p:txBody>
      </p:sp>
      <p:sp>
        <p:nvSpPr>
          <p:cNvPr id="3" name="Content Placeholder 2"/>
          <p:cNvSpPr>
            <a:spLocks noGrp="1"/>
          </p:cNvSpPr>
          <p:nvPr>
            <p:ph idx="1"/>
          </p:nvPr>
        </p:nvSpPr>
        <p:spPr/>
        <p:txBody>
          <a:bodyPr>
            <a:normAutofit fontScale="92500" lnSpcReduction="10000"/>
          </a:bodyPr>
          <a:lstStyle/>
          <a:p>
            <a:pPr marL="514350" indent="-514350">
              <a:buFont typeface="+mj-lt"/>
              <a:buAutoNum type="arabicPeriod"/>
            </a:pPr>
            <a:r>
              <a:rPr lang="en-US" dirty="0" smtClean="0"/>
              <a:t>Browse to the folder that contains the SPSS software</a:t>
            </a:r>
          </a:p>
          <a:p>
            <a:pPr marL="514350" indent="-514350">
              <a:buFont typeface="+mj-lt"/>
              <a:buAutoNum type="arabicPeriod"/>
            </a:pPr>
            <a:r>
              <a:rPr lang="en-US" dirty="0" smtClean="0"/>
              <a:t>Go to the folder “Setup”, double-click the file “Setup.exe”</a:t>
            </a:r>
          </a:p>
          <a:p>
            <a:pPr marL="514350" indent="-514350">
              <a:buFont typeface="+mj-lt"/>
              <a:buAutoNum type="arabicPeriod"/>
            </a:pPr>
            <a:r>
              <a:rPr lang="en-US" dirty="0" smtClean="0"/>
              <a:t>Read instructions and press next until it (the wizard) finishes installing</a:t>
            </a:r>
          </a:p>
          <a:p>
            <a:pPr marL="514350" indent="-514350">
              <a:buFont typeface="+mj-lt"/>
              <a:buAutoNum type="arabicPeriod"/>
            </a:pPr>
            <a:r>
              <a:rPr lang="en-US" dirty="0" smtClean="0"/>
              <a:t>Open the program “IBM SPSS Statistics 20” from the Windows Start Menu</a:t>
            </a:r>
          </a:p>
          <a:p>
            <a:pPr marL="514350" indent="-514350">
              <a:buFont typeface="+mj-lt"/>
              <a:buAutoNum type="arabicPeriod"/>
            </a:pPr>
            <a:r>
              <a:rPr lang="en-US" dirty="0" smtClean="0"/>
              <a:t>Apply the license available on </a:t>
            </a:r>
            <a:r>
              <a:rPr lang="en-US" b="1" i="1" dirty="0" smtClean="0"/>
              <a:t>readme</a:t>
            </a:r>
            <a:r>
              <a:rPr lang="en-US" dirty="0" smtClean="0"/>
              <a:t> text file</a:t>
            </a:r>
          </a:p>
          <a:p>
            <a:endParaRPr lang="en-GB" dirty="0"/>
          </a:p>
        </p:txBody>
      </p:sp>
    </p:spTree>
    <p:extLst>
      <p:ext uri="{BB962C8B-B14F-4D97-AF65-F5344CB8AC3E}">
        <p14:creationId xmlns:p14="http://schemas.microsoft.com/office/powerpoint/2010/main" val="6465772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864096"/>
          </a:xfrm>
        </p:spPr>
        <p:txBody>
          <a:bodyPr/>
          <a:lstStyle/>
          <a:p>
            <a:r>
              <a:rPr lang="en-US" dirty="0" smtClean="0"/>
              <a:t>SPSS interface - Windows</a:t>
            </a:r>
            <a:endParaRPr lang="en-GB" dirty="0"/>
          </a:p>
        </p:txBody>
      </p:sp>
      <p:sp>
        <p:nvSpPr>
          <p:cNvPr id="3" name="Content Placeholder 2"/>
          <p:cNvSpPr>
            <a:spLocks noGrp="1"/>
          </p:cNvSpPr>
          <p:nvPr>
            <p:ph idx="1"/>
          </p:nvPr>
        </p:nvSpPr>
        <p:spPr>
          <a:xfrm>
            <a:off x="457200" y="836712"/>
            <a:ext cx="8229600" cy="5904656"/>
          </a:xfrm>
        </p:spPr>
        <p:txBody>
          <a:bodyPr>
            <a:normAutofit fontScale="85000" lnSpcReduction="20000"/>
          </a:bodyPr>
          <a:lstStyle/>
          <a:p>
            <a:r>
              <a:rPr lang="en-GB" b="1" dirty="0" smtClean="0"/>
              <a:t>Data Editor window</a:t>
            </a:r>
          </a:p>
          <a:p>
            <a:pPr lvl="1"/>
            <a:r>
              <a:rPr lang="en-GB" dirty="0" smtClean="0"/>
              <a:t>When SPSS opens, the Data Editor window is presented on the screen</a:t>
            </a:r>
          </a:p>
          <a:p>
            <a:pPr lvl="1"/>
            <a:r>
              <a:rPr lang="en-GB" dirty="0" smtClean="0"/>
              <a:t>The Data Editor window </a:t>
            </a:r>
            <a:r>
              <a:rPr lang="en-GB" b="1" dirty="0" smtClean="0"/>
              <a:t>is used to create variables and enter data in SPSS. </a:t>
            </a:r>
          </a:p>
          <a:p>
            <a:pPr lvl="1"/>
            <a:r>
              <a:rPr lang="en-GB" dirty="0" smtClean="0"/>
              <a:t>At the very top of the window the SPSS filename is displayed (the name Untitled indicates that the file hasn’t been given a name yet). </a:t>
            </a:r>
          </a:p>
          <a:p>
            <a:pPr lvl="1"/>
            <a:r>
              <a:rPr lang="en-GB" dirty="0" smtClean="0"/>
              <a:t>Located below the filename is the menu bar, which contains several different menu options (File, Edit, View, etc.) that are used to complete a variety of tasks in SPSS (such as saving files, printing results, etc.). </a:t>
            </a:r>
          </a:p>
          <a:p>
            <a:pPr lvl="1"/>
            <a:r>
              <a:rPr lang="en-GB" dirty="0" smtClean="0"/>
              <a:t>Directly below the menu bar are a number of toolbar buttons that provide quick access to several different options in SPSS. </a:t>
            </a:r>
          </a:p>
          <a:p>
            <a:pPr lvl="1"/>
            <a:r>
              <a:rPr lang="en-GB" dirty="0" smtClean="0"/>
              <a:t>The</a:t>
            </a:r>
            <a:r>
              <a:rPr lang="en-GB" dirty="0"/>
              <a:t> </a:t>
            </a:r>
            <a:r>
              <a:rPr lang="en-GB" dirty="0" smtClean="0"/>
              <a:t>main area of the Data Editor window consists of a number of white rectangular objects (known as cells) which are used for entering data.</a:t>
            </a:r>
            <a:endParaRPr lang="en-GB" dirty="0"/>
          </a:p>
        </p:txBody>
      </p:sp>
    </p:spTree>
    <p:extLst>
      <p:ext uri="{BB962C8B-B14F-4D97-AF65-F5344CB8AC3E}">
        <p14:creationId xmlns:p14="http://schemas.microsoft.com/office/powerpoint/2010/main" val="436003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Data Editor window cont’d</a:t>
            </a:r>
            <a:endParaRPr lang="en-GB" dirty="0"/>
          </a:p>
        </p:txBody>
      </p:sp>
      <p:sp>
        <p:nvSpPr>
          <p:cNvPr id="3" name="Content Placeholder 2"/>
          <p:cNvSpPr>
            <a:spLocks noGrp="1"/>
          </p:cNvSpPr>
          <p:nvPr>
            <p:ph idx="1"/>
          </p:nvPr>
        </p:nvSpPr>
        <p:spPr>
          <a:xfrm>
            <a:off x="457200" y="1196752"/>
            <a:ext cx="8229600" cy="5472608"/>
          </a:xfrm>
        </p:spPr>
        <p:txBody>
          <a:bodyPr>
            <a:normAutofit fontScale="92500" lnSpcReduction="20000"/>
          </a:bodyPr>
          <a:lstStyle/>
          <a:p>
            <a:r>
              <a:rPr lang="en-GB" dirty="0" smtClean="0"/>
              <a:t>The Data Editor consists of two different windows, </a:t>
            </a:r>
          </a:p>
          <a:p>
            <a:pPr marL="971550" lvl="1" indent="-514350">
              <a:buFont typeface="+mj-lt"/>
              <a:buAutoNum type="alphaLcParenR"/>
            </a:pPr>
            <a:r>
              <a:rPr lang="en-GB" dirty="0" smtClean="0"/>
              <a:t>the </a:t>
            </a:r>
            <a:r>
              <a:rPr lang="en-GB" b="1" dirty="0" smtClean="0"/>
              <a:t>Data View window</a:t>
            </a:r>
            <a:r>
              <a:rPr lang="en-GB" dirty="0" smtClean="0"/>
              <a:t> and </a:t>
            </a:r>
          </a:p>
          <a:p>
            <a:pPr marL="971550" lvl="1" indent="-514350">
              <a:buFont typeface="+mj-lt"/>
              <a:buAutoNum type="alphaLcParenR"/>
            </a:pPr>
            <a:r>
              <a:rPr lang="en-GB" dirty="0" smtClean="0"/>
              <a:t>the </a:t>
            </a:r>
            <a:r>
              <a:rPr lang="en-GB" b="1" dirty="0" smtClean="0"/>
              <a:t>Variable View window</a:t>
            </a:r>
            <a:r>
              <a:rPr lang="en-GB" dirty="0" smtClean="0"/>
              <a:t>. </a:t>
            </a:r>
          </a:p>
          <a:p>
            <a:r>
              <a:rPr lang="en-GB" dirty="0" smtClean="0"/>
              <a:t>Each of these windows may be accessed by clicking on the appropriate tab at the bottom left-hand corner of the screen. </a:t>
            </a:r>
          </a:p>
          <a:p>
            <a:r>
              <a:rPr lang="en-GB" dirty="0" smtClean="0"/>
              <a:t>The tab that has the gold-</a:t>
            </a:r>
            <a:r>
              <a:rPr lang="en-GB" dirty="0" err="1" smtClean="0"/>
              <a:t>colored</a:t>
            </a:r>
            <a:r>
              <a:rPr lang="en-GB" dirty="0" smtClean="0"/>
              <a:t> background indicates which of the two windows is currently open (notice in Figure below that the Data View window is currently open). </a:t>
            </a:r>
          </a:p>
          <a:p>
            <a:r>
              <a:rPr lang="en-GB" dirty="0" smtClean="0"/>
              <a:t>If the Data View window is not currently open on your computer, click the Data View tab to open it.</a:t>
            </a:r>
            <a:endParaRPr lang="en-GB" dirty="0"/>
          </a:p>
        </p:txBody>
      </p:sp>
    </p:spTree>
    <p:extLst>
      <p:ext uri="{BB962C8B-B14F-4D97-AF65-F5344CB8AC3E}">
        <p14:creationId xmlns:p14="http://schemas.microsoft.com/office/powerpoint/2010/main" val="281601031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1301006"/>
          </a:xfrm>
        </p:spPr>
        <p:txBody>
          <a:bodyPr>
            <a:noAutofit/>
          </a:bodyPr>
          <a:lstStyle/>
          <a:p>
            <a:r>
              <a:rPr lang="en-GB" sz="3600" dirty="0" smtClean="0"/>
              <a:t>The SPSS 20 for Windows “What would you like to do?” dialog box</a:t>
            </a:r>
            <a:endParaRPr lang="en-GB" sz="3600" dirty="0"/>
          </a:p>
        </p:txBody>
      </p:sp>
      <p:sp>
        <p:nvSpPr>
          <p:cNvPr id="3" name="Content Placeholder 2"/>
          <p:cNvSpPr>
            <a:spLocks noGrp="1"/>
          </p:cNvSpPr>
          <p:nvPr>
            <p:ph idx="1"/>
          </p:nvPr>
        </p:nvSpPr>
        <p:spPr/>
        <p:txBody>
          <a:bodyPr/>
          <a:lstStyle/>
          <a:p>
            <a:endParaRPr lang="en-GB"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807" y="1268760"/>
            <a:ext cx="8050387" cy="5544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600274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The Data Editor window in SPSS (with the Data View tab selected)</a:t>
            </a:r>
            <a:endParaRPr lang="en-GB" dirty="0"/>
          </a:p>
        </p:txBody>
      </p:sp>
      <p:sp>
        <p:nvSpPr>
          <p:cNvPr id="3" name="Content Placeholder 2"/>
          <p:cNvSpPr>
            <a:spLocks noGrp="1"/>
          </p:cNvSpPr>
          <p:nvPr>
            <p:ph idx="1"/>
          </p:nvPr>
        </p:nvSpPr>
        <p:spPr/>
        <p:txBody>
          <a:bodyPr/>
          <a:lstStyle/>
          <a:p>
            <a:endParaRPr lang="en-GB"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5" y="1484785"/>
            <a:ext cx="8515350" cy="5184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053636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349" y="195026"/>
            <a:ext cx="8125302" cy="6546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996926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The Data View Window</a:t>
            </a:r>
            <a:endParaRPr lang="en-GB" dirty="0"/>
          </a:p>
        </p:txBody>
      </p:sp>
      <p:sp>
        <p:nvSpPr>
          <p:cNvPr id="3" name="Content Placeholder 2"/>
          <p:cNvSpPr>
            <a:spLocks noGrp="1"/>
          </p:cNvSpPr>
          <p:nvPr>
            <p:ph idx="1"/>
          </p:nvPr>
        </p:nvSpPr>
        <p:spPr>
          <a:xfrm>
            <a:off x="457200" y="1600200"/>
            <a:ext cx="8229600" cy="4997152"/>
          </a:xfrm>
        </p:spPr>
        <p:txBody>
          <a:bodyPr>
            <a:normAutofit fontScale="92500"/>
          </a:bodyPr>
          <a:lstStyle/>
          <a:p>
            <a:r>
              <a:rPr lang="en-GB" dirty="0" smtClean="0"/>
              <a:t>The main area of the Data View window shown in Figure below consists of a number of cells, which are used to enter data (data usually consists of numbers but can also be letters or symbols).</a:t>
            </a:r>
          </a:p>
          <a:p>
            <a:r>
              <a:rPr lang="en-GB" dirty="0" smtClean="0"/>
              <a:t>The rows of the Data View window are numbered (with rows </a:t>
            </a:r>
            <a:r>
              <a:rPr lang="en-GB" b="1" dirty="0" smtClean="0"/>
              <a:t>1 to 39 </a:t>
            </a:r>
            <a:r>
              <a:rPr lang="en-GB" dirty="0" smtClean="0"/>
              <a:t>shown in below), and the columns all initially have the name </a:t>
            </a:r>
            <a:r>
              <a:rPr lang="en-GB" b="1" dirty="0" smtClean="0"/>
              <a:t>var</a:t>
            </a:r>
            <a:r>
              <a:rPr lang="en-GB" dirty="0" smtClean="0"/>
              <a:t>. </a:t>
            </a:r>
          </a:p>
          <a:p>
            <a:r>
              <a:rPr lang="en-GB" dirty="0" smtClean="0"/>
              <a:t>The first cell (the cell in the upper left-hand corner) has a gold-</a:t>
            </a:r>
            <a:r>
              <a:rPr lang="en-GB" dirty="0" err="1" smtClean="0"/>
              <a:t>colored</a:t>
            </a:r>
            <a:r>
              <a:rPr lang="en-GB" dirty="0" smtClean="0"/>
              <a:t> background, indicating that it is active or ready to receive input</a:t>
            </a:r>
            <a:endParaRPr lang="en-GB" dirty="0"/>
          </a:p>
        </p:txBody>
      </p:sp>
    </p:spTree>
    <p:extLst>
      <p:ext uri="{BB962C8B-B14F-4D97-AF65-F5344CB8AC3E}">
        <p14:creationId xmlns:p14="http://schemas.microsoft.com/office/powerpoint/2010/main" val="35791904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Data View window—The window in SPSS that is used for entering data</a:t>
            </a:r>
            <a:endParaRPr lang="en-GB" dirty="0"/>
          </a:p>
        </p:txBody>
      </p:sp>
      <p:sp>
        <p:nvSpPr>
          <p:cNvPr id="3" name="Content Placeholder 2"/>
          <p:cNvSpPr>
            <a:spLocks noGrp="1"/>
          </p:cNvSpPr>
          <p:nvPr>
            <p:ph idx="1"/>
          </p:nvPr>
        </p:nvSpPr>
        <p:spPr/>
        <p:txBody>
          <a:bodyPr/>
          <a:lstStyle/>
          <a:p>
            <a:endParaRPr lang="en-GB"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1574" y="1484784"/>
            <a:ext cx="7154842" cy="5184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743118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6646"/>
            <a:ext cx="8229600" cy="706090"/>
          </a:xfrm>
        </p:spPr>
        <p:txBody>
          <a:bodyPr>
            <a:normAutofit fontScale="90000"/>
          </a:bodyPr>
          <a:lstStyle/>
          <a:p>
            <a:r>
              <a:rPr lang="en-GB" dirty="0" smtClean="0"/>
              <a:t>The Variable View Window</a:t>
            </a:r>
            <a:br>
              <a:rPr lang="en-GB" dirty="0" smtClean="0"/>
            </a:br>
            <a:endParaRPr lang="en-GB" dirty="0"/>
          </a:p>
        </p:txBody>
      </p:sp>
      <p:sp>
        <p:nvSpPr>
          <p:cNvPr id="3" name="Content Placeholder 2"/>
          <p:cNvSpPr>
            <a:spLocks noGrp="1"/>
          </p:cNvSpPr>
          <p:nvPr>
            <p:ph idx="1"/>
          </p:nvPr>
        </p:nvSpPr>
        <p:spPr>
          <a:xfrm>
            <a:off x="457200" y="1052736"/>
            <a:ext cx="8229600" cy="5073427"/>
          </a:xfrm>
        </p:spPr>
        <p:txBody>
          <a:bodyPr>
            <a:normAutofit/>
          </a:bodyPr>
          <a:lstStyle/>
          <a:p>
            <a:r>
              <a:rPr lang="en-GB" dirty="0" smtClean="0"/>
              <a:t>The Variable View window is used for creating variables in SPSS and adding information to a data file. </a:t>
            </a:r>
          </a:p>
          <a:p>
            <a:r>
              <a:rPr lang="en-GB" dirty="0" smtClean="0"/>
              <a:t>The Variable View window is accessed by clicking the Variable View tab at the bottom of the screen. </a:t>
            </a:r>
          </a:p>
          <a:p>
            <a:r>
              <a:rPr lang="en-GB" dirty="0" smtClean="0"/>
              <a:t>Since the Data View window is currently open, we’ll need to click on the Variable View tab to open the Variable View window.</a:t>
            </a:r>
            <a:endParaRPr lang="en-GB" dirty="0"/>
          </a:p>
        </p:txBody>
      </p:sp>
    </p:spTree>
    <p:extLst>
      <p:ext uri="{BB962C8B-B14F-4D97-AF65-F5344CB8AC3E}">
        <p14:creationId xmlns:p14="http://schemas.microsoft.com/office/powerpoint/2010/main" val="349636783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The Variable View Window</a:t>
            </a:r>
            <a:br>
              <a:rPr lang="en-GB" dirty="0" smtClean="0"/>
            </a:br>
            <a:r>
              <a:rPr lang="en-GB" dirty="0" smtClean="0"/>
              <a:t> cont’d</a:t>
            </a:r>
            <a:endParaRPr lang="en-GB" dirty="0"/>
          </a:p>
        </p:txBody>
      </p:sp>
      <p:sp>
        <p:nvSpPr>
          <p:cNvPr id="3" name="Content Placeholder 2"/>
          <p:cNvSpPr>
            <a:spLocks noGrp="1"/>
          </p:cNvSpPr>
          <p:nvPr>
            <p:ph idx="1"/>
          </p:nvPr>
        </p:nvSpPr>
        <p:spPr/>
        <p:txBody>
          <a:bodyPr/>
          <a:lstStyle/>
          <a:p>
            <a:r>
              <a:rPr lang="en-GB" dirty="0" smtClean="0"/>
              <a:t>Open the Variable View window by clicking on the Variable View tab. </a:t>
            </a:r>
          </a:p>
          <a:p>
            <a:r>
              <a:rPr lang="en-GB" dirty="0" smtClean="0"/>
              <a:t>The</a:t>
            </a:r>
            <a:r>
              <a:rPr lang="en-GB" dirty="0"/>
              <a:t> </a:t>
            </a:r>
            <a:r>
              <a:rPr lang="en-GB" dirty="0" smtClean="0"/>
              <a:t>Variable View window is presented in Figure below</a:t>
            </a:r>
            <a:endParaRPr lang="en-GB" dirty="0"/>
          </a:p>
        </p:txBody>
      </p:sp>
    </p:spTree>
    <p:extLst>
      <p:ext uri="{BB962C8B-B14F-4D97-AF65-F5344CB8AC3E}">
        <p14:creationId xmlns:p14="http://schemas.microsoft.com/office/powerpoint/2010/main" val="53010766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1143000"/>
          </a:xfrm>
        </p:spPr>
        <p:txBody>
          <a:bodyPr>
            <a:normAutofit fontScale="90000"/>
          </a:bodyPr>
          <a:lstStyle/>
          <a:p>
            <a:r>
              <a:rPr lang="en-GB" dirty="0" smtClean="0"/>
              <a:t>In the</a:t>
            </a:r>
            <a:r>
              <a:rPr lang="en-GB" dirty="0"/>
              <a:t> </a:t>
            </a:r>
            <a:r>
              <a:rPr lang="en-GB" dirty="0" smtClean="0"/>
              <a:t>Variable View window, each row is</a:t>
            </a:r>
            <a:r>
              <a:rPr lang="en-GB" dirty="0"/>
              <a:t> </a:t>
            </a:r>
            <a:r>
              <a:rPr lang="en-GB" dirty="0" smtClean="0"/>
              <a:t>for a different variable. </a:t>
            </a:r>
            <a:endParaRPr lang="en-GB" dirty="0"/>
          </a:p>
        </p:txBody>
      </p:sp>
      <p:sp>
        <p:nvSpPr>
          <p:cNvPr id="3" name="Content Placeholder 2"/>
          <p:cNvSpPr>
            <a:spLocks noGrp="1"/>
          </p:cNvSpPr>
          <p:nvPr>
            <p:ph idx="1"/>
          </p:nvPr>
        </p:nvSpPr>
        <p:spPr/>
        <p:txBody>
          <a:bodyPr/>
          <a:lstStyle/>
          <a:p>
            <a:endParaRPr lang="en-GB"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613" y="1196752"/>
            <a:ext cx="8486775" cy="4512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Straight Arrow Connector 4"/>
          <p:cNvCxnSpPr/>
          <p:nvPr/>
        </p:nvCxnSpPr>
        <p:spPr>
          <a:xfrm flipH="1">
            <a:off x="1295636" y="5373216"/>
            <a:ext cx="180020" cy="5040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683568" y="5877272"/>
            <a:ext cx="1944216" cy="923330"/>
          </a:xfrm>
          <a:prstGeom prst="rect">
            <a:avLst/>
          </a:prstGeom>
          <a:noFill/>
        </p:spPr>
        <p:txBody>
          <a:bodyPr wrap="square" rtlCol="0">
            <a:spAutoFit/>
          </a:bodyPr>
          <a:lstStyle/>
          <a:p>
            <a:r>
              <a:rPr lang="en-GB" b="1" dirty="0" smtClean="0"/>
              <a:t>The Variable</a:t>
            </a:r>
          </a:p>
          <a:p>
            <a:r>
              <a:rPr lang="en-GB" b="1" dirty="0" smtClean="0"/>
              <a:t>View tab</a:t>
            </a:r>
          </a:p>
          <a:p>
            <a:r>
              <a:rPr lang="en-GB" b="1" dirty="0" smtClean="0"/>
              <a:t>is selected. </a:t>
            </a:r>
            <a:endParaRPr lang="en-GB" b="1" dirty="0"/>
          </a:p>
        </p:txBody>
      </p:sp>
    </p:spTree>
    <p:extLst>
      <p:ext uri="{BB962C8B-B14F-4D97-AF65-F5344CB8AC3E}">
        <p14:creationId xmlns:p14="http://schemas.microsoft.com/office/powerpoint/2010/main" val="312861956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The Variable View Window</a:t>
            </a:r>
            <a:br>
              <a:rPr lang="en-GB" dirty="0" smtClean="0"/>
            </a:br>
            <a:r>
              <a:rPr lang="en-GB" dirty="0" smtClean="0"/>
              <a:t> cont’d</a:t>
            </a:r>
            <a:endParaRPr lang="en-GB" dirty="0"/>
          </a:p>
        </p:txBody>
      </p:sp>
      <p:sp>
        <p:nvSpPr>
          <p:cNvPr id="3" name="Content Placeholder 2"/>
          <p:cNvSpPr>
            <a:spLocks noGrp="1"/>
          </p:cNvSpPr>
          <p:nvPr>
            <p:ph idx="1"/>
          </p:nvPr>
        </p:nvSpPr>
        <p:spPr/>
        <p:txBody>
          <a:bodyPr/>
          <a:lstStyle/>
          <a:p>
            <a:r>
              <a:rPr lang="en-GB" dirty="0" smtClean="0"/>
              <a:t>As is the case with the Data View window, each of the rows of the Variable View window is numbered, and the main area of the window consists of a number of cells. </a:t>
            </a:r>
          </a:p>
          <a:p>
            <a:r>
              <a:rPr lang="en-GB" dirty="0" smtClean="0"/>
              <a:t>Unlike the Data View window, however, each of the columns in the Variable View window has a different name and function.</a:t>
            </a:r>
            <a:endParaRPr lang="en-GB" dirty="0"/>
          </a:p>
        </p:txBody>
      </p:sp>
    </p:spTree>
    <p:extLst>
      <p:ext uri="{BB962C8B-B14F-4D97-AF65-F5344CB8AC3E}">
        <p14:creationId xmlns:p14="http://schemas.microsoft.com/office/powerpoint/2010/main" val="16941791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NB</a:t>
            </a:r>
            <a:endParaRPr lang="en-GB" dirty="0"/>
          </a:p>
        </p:txBody>
      </p:sp>
      <p:sp>
        <p:nvSpPr>
          <p:cNvPr id="3" name="Content Placeholder 2"/>
          <p:cNvSpPr>
            <a:spLocks noGrp="1"/>
          </p:cNvSpPr>
          <p:nvPr>
            <p:ph idx="1"/>
          </p:nvPr>
        </p:nvSpPr>
        <p:spPr/>
        <p:txBody>
          <a:bodyPr/>
          <a:lstStyle/>
          <a:p>
            <a:r>
              <a:rPr lang="en-GB" dirty="0" smtClean="0"/>
              <a:t>Remember: In the Data Editor, the Variable View window is for creating variables and the Data View window is for entering data.</a:t>
            </a:r>
            <a:endParaRPr lang="en-GB" dirty="0"/>
          </a:p>
        </p:txBody>
      </p:sp>
    </p:spTree>
    <p:extLst>
      <p:ext uri="{BB962C8B-B14F-4D97-AF65-F5344CB8AC3E}">
        <p14:creationId xmlns:p14="http://schemas.microsoft.com/office/powerpoint/2010/main" val="9929540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Creating Data Files in SPSS</a:t>
            </a:r>
            <a:endParaRPr lang="en-GB" dirty="0"/>
          </a:p>
        </p:txBody>
      </p:sp>
      <p:sp>
        <p:nvSpPr>
          <p:cNvPr id="3" name="Content Placeholder 2"/>
          <p:cNvSpPr>
            <a:spLocks noGrp="1"/>
          </p:cNvSpPr>
          <p:nvPr>
            <p:ph idx="1"/>
          </p:nvPr>
        </p:nvSpPr>
        <p:spPr/>
        <p:txBody>
          <a:bodyPr>
            <a:normAutofit/>
          </a:bodyPr>
          <a:lstStyle/>
          <a:p>
            <a:r>
              <a:rPr lang="en-GB" dirty="0" smtClean="0"/>
              <a:t>An SPSS data file is a computer file that contains information (data) on one or more variables. </a:t>
            </a:r>
          </a:p>
          <a:p>
            <a:r>
              <a:rPr lang="en-GB" b="1" dirty="0" smtClean="0"/>
              <a:t>Data file</a:t>
            </a:r>
            <a:r>
              <a:rPr lang="en-GB" dirty="0" smtClean="0"/>
              <a:t>—A computer file that contains information on one or more variables.</a:t>
            </a:r>
          </a:p>
          <a:p>
            <a:r>
              <a:rPr lang="en-GB" b="1" dirty="0" smtClean="0"/>
              <a:t>Variable</a:t>
            </a:r>
            <a:r>
              <a:rPr lang="en-GB" dirty="0" smtClean="0"/>
              <a:t>—An attribute or characteristic that takes on two or more values.</a:t>
            </a:r>
            <a:endParaRPr lang="en-GB" dirty="0"/>
          </a:p>
        </p:txBody>
      </p:sp>
    </p:spTree>
    <p:extLst>
      <p:ext uri="{BB962C8B-B14F-4D97-AF65-F5344CB8AC3E}">
        <p14:creationId xmlns:p14="http://schemas.microsoft.com/office/powerpoint/2010/main" val="343230719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Autofit/>
          </a:bodyPr>
          <a:lstStyle/>
          <a:p>
            <a:r>
              <a:rPr lang="en-GB" sz="3200" dirty="0" smtClean="0"/>
              <a:t>The name and function of the different columns of the Variable View window.</a:t>
            </a:r>
            <a:endParaRPr lang="en-GB" sz="3200" dirty="0"/>
          </a:p>
        </p:txBody>
      </p:sp>
      <p:sp>
        <p:nvSpPr>
          <p:cNvPr id="3" name="Content Placeholder 2"/>
          <p:cNvSpPr>
            <a:spLocks noGrp="1"/>
          </p:cNvSpPr>
          <p:nvPr>
            <p:ph idx="1"/>
          </p:nvPr>
        </p:nvSpPr>
        <p:spPr/>
        <p:txBody>
          <a:bodyPr/>
          <a:lstStyle/>
          <a:p>
            <a:endParaRPr lang="en-GB"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052737"/>
            <a:ext cx="8784976" cy="5760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1149651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60648"/>
            <a:ext cx="8229600" cy="1143000"/>
          </a:xfrm>
        </p:spPr>
        <p:txBody>
          <a:bodyPr>
            <a:normAutofit fontScale="90000"/>
          </a:bodyPr>
          <a:lstStyle/>
          <a:p>
            <a:r>
              <a:rPr lang="en-GB" dirty="0" smtClean="0"/>
              <a:t>The name and function of the different columns of the Variable View window cont’d</a:t>
            </a:r>
            <a:endParaRPr lang="en-GB" dirty="0"/>
          </a:p>
        </p:txBody>
      </p:sp>
      <p:sp>
        <p:nvSpPr>
          <p:cNvPr id="3" name="Content Placeholder 2"/>
          <p:cNvSpPr>
            <a:spLocks noGrp="1"/>
          </p:cNvSpPr>
          <p:nvPr>
            <p:ph idx="1"/>
          </p:nvPr>
        </p:nvSpPr>
        <p:spPr/>
        <p:txBody>
          <a:bodyPr/>
          <a:lstStyle/>
          <a:p>
            <a:endParaRPr lang="en-GB"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96" y="1700808"/>
            <a:ext cx="8964487" cy="3744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21455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Entering data :: </a:t>
            </a:r>
            <a:r>
              <a:rPr lang="en-US" sz="2800" dirty="0" smtClean="0"/>
              <a:t>Creating the questionnaire template</a:t>
            </a:r>
            <a:endParaRPr lang="en-US" dirty="0"/>
          </a:p>
        </p:txBody>
      </p:sp>
      <p:sp>
        <p:nvSpPr>
          <p:cNvPr id="3" name="Content Placeholder 2"/>
          <p:cNvSpPr>
            <a:spLocks noGrp="1"/>
          </p:cNvSpPr>
          <p:nvPr>
            <p:ph idx="1"/>
          </p:nvPr>
        </p:nvSpPr>
        <p:spPr/>
        <p:txBody>
          <a:bodyPr>
            <a:noAutofit/>
          </a:bodyPr>
          <a:lstStyle/>
          <a:p>
            <a:r>
              <a:rPr lang="en-US" sz="2400" dirty="0" smtClean="0"/>
              <a:t>This is the first step in creating your data file</a:t>
            </a:r>
          </a:p>
          <a:p>
            <a:r>
              <a:rPr lang="en-US" sz="2400" dirty="0" smtClean="0"/>
              <a:t>Switch to the variable view</a:t>
            </a:r>
          </a:p>
          <a:p>
            <a:pPr lvl="1"/>
            <a:r>
              <a:rPr lang="en-US" sz="2000" dirty="0" smtClean="0"/>
              <a:t>Variable name – do not input spaces, cannot start with a number, keep them short</a:t>
            </a:r>
          </a:p>
          <a:p>
            <a:pPr lvl="1"/>
            <a:r>
              <a:rPr lang="en-US" sz="2000" dirty="0" smtClean="0"/>
              <a:t>Variable type – the data type of the variable</a:t>
            </a:r>
          </a:p>
          <a:p>
            <a:pPr lvl="1"/>
            <a:r>
              <a:rPr lang="en-US" sz="2000" dirty="0" smtClean="0"/>
              <a:t>Width – has to do with the display of variables in the data view</a:t>
            </a:r>
          </a:p>
          <a:p>
            <a:pPr lvl="1"/>
            <a:r>
              <a:rPr lang="en-US" sz="2000" dirty="0" smtClean="0"/>
              <a:t>Decimals – The number of decimals for the numeric variables</a:t>
            </a:r>
          </a:p>
          <a:p>
            <a:pPr lvl="1"/>
            <a:r>
              <a:rPr lang="en-US" sz="2000" dirty="0" smtClean="0"/>
              <a:t>Label – the display name for the variable. Can contain any character with spaces</a:t>
            </a:r>
          </a:p>
        </p:txBody>
      </p:sp>
      <p:sp>
        <p:nvSpPr>
          <p:cNvPr id="4" name="Footer Placeholder 3"/>
          <p:cNvSpPr>
            <a:spLocks noGrp="1"/>
          </p:cNvSpPr>
          <p:nvPr>
            <p:ph type="ftr" sz="quarter" idx="11"/>
          </p:nvPr>
        </p:nvSpPr>
        <p:spPr>
          <a:xfrm>
            <a:off x="338636" y="6041363"/>
            <a:ext cx="6483240" cy="365125"/>
          </a:xfrm>
        </p:spPr>
        <p:txBody>
          <a:bodyPr/>
          <a:lstStyle/>
          <a:p>
            <a:endParaRPr lang="en-US" dirty="0"/>
          </a:p>
        </p:txBody>
      </p:sp>
    </p:spTree>
    <p:extLst>
      <p:ext uri="{BB962C8B-B14F-4D97-AF65-F5344CB8AC3E}">
        <p14:creationId xmlns:p14="http://schemas.microsoft.com/office/powerpoint/2010/main" val="1595178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Entering data :: </a:t>
            </a:r>
            <a:r>
              <a:rPr lang="en-US" sz="2400" dirty="0" smtClean="0"/>
              <a:t>Creating the questionnaire template […]</a:t>
            </a:r>
            <a:endParaRPr lang="en-US" dirty="0"/>
          </a:p>
        </p:txBody>
      </p:sp>
      <p:sp>
        <p:nvSpPr>
          <p:cNvPr id="3" name="Content Placeholder 2"/>
          <p:cNvSpPr>
            <a:spLocks noGrp="1"/>
          </p:cNvSpPr>
          <p:nvPr>
            <p:ph idx="1"/>
          </p:nvPr>
        </p:nvSpPr>
        <p:spPr/>
        <p:txBody>
          <a:bodyPr>
            <a:normAutofit/>
          </a:bodyPr>
          <a:lstStyle/>
          <a:p>
            <a:pPr lvl="1"/>
            <a:r>
              <a:rPr lang="en-US" sz="2400" dirty="0"/>
              <a:t>Values – These are options provided on a categorical variable e.g. Male, Female or Agree, Disagree, Strongly agree</a:t>
            </a:r>
          </a:p>
          <a:p>
            <a:pPr lvl="1"/>
            <a:r>
              <a:rPr lang="en-US" sz="2400" dirty="0"/>
              <a:t>Missing – Specify the value that will be entered for missing values</a:t>
            </a:r>
          </a:p>
          <a:p>
            <a:pPr lvl="1"/>
            <a:r>
              <a:rPr lang="en-US" sz="2400" dirty="0"/>
              <a:t>Columns – Width of the column holding data for the variable</a:t>
            </a:r>
          </a:p>
          <a:p>
            <a:pPr lvl="1"/>
            <a:r>
              <a:rPr lang="en-US" sz="2400" dirty="0"/>
              <a:t>Align – How the data will be aligned in the data view</a:t>
            </a:r>
          </a:p>
          <a:p>
            <a:pPr lvl="1"/>
            <a:r>
              <a:rPr lang="en-US" sz="2400" dirty="0" smtClean="0"/>
              <a:t>Role </a:t>
            </a:r>
            <a:r>
              <a:rPr lang="en-US" sz="2400" dirty="0"/>
              <a:t>– How the variable will be treated in specific dialog boxes. E.g. as dependent or independent variables</a:t>
            </a:r>
          </a:p>
        </p:txBody>
      </p:sp>
      <p:sp>
        <p:nvSpPr>
          <p:cNvPr id="4" name="Footer Placeholder 3"/>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832048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Entering data :: </a:t>
            </a:r>
            <a:r>
              <a:rPr lang="en-US" sz="2400" dirty="0" smtClean="0"/>
              <a:t>Creating the questionnaire template […]</a:t>
            </a:r>
            <a:endParaRPr lang="en-US" dirty="0"/>
          </a:p>
        </p:txBody>
      </p:sp>
      <p:sp>
        <p:nvSpPr>
          <p:cNvPr id="3" name="Content Placeholder 2"/>
          <p:cNvSpPr>
            <a:spLocks noGrp="1"/>
          </p:cNvSpPr>
          <p:nvPr>
            <p:ph idx="1"/>
          </p:nvPr>
        </p:nvSpPr>
        <p:spPr/>
        <p:txBody>
          <a:bodyPr>
            <a:normAutofit/>
          </a:bodyPr>
          <a:lstStyle/>
          <a:p>
            <a:pPr lvl="1"/>
            <a:r>
              <a:rPr lang="en-US" sz="2800" dirty="0"/>
              <a:t>Measure – The levels of measurement of the </a:t>
            </a:r>
            <a:r>
              <a:rPr lang="en-US" sz="2800" dirty="0" smtClean="0"/>
              <a:t>variable</a:t>
            </a:r>
          </a:p>
          <a:p>
            <a:pPr lvl="2"/>
            <a:r>
              <a:rPr lang="en-US" sz="2400" b="1" dirty="0" smtClean="0"/>
              <a:t>Nominal : </a:t>
            </a:r>
            <a:r>
              <a:rPr lang="en-US" sz="2400" dirty="0" smtClean="0"/>
              <a:t>There is no intrinsic ranking to the categories e.g. Sex, religious affiliation</a:t>
            </a:r>
          </a:p>
          <a:p>
            <a:pPr lvl="2"/>
            <a:r>
              <a:rPr lang="en-US" sz="2400" b="1" dirty="0" smtClean="0"/>
              <a:t>Ordinal : </a:t>
            </a:r>
            <a:r>
              <a:rPr lang="en-US" sz="2400" dirty="0" smtClean="0"/>
              <a:t>There is intrinsic order to the categories e.g. level of satisfaction (satisfied, highly satisfied) or confidence (agree, strongly agree)</a:t>
            </a:r>
          </a:p>
          <a:p>
            <a:pPr lvl="2"/>
            <a:r>
              <a:rPr lang="en-US" sz="2400" b="1" dirty="0" smtClean="0"/>
              <a:t>Scale : </a:t>
            </a:r>
            <a:r>
              <a:rPr lang="en-US" sz="2400" dirty="0" smtClean="0"/>
              <a:t>Continuous values with meaningful metric e.g. salary, age</a:t>
            </a:r>
            <a:endParaRPr lang="en-US" sz="2400" dirty="0"/>
          </a:p>
        </p:txBody>
      </p:sp>
      <p:sp>
        <p:nvSpPr>
          <p:cNvPr id="4" name="Footer Placeholder 3"/>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531640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2800" b="1" dirty="0" smtClean="0"/>
              <a:t>Figure below is sample data set to be entered into SPSS. (Note: The Person column is included for illustration but will not be entered into SPSS.)</a:t>
            </a:r>
            <a:endParaRPr lang="en-GB" sz="2800" b="1" dirty="0"/>
          </a:p>
        </p:txBody>
      </p:sp>
      <p:sp>
        <p:nvSpPr>
          <p:cNvPr id="3" name="Content Placeholder 2"/>
          <p:cNvSpPr>
            <a:spLocks noGrp="1"/>
          </p:cNvSpPr>
          <p:nvPr>
            <p:ph idx="1"/>
          </p:nvPr>
        </p:nvSpPr>
        <p:spPr/>
        <p:txBody>
          <a:bodyPr/>
          <a:lstStyle/>
          <a:p>
            <a:endParaRPr lang="en-GB"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308" y="1628800"/>
            <a:ext cx="8759188" cy="2776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8547009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Entering Data in SPSS</a:t>
            </a:r>
            <a:endParaRPr lang="en-GB" dirty="0"/>
          </a:p>
        </p:txBody>
      </p:sp>
      <p:sp>
        <p:nvSpPr>
          <p:cNvPr id="3" name="Content Placeholder 2"/>
          <p:cNvSpPr>
            <a:spLocks noGrp="1"/>
          </p:cNvSpPr>
          <p:nvPr>
            <p:ph idx="1"/>
          </p:nvPr>
        </p:nvSpPr>
        <p:spPr/>
        <p:txBody>
          <a:bodyPr>
            <a:normAutofit fontScale="85000" lnSpcReduction="20000"/>
          </a:bodyPr>
          <a:lstStyle/>
          <a:p>
            <a:r>
              <a:rPr lang="en-GB" dirty="0" smtClean="0"/>
              <a:t>Notice in Figure above that the variables </a:t>
            </a:r>
            <a:r>
              <a:rPr lang="en-GB" b="1" dirty="0" smtClean="0"/>
              <a:t>age</a:t>
            </a:r>
            <a:r>
              <a:rPr lang="en-GB" dirty="0" smtClean="0"/>
              <a:t> and </a:t>
            </a:r>
            <a:r>
              <a:rPr lang="en-GB" b="1" dirty="0" err="1" smtClean="0"/>
              <a:t>iq</a:t>
            </a:r>
            <a:r>
              <a:rPr lang="en-GB" dirty="0" smtClean="0"/>
              <a:t> are in numeric form (i.e., they have numbers for values), while </a:t>
            </a:r>
            <a:r>
              <a:rPr lang="en-GB" b="1" dirty="0" smtClean="0"/>
              <a:t>gender</a:t>
            </a:r>
            <a:r>
              <a:rPr lang="en-GB" dirty="0" smtClean="0"/>
              <a:t> and </a:t>
            </a:r>
            <a:r>
              <a:rPr lang="en-GB" b="1" dirty="0" smtClean="0"/>
              <a:t>employment</a:t>
            </a:r>
            <a:r>
              <a:rPr lang="en-GB" dirty="0" smtClean="0"/>
              <a:t> are in character form (i.e., they have words for values). </a:t>
            </a:r>
          </a:p>
          <a:p>
            <a:r>
              <a:rPr lang="en-GB" dirty="0" smtClean="0"/>
              <a:t>An important point to remember (for the vast majority of the procedures covered in this text) is that </a:t>
            </a:r>
            <a:r>
              <a:rPr lang="en-GB" b="1" dirty="0" smtClean="0"/>
              <a:t>to perform analyses on a variable in SPSS, it must be in numeric form</a:t>
            </a:r>
            <a:r>
              <a:rPr lang="en-GB" dirty="0" smtClean="0"/>
              <a:t>.</a:t>
            </a:r>
          </a:p>
          <a:p>
            <a:r>
              <a:rPr lang="en-GB" dirty="0" smtClean="0"/>
              <a:t>Therefore, before entering the data into SPSS, we’ll need to change the variables that are currently in character form (</a:t>
            </a:r>
            <a:r>
              <a:rPr lang="en-GB" b="1" dirty="0" smtClean="0"/>
              <a:t>gender</a:t>
            </a:r>
            <a:r>
              <a:rPr lang="en-GB" dirty="0" smtClean="0"/>
              <a:t> and </a:t>
            </a:r>
            <a:r>
              <a:rPr lang="en-GB" b="1" dirty="0" smtClean="0"/>
              <a:t>employment</a:t>
            </a:r>
            <a:r>
              <a:rPr lang="en-GB" dirty="0" smtClean="0"/>
              <a:t>) to numeric form. </a:t>
            </a:r>
          </a:p>
        </p:txBody>
      </p:sp>
    </p:spTree>
    <p:extLst>
      <p:ext uri="{BB962C8B-B14F-4D97-AF65-F5344CB8AC3E}">
        <p14:creationId xmlns:p14="http://schemas.microsoft.com/office/powerpoint/2010/main" val="134275929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Assigning Numbers to the Categories of Gender and Employment</a:t>
            </a:r>
            <a:endParaRPr lang="en-GB" dirty="0"/>
          </a:p>
        </p:txBody>
      </p:sp>
      <p:sp>
        <p:nvSpPr>
          <p:cNvPr id="3" name="Content Placeholder 2"/>
          <p:cNvSpPr>
            <a:spLocks noGrp="1"/>
          </p:cNvSpPr>
          <p:nvPr>
            <p:ph idx="1"/>
          </p:nvPr>
        </p:nvSpPr>
        <p:spPr/>
        <p:txBody>
          <a:bodyPr>
            <a:normAutofit fontScale="85000" lnSpcReduction="20000"/>
          </a:bodyPr>
          <a:lstStyle/>
          <a:p>
            <a:r>
              <a:rPr lang="en-GB" dirty="0" smtClean="0"/>
              <a:t>We’ll begin by assigning numbers to the different categories of gender. </a:t>
            </a:r>
          </a:p>
          <a:p>
            <a:r>
              <a:rPr lang="en-GB" dirty="0" smtClean="0"/>
              <a:t>As far as the rules for assigning numbers are concerned, any number can be assigned to the different categories of a variable as long as each category is assigned a different number (you may recognize this as an example of a </a:t>
            </a:r>
            <a:r>
              <a:rPr lang="en-GB" b="1" dirty="0" smtClean="0"/>
              <a:t>nominal scale of measurement</a:t>
            </a:r>
            <a:r>
              <a:rPr lang="en-GB" dirty="0" smtClean="0"/>
              <a:t>). </a:t>
            </a:r>
          </a:p>
          <a:p>
            <a:r>
              <a:rPr lang="en-GB" dirty="0" smtClean="0"/>
              <a:t>To illustrate this process, we’ll assign </a:t>
            </a:r>
            <a:r>
              <a:rPr lang="en-GB" b="1" dirty="0" smtClean="0"/>
              <a:t>males a 1 </a:t>
            </a:r>
            <a:r>
              <a:rPr lang="en-GB" dirty="0" smtClean="0"/>
              <a:t>and </a:t>
            </a:r>
            <a:r>
              <a:rPr lang="en-GB" b="1" dirty="0" smtClean="0"/>
              <a:t>females a 2</a:t>
            </a:r>
            <a:r>
              <a:rPr lang="en-GB" dirty="0" smtClean="0"/>
              <a:t>. </a:t>
            </a:r>
          </a:p>
          <a:p>
            <a:r>
              <a:rPr lang="en-GB" dirty="0" smtClean="0"/>
              <a:t>Therefore, for every male in the data set we’ll enter a 1, and for every female we’ll enter a 2</a:t>
            </a:r>
            <a:endParaRPr lang="en-GB" dirty="0"/>
          </a:p>
        </p:txBody>
      </p:sp>
    </p:spTree>
    <p:extLst>
      <p:ext uri="{BB962C8B-B14F-4D97-AF65-F5344CB8AC3E}">
        <p14:creationId xmlns:p14="http://schemas.microsoft.com/office/powerpoint/2010/main" val="389859307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Entering Data in SPSS cont’d</a:t>
            </a:r>
            <a:endParaRPr lang="en-GB" dirty="0"/>
          </a:p>
        </p:txBody>
      </p:sp>
      <p:sp>
        <p:nvSpPr>
          <p:cNvPr id="3" name="Content Placeholder 2"/>
          <p:cNvSpPr>
            <a:spLocks noGrp="1"/>
          </p:cNvSpPr>
          <p:nvPr>
            <p:ph idx="1"/>
          </p:nvPr>
        </p:nvSpPr>
        <p:spPr/>
        <p:txBody>
          <a:bodyPr/>
          <a:lstStyle/>
          <a:p>
            <a:endParaRPr lang="en-GB" dirty="0"/>
          </a:p>
        </p:txBody>
      </p:sp>
      <p:pic>
        <p:nvPicPr>
          <p:cNvPr id="102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56792"/>
            <a:ext cx="9036496" cy="2987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9821560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Entering Data in SPSS cont’d</a:t>
            </a:r>
            <a:endParaRPr lang="en-GB" dirty="0"/>
          </a:p>
        </p:txBody>
      </p:sp>
      <p:sp>
        <p:nvSpPr>
          <p:cNvPr id="3" name="Content Placeholder 2"/>
          <p:cNvSpPr>
            <a:spLocks noGrp="1"/>
          </p:cNvSpPr>
          <p:nvPr>
            <p:ph idx="1"/>
          </p:nvPr>
        </p:nvSpPr>
        <p:spPr/>
        <p:txBody>
          <a:bodyPr>
            <a:normAutofit fontScale="92500" lnSpcReduction="10000"/>
          </a:bodyPr>
          <a:lstStyle/>
          <a:p>
            <a:r>
              <a:rPr lang="en-GB" dirty="0" smtClean="0"/>
              <a:t>Variables such as gender and employment are known as </a:t>
            </a:r>
            <a:r>
              <a:rPr lang="en-GB" b="1" dirty="0" smtClean="0"/>
              <a:t>categorical variables</a:t>
            </a:r>
            <a:r>
              <a:rPr lang="en-GB" dirty="0" smtClean="0"/>
              <a:t>. </a:t>
            </a:r>
          </a:p>
          <a:p>
            <a:r>
              <a:rPr lang="en-GB" b="1" dirty="0" smtClean="0"/>
              <a:t>Categorical</a:t>
            </a:r>
            <a:r>
              <a:rPr lang="en-GB" b="1" dirty="0"/>
              <a:t> </a:t>
            </a:r>
            <a:r>
              <a:rPr lang="en-GB" b="1" dirty="0" smtClean="0"/>
              <a:t>Variables </a:t>
            </a:r>
            <a:r>
              <a:rPr lang="en-GB" dirty="0" smtClean="0"/>
              <a:t>take on a limited number of values; categorical variables that take on only two values (such as gender and employment) are known as dichotomous variables. </a:t>
            </a:r>
          </a:p>
          <a:p>
            <a:r>
              <a:rPr lang="en-GB" dirty="0" smtClean="0"/>
              <a:t>The variables </a:t>
            </a:r>
            <a:r>
              <a:rPr lang="en-GB" b="1" dirty="0" smtClean="0"/>
              <a:t>age</a:t>
            </a:r>
            <a:r>
              <a:rPr lang="en-GB" dirty="0" smtClean="0"/>
              <a:t> and </a:t>
            </a:r>
            <a:r>
              <a:rPr lang="en-GB" b="1" dirty="0" err="1" smtClean="0"/>
              <a:t>iq</a:t>
            </a:r>
            <a:r>
              <a:rPr lang="en-GB" dirty="0" smtClean="0"/>
              <a:t> are </a:t>
            </a:r>
            <a:r>
              <a:rPr lang="en-GB" b="1" dirty="0" smtClean="0"/>
              <a:t>continuous variables</a:t>
            </a:r>
            <a:r>
              <a:rPr lang="en-GB" dirty="0" smtClean="0"/>
              <a:t>. </a:t>
            </a:r>
          </a:p>
          <a:p>
            <a:r>
              <a:rPr lang="en-GB" b="1" dirty="0" smtClean="0"/>
              <a:t>Continuous variables </a:t>
            </a:r>
            <a:r>
              <a:rPr lang="en-GB" dirty="0" smtClean="0"/>
              <a:t>take on a large number of different values.</a:t>
            </a:r>
            <a:endParaRPr lang="en-GB" dirty="0"/>
          </a:p>
        </p:txBody>
      </p:sp>
    </p:spTree>
    <p:extLst>
      <p:ext uri="{BB962C8B-B14F-4D97-AF65-F5344CB8AC3E}">
        <p14:creationId xmlns:p14="http://schemas.microsoft.com/office/powerpoint/2010/main" val="192384910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 short</a:t>
            </a:r>
            <a:endParaRPr lang="en-GB" dirty="0"/>
          </a:p>
        </p:txBody>
      </p:sp>
      <p:sp>
        <p:nvSpPr>
          <p:cNvPr id="3" name="Content Placeholder 2"/>
          <p:cNvSpPr>
            <a:spLocks noGrp="1"/>
          </p:cNvSpPr>
          <p:nvPr>
            <p:ph idx="1"/>
          </p:nvPr>
        </p:nvSpPr>
        <p:spPr/>
        <p:txBody>
          <a:bodyPr/>
          <a:lstStyle/>
          <a:p>
            <a:r>
              <a:rPr lang="en-GB" b="1" dirty="0" smtClean="0"/>
              <a:t>Categorical variable</a:t>
            </a:r>
            <a:r>
              <a:rPr lang="en-GB" dirty="0" smtClean="0"/>
              <a:t>—A variable that has a limited number of values.</a:t>
            </a:r>
          </a:p>
          <a:p>
            <a:r>
              <a:rPr lang="en-GB" b="1" dirty="0" smtClean="0"/>
              <a:t>Dichotomous variable</a:t>
            </a:r>
            <a:r>
              <a:rPr lang="en-GB" dirty="0" smtClean="0"/>
              <a:t>—A categorical variable that has only two values.</a:t>
            </a:r>
          </a:p>
          <a:p>
            <a:r>
              <a:rPr lang="en-GB" b="1" dirty="0" smtClean="0"/>
              <a:t>Continuous variable</a:t>
            </a:r>
            <a:r>
              <a:rPr lang="en-GB" dirty="0" smtClean="0"/>
              <a:t>—A variable that has a large number of different values</a:t>
            </a:r>
            <a:endParaRPr lang="en-GB" dirty="0"/>
          </a:p>
        </p:txBody>
      </p:sp>
    </p:spTree>
    <p:extLst>
      <p:ext uri="{BB962C8B-B14F-4D97-AF65-F5344CB8AC3E}">
        <p14:creationId xmlns:p14="http://schemas.microsoft.com/office/powerpoint/2010/main" val="374158537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Data Entry and Analysis</a:t>
            </a:r>
            <a:endParaRPr lang="en-GB" dirty="0"/>
          </a:p>
        </p:txBody>
      </p:sp>
      <p:sp>
        <p:nvSpPr>
          <p:cNvPr id="3" name="Content Placeholder 2"/>
          <p:cNvSpPr>
            <a:spLocks noGrp="1"/>
          </p:cNvSpPr>
          <p:nvPr>
            <p:ph idx="1"/>
          </p:nvPr>
        </p:nvSpPr>
        <p:spPr/>
        <p:txBody>
          <a:bodyPr>
            <a:normAutofit lnSpcReduction="10000"/>
          </a:bodyPr>
          <a:lstStyle/>
          <a:p>
            <a:r>
              <a:rPr lang="en-GB" dirty="0" smtClean="0"/>
              <a:t>With all the variables now in numeric form, we can enter and </a:t>
            </a:r>
            <a:r>
              <a:rPr lang="en-GB" dirty="0" err="1" smtClean="0"/>
              <a:t>analyze</a:t>
            </a:r>
            <a:r>
              <a:rPr lang="en-GB" dirty="0" smtClean="0"/>
              <a:t> the data in SPSS.</a:t>
            </a:r>
          </a:p>
          <a:p>
            <a:r>
              <a:rPr lang="en-GB" dirty="0" smtClean="0"/>
              <a:t>Throughout this text, the process of data entry and analysis will be divided into the following four steps: </a:t>
            </a:r>
          </a:p>
          <a:p>
            <a:pPr marL="971550" lvl="1" indent="-514350">
              <a:buFont typeface="+mj-lt"/>
              <a:buAutoNum type="arabicParenR"/>
            </a:pPr>
            <a:r>
              <a:rPr lang="en-GB" b="1" dirty="0" smtClean="0"/>
              <a:t>Create the </a:t>
            </a:r>
            <a:r>
              <a:rPr lang="en-GB" b="1" dirty="0"/>
              <a:t>v</a:t>
            </a:r>
            <a:r>
              <a:rPr lang="en-GB" b="1" dirty="0" smtClean="0"/>
              <a:t>ariables, </a:t>
            </a:r>
          </a:p>
          <a:p>
            <a:pPr marL="971550" lvl="1" indent="-514350">
              <a:buFont typeface="+mj-lt"/>
              <a:buAutoNum type="arabicParenR"/>
            </a:pPr>
            <a:r>
              <a:rPr lang="en-GB" b="1" dirty="0" smtClean="0"/>
              <a:t>Enter the </a:t>
            </a:r>
            <a:r>
              <a:rPr lang="en-GB" b="1" dirty="0"/>
              <a:t>d</a:t>
            </a:r>
            <a:r>
              <a:rPr lang="en-GB" b="1" dirty="0" smtClean="0"/>
              <a:t>ata, </a:t>
            </a:r>
          </a:p>
          <a:p>
            <a:pPr marL="971550" lvl="1" indent="-514350">
              <a:buFont typeface="+mj-lt"/>
              <a:buAutoNum type="arabicParenR"/>
            </a:pPr>
            <a:r>
              <a:rPr lang="en-GB" b="1" dirty="0" err="1" smtClean="0"/>
              <a:t>Analyze</a:t>
            </a:r>
            <a:r>
              <a:rPr lang="en-GB" b="1" dirty="0" smtClean="0"/>
              <a:t> the data,</a:t>
            </a:r>
          </a:p>
          <a:p>
            <a:pPr marL="971550" lvl="1" indent="-514350">
              <a:buFont typeface="+mj-lt"/>
              <a:buAutoNum type="arabicParenR"/>
            </a:pPr>
            <a:r>
              <a:rPr lang="en-GB" b="1" dirty="0" smtClean="0"/>
              <a:t>Interpret the results. </a:t>
            </a:r>
          </a:p>
        </p:txBody>
      </p:sp>
    </p:spTree>
    <p:extLst>
      <p:ext uri="{BB962C8B-B14F-4D97-AF65-F5344CB8AC3E}">
        <p14:creationId xmlns:p14="http://schemas.microsoft.com/office/powerpoint/2010/main" val="10046983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Step 1: Create the Variables</a:t>
            </a:r>
            <a:endParaRPr lang="en-GB" dirty="0"/>
          </a:p>
        </p:txBody>
      </p:sp>
      <p:sp>
        <p:nvSpPr>
          <p:cNvPr id="3" name="Content Placeholder 2"/>
          <p:cNvSpPr>
            <a:spLocks noGrp="1"/>
          </p:cNvSpPr>
          <p:nvPr>
            <p:ph idx="1"/>
          </p:nvPr>
        </p:nvSpPr>
        <p:spPr/>
        <p:txBody>
          <a:bodyPr/>
          <a:lstStyle/>
          <a:p>
            <a:r>
              <a:rPr lang="en-GB" dirty="0" smtClean="0"/>
              <a:t>We’ll start by creating the variables gender, age, </a:t>
            </a:r>
            <a:r>
              <a:rPr lang="en-GB" b="1" dirty="0" smtClean="0"/>
              <a:t>employment</a:t>
            </a:r>
            <a:r>
              <a:rPr lang="en-GB" dirty="0" smtClean="0"/>
              <a:t>, and </a:t>
            </a:r>
            <a:r>
              <a:rPr lang="en-GB" b="1" dirty="0" err="1" smtClean="0"/>
              <a:t>iq</a:t>
            </a:r>
            <a:r>
              <a:rPr lang="en-GB" dirty="0" smtClean="0"/>
              <a:t>. </a:t>
            </a:r>
          </a:p>
          <a:p>
            <a:r>
              <a:rPr lang="en-GB" dirty="0" smtClean="0"/>
              <a:t>To create variables in SPSS, follow the instructions below.</a:t>
            </a:r>
            <a:endParaRPr lang="en-GB" dirty="0"/>
          </a:p>
        </p:txBody>
      </p:sp>
    </p:spTree>
    <p:extLst>
      <p:ext uri="{BB962C8B-B14F-4D97-AF65-F5344CB8AC3E}">
        <p14:creationId xmlns:p14="http://schemas.microsoft.com/office/powerpoint/2010/main" val="36380890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Creating variables in SPSS</a:t>
            </a:r>
            <a:endParaRPr lang="en-GB" dirty="0"/>
          </a:p>
        </p:txBody>
      </p:sp>
      <p:sp>
        <p:nvSpPr>
          <p:cNvPr id="3" name="Content Placeholder 2"/>
          <p:cNvSpPr>
            <a:spLocks noGrp="1"/>
          </p:cNvSpPr>
          <p:nvPr>
            <p:ph idx="1"/>
          </p:nvPr>
        </p:nvSpPr>
        <p:spPr/>
        <p:txBody>
          <a:bodyPr>
            <a:normAutofit fontScale="92500" lnSpcReduction="20000"/>
          </a:bodyPr>
          <a:lstStyle/>
          <a:p>
            <a:pPr marL="514350" indent="-514350">
              <a:buFont typeface="+mj-lt"/>
              <a:buAutoNum type="arabicPeriod"/>
            </a:pPr>
            <a:r>
              <a:rPr lang="en-GB" dirty="0" smtClean="0"/>
              <a:t>Make sure the Variable View window is open. If it isn’t open, click the Variable View tab at the bottom left-hand corner of the screen.</a:t>
            </a:r>
          </a:p>
          <a:p>
            <a:pPr marL="514350" indent="-514350">
              <a:buFont typeface="+mj-lt"/>
              <a:buAutoNum type="arabicPeriod"/>
            </a:pPr>
            <a:r>
              <a:rPr lang="en-GB" dirty="0" smtClean="0"/>
              <a:t>The first cell in the upper left-hand corner of the Variable View window should be active. If the first cell is not active, click on it.</a:t>
            </a:r>
          </a:p>
          <a:p>
            <a:pPr marL="514350" indent="-514350">
              <a:buFont typeface="+mj-lt"/>
              <a:buAutoNum type="arabicPeriod"/>
            </a:pPr>
            <a:r>
              <a:rPr lang="en-GB" dirty="0" smtClean="0"/>
              <a:t>In the first row of the Variable View window, enter the name </a:t>
            </a:r>
            <a:r>
              <a:rPr lang="en-GB" b="1" dirty="0" smtClean="0"/>
              <a:t>gender</a:t>
            </a:r>
            <a:r>
              <a:rPr lang="en-GB" dirty="0" smtClean="0"/>
              <a:t> and press the Enter key. Notice that all the cells to the right are automatically filled in with the default values (the default value for Label is an empty cell).</a:t>
            </a:r>
            <a:endParaRPr lang="en-GB" dirty="0"/>
          </a:p>
        </p:txBody>
      </p:sp>
    </p:spTree>
    <p:extLst>
      <p:ext uri="{BB962C8B-B14F-4D97-AF65-F5344CB8AC3E}">
        <p14:creationId xmlns:p14="http://schemas.microsoft.com/office/powerpoint/2010/main" val="15379764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Creating variables in SPSS cont’d</a:t>
            </a:r>
            <a:endParaRPr lang="en-GB" dirty="0"/>
          </a:p>
        </p:txBody>
      </p:sp>
      <p:sp>
        <p:nvSpPr>
          <p:cNvPr id="3" name="Content Placeholder 2"/>
          <p:cNvSpPr>
            <a:spLocks noGrp="1"/>
          </p:cNvSpPr>
          <p:nvPr>
            <p:ph idx="1"/>
          </p:nvPr>
        </p:nvSpPr>
        <p:spPr/>
        <p:txBody>
          <a:bodyPr/>
          <a:lstStyle/>
          <a:p>
            <a:pPr marL="514350" indent="-514350">
              <a:buFont typeface="+mj-lt"/>
              <a:buAutoNum type="arabicPeriod" startAt="4"/>
            </a:pPr>
            <a:r>
              <a:rPr lang="en-GB" dirty="0" smtClean="0"/>
              <a:t>In row 2, enter the name </a:t>
            </a:r>
            <a:r>
              <a:rPr lang="en-GB" b="1" dirty="0" smtClean="0"/>
              <a:t>age</a:t>
            </a:r>
            <a:r>
              <a:rPr lang="en-GB" dirty="0" smtClean="0"/>
              <a:t> and press the Enter key.</a:t>
            </a:r>
          </a:p>
          <a:p>
            <a:pPr marL="514350" indent="-514350">
              <a:buFont typeface="+mj-lt"/>
              <a:buAutoNum type="arabicPeriod" startAt="4"/>
            </a:pPr>
            <a:r>
              <a:rPr lang="en-GB" dirty="0" smtClean="0"/>
              <a:t>In row 3, enter the name </a:t>
            </a:r>
            <a:r>
              <a:rPr lang="en-GB" b="1" dirty="0" smtClean="0"/>
              <a:t>employment</a:t>
            </a:r>
            <a:r>
              <a:rPr lang="en-GB" dirty="0" smtClean="0"/>
              <a:t> and press the Enter key.</a:t>
            </a:r>
          </a:p>
          <a:p>
            <a:pPr marL="514350" indent="-514350">
              <a:buFont typeface="+mj-lt"/>
              <a:buAutoNum type="arabicPeriod" startAt="4"/>
            </a:pPr>
            <a:r>
              <a:rPr lang="en-GB" dirty="0" smtClean="0"/>
              <a:t>In row 4, enter the name </a:t>
            </a:r>
            <a:r>
              <a:rPr lang="en-GB" b="1" dirty="0" err="1" smtClean="0"/>
              <a:t>iq</a:t>
            </a:r>
            <a:r>
              <a:rPr lang="en-GB" dirty="0" smtClean="0"/>
              <a:t> and press the Enter key. The four variables are now created in SPSS. See Figure below for details</a:t>
            </a:r>
            <a:endParaRPr lang="en-GB" dirty="0"/>
          </a:p>
        </p:txBody>
      </p:sp>
    </p:spTree>
    <p:extLst>
      <p:ext uri="{BB962C8B-B14F-4D97-AF65-F5344CB8AC3E}">
        <p14:creationId xmlns:p14="http://schemas.microsoft.com/office/powerpoint/2010/main" val="100235208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6646"/>
            <a:ext cx="8229600" cy="994122"/>
          </a:xfrm>
        </p:spPr>
        <p:txBody>
          <a:bodyPr>
            <a:noAutofit/>
          </a:bodyPr>
          <a:lstStyle/>
          <a:p>
            <a:r>
              <a:rPr lang="en-GB" sz="3600" dirty="0" smtClean="0"/>
              <a:t>The Variable View window with the variables gender, age, employment, and </a:t>
            </a:r>
            <a:r>
              <a:rPr lang="en-GB" sz="3600" dirty="0" err="1" smtClean="0"/>
              <a:t>iq</a:t>
            </a:r>
            <a:r>
              <a:rPr lang="en-GB" sz="3600" dirty="0" smtClean="0"/>
              <a:t> entered</a:t>
            </a:r>
            <a:endParaRPr lang="en-GB" sz="3600" dirty="0"/>
          </a:p>
        </p:txBody>
      </p:sp>
      <p:sp>
        <p:nvSpPr>
          <p:cNvPr id="3" name="Content Placeholder 2"/>
          <p:cNvSpPr>
            <a:spLocks noGrp="1"/>
          </p:cNvSpPr>
          <p:nvPr>
            <p:ph idx="1"/>
          </p:nvPr>
        </p:nvSpPr>
        <p:spPr/>
        <p:txBody>
          <a:bodyPr/>
          <a:lstStyle/>
          <a:p>
            <a:endParaRPr lang="en-GB"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016" y="1628800"/>
            <a:ext cx="8820472"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1130717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GB" dirty="0" smtClean="0"/>
              <a:t>Value Labels</a:t>
            </a:r>
            <a:endParaRPr lang="en-GB" dirty="0"/>
          </a:p>
        </p:txBody>
      </p:sp>
      <p:sp>
        <p:nvSpPr>
          <p:cNvPr id="3" name="Content Placeholder 2"/>
          <p:cNvSpPr>
            <a:spLocks noGrp="1"/>
          </p:cNvSpPr>
          <p:nvPr>
            <p:ph idx="1"/>
          </p:nvPr>
        </p:nvSpPr>
        <p:spPr>
          <a:xfrm>
            <a:off x="457200" y="1124744"/>
            <a:ext cx="8229600" cy="5544616"/>
          </a:xfrm>
        </p:spPr>
        <p:txBody>
          <a:bodyPr>
            <a:normAutofit fontScale="85000" lnSpcReduction="20000"/>
          </a:bodyPr>
          <a:lstStyle/>
          <a:p>
            <a:r>
              <a:rPr lang="en-GB" dirty="0" smtClean="0"/>
              <a:t>Recall that we assigned numbers (i.e., 1, 2) to the different categories of gender and employment because they needed to be changed to numeric form to be </a:t>
            </a:r>
            <a:r>
              <a:rPr lang="en-GB" dirty="0" err="1" smtClean="0"/>
              <a:t>analyzed</a:t>
            </a:r>
            <a:r>
              <a:rPr lang="en-GB" dirty="0" smtClean="0"/>
              <a:t> in SPSS. </a:t>
            </a:r>
          </a:p>
          <a:p>
            <a:r>
              <a:rPr lang="en-GB" dirty="0" smtClean="0"/>
              <a:t>You may also recall that the numbers we assigned were arbitrary (any two numbers could have been chosen), as they served only to differentiate between the categories of the variable. </a:t>
            </a:r>
          </a:p>
          <a:p>
            <a:r>
              <a:rPr lang="en-GB" dirty="0" smtClean="0"/>
              <a:t>To help us keep track of our numeric assignments more easily, we’ll enter the categories that the different numbers represent into SPSS (e.g., that 1 is for males and 2 is for females), a process known as creating value labels.</a:t>
            </a:r>
          </a:p>
          <a:p>
            <a:r>
              <a:rPr lang="en-GB" dirty="0" smtClean="0"/>
              <a:t>We’ll create value labels for the categorical variables </a:t>
            </a:r>
            <a:r>
              <a:rPr lang="en-GB" b="1" dirty="0" smtClean="0"/>
              <a:t>gender</a:t>
            </a:r>
            <a:r>
              <a:rPr lang="en-GB" dirty="0" smtClean="0"/>
              <a:t> and </a:t>
            </a:r>
            <a:r>
              <a:rPr lang="en-GB" b="1" dirty="0" smtClean="0"/>
              <a:t>employment</a:t>
            </a:r>
            <a:endParaRPr lang="en-GB" b="1" dirty="0"/>
          </a:p>
        </p:txBody>
      </p:sp>
    </p:spTree>
    <p:extLst>
      <p:ext uri="{BB962C8B-B14F-4D97-AF65-F5344CB8AC3E}">
        <p14:creationId xmlns:p14="http://schemas.microsoft.com/office/powerpoint/2010/main" val="37325405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Creating value labels for </a:t>
            </a:r>
            <a:r>
              <a:rPr lang="en-GB" b="1" dirty="0" smtClean="0"/>
              <a:t>gender</a:t>
            </a:r>
            <a:endParaRPr lang="en-GB" b="1" dirty="0"/>
          </a:p>
        </p:txBody>
      </p:sp>
      <p:sp>
        <p:nvSpPr>
          <p:cNvPr id="3" name="Content Placeholder 2"/>
          <p:cNvSpPr>
            <a:spLocks noGrp="1"/>
          </p:cNvSpPr>
          <p:nvPr>
            <p:ph idx="1"/>
          </p:nvPr>
        </p:nvSpPr>
        <p:spPr/>
        <p:txBody>
          <a:bodyPr/>
          <a:lstStyle/>
          <a:p>
            <a:endParaRPr lang="en-GB"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355" y="1700808"/>
            <a:ext cx="8805291" cy="1970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68965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Selecting the Values cell for gender.</a:t>
            </a:r>
            <a:endParaRPr lang="en-GB" dirty="0"/>
          </a:p>
        </p:txBody>
      </p:sp>
      <p:sp>
        <p:nvSpPr>
          <p:cNvPr id="3" name="Content Placeholder 2"/>
          <p:cNvSpPr>
            <a:spLocks noGrp="1"/>
          </p:cNvSpPr>
          <p:nvPr>
            <p:ph idx="1"/>
          </p:nvPr>
        </p:nvSpPr>
        <p:spPr/>
        <p:txBody>
          <a:bodyPr/>
          <a:lstStyle/>
          <a:p>
            <a:endParaRPr lang="en-GB"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031" y="1478056"/>
            <a:ext cx="8643938" cy="4327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48134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The Value Labels dialog box</a:t>
            </a:r>
            <a:endParaRPr lang="en-GB" dirty="0"/>
          </a:p>
        </p:txBody>
      </p:sp>
      <p:sp>
        <p:nvSpPr>
          <p:cNvPr id="3" name="Content Placeholder 2"/>
          <p:cNvSpPr>
            <a:spLocks noGrp="1"/>
          </p:cNvSpPr>
          <p:nvPr>
            <p:ph idx="1"/>
          </p:nvPr>
        </p:nvSpPr>
        <p:spPr/>
        <p:txBody>
          <a:bodyPr/>
          <a:lstStyle/>
          <a:p>
            <a:endParaRPr lang="en-GB"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973" y="1373706"/>
            <a:ext cx="7670055" cy="4944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55534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Step 2: Enter the Data</a:t>
            </a:r>
            <a:endParaRPr lang="en-GB" dirty="0"/>
          </a:p>
        </p:txBody>
      </p:sp>
      <p:sp>
        <p:nvSpPr>
          <p:cNvPr id="3" name="Content Placeholder 2"/>
          <p:cNvSpPr>
            <a:spLocks noGrp="1"/>
          </p:cNvSpPr>
          <p:nvPr>
            <p:ph idx="1"/>
          </p:nvPr>
        </p:nvSpPr>
        <p:spPr>
          <a:xfrm>
            <a:off x="457200" y="1600200"/>
            <a:ext cx="8229600" cy="4925144"/>
          </a:xfrm>
        </p:spPr>
        <p:txBody>
          <a:bodyPr>
            <a:normAutofit fontScale="85000" lnSpcReduction="10000"/>
          </a:bodyPr>
          <a:lstStyle/>
          <a:p>
            <a:r>
              <a:rPr lang="en-GB" dirty="0" smtClean="0"/>
              <a:t>To enter the data into SPSS</a:t>
            </a:r>
          </a:p>
          <a:p>
            <a:pPr marL="971550" lvl="1" indent="-514350">
              <a:buFont typeface="+mj-lt"/>
              <a:buAutoNum type="arabicPeriod"/>
            </a:pPr>
            <a:r>
              <a:rPr lang="en-GB" dirty="0" smtClean="0"/>
              <a:t>Click the Data View tab to open the Data View window </a:t>
            </a:r>
          </a:p>
          <a:p>
            <a:r>
              <a:rPr lang="en-GB" dirty="0" smtClean="0"/>
              <a:t>In the Data View window, notice that the first four columns are named </a:t>
            </a:r>
            <a:r>
              <a:rPr lang="en-GB" b="1" dirty="0" smtClean="0"/>
              <a:t>gender, age, employment </a:t>
            </a:r>
            <a:r>
              <a:rPr lang="en-GB" dirty="0" smtClean="0"/>
              <a:t>and</a:t>
            </a:r>
            <a:r>
              <a:rPr lang="en-GB" b="1" dirty="0" smtClean="0"/>
              <a:t> </a:t>
            </a:r>
            <a:r>
              <a:rPr lang="en-GB" b="1" dirty="0" err="1" smtClean="0"/>
              <a:t>iq</a:t>
            </a:r>
            <a:r>
              <a:rPr lang="en-GB" dirty="0" smtClean="0"/>
              <a:t>, which correspond to the four variables we created earlier in SPSS. </a:t>
            </a:r>
          </a:p>
          <a:p>
            <a:r>
              <a:rPr lang="en-GB" dirty="0" smtClean="0"/>
              <a:t>Recall that in the Data View window each row corresponds to a different person in the data set, so that when the data are entered, row 1 will contain the values for the first person, row 2 will contain the values for the second person, and so on.</a:t>
            </a:r>
            <a:endParaRPr lang="en-GB" dirty="0"/>
          </a:p>
        </p:txBody>
      </p:sp>
    </p:spTree>
    <p:extLst>
      <p:ext uri="{BB962C8B-B14F-4D97-AF65-F5344CB8AC3E}">
        <p14:creationId xmlns:p14="http://schemas.microsoft.com/office/powerpoint/2010/main" val="41395047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Enter the data for the remaining three participants by </a:t>
            </a:r>
            <a:r>
              <a:rPr lang="en-GB" smtClean="0"/>
              <a:t>consulting the </a:t>
            </a:r>
            <a:r>
              <a:rPr lang="en-GB" dirty="0" smtClean="0"/>
              <a:t>figure below</a:t>
            </a:r>
            <a:endParaRPr lang="en-GB" dirty="0"/>
          </a:p>
        </p:txBody>
      </p:sp>
      <p:pic>
        <p:nvPicPr>
          <p:cNvPr id="4"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628800"/>
            <a:ext cx="9232337" cy="2987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348834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The completed data file in SPSS </a:t>
            </a:r>
            <a:endParaRPr lang="en-GB" dirty="0"/>
          </a:p>
        </p:txBody>
      </p:sp>
      <p:sp>
        <p:nvSpPr>
          <p:cNvPr id="3" name="Content Placeholder 2"/>
          <p:cNvSpPr>
            <a:spLocks noGrp="1"/>
          </p:cNvSpPr>
          <p:nvPr>
            <p:ph idx="1"/>
          </p:nvPr>
        </p:nvSpPr>
        <p:spPr/>
        <p:txBody>
          <a:bodyPr/>
          <a:lstStyle/>
          <a:p>
            <a:endParaRPr lang="en-GB" dirty="0"/>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250" y="1700808"/>
            <a:ext cx="8191500" cy="257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8483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Step 3: </a:t>
            </a:r>
            <a:r>
              <a:rPr lang="en-GB" dirty="0" err="1" smtClean="0"/>
              <a:t>Analyze</a:t>
            </a:r>
            <a:r>
              <a:rPr lang="en-GB" dirty="0" smtClean="0"/>
              <a:t> the Data</a:t>
            </a:r>
            <a:endParaRPr lang="en-GB" dirty="0"/>
          </a:p>
        </p:txBody>
      </p:sp>
      <p:sp>
        <p:nvSpPr>
          <p:cNvPr id="3" name="Content Placeholder 2"/>
          <p:cNvSpPr>
            <a:spLocks noGrp="1"/>
          </p:cNvSpPr>
          <p:nvPr>
            <p:ph idx="1"/>
          </p:nvPr>
        </p:nvSpPr>
        <p:spPr/>
        <p:txBody>
          <a:bodyPr/>
          <a:lstStyle/>
          <a:p>
            <a:r>
              <a:rPr lang="en-GB" dirty="0" smtClean="0"/>
              <a:t>Throughout this text, we’ll be using the pull-down menus in SPSS to perform statistical analyses of our data. </a:t>
            </a:r>
          </a:p>
          <a:p>
            <a:r>
              <a:rPr lang="en-GB" dirty="0" smtClean="0"/>
              <a:t>For our first analysis, we’ll start with a basic procedure in SPSS—producing a summary report of each of our variables using the Case Summaries procedure.</a:t>
            </a:r>
            <a:endParaRPr lang="en-GB" dirty="0"/>
          </a:p>
        </p:txBody>
      </p:sp>
    </p:spTree>
    <p:extLst>
      <p:ext uri="{BB962C8B-B14F-4D97-AF65-F5344CB8AC3E}">
        <p14:creationId xmlns:p14="http://schemas.microsoft.com/office/powerpoint/2010/main" val="26853440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Analyze</a:t>
            </a:r>
            <a:r>
              <a:rPr lang="en-GB" dirty="0" smtClean="0"/>
              <a:t> the Data cont’d</a:t>
            </a:r>
            <a:endParaRPr lang="en-GB" dirty="0"/>
          </a:p>
        </p:txBody>
      </p:sp>
      <p:sp>
        <p:nvSpPr>
          <p:cNvPr id="3" name="Content Placeholder 2"/>
          <p:cNvSpPr>
            <a:spLocks noGrp="1"/>
          </p:cNvSpPr>
          <p:nvPr>
            <p:ph idx="1"/>
          </p:nvPr>
        </p:nvSpPr>
        <p:spPr/>
        <p:txBody>
          <a:bodyPr/>
          <a:lstStyle/>
          <a:p>
            <a:r>
              <a:rPr lang="en-GB" dirty="0" smtClean="0"/>
              <a:t>To perform the Case Summaries procedure in SPSS</a:t>
            </a:r>
          </a:p>
          <a:p>
            <a:pPr marL="971550" lvl="1" indent="-514350">
              <a:buFont typeface="+mj-lt"/>
              <a:buAutoNum type="arabicPeriod"/>
            </a:pPr>
            <a:r>
              <a:rPr lang="en-GB" dirty="0" smtClean="0"/>
              <a:t>From the menu bar, select </a:t>
            </a:r>
            <a:r>
              <a:rPr lang="en-GB" b="1" dirty="0" err="1" smtClean="0"/>
              <a:t>Analyze</a:t>
            </a:r>
            <a:r>
              <a:rPr lang="en-GB" b="1" dirty="0" smtClean="0"/>
              <a:t>&gt; Reports&gt; Case Summaries</a:t>
            </a:r>
            <a:r>
              <a:rPr lang="en-GB" dirty="0" smtClean="0"/>
              <a:t> (see Figure below). (When the menu commands are provided, the sign  indicates the next selection to make. In this case, “” reads, “Select </a:t>
            </a:r>
            <a:r>
              <a:rPr lang="en-GB" dirty="0" err="1" smtClean="0"/>
              <a:t>Analyze</a:t>
            </a:r>
            <a:r>
              <a:rPr lang="en-GB" dirty="0" smtClean="0"/>
              <a:t>, then select Reports, then select Case Summaries.”)</a:t>
            </a:r>
            <a:endParaRPr lang="en-GB" dirty="0"/>
          </a:p>
        </p:txBody>
      </p:sp>
    </p:spTree>
    <p:extLst>
      <p:ext uri="{BB962C8B-B14F-4D97-AF65-F5344CB8AC3E}">
        <p14:creationId xmlns:p14="http://schemas.microsoft.com/office/powerpoint/2010/main" val="4033483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txBody>
          <a:bodyPr>
            <a:normAutofit fontScale="90000"/>
          </a:bodyPr>
          <a:lstStyle/>
          <a:p>
            <a:r>
              <a:rPr lang="en-GB" dirty="0" smtClean="0"/>
              <a:t>Menu commands for the Case Summaries procedure in SPSS</a:t>
            </a:r>
            <a:endParaRPr lang="en-GB" dirty="0"/>
          </a:p>
        </p:txBody>
      </p:sp>
      <p:sp>
        <p:nvSpPr>
          <p:cNvPr id="3" name="Content Placeholder 2"/>
          <p:cNvSpPr>
            <a:spLocks noGrp="1"/>
          </p:cNvSpPr>
          <p:nvPr>
            <p:ph idx="1"/>
          </p:nvPr>
        </p:nvSpPr>
        <p:spPr/>
        <p:txBody>
          <a:bodyPr/>
          <a:lstStyle/>
          <a:p>
            <a:endParaRPr lang="en-GB" dirty="0"/>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352128"/>
            <a:ext cx="7686675"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748770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The Summarize Cases dialog box</a:t>
            </a:r>
            <a:endParaRPr lang="en-GB" dirty="0"/>
          </a:p>
        </p:txBody>
      </p:sp>
      <p:sp>
        <p:nvSpPr>
          <p:cNvPr id="3" name="Content Placeholder 2"/>
          <p:cNvSpPr>
            <a:spLocks noGrp="1"/>
          </p:cNvSpPr>
          <p:nvPr>
            <p:ph idx="1"/>
          </p:nvPr>
        </p:nvSpPr>
        <p:spPr/>
        <p:txBody>
          <a:bodyPr/>
          <a:lstStyle/>
          <a:p>
            <a:endParaRPr lang="en-GB" dirty="0"/>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6300" y="1359371"/>
            <a:ext cx="7391400" cy="473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647268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Analyze</a:t>
            </a:r>
            <a:r>
              <a:rPr lang="en-GB" dirty="0" smtClean="0"/>
              <a:t> the Data cont’d</a:t>
            </a:r>
            <a:endParaRPr lang="en-GB" dirty="0"/>
          </a:p>
        </p:txBody>
      </p:sp>
      <p:sp>
        <p:nvSpPr>
          <p:cNvPr id="3" name="Content Placeholder 2"/>
          <p:cNvSpPr>
            <a:spLocks noGrp="1"/>
          </p:cNvSpPr>
          <p:nvPr>
            <p:ph idx="1"/>
          </p:nvPr>
        </p:nvSpPr>
        <p:spPr/>
        <p:txBody>
          <a:bodyPr/>
          <a:lstStyle/>
          <a:p>
            <a:endParaRPr lang="en-GB" dirty="0"/>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693" y="1628800"/>
            <a:ext cx="8724615" cy="2109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382024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err="1" smtClean="0"/>
              <a:t>Analyze</a:t>
            </a:r>
            <a:r>
              <a:rPr lang="en-GB" dirty="0" smtClean="0"/>
              <a:t> the Data cont’d</a:t>
            </a:r>
            <a:endParaRPr lang="en-GB" dirty="0"/>
          </a:p>
        </p:txBody>
      </p:sp>
      <p:sp>
        <p:nvSpPr>
          <p:cNvPr id="3" name="Content Placeholder 2"/>
          <p:cNvSpPr>
            <a:spLocks noGrp="1"/>
          </p:cNvSpPr>
          <p:nvPr>
            <p:ph idx="1"/>
          </p:nvPr>
        </p:nvSpPr>
        <p:spPr>
          <a:xfrm>
            <a:off x="457200" y="1268760"/>
            <a:ext cx="8229600" cy="4857403"/>
          </a:xfrm>
        </p:spPr>
        <p:txBody>
          <a:bodyPr/>
          <a:lstStyle/>
          <a:p>
            <a:r>
              <a:rPr lang="en-GB" sz="2800" dirty="0" smtClean="0"/>
              <a:t> SPSS opens a new window containing the output— called the Viewer window — that presents the results of the Case Summaries procedure</a:t>
            </a:r>
          </a:p>
          <a:p>
            <a:endParaRPr lang="en-GB" dirty="0"/>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1" y="2780928"/>
            <a:ext cx="6336704" cy="3960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081618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92696"/>
            <a:ext cx="8229600" cy="724942"/>
          </a:xfrm>
        </p:spPr>
        <p:txBody>
          <a:bodyPr>
            <a:noAutofit/>
          </a:bodyPr>
          <a:lstStyle/>
          <a:p>
            <a:r>
              <a:rPr lang="en-GB" sz="3200" dirty="0" smtClean="0"/>
              <a:t>The SPSS Viewer window with the results of the Case Summaries procedure shown</a:t>
            </a:r>
            <a:endParaRPr lang="en-GB" sz="3200" dirty="0"/>
          </a:p>
        </p:txBody>
      </p:sp>
      <p:sp>
        <p:nvSpPr>
          <p:cNvPr id="3" name="Content Placeholder 2"/>
          <p:cNvSpPr>
            <a:spLocks noGrp="1"/>
          </p:cNvSpPr>
          <p:nvPr>
            <p:ph idx="1"/>
          </p:nvPr>
        </p:nvSpPr>
        <p:spPr/>
        <p:txBody>
          <a:bodyPr/>
          <a:lstStyle/>
          <a:p>
            <a:endParaRPr lang="en-GB" dirty="0"/>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803" y="1594643"/>
            <a:ext cx="8528685" cy="413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609367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Step 4: Interpret the Results</a:t>
            </a:r>
            <a:endParaRPr lang="en-GB" dirty="0"/>
          </a:p>
        </p:txBody>
      </p:sp>
      <p:sp>
        <p:nvSpPr>
          <p:cNvPr id="3" name="Content Placeholder 2"/>
          <p:cNvSpPr>
            <a:spLocks noGrp="1"/>
          </p:cNvSpPr>
          <p:nvPr>
            <p:ph idx="1"/>
          </p:nvPr>
        </p:nvSpPr>
        <p:spPr/>
        <p:txBody>
          <a:bodyPr>
            <a:normAutofit lnSpcReduction="10000"/>
          </a:bodyPr>
          <a:lstStyle/>
          <a:p>
            <a:r>
              <a:rPr lang="en-GB" b="1" dirty="0" smtClean="0"/>
              <a:t>Viewer window</a:t>
            </a:r>
          </a:p>
          <a:p>
            <a:pPr lvl="1"/>
            <a:r>
              <a:rPr lang="en-GB" dirty="0" smtClean="0"/>
              <a:t>In SPSS, the Viewer window is divided into two different sections, with the left side of the window containing an outline of the requested analyses, and the right side of the window displaying the results of the analyses. </a:t>
            </a:r>
          </a:p>
          <a:p>
            <a:pPr lvl="1"/>
            <a:r>
              <a:rPr lang="en-GB" dirty="0" smtClean="0"/>
              <a:t>We’ll focus our attention throughout this text on the results shown in the right side of the Viewer window which, in this case, consist of the Case Processing Summary and Case Summaries tables. </a:t>
            </a:r>
            <a:endParaRPr lang="en-GB" dirty="0"/>
          </a:p>
        </p:txBody>
      </p:sp>
    </p:spTree>
    <p:extLst>
      <p:ext uri="{BB962C8B-B14F-4D97-AF65-F5344CB8AC3E}">
        <p14:creationId xmlns:p14="http://schemas.microsoft.com/office/powerpoint/2010/main" val="37776331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Interpret the Results cont’d</a:t>
            </a:r>
            <a:endParaRPr lang="en-GB" dirty="0"/>
          </a:p>
        </p:txBody>
      </p:sp>
      <p:sp>
        <p:nvSpPr>
          <p:cNvPr id="3" name="Content Placeholder 2"/>
          <p:cNvSpPr>
            <a:spLocks noGrp="1"/>
          </p:cNvSpPr>
          <p:nvPr>
            <p:ph idx="1"/>
          </p:nvPr>
        </p:nvSpPr>
        <p:spPr/>
        <p:txBody>
          <a:bodyPr/>
          <a:lstStyle/>
          <a:p>
            <a:r>
              <a:rPr lang="en-GB" b="1" dirty="0" smtClean="0"/>
              <a:t>Summarize</a:t>
            </a:r>
          </a:p>
          <a:p>
            <a:pPr lvl="1"/>
            <a:r>
              <a:rPr lang="en-GB" dirty="0" smtClean="0"/>
              <a:t>At the top of the output is the title, Summarize, which indicates the procedure we selected in SPSS (the Case Summaries procedure).</a:t>
            </a:r>
            <a:endParaRPr lang="en-GB" dirty="0"/>
          </a:p>
        </p:txBody>
      </p:sp>
    </p:spTree>
    <p:extLst>
      <p:ext uri="{BB962C8B-B14F-4D97-AF65-F5344CB8AC3E}">
        <p14:creationId xmlns:p14="http://schemas.microsoft.com/office/powerpoint/2010/main" val="42090558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Interpret the Results cont’d</a:t>
            </a:r>
            <a:endParaRPr lang="en-GB" dirty="0"/>
          </a:p>
        </p:txBody>
      </p:sp>
      <p:sp>
        <p:nvSpPr>
          <p:cNvPr id="3" name="Content Placeholder 2"/>
          <p:cNvSpPr>
            <a:spLocks noGrp="1"/>
          </p:cNvSpPr>
          <p:nvPr>
            <p:ph idx="1"/>
          </p:nvPr>
        </p:nvSpPr>
        <p:spPr>
          <a:xfrm>
            <a:off x="457200" y="1600200"/>
            <a:ext cx="8229600" cy="5069160"/>
          </a:xfrm>
        </p:spPr>
        <p:txBody>
          <a:bodyPr>
            <a:normAutofit fontScale="85000" lnSpcReduction="10000"/>
          </a:bodyPr>
          <a:lstStyle/>
          <a:p>
            <a:r>
              <a:rPr lang="en-GB" b="1" dirty="0" smtClean="0"/>
              <a:t>Case Processing Summary</a:t>
            </a:r>
          </a:p>
          <a:p>
            <a:pPr lvl="1"/>
            <a:r>
              <a:rPr lang="en-GB" dirty="0" smtClean="0"/>
              <a:t>The first table of results, Case Processing Summary, displays the number of participants (i.e., cases) in the data file for each of the variables. </a:t>
            </a:r>
          </a:p>
          <a:p>
            <a:pPr lvl="1"/>
            <a:r>
              <a:rPr lang="en-GB" dirty="0" smtClean="0"/>
              <a:t>The first column, Included, reports an N of 5 for each of the variables (N corresponds to the number of participants or cases in the data file), indicating that five people were included in the analysis for each variable. </a:t>
            </a:r>
          </a:p>
          <a:p>
            <a:pPr lvl="1"/>
            <a:r>
              <a:rPr lang="en-GB" dirty="0" smtClean="0"/>
              <a:t>The Excluded column</a:t>
            </a:r>
            <a:r>
              <a:rPr lang="en-GB" dirty="0"/>
              <a:t> </a:t>
            </a:r>
            <a:r>
              <a:rPr lang="en-GB" dirty="0" smtClean="0"/>
              <a:t>reports an N of 0 for each variable, indicating that none of the participants were excluded from the analyses (everyone had values on all four variables). </a:t>
            </a:r>
          </a:p>
          <a:p>
            <a:pPr lvl="1"/>
            <a:r>
              <a:rPr lang="en-GB" dirty="0" smtClean="0"/>
              <a:t>The last column, Total, displays the total number of participants in the data set, which is equal to 5.</a:t>
            </a:r>
            <a:endParaRPr lang="en-GB" dirty="0"/>
          </a:p>
        </p:txBody>
      </p:sp>
    </p:spTree>
    <p:extLst>
      <p:ext uri="{BB962C8B-B14F-4D97-AF65-F5344CB8AC3E}">
        <p14:creationId xmlns:p14="http://schemas.microsoft.com/office/powerpoint/2010/main" val="24222643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Interpret the Results cont’d</a:t>
            </a:r>
            <a:endParaRPr lang="en-GB" dirty="0"/>
          </a:p>
        </p:txBody>
      </p:sp>
      <p:sp>
        <p:nvSpPr>
          <p:cNvPr id="3" name="Content Placeholder 2"/>
          <p:cNvSpPr>
            <a:spLocks noGrp="1"/>
          </p:cNvSpPr>
          <p:nvPr>
            <p:ph idx="1"/>
          </p:nvPr>
        </p:nvSpPr>
        <p:spPr/>
        <p:txBody>
          <a:bodyPr>
            <a:normAutofit fontScale="92500"/>
          </a:bodyPr>
          <a:lstStyle/>
          <a:p>
            <a:r>
              <a:rPr lang="en-GB" b="1" dirty="0" smtClean="0"/>
              <a:t>Case Summaries</a:t>
            </a:r>
          </a:p>
          <a:p>
            <a:pPr lvl="1"/>
            <a:r>
              <a:rPr lang="en-GB" dirty="0" smtClean="0"/>
              <a:t>The second table, Case Summaries, displays the values for each of the participants on the four variables of interest. </a:t>
            </a:r>
          </a:p>
          <a:p>
            <a:pPr lvl="1"/>
            <a:r>
              <a:rPr lang="en-GB" dirty="0" smtClean="0"/>
              <a:t>Notice that the value labels we created for gender and employment are displayed in the table instead of the numeric values (i.e., 1 and 2) we originally entered into SPSS, which makes it easier to read the results.</a:t>
            </a:r>
          </a:p>
          <a:p>
            <a:pPr lvl="1"/>
            <a:r>
              <a:rPr lang="en-GB" dirty="0" smtClean="0"/>
              <a:t>This concludes the discussion of the Case Summaries procedure in SPSS. </a:t>
            </a:r>
            <a:endParaRPr lang="en-GB" dirty="0"/>
          </a:p>
        </p:txBody>
      </p:sp>
    </p:spTree>
    <p:extLst>
      <p:ext uri="{BB962C8B-B14F-4D97-AF65-F5344CB8AC3E}">
        <p14:creationId xmlns:p14="http://schemas.microsoft.com/office/powerpoint/2010/main" val="34982374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Saving files</a:t>
            </a:r>
            <a:endParaRPr lang="en-GB" dirty="0"/>
          </a:p>
        </p:txBody>
      </p:sp>
      <p:sp>
        <p:nvSpPr>
          <p:cNvPr id="3" name="Content Placeholder 2"/>
          <p:cNvSpPr>
            <a:spLocks noGrp="1"/>
          </p:cNvSpPr>
          <p:nvPr>
            <p:ph idx="1"/>
          </p:nvPr>
        </p:nvSpPr>
        <p:spPr/>
        <p:txBody>
          <a:bodyPr>
            <a:normAutofit fontScale="70000" lnSpcReduction="20000"/>
          </a:bodyPr>
          <a:lstStyle/>
          <a:p>
            <a:r>
              <a:rPr lang="en-GB" dirty="0" smtClean="0"/>
              <a:t>In SPSS, output files and data files are saved separately using different file extensions. </a:t>
            </a:r>
          </a:p>
          <a:p>
            <a:r>
              <a:rPr lang="en-GB" dirty="0" smtClean="0"/>
              <a:t>File extensions commonly consist of three or four letters at the end of a file name and are preceded by a period (e.g., “.</a:t>
            </a:r>
            <a:r>
              <a:rPr lang="en-GB" dirty="0" err="1" smtClean="0"/>
              <a:t>docx</a:t>
            </a:r>
            <a:r>
              <a:rPr lang="en-GB" dirty="0" smtClean="0"/>
              <a:t>,” “.html,” and “.mp3”). </a:t>
            </a:r>
          </a:p>
          <a:p>
            <a:r>
              <a:rPr lang="en-GB" dirty="0" smtClean="0"/>
              <a:t>In SPSS, the file extension for data files is “.</a:t>
            </a:r>
            <a:r>
              <a:rPr lang="en-GB" dirty="0" err="1" smtClean="0"/>
              <a:t>sav</a:t>
            </a:r>
            <a:r>
              <a:rPr lang="en-GB" dirty="0" smtClean="0"/>
              <a:t>” and the file extension for output files is “.</a:t>
            </a:r>
            <a:r>
              <a:rPr lang="en-GB" dirty="0" err="1" smtClean="0"/>
              <a:t>spv</a:t>
            </a:r>
            <a:r>
              <a:rPr lang="en-GB" dirty="0" smtClean="0"/>
              <a:t>.”</a:t>
            </a:r>
          </a:p>
          <a:p>
            <a:r>
              <a:rPr lang="en-GB" dirty="0" smtClean="0"/>
              <a:t>We’ll practice saving both data files and output files in SPSS. Let’s start by saving an output file. </a:t>
            </a:r>
          </a:p>
          <a:p>
            <a:r>
              <a:rPr lang="en-GB" dirty="0" smtClean="0"/>
              <a:t>To save the output file, first make sure the Viewer(output) window is active. (If the Viewer window is active, you should see it on your screen with a dark blue bar at the top of its window.)</a:t>
            </a:r>
          </a:p>
          <a:p>
            <a:r>
              <a:rPr lang="en-GB" dirty="0" smtClean="0"/>
              <a:t>If the Viewer window is not active, click on it.</a:t>
            </a:r>
            <a:endParaRPr lang="en-GB" dirty="0"/>
          </a:p>
        </p:txBody>
      </p:sp>
    </p:spTree>
    <p:extLst>
      <p:ext uri="{BB962C8B-B14F-4D97-AF65-F5344CB8AC3E}">
        <p14:creationId xmlns:p14="http://schemas.microsoft.com/office/powerpoint/2010/main" val="34120404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Printing files</a:t>
            </a:r>
            <a:endParaRPr lang="en-GB" dirty="0"/>
          </a:p>
        </p:txBody>
      </p:sp>
      <p:sp>
        <p:nvSpPr>
          <p:cNvPr id="3" name="Content Placeholder 2"/>
          <p:cNvSpPr>
            <a:spLocks noGrp="1"/>
          </p:cNvSpPr>
          <p:nvPr>
            <p:ph idx="1"/>
          </p:nvPr>
        </p:nvSpPr>
        <p:spPr/>
        <p:txBody>
          <a:bodyPr/>
          <a:lstStyle/>
          <a:p>
            <a:r>
              <a:rPr lang="en-GB" dirty="0" smtClean="0"/>
              <a:t>Next, how to print an output file in SPSS will be illustrated. </a:t>
            </a:r>
          </a:p>
          <a:p>
            <a:r>
              <a:rPr lang="en-GB" dirty="0" smtClean="0"/>
              <a:t>To print the output, we’ll first need to make the Viewer window active</a:t>
            </a:r>
            <a:endParaRPr lang="en-GB" dirty="0"/>
          </a:p>
        </p:txBody>
      </p:sp>
    </p:spTree>
    <p:extLst>
      <p:ext uri="{BB962C8B-B14F-4D97-AF65-F5344CB8AC3E}">
        <p14:creationId xmlns:p14="http://schemas.microsoft.com/office/powerpoint/2010/main" val="8376718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33588" y="1828800"/>
            <a:ext cx="4595812" cy="2810669"/>
          </a:xfrm>
          <a:prstGeom prst="rect">
            <a:avLst/>
          </a:prstGeom>
        </p:spPr>
      </p:pic>
    </p:spTree>
    <p:extLst>
      <p:ext uri="{BB962C8B-B14F-4D97-AF65-F5344CB8AC3E}">
        <p14:creationId xmlns:p14="http://schemas.microsoft.com/office/powerpoint/2010/main" val="331619101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308</TotalTime>
  <Words>2638</Words>
  <Application>Microsoft Office PowerPoint</Application>
  <PresentationFormat>On-screen Show (4:3)</PresentationFormat>
  <Paragraphs>177</Paragraphs>
  <Slides>54</Slides>
  <Notes>3</Notes>
  <HiddenSlides>0</HiddenSlides>
  <MMClips>0</MMClips>
  <ScaleCrop>false</ScaleCrop>
  <HeadingPairs>
    <vt:vector size="4" baseType="variant">
      <vt:variant>
        <vt:lpstr>Theme</vt:lpstr>
      </vt:variant>
      <vt:variant>
        <vt:i4>1</vt:i4>
      </vt:variant>
      <vt:variant>
        <vt:lpstr>Slide Titles</vt:lpstr>
      </vt:variant>
      <vt:variant>
        <vt:i4>54</vt:i4>
      </vt:variant>
    </vt:vector>
  </HeadingPairs>
  <TitlesOfParts>
    <vt:vector size="55" baseType="lpstr">
      <vt:lpstr>Office Theme</vt:lpstr>
      <vt:lpstr>STC224</vt:lpstr>
      <vt:lpstr>What is SPSS</vt:lpstr>
      <vt:lpstr>What SPSS is used for</vt:lpstr>
      <vt:lpstr>Installing IBM SPSS Statistics 20</vt:lpstr>
      <vt:lpstr>SPSS interface - Windows</vt:lpstr>
      <vt:lpstr>Data Editor window cont’d</vt:lpstr>
      <vt:lpstr>The SPSS 20 for Windows “What would you like to do?” dialog box</vt:lpstr>
      <vt:lpstr>The Data Editor window in SPSS (with the Data View tab selected)</vt:lpstr>
      <vt:lpstr>PowerPoint Presentation</vt:lpstr>
      <vt:lpstr>The Data View Window</vt:lpstr>
      <vt:lpstr>Data View window—The window in SPSS that is used for entering data</vt:lpstr>
      <vt:lpstr>The Variable View Window </vt:lpstr>
      <vt:lpstr>The Variable View Window  cont’d</vt:lpstr>
      <vt:lpstr>In the Variable View window, each row is for a different variable. </vt:lpstr>
      <vt:lpstr>The Variable View Window  cont’d</vt:lpstr>
      <vt:lpstr>NB</vt:lpstr>
      <vt:lpstr>Creating Data Files in SPSS</vt:lpstr>
      <vt:lpstr>The name and function of the different columns of the Variable View window.</vt:lpstr>
      <vt:lpstr>The name and function of the different columns of the Variable View window cont’d</vt:lpstr>
      <vt:lpstr>Entering data :: Creating the questionnaire template</vt:lpstr>
      <vt:lpstr>Entering data :: Creating the questionnaire template […]</vt:lpstr>
      <vt:lpstr>Entering data :: Creating the questionnaire template […]</vt:lpstr>
      <vt:lpstr>Figure below is sample data set to be entered into SPSS. (Note: The Person column is included for illustration but will not be entered into SPSS.)</vt:lpstr>
      <vt:lpstr>Entering Data in SPSS</vt:lpstr>
      <vt:lpstr>Assigning Numbers to the Categories of Gender and Employment</vt:lpstr>
      <vt:lpstr>Entering Data in SPSS cont’d</vt:lpstr>
      <vt:lpstr>Entering Data in SPSS cont’d</vt:lpstr>
      <vt:lpstr>In short</vt:lpstr>
      <vt:lpstr>Data Entry and Analysis</vt:lpstr>
      <vt:lpstr>Step 1: Create the Variables</vt:lpstr>
      <vt:lpstr>Creating variables in SPSS</vt:lpstr>
      <vt:lpstr>Creating variables in SPSS cont’d</vt:lpstr>
      <vt:lpstr>The Variable View window with the variables gender, age, employment, and iq entered</vt:lpstr>
      <vt:lpstr>Value Labels</vt:lpstr>
      <vt:lpstr>Creating value labels for gender</vt:lpstr>
      <vt:lpstr>Selecting the Values cell for gender.</vt:lpstr>
      <vt:lpstr>The Value Labels dialog box</vt:lpstr>
      <vt:lpstr>Step 2: Enter the Data</vt:lpstr>
      <vt:lpstr>Enter the data for the remaining three participants by consulting the figure below</vt:lpstr>
      <vt:lpstr>The completed data file in SPSS </vt:lpstr>
      <vt:lpstr>Step 3: Analyze the Data</vt:lpstr>
      <vt:lpstr>Analyze the Data cont’d</vt:lpstr>
      <vt:lpstr>Menu commands for the Case Summaries procedure in SPSS</vt:lpstr>
      <vt:lpstr>The Summarize Cases dialog box</vt:lpstr>
      <vt:lpstr>Analyze the Data cont’d</vt:lpstr>
      <vt:lpstr>Analyze the Data cont’d</vt:lpstr>
      <vt:lpstr>The SPSS Viewer window with the results of the Case Summaries procedure shown</vt:lpstr>
      <vt:lpstr>Step 4: Interpret the Results</vt:lpstr>
      <vt:lpstr>Interpret the Results cont’d</vt:lpstr>
      <vt:lpstr>Interpret the Results cont’d</vt:lpstr>
      <vt:lpstr>Interpret the Results cont’d</vt:lpstr>
      <vt:lpstr>Saving files</vt:lpstr>
      <vt:lpstr>Printing files</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STC224</dc:title>
  <dc:creator>KHO</dc:creator>
  <cp:lastModifiedBy>KHO</cp:lastModifiedBy>
  <cp:revision>37</cp:revision>
  <dcterms:created xsi:type="dcterms:W3CDTF">2021-11-12T08:14:04Z</dcterms:created>
  <dcterms:modified xsi:type="dcterms:W3CDTF">2021-11-12T14:08:36Z</dcterms:modified>
</cp:coreProperties>
</file>